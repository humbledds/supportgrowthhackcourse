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rts/chart1.xml" ContentType="application/vnd.openxmlformats-officedocument.drawingml.chart+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1"/>
  </p:notesMasterIdLst>
  <p:sldIdLst>
    <p:sldId id="256" r:id="rId2"/>
    <p:sldId id="257" r:id="rId3"/>
    <p:sldId id="258" r:id="rId4"/>
    <p:sldId id="259" r:id="rId5"/>
    <p:sldId id="324" r:id="rId6"/>
    <p:sldId id="260" r:id="rId7"/>
    <p:sldId id="261" r:id="rId8"/>
    <p:sldId id="262" r:id="rId9"/>
    <p:sldId id="263" r:id="rId10"/>
    <p:sldId id="264" r:id="rId11"/>
    <p:sldId id="265" r:id="rId12"/>
    <p:sldId id="318" r:id="rId13"/>
    <p:sldId id="328" r:id="rId14"/>
    <p:sldId id="329" r:id="rId15"/>
    <p:sldId id="330" r:id="rId16"/>
    <p:sldId id="325" r:id="rId17"/>
    <p:sldId id="326" r:id="rId18"/>
    <p:sldId id="327" r:id="rId19"/>
    <p:sldId id="340" r:id="rId20"/>
    <p:sldId id="323" r:id="rId21"/>
    <p:sldId id="335" r:id="rId22"/>
    <p:sldId id="336" r:id="rId23"/>
    <p:sldId id="337" r:id="rId24"/>
    <p:sldId id="338" r:id="rId25"/>
    <p:sldId id="339" r:id="rId26"/>
    <p:sldId id="341" r:id="rId27"/>
    <p:sldId id="266" r:id="rId28"/>
    <p:sldId id="342" r:id="rId29"/>
    <p:sldId id="343" r:id="rId30"/>
    <p:sldId id="344" r:id="rId31"/>
    <p:sldId id="345" r:id="rId32"/>
    <p:sldId id="267" r:id="rId33"/>
    <p:sldId id="268" r:id="rId34"/>
    <p:sldId id="269" r:id="rId35"/>
    <p:sldId id="270" r:id="rId36"/>
    <p:sldId id="271" r:id="rId37"/>
    <p:sldId id="272" r:id="rId38"/>
    <p:sldId id="273" r:id="rId39"/>
    <p:sldId id="274" r:id="rId40"/>
    <p:sldId id="275" r:id="rId41"/>
    <p:sldId id="276" r:id="rId42"/>
    <p:sldId id="277" r:id="rId43"/>
    <p:sldId id="278" r:id="rId44"/>
    <p:sldId id="279" r:id="rId45"/>
    <p:sldId id="280" r:id="rId46"/>
    <p:sldId id="281" r:id="rId47"/>
    <p:sldId id="282" r:id="rId48"/>
    <p:sldId id="283" r:id="rId49"/>
    <p:sldId id="284" r:id="rId50"/>
    <p:sldId id="285" r:id="rId51"/>
    <p:sldId id="286" r:id="rId52"/>
    <p:sldId id="287" r:id="rId53"/>
    <p:sldId id="288" r:id="rId54"/>
    <p:sldId id="289" r:id="rId55"/>
    <p:sldId id="290" r:id="rId56"/>
    <p:sldId id="291" r:id="rId57"/>
    <p:sldId id="292" r:id="rId58"/>
    <p:sldId id="293" r:id="rId59"/>
    <p:sldId id="294" r:id="rId60"/>
    <p:sldId id="295" r:id="rId61"/>
    <p:sldId id="296" r:id="rId62"/>
    <p:sldId id="297" r:id="rId63"/>
    <p:sldId id="298" r:id="rId64"/>
    <p:sldId id="299" r:id="rId65"/>
    <p:sldId id="300" r:id="rId66"/>
    <p:sldId id="301" r:id="rId67"/>
    <p:sldId id="302" r:id="rId68"/>
    <p:sldId id="303" r:id="rId69"/>
    <p:sldId id="304" r:id="rId70"/>
    <p:sldId id="305" r:id="rId71"/>
    <p:sldId id="306" r:id="rId72"/>
    <p:sldId id="307" r:id="rId73"/>
    <p:sldId id="309" r:id="rId74"/>
    <p:sldId id="311" r:id="rId75"/>
    <p:sldId id="312" r:id="rId76"/>
    <p:sldId id="313" r:id="rId77"/>
    <p:sldId id="314" r:id="rId78"/>
    <p:sldId id="315" r:id="rId79"/>
    <p:sldId id="316" r:id="rId8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25" d="100"/>
          <a:sy n="125" d="100"/>
        </p:scale>
        <p:origin x="1614" y="8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title>
      <c:tx>
        <c:rich>
          <a:bodyPr/>
          <a:lstStyle/>
          <a:p>
            <a:pPr>
              <a:defRPr sz="1200" b="0" i="0" u="none" strike="noStrike">
                <a:solidFill>
                  <a:srgbClr val="0B1F3A"/>
                </a:solidFill>
                <a:latin typeface="Calibri"/>
              </a:defRPr>
            </a:pPr>
            <a:r>
              <a:rPr lang="fr-FR" sz="1200" b="0" i="0" u="none" strike="noStrike">
                <a:solidFill>
                  <a:srgbClr val="0B1F3A"/>
                </a:solidFill>
                <a:latin typeface="Calibri"/>
              </a:rPr>
              <a:t>Taille du marché DCR mondial (Md $)</a:t>
            </a:r>
          </a:p>
        </c:rich>
      </c:tx>
      <c:overlay val="0"/>
    </c:title>
    <c:autoTitleDeleted val="0"/>
    <c:plotArea>
      <c:layout/>
      <c:barChart>
        <c:barDir val="col"/>
        <c:grouping val="clustered"/>
        <c:varyColors val="0"/>
        <c:ser>
          <c:idx val="0"/>
          <c:order val="0"/>
          <c:tx>
            <c:strRef>
              <c:f>Sheet1!$B$1</c:f>
              <c:strCache>
                <c:ptCount val="1"/>
                <c:pt idx="0">
                  <c:v>Marché DCR mondial (Md $)</c:v>
                </c:pt>
              </c:strCache>
            </c:strRef>
          </c:tx>
          <c:spPr>
            <a:solidFill>
              <a:srgbClr val="065A82"/>
            </a:solidFill>
            <a:effectLst/>
          </c:spPr>
          <c:invertIfNegative val="0"/>
          <c:dLbls>
            <c:numFmt formatCode="#,##0" sourceLinked="0"/>
            <c:spPr>
              <a:noFill/>
              <a:ln>
                <a:noFill/>
              </a:ln>
              <a:effectLst/>
            </c:spPr>
            <c:txPr>
              <a:bodyPr/>
              <a:lstStyle/>
              <a:p>
                <a:pPr>
                  <a:defRPr sz="1200" b="0" i="0" u="none" strike="noStrike">
                    <a:solidFill>
                      <a:srgbClr val="1E293B"/>
                    </a:solidFill>
                    <a:latin typeface="Arial"/>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2022</c:v>
                </c:pt>
                <c:pt idx="1">
                  <c:v>2023</c:v>
                </c:pt>
                <c:pt idx="2">
                  <c:v>2024</c:v>
                </c:pt>
                <c:pt idx="3">
                  <c:v>2025</c:v>
                </c:pt>
                <c:pt idx="4">
                  <c:v>2026</c:v>
                </c:pt>
                <c:pt idx="5">
                  <c:v>2027</c:v>
                </c:pt>
                <c:pt idx="6">
                  <c:v>2028</c:v>
                </c:pt>
              </c:strCache>
            </c:strRef>
          </c:cat>
          <c:val>
            <c:numRef>
              <c:f>Sheet1!$B$2:$B$8</c:f>
              <c:numCache>
                <c:formatCode>General</c:formatCode>
                <c:ptCount val="7"/>
                <c:pt idx="0">
                  <c:v>0.9</c:v>
                </c:pt>
                <c:pt idx="1">
                  <c:v>1.6</c:v>
                </c:pt>
                <c:pt idx="2">
                  <c:v>2.5</c:v>
                </c:pt>
                <c:pt idx="3">
                  <c:v>3.5</c:v>
                </c:pt>
                <c:pt idx="4">
                  <c:v>4.8</c:v>
                </c:pt>
                <c:pt idx="5">
                  <c:v>6.4</c:v>
                </c:pt>
                <c:pt idx="6">
                  <c:v>8.1999999999999993</c:v>
                </c:pt>
              </c:numCache>
            </c:numRef>
          </c:val>
          <c:extLst>
            <c:ext xmlns:c16="http://schemas.microsoft.com/office/drawing/2014/chart" uri="{C3380CC4-5D6E-409C-BE32-E72D297353CC}">
              <c16:uniqueId val="{00000000-3AF3-4577-8B15-BE75A3F69DA1}"/>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02590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FA3A6-4532-A0E7-2F90-45F2C873CA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9F5BDD-6381-A5BE-0DC0-06FCD39007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0FA370-B861-62DE-CE06-4BF32C33F3E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8403E43-E608-3F25-9750-32E4DD1E8365}"/>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9182772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20E4B-E853-DFA6-8512-19D28166A6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874804-BB58-2B8E-5F33-4CE494EFE5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756AD4-B840-D7CD-2D9F-DD399236DF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F18FFAD-6B57-3733-E729-290801E00A64}"/>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8128959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557FE-A63D-019A-E799-8E3E9ADD05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83B8ED-057C-E59C-BA0A-C84AD9C725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1DCD83-8415-9F56-EFEC-9BD4B2C7DC3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E7DFA4A-0DF0-42C3-B2AE-8B9F93798639}"/>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6292269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1F96C-8D43-000E-7021-D91CAF313B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BA76CC-FC08-16D2-015E-19BAB3C978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812F9A-2C76-9CCC-BB7A-47758D74D92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63081FC-40BE-9B93-5AC4-28B5BC4D45C7}"/>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6178417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4943B-A2F0-56A0-78EC-5B9941E49E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2659AA-682E-882C-C248-80E77B6A2D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66B480-DA8C-5D46-725A-807B42C6EFF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127C44-6597-D799-A712-84CBDD15A019}"/>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478510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7151F-2D9C-D13C-8517-0E4F701C34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F28DF1-7169-342C-6FC1-4C6584860A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E4125F-0F7A-ADB4-2518-C75C6A901D9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E16B522-A62F-C6D5-6CA7-AB69309E3A10}"/>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6000523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385401-6190-BAF9-8AB7-672EC3BE7F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EC829B-C392-70E5-16E8-DDC547BE28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679BE3-B98E-A44D-65F0-E99209B65DA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E9C7711-3F5C-1DDF-2B4C-E3B97188574A}"/>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3432741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D4187F-4DA9-C5B4-6371-33917893CF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396FAA-C864-F14E-304E-CF322584B2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3B7D76-51AF-C5FD-68FF-E9D676F9CD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CDD11F-7EF5-0F00-6787-99EDDF2369F9}"/>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37115272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468E5-F285-7345-D1C8-D251EEAFA9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07FFA2-FADA-1F32-EB00-2BB2A8B583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DE7C6D-0F72-15F8-4095-05F89DC92D7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C4BAB51-7E96-88FD-7565-F58AF9DAEBF9}"/>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24382300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1DF12-66F7-2B87-90A7-40D95EC72E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A38055-0791-5E62-6298-0019C7370E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1967CE-A67C-B91D-3E66-D7B49B0A655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5CFE933-5231-2FE6-16C9-C3B31E8D0E6F}"/>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8274724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4AA37D-236D-0D02-A91C-2CF5A7F0FB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FE34C1-024A-C76A-419A-9901CAC110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510BC7-A927-5C9E-25E3-449F3E01958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F76B1E6-1D97-A51C-CC7B-4612D506B49A}"/>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7954806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C56F8-AD71-CAC6-48BD-25A8EDF3FF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725231-4991-3C05-06CE-CEA3CDF444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FE89CD-5C18-2227-6302-AE29D71AFBD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A7ED4E6-AB45-CAA9-98B2-8F8F58B672A4}"/>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95982001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B41A9-3BCD-062C-A06B-A06745161C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BCE62A-B2A8-4224-40C4-F9D1F05BE4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4FDA8D-D96E-00A5-6062-2391027C62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7119E49-A35C-61F3-7E06-E90A80554B3A}"/>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8164834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7258E-5418-456C-7EA4-09E0A3A1C2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8F6C51-40DB-A877-DABD-85CF240550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7D6791-8D14-26BC-F403-4082D084131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1007E95-9137-7849-EC74-3CB252B55852}"/>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39730905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8DCFDD-A028-31F4-BFF5-5279BD68A1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2327CD-2F0E-9348-22C4-DF360CA1BE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547CC1-8A46-F256-7704-262090FF28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C6470DF-C8DA-F3D7-82B2-6FB939714F93}"/>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327136057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5BC72-0C9B-C27D-E262-05D12BCD1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7B0CAB-6B73-D2B0-DF8E-E8C08A3254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AC9F59-B758-3693-0DDD-D52B41EDE49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088466E-D3A9-248E-7625-829DE4E33B3D}"/>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17560508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199A7-183D-30E6-F66F-11C8AFC733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D22466-97EC-4B20-954B-D592A78DE6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53BDB8-DD34-3EEF-3A46-CE90959571A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49FCE47-500E-5514-9270-D7B40F8EF240}"/>
              </a:ext>
            </a:extLst>
          </p:cNvPr>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8369923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913F7A-DED2-ABEE-19D4-77A41D5908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12516F-D619-31DF-D3B8-F8667D0ADD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3CC241-29BB-70A2-509A-E9BE6D796B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DD241B8-DE86-5AB0-F796-A38A43079056}"/>
              </a:ext>
            </a:extLst>
          </p:cNvPr>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57076717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A09F9-A63E-CDAC-A914-9BD501F82A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973B39-359E-EB81-B344-23FAE5F9DD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0659DE-AC83-7953-9093-0038C61580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5586468-E874-7DC9-ADC3-A78C1DFA51D5}"/>
              </a:ext>
            </a:extLst>
          </p:cNvPr>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422888817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30CE6-45D8-3ED2-6CC5-A0AE763A2B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311B15-A010-3789-FF12-0FF2F5C28F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843EF2-D679-4B72-7CA9-23F231CE971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A193853-2164-F138-2C49-E396B169C6F6}"/>
              </a:ext>
            </a:extLst>
          </p:cNvPr>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283628815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9601200" y="-1828800"/>
            <a:ext cx="5486400" cy="5486400"/>
          </a:xfrm>
          <a:prstGeom prst="ellipse">
            <a:avLst/>
          </a:prstGeom>
          <a:solidFill>
            <a:srgbClr val="065A82">
              <a:alpha val="30000"/>
            </a:srgbClr>
          </a:solidFill>
          <a:ln w="12700">
            <a:solidFill>
              <a:srgbClr val="065A82">
                <a:alpha val="30000"/>
              </a:srgbClr>
            </a:solidFill>
            <a:prstDash val="solid"/>
          </a:ln>
        </p:spPr>
      </p:sp>
      <p:sp>
        <p:nvSpPr>
          <p:cNvPr id="3" name="Shape 1"/>
          <p:cNvSpPr/>
          <p:nvPr/>
        </p:nvSpPr>
        <p:spPr>
          <a:xfrm>
            <a:off x="8412480" y="3200400"/>
            <a:ext cx="4114800" cy="4114800"/>
          </a:xfrm>
          <a:prstGeom prst="ellipse">
            <a:avLst/>
          </a:prstGeom>
          <a:solidFill>
            <a:srgbClr val="1C7293">
              <a:alpha val="20000"/>
            </a:srgbClr>
          </a:solidFill>
          <a:ln w="12700">
            <a:solidFill>
              <a:srgbClr val="1C7293">
                <a:alpha val="20000"/>
              </a:srgbClr>
            </a:solidFill>
            <a:prstDash val="solid"/>
          </a:ln>
        </p:spPr>
      </p:sp>
      <p:sp>
        <p:nvSpPr>
          <p:cNvPr id="4" name="Shape 2"/>
          <p:cNvSpPr/>
          <p:nvPr/>
        </p:nvSpPr>
        <p:spPr>
          <a:xfrm>
            <a:off x="548640" y="2560320"/>
            <a:ext cx="137160" cy="1188720"/>
          </a:xfrm>
          <a:prstGeom prst="rect">
            <a:avLst/>
          </a:prstGeom>
          <a:solidFill>
            <a:srgbClr val="F96167"/>
          </a:solidFill>
          <a:ln w="12700">
            <a:solidFill>
              <a:srgbClr val="F96167"/>
            </a:solidFill>
            <a:prstDash val="solid"/>
          </a:ln>
        </p:spPr>
      </p:sp>
      <p:sp>
        <p:nvSpPr>
          <p:cNvPr id="5" name="Text 3"/>
          <p:cNvSpPr/>
          <p:nvPr/>
        </p:nvSpPr>
        <p:spPr>
          <a:xfrm>
            <a:off x="548640" y="1280160"/>
            <a:ext cx="9144000" cy="365760"/>
          </a:xfrm>
          <a:prstGeom prst="rect">
            <a:avLst/>
          </a:prstGeom>
          <a:noFill/>
          <a:ln/>
        </p:spPr>
        <p:txBody>
          <a:bodyPr wrap="square" lIns="0" tIns="0" rIns="0" bIns="0" rtlCol="0" anchor="ctr"/>
          <a:lstStyle/>
          <a:p>
            <a:r>
              <a:rPr lang="en-US" sz="1400" b="1" kern="0" spc="300" dirty="0">
                <a:solidFill>
                  <a:srgbClr val="F9B233"/>
                </a:solidFill>
                <a:latin typeface="Calibri" pitchFamily="34" charset="0"/>
                <a:ea typeface="Calibri" pitchFamily="34" charset="-122"/>
                <a:cs typeface="Calibri" pitchFamily="34" charset="-120"/>
              </a:rPr>
              <a:t>FORMATION BAC+5  IIM</a:t>
            </a:r>
            <a:endParaRPr lang="en-US" sz="1400" dirty="0"/>
          </a:p>
        </p:txBody>
      </p:sp>
      <p:sp>
        <p:nvSpPr>
          <p:cNvPr id="6" name="Text 4"/>
          <p:cNvSpPr/>
          <p:nvPr/>
        </p:nvSpPr>
        <p:spPr>
          <a:xfrm>
            <a:off x="548640" y="1783080"/>
            <a:ext cx="10058400" cy="914400"/>
          </a:xfrm>
          <a:prstGeom prst="rect">
            <a:avLst/>
          </a:prstGeom>
          <a:noFill/>
          <a:ln/>
        </p:spPr>
        <p:txBody>
          <a:bodyPr wrap="square" lIns="0" tIns="0" rIns="0" bIns="0" rtlCol="0" anchor="ctr"/>
          <a:lstStyle/>
          <a:p>
            <a:pPr marL="0" indent="0">
              <a:buNone/>
            </a:pPr>
            <a:r>
              <a:rPr lang="en-US" sz="5600" b="1" dirty="0">
                <a:solidFill>
                  <a:srgbClr val="FFFFFF"/>
                </a:solidFill>
                <a:latin typeface="Calibri" pitchFamily="34" charset="0"/>
                <a:ea typeface="Calibri" pitchFamily="34" charset="-122"/>
                <a:cs typeface="Calibri" pitchFamily="34" charset="-120"/>
              </a:rPr>
              <a:t>Data Clean Rooms</a:t>
            </a:r>
            <a:endParaRPr lang="en-US" sz="5600" dirty="0"/>
          </a:p>
        </p:txBody>
      </p:sp>
      <p:sp>
        <p:nvSpPr>
          <p:cNvPr id="7" name="Text 5"/>
          <p:cNvSpPr/>
          <p:nvPr/>
        </p:nvSpPr>
        <p:spPr>
          <a:xfrm>
            <a:off x="822960" y="2651760"/>
            <a:ext cx="10058400" cy="731520"/>
          </a:xfrm>
          <a:prstGeom prst="rect">
            <a:avLst/>
          </a:prstGeom>
          <a:noFill/>
          <a:ln/>
        </p:spPr>
        <p:txBody>
          <a:bodyPr wrap="square" lIns="0" tIns="0" rIns="0" bIns="0" rtlCol="0" anchor="ctr"/>
          <a:lstStyle/>
          <a:p>
            <a:pPr marL="0" indent="0">
              <a:buNone/>
            </a:pPr>
            <a:r>
              <a:rPr lang="en-US" sz="3800" i="1" dirty="0">
                <a:solidFill>
                  <a:srgbClr val="1C7293"/>
                </a:solidFill>
                <a:latin typeface="Calibri" pitchFamily="34" charset="0"/>
                <a:ea typeface="Calibri" pitchFamily="34" charset="-122"/>
                <a:cs typeface="Calibri" pitchFamily="34" charset="-120"/>
              </a:rPr>
              <a:t>pour Growth Hackers</a:t>
            </a:r>
            <a:endParaRPr lang="en-US" sz="3800" dirty="0"/>
          </a:p>
        </p:txBody>
      </p:sp>
      <p:sp>
        <p:nvSpPr>
          <p:cNvPr id="8" name="Text 6"/>
          <p:cNvSpPr/>
          <p:nvPr/>
        </p:nvSpPr>
        <p:spPr>
          <a:xfrm>
            <a:off x="548640" y="3886200"/>
            <a:ext cx="9144000" cy="457200"/>
          </a:xfrm>
          <a:prstGeom prst="rect">
            <a:avLst/>
          </a:prstGeom>
          <a:noFill/>
          <a:ln/>
        </p:spPr>
        <p:txBody>
          <a:bodyPr wrap="square" lIns="0" tIns="0" rIns="0" bIns="0" rtlCol="0" anchor="ctr"/>
          <a:lstStyle/>
          <a:p>
            <a:pPr marL="0" indent="0">
              <a:buNone/>
            </a:pPr>
            <a:r>
              <a:rPr lang="en-US" sz="1800" dirty="0">
                <a:solidFill>
                  <a:srgbClr val="FFFFFF"/>
                </a:solidFill>
                <a:latin typeface="Calibri" pitchFamily="34" charset="0"/>
                <a:ea typeface="Calibri" pitchFamily="34" charset="-122"/>
                <a:cs typeface="Calibri" pitchFamily="34" charset="-120"/>
              </a:rPr>
              <a:t>Comprendre, choisir et activer les DCR dans votre stratégie marketing</a:t>
            </a:r>
            <a:endParaRPr lang="en-US" sz="1800" dirty="0"/>
          </a:p>
        </p:txBody>
      </p:sp>
      <p:sp>
        <p:nvSpPr>
          <p:cNvPr id="9" name="Text 7"/>
          <p:cNvSpPr/>
          <p:nvPr/>
        </p:nvSpPr>
        <p:spPr>
          <a:xfrm>
            <a:off x="548640" y="4389120"/>
            <a:ext cx="9144000" cy="365760"/>
          </a:xfrm>
          <a:prstGeom prst="rect">
            <a:avLst/>
          </a:prstGeom>
          <a:noFill/>
          <a:ln/>
        </p:spPr>
        <p:txBody>
          <a:bodyPr wrap="square" lIns="0" tIns="0" rIns="0" bIns="0" rtlCol="0" anchor="ctr"/>
          <a:lstStyle/>
          <a:p>
            <a:pPr marL="0" indent="0">
              <a:buNone/>
            </a:pPr>
            <a:r>
              <a:rPr lang="en-US" sz="1400" i="1" dirty="0">
                <a:solidFill>
                  <a:srgbClr val="F96167"/>
                </a:solidFill>
                <a:latin typeface="Calibri" pitchFamily="34" charset="0"/>
                <a:ea typeface="Calibri" pitchFamily="34" charset="-122"/>
                <a:cs typeface="Calibri" pitchFamily="34" charset="-120"/>
              </a:rPr>
              <a:t>14h  4 sessions  10+ providers couverts</a:t>
            </a:r>
            <a:endParaRPr lang="en-US" sz="1400" dirty="0"/>
          </a:p>
        </p:txBody>
      </p:sp>
      <p:sp>
        <p:nvSpPr>
          <p:cNvPr id="10" name="Text 8"/>
          <p:cNvSpPr/>
          <p:nvPr/>
        </p:nvSpPr>
        <p:spPr>
          <a:xfrm>
            <a:off x="548640" y="6035040"/>
            <a:ext cx="10972800" cy="365760"/>
          </a:xfrm>
          <a:prstGeom prst="rect">
            <a:avLst/>
          </a:prstGeom>
          <a:noFill/>
          <a:ln/>
        </p:spPr>
        <p:txBody>
          <a:bodyPr wrap="square" lIns="0" tIns="0" rIns="0" bIns="0" rtlCol="0" anchor="ctr"/>
          <a:lstStyle/>
          <a:p>
            <a:r>
              <a:rPr lang="en-US" sz="1200" dirty="0">
                <a:solidFill>
                  <a:srgbClr val="E2E8F0"/>
                </a:solidFill>
                <a:latin typeface="Calibri" pitchFamily="34" charset="0"/>
                <a:ea typeface="Calibri" pitchFamily="34" charset="-122"/>
                <a:cs typeface="Calibri" pitchFamily="34" charset="-120"/>
              </a:rPr>
              <a:t>Babacar GUEYE  •  </a:t>
            </a:r>
            <a:r>
              <a:rPr lang="en-US" sz="1200" dirty="0" err="1">
                <a:solidFill>
                  <a:srgbClr val="E2E8F0"/>
                </a:solidFill>
                <a:latin typeface="Calibri" pitchFamily="34" charset="0"/>
                <a:ea typeface="Calibri" pitchFamily="34" charset="-122"/>
                <a:cs typeface="Calibri" pitchFamily="34" charset="-120"/>
              </a:rPr>
              <a:t>Intervenant</a:t>
            </a:r>
            <a:r>
              <a:rPr lang="en-US" sz="1200" dirty="0">
                <a:solidFill>
                  <a:srgbClr val="E2E8F0"/>
                </a:solidFill>
                <a:latin typeface="Calibri" pitchFamily="34" charset="0"/>
                <a:ea typeface="Calibri" pitchFamily="34" charset="-122"/>
                <a:cs typeface="Calibri" pitchFamily="34" charset="-120"/>
              </a:rPr>
              <a:t> IA / Data •  CTO </a:t>
            </a:r>
            <a:r>
              <a:rPr lang="en-US" sz="1200" dirty="0" err="1">
                <a:solidFill>
                  <a:srgbClr val="E2E8F0"/>
                </a:solidFill>
                <a:latin typeface="Calibri" pitchFamily="34" charset="0"/>
                <a:ea typeface="Calibri" pitchFamily="34" charset="-122"/>
                <a:cs typeface="Calibri" pitchFamily="34" charset="-120"/>
              </a:rPr>
              <a:t>Collablib</a:t>
            </a:r>
            <a:r>
              <a:rPr lang="en-US" sz="1200" dirty="0">
                <a:solidFill>
                  <a:srgbClr val="E2E8F0"/>
                </a:solidFill>
                <a:latin typeface="Calibri" pitchFamily="34" charset="0"/>
                <a:ea typeface="Calibri" pitchFamily="34" charset="-122"/>
                <a:cs typeface="Calibri" pitchFamily="34" charset="-120"/>
              </a:rPr>
              <a:t> – Senior Data Engineer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C"/>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731520"/>
          </a:xfrm>
          <a:prstGeom prst="rect">
            <a:avLst/>
          </a:prstGeom>
          <a:noFill/>
          <a:ln/>
        </p:spPr>
        <p:txBody>
          <a:bodyPr wrap="square" lIns="0" tIns="0" rIns="0" bIns="0" rtlCol="0" anchor="ctr"/>
          <a:lstStyle/>
          <a:p>
            <a:pPr marL="0" indent="0" algn="l">
              <a:buNone/>
            </a:pPr>
            <a:r>
              <a:rPr lang="en-US" sz="3200" b="1" dirty="0">
                <a:solidFill>
                  <a:srgbClr val="0B1F3A"/>
                </a:solidFill>
                <a:latin typeface="Calibri" pitchFamily="34" charset="0"/>
                <a:ea typeface="Calibri" pitchFamily="34" charset="-122"/>
                <a:cs typeface="Calibri" pitchFamily="34" charset="-120"/>
              </a:rPr>
              <a:t>Bienvenue  ce que vous allez apprendre</a:t>
            </a:r>
            <a:endParaRPr lang="en-US" sz="3200" dirty="0"/>
          </a:p>
        </p:txBody>
      </p:sp>
      <p:sp>
        <p:nvSpPr>
          <p:cNvPr id="3" name="Shape 1"/>
          <p:cNvSpPr/>
          <p:nvPr/>
        </p:nvSpPr>
        <p:spPr>
          <a:xfrm>
            <a:off x="548640" y="1005840"/>
            <a:ext cx="548640" cy="73152"/>
          </a:xfrm>
          <a:prstGeom prst="rect">
            <a:avLst/>
          </a:prstGeom>
          <a:solidFill>
            <a:srgbClr val="F96167"/>
          </a:solidFill>
          <a:ln w="12700">
            <a:solidFill>
              <a:srgbClr val="F96167"/>
            </a:solidFill>
            <a:prstDash val="solid"/>
          </a:ln>
        </p:spPr>
      </p:sp>
      <p:sp>
        <p:nvSpPr>
          <p:cNvPr id="5" name="Shape 3"/>
          <p:cNvSpPr/>
          <p:nvPr/>
        </p:nvSpPr>
        <p:spPr>
          <a:xfrm>
            <a:off x="548640" y="1737360"/>
            <a:ext cx="5029200" cy="4572000"/>
          </a:xfrm>
          <a:prstGeom prst="rect">
            <a:avLst/>
          </a:prstGeom>
          <a:solidFill>
            <a:srgbClr val="0B1F3A"/>
          </a:solidFill>
          <a:ln w="12700">
            <a:solidFill>
              <a:srgbClr val="0B1F3A"/>
            </a:solidFill>
            <a:prstDash val="solid"/>
          </a:ln>
          <a:effectLst>
            <a:outerShdw blurRad="76200" dist="25400" dir="8100000" algn="bl" rotWithShape="0">
              <a:srgbClr val="000000">
                <a:alpha val="12000"/>
              </a:srgbClr>
            </a:outerShdw>
          </a:effectLst>
        </p:spPr>
      </p:sp>
      <p:sp>
        <p:nvSpPr>
          <p:cNvPr id="6" name="Shape 4"/>
          <p:cNvSpPr/>
          <p:nvPr/>
        </p:nvSpPr>
        <p:spPr>
          <a:xfrm>
            <a:off x="548640" y="1737360"/>
            <a:ext cx="91440" cy="4572000"/>
          </a:xfrm>
          <a:prstGeom prst="rect">
            <a:avLst/>
          </a:prstGeom>
          <a:solidFill>
            <a:srgbClr val="F96167"/>
          </a:solidFill>
          <a:ln w="12700">
            <a:solidFill>
              <a:srgbClr val="F96167"/>
            </a:solidFill>
            <a:prstDash val="solid"/>
          </a:ln>
        </p:spPr>
      </p:sp>
      <p:sp>
        <p:nvSpPr>
          <p:cNvPr id="7" name="Text 5"/>
          <p:cNvSpPr/>
          <p:nvPr/>
        </p:nvSpPr>
        <p:spPr>
          <a:xfrm>
            <a:off x="777240" y="1920240"/>
            <a:ext cx="4572000" cy="320040"/>
          </a:xfrm>
          <a:prstGeom prst="rect">
            <a:avLst/>
          </a:prstGeom>
          <a:noFill/>
          <a:ln/>
        </p:spPr>
        <p:txBody>
          <a:bodyPr wrap="square" lIns="0" tIns="0" rIns="0" bIns="0" rtlCol="0" anchor="ctr"/>
          <a:lstStyle/>
          <a:p>
            <a:pPr marL="0" indent="0">
              <a:buNone/>
            </a:pPr>
            <a:r>
              <a:rPr lang="en-US" sz="1200" b="1" kern="0" spc="200" dirty="0">
                <a:solidFill>
                  <a:srgbClr val="F9B233"/>
                </a:solidFill>
                <a:latin typeface="Calibri" pitchFamily="34" charset="0"/>
                <a:ea typeface="Calibri" pitchFamily="34" charset="-122"/>
                <a:cs typeface="Calibri" pitchFamily="34" charset="-120"/>
              </a:rPr>
              <a:t>VOTRE FORMATEUR</a:t>
            </a:r>
            <a:endParaRPr lang="en-US" sz="1200" dirty="0"/>
          </a:p>
        </p:txBody>
      </p:sp>
      <p:sp>
        <p:nvSpPr>
          <p:cNvPr id="8" name="Text 6"/>
          <p:cNvSpPr/>
          <p:nvPr/>
        </p:nvSpPr>
        <p:spPr>
          <a:xfrm>
            <a:off x="777240" y="2286000"/>
            <a:ext cx="4572000" cy="4572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Babacar GUEYE</a:t>
            </a:r>
            <a:endParaRPr lang="en-US" sz="2400" dirty="0"/>
          </a:p>
        </p:txBody>
      </p:sp>
      <p:sp>
        <p:nvSpPr>
          <p:cNvPr id="9" name="Text 7"/>
          <p:cNvSpPr/>
          <p:nvPr/>
        </p:nvSpPr>
        <p:spPr>
          <a:xfrm>
            <a:off x="777240" y="2834640"/>
            <a:ext cx="4663440" cy="3200400"/>
          </a:xfrm>
          <a:prstGeom prst="rect">
            <a:avLst/>
          </a:prstGeom>
          <a:noFill/>
          <a:ln/>
        </p:spPr>
        <p:txBody>
          <a:bodyPr wrap="square" lIns="0" tIns="0" rIns="0" bIns="0" rtlCol="0" anchor="t"/>
          <a:lstStyle/>
          <a:p>
            <a:pPr marL="0" indent="0">
              <a:spcAft>
                <a:spcPts val="400"/>
              </a:spcAft>
              <a:buNone/>
            </a:pPr>
            <a:r>
              <a:rPr lang="en-US" sz="1300" b="1" dirty="0">
                <a:solidFill>
                  <a:srgbClr val="1C7293"/>
                </a:solidFill>
                <a:latin typeface="Calibri" pitchFamily="34" charset="0"/>
                <a:ea typeface="Calibri" pitchFamily="34" charset="-122"/>
                <a:cs typeface="Calibri" pitchFamily="34" charset="-120"/>
              </a:rPr>
              <a:t>Growth &amp; Data Marketing</a:t>
            </a:r>
            <a:endParaRPr lang="en-US" sz="1300" dirty="0"/>
          </a:p>
          <a:p>
            <a:pPr marL="0" indent="0">
              <a:spcAft>
                <a:spcPts val="400"/>
              </a:spcAft>
              <a:buNone/>
            </a:pPr>
            <a:r>
              <a:rPr lang="en-US" sz="1300" dirty="0" err="1">
                <a:solidFill>
                  <a:srgbClr val="FFFFFF"/>
                </a:solidFill>
                <a:latin typeface="Calibri" pitchFamily="34" charset="0"/>
                <a:ea typeface="Calibri" pitchFamily="34" charset="-122"/>
                <a:cs typeface="Calibri" pitchFamily="34" charset="-120"/>
              </a:rPr>
              <a:t>Formateur</a:t>
            </a:r>
            <a:r>
              <a:rPr lang="en-US" sz="1300" dirty="0">
                <a:solidFill>
                  <a:srgbClr val="FFFFFF"/>
                </a:solidFill>
                <a:latin typeface="Calibri" pitchFamily="34" charset="0"/>
                <a:ea typeface="Calibri" pitchFamily="34" charset="-122"/>
                <a:cs typeface="Calibri" pitchFamily="34" charset="-120"/>
              </a:rPr>
              <a:t> BAC+5</a:t>
            </a:r>
            <a:endParaRPr lang="en-US" sz="1300" dirty="0"/>
          </a:p>
          <a:p>
            <a:pPr marL="0" indent="0">
              <a:spcAft>
                <a:spcPts val="400"/>
              </a:spcAft>
              <a:buNone/>
            </a:pPr>
            <a:r>
              <a:rPr lang="en-US" sz="1300" dirty="0">
                <a:solidFill>
                  <a:srgbClr val="FFFFFF"/>
                </a:solidFill>
                <a:latin typeface="Calibri" pitchFamily="34" charset="0"/>
                <a:ea typeface="Calibri" pitchFamily="34" charset="-122"/>
                <a:cs typeface="Calibri" pitchFamily="34" charset="-120"/>
              </a:rPr>
              <a:t> </a:t>
            </a:r>
            <a:endParaRPr lang="en-US" sz="1300" dirty="0"/>
          </a:p>
          <a:p>
            <a:pPr marL="0" indent="0">
              <a:spcAft>
                <a:spcPts val="400"/>
              </a:spcAft>
              <a:buNone/>
            </a:pPr>
            <a:r>
              <a:rPr lang="en-US" sz="1300" dirty="0">
                <a:solidFill>
                  <a:srgbClr val="FFFFFF"/>
                </a:solidFill>
                <a:latin typeface="Calibri" pitchFamily="34" charset="0"/>
                <a:ea typeface="Calibri" pitchFamily="34" charset="-122"/>
                <a:cs typeface="Calibri" pitchFamily="34" charset="-120"/>
              </a:rPr>
              <a:t>Parcours : activation data, CRM, retail media, attribution post-cookie. Intervient pour accompagner les équipes marketing à tirer parti des nouveaux outils privacy-first.</a:t>
            </a:r>
            <a:endParaRPr lang="en-US" sz="1300" dirty="0"/>
          </a:p>
        </p:txBody>
      </p:sp>
      <p:sp>
        <p:nvSpPr>
          <p:cNvPr id="10" name="Text 8"/>
          <p:cNvSpPr/>
          <p:nvPr/>
        </p:nvSpPr>
        <p:spPr>
          <a:xfrm>
            <a:off x="5852160" y="1783080"/>
            <a:ext cx="5943600" cy="320040"/>
          </a:xfrm>
          <a:prstGeom prst="rect">
            <a:avLst/>
          </a:prstGeom>
          <a:noFill/>
          <a:ln/>
        </p:spPr>
        <p:txBody>
          <a:bodyPr wrap="square" lIns="0" tIns="0" rIns="0" bIns="0" rtlCol="0" anchor="ctr"/>
          <a:lstStyle/>
          <a:p>
            <a:pPr marL="0" indent="0">
              <a:buNone/>
            </a:pPr>
            <a:r>
              <a:rPr lang="en-US" sz="1200" b="1" kern="0" spc="150" dirty="0">
                <a:solidFill>
                  <a:srgbClr val="F96167"/>
                </a:solidFill>
                <a:latin typeface="Calibri" pitchFamily="34" charset="0"/>
                <a:ea typeface="Calibri" pitchFamily="34" charset="-122"/>
                <a:cs typeface="Calibri" pitchFamily="34" charset="-120"/>
              </a:rPr>
              <a:t>À LA FIN DU COURS, VOUS SEREZ CAPABLE DE :</a:t>
            </a:r>
            <a:endParaRPr lang="en-US" sz="1200" dirty="0"/>
          </a:p>
        </p:txBody>
      </p:sp>
      <p:sp>
        <p:nvSpPr>
          <p:cNvPr id="11" name="Shape 9"/>
          <p:cNvSpPr/>
          <p:nvPr/>
        </p:nvSpPr>
        <p:spPr>
          <a:xfrm>
            <a:off x="5852160" y="2194560"/>
            <a:ext cx="5943600" cy="91440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12" name="Shape 10"/>
          <p:cNvSpPr/>
          <p:nvPr/>
        </p:nvSpPr>
        <p:spPr>
          <a:xfrm>
            <a:off x="5989320" y="2377440"/>
            <a:ext cx="548640" cy="548640"/>
          </a:xfrm>
          <a:prstGeom prst="ellipse">
            <a:avLst/>
          </a:prstGeom>
          <a:solidFill>
            <a:srgbClr val="065A82"/>
          </a:solidFill>
          <a:ln w="12700">
            <a:solidFill>
              <a:srgbClr val="065A82"/>
            </a:solidFill>
            <a:prstDash val="solid"/>
          </a:ln>
        </p:spPr>
      </p:sp>
      <p:sp>
        <p:nvSpPr>
          <p:cNvPr id="13" name="Text 11"/>
          <p:cNvSpPr/>
          <p:nvPr/>
        </p:nvSpPr>
        <p:spPr>
          <a:xfrm>
            <a:off x="5989320" y="2386584"/>
            <a:ext cx="548640" cy="53035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14" name="Text 12"/>
          <p:cNvSpPr/>
          <p:nvPr/>
        </p:nvSpPr>
        <p:spPr>
          <a:xfrm>
            <a:off x="6675120" y="2331720"/>
            <a:ext cx="4572000" cy="274320"/>
          </a:xfrm>
          <a:prstGeom prst="rect">
            <a:avLst/>
          </a:prstGeom>
          <a:noFill/>
          <a:ln/>
        </p:spPr>
        <p:txBody>
          <a:bodyPr wrap="square" lIns="0" tIns="0" rIns="0" bIns="0" rtlCol="0" anchor="ctr"/>
          <a:lstStyle/>
          <a:p>
            <a:pPr marL="0" indent="0">
              <a:buNone/>
            </a:pPr>
            <a:r>
              <a:rPr lang="en-US" sz="1300" b="1" kern="0" spc="100" dirty="0">
                <a:solidFill>
                  <a:srgbClr val="F96167"/>
                </a:solidFill>
                <a:latin typeface="Calibri" pitchFamily="34" charset="0"/>
                <a:ea typeface="Calibri" pitchFamily="34" charset="-122"/>
                <a:cs typeface="Calibri" pitchFamily="34" charset="-120"/>
              </a:rPr>
              <a:t>EXPLIQUER</a:t>
            </a:r>
            <a:endParaRPr lang="en-US" sz="1300" dirty="0"/>
          </a:p>
        </p:txBody>
      </p:sp>
      <p:sp>
        <p:nvSpPr>
          <p:cNvPr id="15" name="Text 13"/>
          <p:cNvSpPr/>
          <p:nvPr/>
        </p:nvSpPr>
        <p:spPr>
          <a:xfrm>
            <a:off x="6675120" y="2578608"/>
            <a:ext cx="4937760" cy="5029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ce qu'est une Data Clean Room et pourquoi elle remplace les cookies tiers pour l'activation marketing.</a:t>
            </a:r>
            <a:endParaRPr lang="en-US" sz="1100" dirty="0"/>
          </a:p>
        </p:txBody>
      </p:sp>
      <p:sp>
        <p:nvSpPr>
          <p:cNvPr id="16" name="Shape 14"/>
          <p:cNvSpPr/>
          <p:nvPr/>
        </p:nvSpPr>
        <p:spPr>
          <a:xfrm>
            <a:off x="5852160" y="3246120"/>
            <a:ext cx="5943600" cy="91440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17" name="Shape 15"/>
          <p:cNvSpPr/>
          <p:nvPr/>
        </p:nvSpPr>
        <p:spPr>
          <a:xfrm>
            <a:off x="5989320" y="3429000"/>
            <a:ext cx="548640" cy="548640"/>
          </a:xfrm>
          <a:prstGeom prst="ellipse">
            <a:avLst/>
          </a:prstGeom>
          <a:solidFill>
            <a:srgbClr val="065A82"/>
          </a:solidFill>
          <a:ln w="12700">
            <a:solidFill>
              <a:srgbClr val="065A82"/>
            </a:solidFill>
            <a:prstDash val="solid"/>
          </a:ln>
        </p:spPr>
      </p:sp>
      <p:sp>
        <p:nvSpPr>
          <p:cNvPr id="18" name="Text 16"/>
          <p:cNvSpPr/>
          <p:nvPr/>
        </p:nvSpPr>
        <p:spPr>
          <a:xfrm>
            <a:off x="5989320" y="3438144"/>
            <a:ext cx="548640" cy="53035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19" name="Text 17"/>
          <p:cNvSpPr/>
          <p:nvPr/>
        </p:nvSpPr>
        <p:spPr>
          <a:xfrm>
            <a:off x="6675120" y="3383280"/>
            <a:ext cx="4572000" cy="274320"/>
          </a:xfrm>
          <a:prstGeom prst="rect">
            <a:avLst/>
          </a:prstGeom>
          <a:noFill/>
          <a:ln/>
        </p:spPr>
        <p:txBody>
          <a:bodyPr wrap="square" lIns="0" tIns="0" rIns="0" bIns="0" rtlCol="0" anchor="ctr"/>
          <a:lstStyle/>
          <a:p>
            <a:pPr marL="0" indent="0">
              <a:buNone/>
            </a:pPr>
            <a:r>
              <a:rPr lang="en-US" sz="1300" b="1" kern="0" spc="100" dirty="0">
                <a:solidFill>
                  <a:srgbClr val="F96167"/>
                </a:solidFill>
                <a:latin typeface="Calibri" pitchFamily="34" charset="0"/>
                <a:ea typeface="Calibri" pitchFamily="34" charset="-122"/>
                <a:cs typeface="Calibri" pitchFamily="34" charset="-120"/>
              </a:rPr>
              <a:t>NAVIGUER</a:t>
            </a:r>
            <a:endParaRPr lang="en-US" sz="1300" dirty="0"/>
          </a:p>
        </p:txBody>
      </p:sp>
      <p:sp>
        <p:nvSpPr>
          <p:cNvPr id="20" name="Text 18"/>
          <p:cNvSpPr/>
          <p:nvPr/>
        </p:nvSpPr>
        <p:spPr>
          <a:xfrm>
            <a:off x="6675120" y="3630168"/>
            <a:ext cx="4937760" cy="5029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le paysage des 10+ providers (AWS, Google, Snowflake, Meta, LiveRamp, InfoSum...) et savoir qui fait quoi.</a:t>
            </a:r>
            <a:endParaRPr lang="en-US" sz="1100" dirty="0"/>
          </a:p>
        </p:txBody>
      </p:sp>
      <p:sp>
        <p:nvSpPr>
          <p:cNvPr id="21" name="Shape 19"/>
          <p:cNvSpPr/>
          <p:nvPr/>
        </p:nvSpPr>
        <p:spPr>
          <a:xfrm>
            <a:off x="5852160" y="4297680"/>
            <a:ext cx="5943600" cy="91440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22" name="Shape 20"/>
          <p:cNvSpPr/>
          <p:nvPr/>
        </p:nvSpPr>
        <p:spPr>
          <a:xfrm>
            <a:off x="5989320" y="4480560"/>
            <a:ext cx="548640" cy="548640"/>
          </a:xfrm>
          <a:prstGeom prst="ellipse">
            <a:avLst/>
          </a:prstGeom>
          <a:solidFill>
            <a:srgbClr val="065A82"/>
          </a:solidFill>
          <a:ln w="12700">
            <a:solidFill>
              <a:srgbClr val="065A82"/>
            </a:solidFill>
            <a:prstDash val="solid"/>
          </a:ln>
        </p:spPr>
      </p:sp>
      <p:sp>
        <p:nvSpPr>
          <p:cNvPr id="23" name="Text 21"/>
          <p:cNvSpPr/>
          <p:nvPr/>
        </p:nvSpPr>
        <p:spPr>
          <a:xfrm>
            <a:off x="5989320" y="4489704"/>
            <a:ext cx="548640" cy="53035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24" name="Text 22"/>
          <p:cNvSpPr/>
          <p:nvPr/>
        </p:nvSpPr>
        <p:spPr>
          <a:xfrm>
            <a:off x="6675120" y="4434840"/>
            <a:ext cx="4572000" cy="274320"/>
          </a:xfrm>
          <a:prstGeom prst="rect">
            <a:avLst/>
          </a:prstGeom>
          <a:noFill/>
          <a:ln/>
        </p:spPr>
        <p:txBody>
          <a:bodyPr wrap="square" lIns="0" tIns="0" rIns="0" bIns="0" rtlCol="0" anchor="ctr"/>
          <a:lstStyle/>
          <a:p>
            <a:pPr marL="0" indent="0">
              <a:buNone/>
            </a:pPr>
            <a:r>
              <a:rPr lang="en-US" sz="1300" b="1" kern="0" spc="100" dirty="0">
                <a:solidFill>
                  <a:srgbClr val="F96167"/>
                </a:solidFill>
                <a:latin typeface="Calibri" pitchFamily="34" charset="0"/>
                <a:ea typeface="Calibri" pitchFamily="34" charset="-122"/>
                <a:cs typeface="Calibri" pitchFamily="34" charset="-120"/>
              </a:rPr>
              <a:t>CHOISIR</a:t>
            </a:r>
            <a:endParaRPr lang="en-US" sz="1300" dirty="0"/>
          </a:p>
        </p:txBody>
      </p:sp>
      <p:sp>
        <p:nvSpPr>
          <p:cNvPr id="25" name="Text 23"/>
          <p:cNvSpPr/>
          <p:nvPr/>
        </p:nvSpPr>
        <p:spPr>
          <a:xfrm>
            <a:off x="6675120" y="4681728"/>
            <a:ext cx="4937760" cy="5029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le bon DCR pour un besoin marketing donné (audience extension, attribution, retail media, mesure...).</a:t>
            </a:r>
            <a:endParaRPr lang="en-US" sz="1100" dirty="0"/>
          </a:p>
        </p:txBody>
      </p:sp>
      <p:sp>
        <p:nvSpPr>
          <p:cNvPr id="26" name="Shape 24"/>
          <p:cNvSpPr/>
          <p:nvPr/>
        </p:nvSpPr>
        <p:spPr>
          <a:xfrm>
            <a:off x="5852160" y="5349240"/>
            <a:ext cx="5943600" cy="91440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27" name="Shape 25"/>
          <p:cNvSpPr/>
          <p:nvPr/>
        </p:nvSpPr>
        <p:spPr>
          <a:xfrm>
            <a:off x="5989320" y="5532120"/>
            <a:ext cx="548640" cy="548640"/>
          </a:xfrm>
          <a:prstGeom prst="ellipse">
            <a:avLst/>
          </a:prstGeom>
          <a:solidFill>
            <a:srgbClr val="065A82"/>
          </a:solidFill>
          <a:ln w="12700">
            <a:solidFill>
              <a:srgbClr val="065A82"/>
            </a:solidFill>
            <a:prstDash val="solid"/>
          </a:ln>
        </p:spPr>
      </p:sp>
      <p:sp>
        <p:nvSpPr>
          <p:cNvPr id="28" name="Text 26"/>
          <p:cNvSpPr/>
          <p:nvPr/>
        </p:nvSpPr>
        <p:spPr>
          <a:xfrm>
            <a:off x="5989320" y="5541264"/>
            <a:ext cx="548640" cy="53035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sp>
        <p:nvSpPr>
          <p:cNvPr id="29" name="Text 27"/>
          <p:cNvSpPr/>
          <p:nvPr/>
        </p:nvSpPr>
        <p:spPr>
          <a:xfrm>
            <a:off x="6675120" y="5486400"/>
            <a:ext cx="4572000" cy="274320"/>
          </a:xfrm>
          <a:prstGeom prst="rect">
            <a:avLst/>
          </a:prstGeom>
          <a:noFill/>
          <a:ln/>
        </p:spPr>
        <p:txBody>
          <a:bodyPr wrap="square" lIns="0" tIns="0" rIns="0" bIns="0" rtlCol="0" anchor="ctr"/>
          <a:lstStyle/>
          <a:p>
            <a:pPr marL="0" indent="0">
              <a:buNone/>
            </a:pPr>
            <a:r>
              <a:rPr lang="en-US" sz="1300" b="1" kern="0" spc="100" dirty="0">
                <a:solidFill>
                  <a:srgbClr val="F96167"/>
                </a:solidFill>
                <a:latin typeface="Calibri" pitchFamily="34" charset="0"/>
                <a:ea typeface="Calibri" pitchFamily="34" charset="-122"/>
                <a:cs typeface="Calibri" pitchFamily="34" charset="-120"/>
              </a:rPr>
              <a:t>PITCHER</a:t>
            </a:r>
            <a:endParaRPr lang="en-US" sz="1300" dirty="0"/>
          </a:p>
        </p:txBody>
      </p:sp>
      <p:sp>
        <p:nvSpPr>
          <p:cNvPr id="30" name="Text 28"/>
          <p:cNvSpPr/>
          <p:nvPr/>
        </p:nvSpPr>
        <p:spPr>
          <a:xfrm>
            <a:off x="6675120" y="5733288"/>
            <a:ext cx="4937760" cy="5029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un projet DCR à votre direction avec un business case chiffré et un plan d'activation 12 semaines.</a:t>
            </a:r>
            <a:endParaRPr lang="en-US" sz="1100" dirty="0"/>
          </a:p>
        </p:txBody>
      </p:sp>
      <p:sp>
        <p:nvSpPr>
          <p:cNvPr id="31" name="Shape 29"/>
          <p:cNvSpPr/>
          <p:nvPr/>
        </p:nvSpPr>
        <p:spPr>
          <a:xfrm>
            <a:off x="0" y="6583680"/>
            <a:ext cx="12191695" cy="274320"/>
          </a:xfrm>
          <a:prstGeom prst="rect">
            <a:avLst/>
          </a:prstGeom>
          <a:solidFill>
            <a:srgbClr val="0B1F3A"/>
          </a:solidFill>
          <a:ln w="12700">
            <a:solidFill>
              <a:srgbClr val="0B1F3A"/>
            </a:solidFill>
            <a:prstDash val="solid"/>
          </a:ln>
        </p:spPr>
      </p:sp>
      <p:sp>
        <p:nvSpPr>
          <p:cNvPr id="32" name="Text 30"/>
          <p:cNvSpPr/>
          <p:nvPr/>
        </p:nvSpPr>
        <p:spPr>
          <a:xfrm>
            <a:off x="365760" y="6601968"/>
            <a:ext cx="822960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Introduction</a:t>
            </a:r>
            <a:endParaRPr lang="en-US" sz="1000" dirty="0"/>
          </a:p>
        </p:txBody>
      </p:sp>
      <p:sp>
        <p:nvSpPr>
          <p:cNvPr id="33" name="Text 31"/>
          <p:cNvSpPr/>
          <p:nvPr/>
        </p:nvSpPr>
        <p:spPr>
          <a:xfrm>
            <a:off x="11551615" y="6601968"/>
            <a:ext cx="365760" cy="237744"/>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C"/>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731520"/>
          </a:xfrm>
          <a:prstGeom prst="rect">
            <a:avLst/>
          </a:prstGeom>
          <a:noFill/>
          <a:ln/>
        </p:spPr>
        <p:txBody>
          <a:bodyPr wrap="square" lIns="0" tIns="0" rIns="0" bIns="0" rtlCol="0" anchor="ctr"/>
          <a:lstStyle/>
          <a:p>
            <a:pPr marL="0" indent="0" algn="l">
              <a:buNone/>
            </a:pPr>
            <a:r>
              <a:rPr lang="en-US" sz="3200" b="1" dirty="0" err="1">
                <a:solidFill>
                  <a:srgbClr val="0B1F3A"/>
                </a:solidFill>
                <a:latin typeface="Calibri" pitchFamily="34" charset="0"/>
                <a:ea typeface="Calibri" pitchFamily="34" charset="-122"/>
                <a:cs typeface="Calibri" pitchFamily="34" charset="-120"/>
              </a:rPr>
              <a:t>Programme</a:t>
            </a:r>
            <a:r>
              <a:rPr lang="en-US" sz="3200" b="1" dirty="0">
                <a:solidFill>
                  <a:srgbClr val="0B1F3A"/>
                </a:solidFill>
                <a:latin typeface="Calibri" pitchFamily="34" charset="0"/>
                <a:ea typeface="Calibri" pitchFamily="34" charset="-122"/>
                <a:cs typeface="Calibri" pitchFamily="34" charset="-120"/>
              </a:rPr>
              <a:t>  14 heures, 4 sessions</a:t>
            </a:r>
            <a:endParaRPr lang="en-US" sz="3200" dirty="0"/>
          </a:p>
        </p:txBody>
      </p:sp>
      <p:sp>
        <p:nvSpPr>
          <p:cNvPr id="3" name="Shape 1"/>
          <p:cNvSpPr/>
          <p:nvPr/>
        </p:nvSpPr>
        <p:spPr>
          <a:xfrm>
            <a:off x="548640" y="1005840"/>
            <a:ext cx="548640" cy="73152"/>
          </a:xfrm>
          <a:prstGeom prst="rect">
            <a:avLst/>
          </a:prstGeom>
          <a:solidFill>
            <a:srgbClr val="F96167"/>
          </a:solidFill>
          <a:ln w="12700">
            <a:solidFill>
              <a:srgbClr val="F96167"/>
            </a:solidFill>
            <a:prstDash val="solid"/>
          </a:ln>
        </p:spPr>
      </p:sp>
      <p:sp>
        <p:nvSpPr>
          <p:cNvPr id="4" name="Text 2"/>
          <p:cNvSpPr/>
          <p:nvPr/>
        </p:nvSpPr>
        <p:spPr>
          <a:xfrm>
            <a:off x="548640" y="1143000"/>
            <a:ext cx="11064240" cy="411480"/>
          </a:xfrm>
          <a:prstGeom prst="rect">
            <a:avLst/>
          </a:prstGeom>
          <a:noFill/>
          <a:ln/>
        </p:spPr>
        <p:txBody>
          <a:bodyPr wrap="square" lIns="0" tIns="0" rIns="0" bIns="0" rtlCol="0" anchor="ctr"/>
          <a:lstStyle/>
          <a:p>
            <a:pPr marL="0" indent="0" algn="l">
              <a:buNone/>
            </a:pPr>
            <a:r>
              <a:rPr lang="en-US" sz="1600" i="1" dirty="0">
                <a:solidFill>
                  <a:srgbClr val="1C7293"/>
                </a:solidFill>
                <a:latin typeface="Calibri" pitchFamily="34" charset="0"/>
                <a:ea typeface="Calibri" pitchFamily="34" charset="-122"/>
                <a:cs typeface="Calibri" pitchFamily="34" charset="-120"/>
              </a:rPr>
              <a:t>Des concepts au pitch final : un parcours orienté action.</a:t>
            </a:r>
            <a:endParaRPr lang="en-US" sz="1600" dirty="0"/>
          </a:p>
        </p:txBody>
      </p:sp>
      <p:sp>
        <p:nvSpPr>
          <p:cNvPr id="5" name="Shape 3"/>
          <p:cNvSpPr/>
          <p:nvPr/>
        </p:nvSpPr>
        <p:spPr>
          <a:xfrm>
            <a:off x="548640" y="1737360"/>
            <a:ext cx="11064240" cy="100584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6" name="Shape 4"/>
          <p:cNvSpPr/>
          <p:nvPr/>
        </p:nvSpPr>
        <p:spPr>
          <a:xfrm>
            <a:off x="548640" y="1737360"/>
            <a:ext cx="137160" cy="1005840"/>
          </a:xfrm>
          <a:prstGeom prst="rect">
            <a:avLst/>
          </a:prstGeom>
          <a:solidFill>
            <a:srgbClr val="065A82"/>
          </a:solidFill>
          <a:ln w="12700">
            <a:solidFill>
              <a:srgbClr val="065A82"/>
            </a:solidFill>
            <a:prstDash val="solid"/>
          </a:ln>
        </p:spPr>
      </p:sp>
      <p:sp>
        <p:nvSpPr>
          <p:cNvPr id="7" name="Text 5"/>
          <p:cNvSpPr/>
          <p:nvPr/>
        </p:nvSpPr>
        <p:spPr>
          <a:xfrm>
            <a:off x="868680" y="1874520"/>
            <a:ext cx="2286000" cy="274320"/>
          </a:xfrm>
          <a:prstGeom prst="rect">
            <a:avLst/>
          </a:prstGeom>
          <a:noFill/>
          <a:ln/>
        </p:spPr>
        <p:txBody>
          <a:bodyPr wrap="square" lIns="0" tIns="0" rIns="0" bIns="0" rtlCol="0" anchor="ctr"/>
          <a:lstStyle/>
          <a:p>
            <a:pPr marL="0" indent="0">
              <a:buNone/>
            </a:pPr>
            <a:r>
              <a:rPr lang="en-US" sz="1100" b="1" kern="0" spc="200" dirty="0">
                <a:solidFill>
                  <a:srgbClr val="065A82"/>
                </a:solidFill>
                <a:latin typeface="Calibri" pitchFamily="34" charset="0"/>
                <a:ea typeface="Calibri" pitchFamily="34" charset="-122"/>
                <a:cs typeface="Calibri" pitchFamily="34" charset="-120"/>
              </a:rPr>
              <a:t>SESSION 1</a:t>
            </a:r>
            <a:endParaRPr lang="en-US" sz="1100" dirty="0"/>
          </a:p>
        </p:txBody>
      </p:sp>
      <p:sp>
        <p:nvSpPr>
          <p:cNvPr id="8" name="Text 6"/>
          <p:cNvSpPr/>
          <p:nvPr/>
        </p:nvSpPr>
        <p:spPr>
          <a:xfrm>
            <a:off x="868680" y="2103120"/>
            <a:ext cx="5029200" cy="457200"/>
          </a:xfrm>
          <a:prstGeom prst="rect">
            <a:avLst/>
          </a:prstGeom>
          <a:noFill/>
          <a:ln/>
        </p:spPr>
        <p:txBody>
          <a:bodyPr wrap="square" lIns="0" tIns="0" rIns="0" bIns="0" rtlCol="0" anchor="ctr"/>
          <a:lstStyle/>
          <a:p>
            <a:pPr marL="0" indent="0">
              <a:buNone/>
            </a:pPr>
            <a:r>
              <a:rPr lang="en-US" sz="1900" b="1" dirty="0">
                <a:solidFill>
                  <a:srgbClr val="0B1F3A"/>
                </a:solidFill>
                <a:latin typeface="Calibri" pitchFamily="34" charset="0"/>
                <a:ea typeface="Calibri" pitchFamily="34" charset="-122"/>
                <a:cs typeface="Calibri" pitchFamily="34" charset="-120"/>
              </a:rPr>
              <a:t>Comprendre les DCR</a:t>
            </a:r>
            <a:endParaRPr lang="en-US" sz="1900" dirty="0"/>
          </a:p>
        </p:txBody>
      </p:sp>
      <p:sp>
        <p:nvSpPr>
          <p:cNvPr id="9" name="Text 7"/>
          <p:cNvSpPr/>
          <p:nvPr/>
        </p:nvSpPr>
        <p:spPr>
          <a:xfrm>
            <a:off x="9875520" y="1874520"/>
            <a:ext cx="1645920" cy="320040"/>
          </a:xfrm>
          <a:prstGeom prst="rect">
            <a:avLst/>
          </a:prstGeom>
          <a:noFill/>
          <a:ln/>
        </p:spPr>
        <p:txBody>
          <a:bodyPr wrap="square" lIns="0" tIns="0" rIns="0" bIns="0" rtlCol="0" anchor="ctr"/>
          <a:lstStyle/>
          <a:p>
            <a:pPr marL="0" indent="0" algn="r">
              <a:buNone/>
            </a:pPr>
            <a:r>
              <a:rPr lang="en-US" sz="1100" b="1" dirty="0">
                <a:solidFill>
                  <a:srgbClr val="64748B"/>
                </a:solidFill>
                <a:latin typeface="Calibri" pitchFamily="34" charset="0"/>
                <a:ea typeface="Calibri" pitchFamily="34" charset="-122"/>
                <a:cs typeface="Calibri" pitchFamily="34" charset="-120"/>
              </a:rPr>
              <a:t>3h30</a:t>
            </a:r>
            <a:endParaRPr lang="en-US" sz="1100" dirty="0"/>
          </a:p>
        </p:txBody>
      </p:sp>
      <p:sp>
        <p:nvSpPr>
          <p:cNvPr id="10" name="Text 8"/>
          <p:cNvSpPr/>
          <p:nvPr/>
        </p:nvSpPr>
        <p:spPr>
          <a:xfrm>
            <a:off x="5943600" y="2103120"/>
            <a:ext cx="5577840" cy="59436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Pourquoi, comment, pour quoi faire.</a:t>
            </a: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Le contexte post-cookies, la mécanique des DCR, les 4 familles de cas d'usage marketing.</a:t>
            </a:r>
            <a:endParaRPr lang="en-US" sz="1100" dirty="0"/>
          </a:p>
        </p:txBody>
      </p:sp>
      <p:sp>
        <p:nvSpPr>
          <p:cNvPr id="11" name="Shape 9"/>
          <p:cNvSpPr/>
          <p:nvPr/>
        </p:nvSpPr>
        <p:spPr>
          <a:xfrm>
            <a:off x="548640" y="2880360"/>
            <a:ext cx="11064240" cy="100584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12" name="Shape 10"/>
          <p:cNvSpPr/>
          <p:nvPr/>
        </p:nvSpPr>
        <p:spPr>
          <a:xfrm>
            <a:off x="548640" y="2880360"/>
            <a:ext cx="137160" cy="1005840"/>
          </a:xfrm>
          <a:prstGeom prst="rect">
            <a:avLst/>
          </a:prstGeom>
          <a:solidFill>
            <a:srgbClr val="1C7293"/>
          </a:solidFill>
          <a:ln w="12700">
            <a:solidFill>
              <a:srgbClr val="1C7293"/>
            </a:solidFill>
            <a:prstDash val="solid"/>
          </a:ln>
        </p:spPr>
      </p:sp>
      <p:sp>
        <p:nvSpPr>
          <p:cNvPr id="13" name="Text 11"/>
          <p:cNvSpPr/>
          <p:nvPr/>
        </p:nvSpPr>
        <p:spPr>
          <a:xfrm>
            <a:off x="868680" y="3017520"/>
            <a:ext cx="2286000" cy="274320"/>
          </a:xfrm>
          <a:prstGeom prst="rect">
            <a:avLst/>
          </a:prstGeom>
          <a:noFill/>
          <a:ln/>
        </p:spPr>
        <p:txBody>
          <a:bodyPr wrap="square" lIns="0" tIns="0" rIns="0" bIns="0" rtlCol="0" anchor="ctr"/>
          <a:lstStyle/>
          <a:p>
            <a:pPr marL="0" indent="0">
              <a:buNone/>
            </a:pPr>
            <a:r>
              <a:rPr lang="en-US" sz="1100" b="1" kern="0" spc="200" dirty="0">
                <a:solidFill>
                  <a:srgbClr val="1C7293"/>
                </a:solidFill>
                <a:latin typeface="Calibri" pitchFamily="34" charset="0"/>
                <a:ea typeface="Calibri" pitchFamily="34" charset="-122"/>
                <a:cs typeface="Calibri" pitchFamily="34" charset="-120"/>
              </a:rPr>
              <a:t>SESSION 2</a:t>
            </a:r>
            <a:endParaRPr lang="en-US" sz="1100" dirty="0"/>
          </a:p>
        </p:txBody>
      </p:sp>
      <p:sp>
        <p:nvSpPr>
          <p:cNvPr id="14" name="Text 12"/>
          <p:cNvSpPr/>
          <p:nvPr/>
        </p:nvSpPr>
        <p:spPr>
          <a:xfrm>
            <a:off x="868680" y="3246120"/>
            <a:ext cx="5029200" cy="457200"/>
          </a:xfrm>
          <a:prstGeom prst="rect">
            <a:avLst/>
          </a:prstGeom>
          <a:noFill/>
          <a:ln/>
        </p:spPr>
        <p:txBody>
          <a:bodyPr wrap="square" lIns="0" tIns="0" rIns="0" bIns="0" rtlCol="0" anchor="ctr"/>
          <a:lstStyle/>
          <a:p>
            <a:pPr marL="0" indent="0">
              <a:buNone/>
            </a:pPr>
            <a:r>
              <a:rPr lang="en-US" sz="1900" b="1" dirty="0">
                <a:solidFill>
                  <a:srgbClr val="0B1F3A"/>
                </a:solidFill>
                <a:latin typeface="Calibri" pitchFamily="34" charset="0"/>
                <a:ea typeface="Calibri" pitchFamily="34" charset="-122"/>
                <a:cs typeface="Calibri" pitchFamily="34" charset="-120"/>
              </a:rPr>
              <a:t>Providers Cloud &amp; Data</a:t>
            </a:r>
            <a:endParaRPr lang="en-US" sz="1900" dirty="0"/>
          </a:p>
        </p:txBody>
      </p:sp>
      <p:sp>
        <p:nvSpPr>
          <p:cNvPr id="15" name="Text 13"/>
          <p:cNvSpPr/>
          <p:nvPr/>
        </p:nvSpPr>
        <p:spPr>
          <a:xfrm>
            <a:off x="9875520" y="3017520"/>
            <a:ext cx="1645920" cy="320040"/>
          </a:xfrm>
          <a:prstGeom prst="rect">
            <a:avLst/>
          </a:prstGeom>
          <a:noFill/>
          <a:ln/>
        </p:spPr>
        <p:txBody>
          <a:bodyPr wrap="square" lIns="0" tIns="0" rIns="0" bIns="0" rtlCol="0" anchor="ctr"/>
          <a:lstStyle/>
          <a:p>
            <a:pPr marL="0" indent="0" algn="r">
              <a:buNone/>
            </a:pPr>
            <a:r>
              <a:rPr lang="en-US" sz="1100" b="1" dirty="0">
                <a:solidFill>
                  <a:srgbClr val="64748B"/>
                </a:solidFill>
                <a:latin typeface="Calibri" pitchFamily="34" charset="0"/>
                <a:ea typeface="Calibri" pitchFamily="34" charset="-122"/>
                <a:cs typeface="Calibri" pitchFamily="34" charset="-120"/>
              </a:rPr>
              <a:t>3h30</a:t>
            </a:r>
            <a:endParaRPr lang="en-US" sz="1100" dirty="0"/>
          </a:p>
        </p:txBody>
      </p:sp>
      <p:sp>
        <p:nvSpPr>
          <p:cNvPr id="16" name="Text 14"/>
          <p:cNvSpPr/>
          <p:nvPr/>
        </p:nvSpPr>
        <p:spPr>
          <a:xfrm>
            <a:off x="5943600" y="3246120"/>
            <a:ext cx="5577840" cy="59436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AWS Clean Rooms, Google ADH/BigQuery, Snowflake, Databricks, Samooha.</a:t>
            </a: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Cas marketing concrets pour chacun.</a:t>
            </a:r>
            <a:endParaRPr lang="en-US" sz="1100" dirty="0"/>
          </a:p>
        </p:txBody>
      </p:sp>
      <p:sp>
        <p:nvSpPr>
          <p:cNvPr id="17" name="Shape 15"/>
          <p:cNvSpPr/>
          <p:nvPr/>
        </p:nvSpPr>
        <p:spPr>
          <a:xfrm>
            <a:off x="548640" y="4023360"/>
            <a:ext cx="11064240" cy="100584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18" name="Shape 16"/>
          <p:cNvSpPr/>
          <p:nvPr/>
        </p:nvSpPr>
        <p:spPr>
          <a:xfrm>
            <a:off x="548640" y="4023360"/>
            <a:ext cx="137160" cy="1005840"/>
          </a:xfrm>
          <a:prstGeom prst="rect">
            <a:avLst/>
          </a:prstGeom>
          <a:solidFill>
            <a:srgbClr val="21295C"/>
          </a:solidFill>
          <a:ln w="12700">
            <a:solidFill>
              <a:srgbClr val="21295C"/>
            </a:solidFill>
            <a:prstDash val="solid"/>
          </a:ln>
        </p:spPr>
      </p:sp>
      <p:sp>
        <p:nvSpPr>
          <p:cNvPr id="19" name="Text 17"/>
          <p:cNvSpPr/>
          <p:nvPr/>
        </p:nvSpPr>
        <p:spPr>
          <a:xfrm>
            <a:off x="868680" y="4160520"/>
            <a:ext cx="2286000" cy="274320"/>
          </a:xfrm>
          <a:prstGeom prst="rect">
            <a:avLst/>
          </a:prstGeom>
          <a:noFill/>
          <a:ln/>
        </p:spPr>
        <p:txBody>
          <a:bodyPr wrap="square" lIns="0" tIns="0" rIns="0" bIns="0" rtlCol="0" anchor="ctr"/>
          <a:lstStyle/>
          <a:p>
            <a:pPr marL="0" indent="0">
              <a:buNone/>
            </a:pPr>
            <a:r>
              <a:rPr lang="en-US" sz="1100" b="1" kern="0" spc="200" dirty="0">
                <a:solidFill>
                  <a:srgbClr val="21295C"/>
                </a:solidFill>
                <a:latin typeface="Calibri" pitchFamily="34" charset="0"/>
                <a:ea typeface="Calibri" pitchFamily="34" charset="-122"/>
                <a:cs typeface="Calibri" pitchFamily="34" charset="-120"/>
              </a:rPr>
              <a:t>SESSION 3</a:t>
            </a:r>
            <a:endParaRPr lang="en-US" sz="1100" dirty="0"/>
          </a:p>
        </p:txBody>
      </p:sp>
      <p:sp>
        <p:nvSpPr>
          <p:cNvPr id="20" name="Text 18"/>
          <p:cNvSpPr/>
          <p:nvPr/>
        </p:nvSpPr>
        <p:spPr>
          <a:xfrm>
            <a:off x="868680" y="4389120"/>
            <a:ext cx="5029200" cy="457200"/>
          </a:xfrm>
          <a:prstGeom prst="rect">
            <a:avLst/>
          </a:prstGeom>
          <a:noFill/>
          <a:ln/>
        </p:spPr>
        <p:txBody>
          <a:bodyPr wrap="square" lIns="0" tIns="0" rIns="0" bIns="0" rtlCol="0" anchor="ctr"/>
          <a:lstStyle/>
          <a:p>
            <a:pPr marL="0" indent="0">
              <a:buNone/>
            </a:pPr>
            <a:r>
              <a:rPr lang="en-US" sz="1900" b="1" dirty="0">
                <a:solidFill>
                  <a:srgbClr val="0B1F3A"/>
                </a:solidFill>
                <a:latin typeface="Calibri" pitchFamily="34" charset="0"/>
                <a:ea typeface="Calibri" pitchFamily="34" charset="-122"/>
                <a:cs typeface="Calibri" pitchFamily="34" charset="-120"/>
              </a:rPr>
              <a:t>Providers Ads &amp; Neutres</a:t>
            </a:r>
            <a:endParaRPr lang="en-US" sz="1900" dirty="0"/>
          </a:p>
        </p:txBody>
      </p:sp>
      <p:sp>
        <p:nvSpPr>
          <p:cNvPr id="21" name="Text 19"/>
          <p:cNvSpPr/>
          <p:nvPr/>
        </p:nvSpPr>
        <p:spPr>
          <a:xfrm>
            <a:off x="9875520" y="4160520"/>
            <a:ext cx="1645920" cy="320040"/>
          </a:xfrm>
          <a:prstGeom prst="rect">
            <a:avLst/>
          </a:prstGeom>
          <a:noFill/>
          <a:ln/>
        </p:spPr>
        <p:txBody>
          <a:bodyPr wrap="square" lIns="0" tIns="0" rIns="0" bIns="0" rtlCol="0" anchor="ctr"/>
          <a:lstStyle/>
          <a:p>
            <a:pPr marL="0" indent="0" algn="r">
              <a:buNone/>
            </a:pPr>
            <a:r>
              <a:rPr lang="en-US" sz="1100" b="1" dirty="0">
                <a:solidFill>
                  <a:srgbClr val="64748B"/>
                </a:solidFill>
                <a:latin typeface="Calibri" pitchFamily="34" charset="0"/>
                <a:ea typeface="Calibri" pitchFamily="34" charset="-122"/>
                <a:cs typeface="Calibri" pitchFamily="34" charset="-120"/>
              </a:rPr>
              <a:t>3h30</a:t>
            </a:r>
            <a:endParaRPr lang="en-US" sz="1100" dirty="0"/>
          </a:p>
        </p:txBody>
      </p:sp>
      <p:sp>
        <p:nvSpPr>
          <p:cNvPr id="22" name="Text 20"/>
          <p:cNvSpPr/>
          <p:nvPr/>
        </p:nvSpPr>
        <p:spPr>
          <a:xfrm>
            <a:off x="5943600" y="4389120"/>
            <a:ext cx="5577840" cy="59436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Meta AA, Amazon AMC, The Trade Desk/UID 2.0, LiveRamp, InfoSum, Habu, Decentriq.</a:t>
            </a: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Cas marketing concrets pour chacun.</a:t>
            </a:r>
            <a:endParaRPr lang="en-US" sz="1100" dirty="0"/>
          </a:p>
        </p:txBody>
      </p:sp>
      <p:sp>
        <p:nvSpPr>
          <p:cNvPr id="23" name="Shape 21"/>
          <p:cNvSpPr/>
          <p:nvPr/>
        </p:nvSpPr>
        <p:spPr>
          <a:xfrm>
            <a:off x="548640" y="5166360"/>
            <a:ext cx="11064240" cy="100584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24" name="Shape 22"/>
          <p:cNvSpPr/>
          <p:nvPr/>
        </p:nvSpPr>
        <p:spPr>
          <a:xfrm>
            <a:off x="548640" y="5166360"/>
            <a:ext cx="137160" cy="1005840"/>
          </a:xfrm>
          <a:prstGeom prst="rect">
            <a:avLst/>
          </a:prstGeom>
          <a:solidFill>
            <a:srgbClr val="F96167"/>
          </a:solidFill>
          <a:ln w="12700">
            <a:solidFill>
              <a:srgbClr val="F96167"/>
            </a:solidFill>
            <a:prstDash val="solid"/>
          </a:ln>
        </p:spPr>
      </p:sp>
      <p:sp>
        <p:nvSpPr>
          <p:cNvPr id="25" name="Text 23"/>
          <p:cNvSpPr/>
          <p:nvPr/>
        </p:nvSpPr>
        <p:spPr>
          <a:xfrm>
            <a:off x="868680" y="5303520"/>
            <a:ext cx="2286000" cy="274320"/>
          </a:xfrm>
          <a:prstGeom prst="rect">
            <a:avLst/>
          </a:prstGeom>
          <a:noFill/>
          <a:ln/>
        </p:spPr>
        <p:txBody>
          <a:bodyPr wrap="square" lIns="0" tIns="0" rIns="0" bIns="0" rtlCol="0" anchor="ctr"/>
          <a:lstStyle/>
          <a:p>
            <a:pPr marL="0" indent="0">
              <a:buNone/>
            </a:pPr>
            <a:r>
              <a:rPr lang="en-US" sz="1100" b="1" kern="0" spc="200" dirty="0">
                <a:solidFill>
                  <a:srgbClr val="F96167"/>
                </a:solidFill>
                <a:latin typeface="Calibri" pitchFamily="34" charset="0"/>
                <a:ea typeface="Calibri" pitchFamily="34" charset="-122"/>
                <a:cs typeface="Calibri" pitchFamily="34" charset="-120"/>
              </a:rPr>
              <a:t>SESSION 4</a:t>
            </a:r>
            <a:endParaRPr lang="en-US" sz="1100" dirty="0"/>
          </a:p>
        </p:txBody>
      </p:sp>
      <p:sp>
        <p:nvSpPr>
          <p:cNvPr id="26" name="Text 24"/>
          <p:cNvSpPr/>
          <p:nvPr/>
        </p:nvSpPr>
        <p:spPr>
          <a:xfrm>
            <a:off x="868680" y="5532120"/>
            <a:ext cx="5029200" cy="457200"/>
          </a:xfrm>
          <a:prstGeom prst="rect">
            <a:avLst/>
          </a:prstGeom>
          <a:noFill/>
          <a:ln/>
        </p:spPr>
        <p:txBody>
          <a:bodyPr wrap="square" lIns="0" tIns="0" rIns="0" bIns="0" rtlCol="0" anchor="ctr"/>
          <a:lstStyle/>
          <a:p>
            <a:pPr marL="0" indent="0">
              <a:buNone/>
            </a:pPr>
            <a:r>
              <a:rPr lang="en-US" sz="1900" b="1" dirty="0">
                <a:solidFill>
                  <a:srgbClr val="0B1F3A"/>
                </a:solidFill>
                <a:latin typeface="Calibri" pitchFamily="34" charset="0"/>
                <a:ea typeface="Calibri" pitchFamily="34" charset="-122"/>
                <a:cs typeface="Calibri" pitchFamily="34" charset="-120"/>
              </a:rPr>
              <a:t>Activer &amp; Implémenter</a:t>
            </a:r>
            <a:endParaRPr lang="en-US" sz="1900" dirty="0"/>
          </a:p>
        </p:txBody>
      </p:sp>
      <p:sp>
        <p:nvSpPr>
          <p:cNvPr id="27" name="Text 25"/>
          <p:cNvSpPr/>
          <p:nvPr/>
        </p:nvSpPr>
        <p:spPr>
          <a:xfrm>
            <a:off x="9875520" y="5303520"/>
            <a:ext cx="1645920" cy="320040"/>
          </a:xfrm>
          <a:prstGeom prst="rect">
            <a:avLst/>
          </a:prstGeom>
          <a:noFill/>
          <a:ln/>
        </p:spPr>
        <p:txBody>
          <a:bodyPr wrap="square" lIns="0" tIns="0" rIns="0" bIns="0" rtlCol="0" anchor="ctr"/>
          <a:lstStyle/>
          <a:p>
            <a:pPr marL="0" indent="0" algn="r">
              <a:buNone/>
            </a:pPr>
            <a:r>
              <a:rPr lang="en-US" sz="1100" b="1" dirty="0">
                <a:solidFill>
                  <a:srgbClr val="64748B"/>
                </a:solidFill>
                <a:latin typeface="Calibri" pitchFamily="34" charset="0"/>
                <a:ea typeface="Calibri" pitchFamily="34" charset="-122"/>
                <a:cs typeface="Calibri" pitchFamily="34" charset="-120"/>
              </a:rPr>
              <a:t>3h30</a:t>
            </a:r>
            <a:endParaRPr lang="en-US" sz="1100" dirty="0"/>
          </a:p>
        </p:txBody>
      </p:sp>
      <p:sp>
        <p:nvSpPr>
          <p:cNvPr id="28" name="Text 26"/>
          <p:cNvSpPr/>
          <p:nvPr/>
        </p:nvSpPr>
        <p:spPr>
          <a:xfrm>
            <a:off x="5943600" y="5532120"/>
            <a:ext cx="5577840" cy="59436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Choisir son DCR, pitcher à sa direction, briefer une agence, piloter un POC.</a:t>
            </a: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Case study ModeVerte + QCM final.</a:t>
            </a:r>
            <a:endParaRPr lang="en-US" sz="1100" dirty="0"/>
          </a:p>
        </p:txBody>
      </p:sp>
      <p:sp>
        <p:nvSpPr>
          <p:cNvPr id="29" name="Shape 27"/>
          <p:cNvSpPr/>
          <p:nvPr/>
        </p:nvSpPr>
        <p:spPr>
          <a:xfrm>
            <a:off x="0" y="6583680"/>
            <a:ext cx="12191695" cy="274320"/>
          </a:xfrm>
          <a:prstGeom prst="rect">
            <a:avLst/>
          </a:prstGeom>
          <a:solidFill>
            <a:srgbClr val="0B1F3A"/>
          </a:solidFill>
          <a:ln w="12700">
            <a:solidFill>
              <a:srgbClr val="0B1F3A"/>
            </a:solidFill>
            <a:prstDash val="solid"/>
          </a:ln>
        </p:spPr>
      </p:sp>
      <p:sp>
        <p:nvSpPr>
          <p:cNvPr id="30" name="Text 28"/>
          <p:cNvSpPr/>
          <p:nvPr/>
        </p:nvSpPr>
        <p:spPr>
          <a:xfrm>
            <a:off x="365760" y="6601968"/>
            <a:ext cx="822960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Introduction</a:t>
            </a:r>
            <a:endParaRPr lang="en-US" sz="1000" dirty="0"/>
          </a:p>
        </p:txBody>
      </p:sp>
      <p:sp>
        <p:nvSpPr>
          <p:cNvPr id="31" name="Text 29"/>
          <p:cNvSpPr/>
          <p:nvPr/>
        </p:nvSpPr>
        <p:spPr>
          <a:xfrm>
            <a:off x="11551615" y="6601968"/>
            <a:ext cx="365760" cy="237744"/>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2743200" y="-2743200"/>
            <a:ext cx="9144000" cy="9144000"/>
          </a:xfrm>
          <a:prstGeom prst="ellipse">
            <a:avLst/>
          </a:prstGeom>
          <a:solidFill>
            <a:srgbClr val="065A82">
              <a:alpha val="20000"/>
            </a:srgbClr>
          </a:solidFill>
          <a:ln w="12700">
            <a:solidFill>
              <a:srgbClr val="065A82">
                <a:alpha val="20000"/>
              </a:srgbClr>
            </a:solidFill>
            <a:prstDash val="solid"/>
          </a:ln>
        </p:spPr>
      </p:sp>
      <p:sp>
        <p:nvSpPr>
          <p:cNvPr id="3" name="Shape 1"/>
          <p:cNvSpPr/>
          <p:nvPr/>
        </p:nvSpPr>
        <p:spPr>
          <a:xfrm>
            <a:off x="548640" y="2743200"/>
            <a:ext cx="137160" cy="1188720"/>
          </a:xfrm>
          <a:prstGeom prst="rect">
            <a:avLst/>
          </a:prstGeom>
          <a:solidFill>
            <a:srgbClr val="F96167"/>
          </a:solidFill>
          <a:ln w="12700">
            <a:solidFill>
              <a:srgbClr val="F96167"/>
            </a:solidFill>
            <a:prstDash val="solid"/>
          </a:ln>
        </p:spPr>
      </p:sp>
      <p:sp>
        <p:nvSpPr>
          <p:cNvPr id="4" name="Text 2"/>
          <p:cNvSpPr/>
          <p:nvPr/>
        </p:nvSpPr>
        <p:spPr>
          <a:xfrm>
            <a:off x="548640" y="2103120"/>
            <a:ext cx="7315200" cy="457200"/>
          </a:xfrm>
          <a:prstGeom prst="rect">
            <a:avLst/>
          </a:prstGeom>
          <a:noFill/>
          <a:ln/>
        </p:spPr>
        <p:txBody>
          <a:bodyPr wrap="square" lIns="0" tIns="0" rIns="0" bIns="0" rtlCol="0" anchor="ctr"/>
          <a:lstStyle/>
          <a:p>
            <a:pPr marL="0" indent="0">
              <a:buNone/>
            </a:pPr>
            <a:r>
              <a:rPr lang="en-US" sz="1600" b="1" kern="0" spc="300" dirty="0">
                <a:solidFill>
                  <a:srgbClr val="F9B233"/>
                </a:solidFill>
                <a:latin typeface="Calibri" pitchFamily="34" charset="0"/>
                <a:ea typeface="Calibri" pitchFamily="34" charset="-122"/>
                <a:cs typeface="Calibri" pitchFamily="34" charset="-120"/>
              </a:rPr>
              <a:t>SESSION 1 / 4</a:t>
            </a:r>
            <a:endParaRPr lang="en-US" sz="1600" dirty="0"/>
          </a:p>
        </p:txBody>
      </p:sp>
      <p:sp>
        <p:nvSpPr>
          <p:cNvPr id="5" name="Text 3"/>
          <p:cNvSpPr/>
          <p:nvPr/>
        </p:nvSpPr>
        <p:spPr>
          <a:xfrm>
            <a:off x="548640" y="2651760"/>
            <a:ext cx="10972800" cy="2286000"/>
          </a:xfrm>
          <a:prstGeom prst="rect">
            <a:avLst/>
          </a:prstGeom>
          <a:noFill/>
          <a:ln/>
        </p:spPr>
        <p:txBody>
          <a:bodyPr wrap="square" lIns="0" tIns="0" rIns="0" bIns="0" rtlCol="0" anchor="ctr"/>
          <a:lstStyle/>
          <a:p>
            <a:pPr marL="0" indent="0">
              <a:buNone/>
            </a:pPr>
            <a:r>
              <a:rPr lang="en-US" sz="5400" b="1" dirty="0">
                <a:solidFill>
                  <a:srgbClr val="FFFFFF"/>
                </a:solidFill>
                <a:latin typeface="Calibri" pitchFamily="34" charset="0"/>
                <a:ea typeface="Calibri" pitchFamily="34" charset="-122"/>
                <a:cs typeface="Calibri" pitchFamily="34" charset="-120"/>
              </a:rPr>
              <a:t>Comprendre</a:t>
            </a:r>
            <a:endParaRPr lang="en-US" sz="5400" dirty="0"/>
          </a:p>
          <a:p>
            <a:pPr marL="0" indent="0">
              <a:buNone/>
            </a:pPr>
            <a:r>
              <a:rPr lang="en-US" sz="5400" b="1" dirty="0">
                <a:solidFill>
                  <a:srgbClr val="FFFFFF"/>
                </a:solidFill>
                <a:latin typeface="Calibri" pitchFamily="34" charset="0"/>
                <a:ea typeface="Calibri" pitchFamily="34" charset="-122"/>
                <a:cs typeface="Calibri" pitchFamily="34" charset="-120"/>
              </a:rPr>
              <a:t>les Data Clean Rooms</a:t>
            </a:r>
            <a:endParaRPr lang="en-US" sz="5400" dirty="0"/>
          </a:p>
        </p:txBody>
      </p:sp>
      <p:sp>
        <p:nvSpPr>
          <p:cNvPr id="6" name="Text 4"/>
          <p:cNvSpPr/>
          <p:nvPr/>
        </p:nvSpPr>
        <p:spPr>
          <a:xfrm>
            <a:off x="548640" y="5029200"/>
            <a:ext cx="10972800" cy="457200"/>
          </a:xfrm>
          <a:prstGeom prst="rect">
            <a:avLst/>
          </a:prstGeom>
          <a:noFill/>
          <a:ln/>
        </p:spPr>
        <p:txBody>
          <a:bodyPr wrap="square" lIns="0" tIns="0" rIns="0" bIns="0" rtlCol="0" anchor="ctr"/>
          <a:lstStyle/>
          <a:p>
            <a:pPr marL="0" indent="0">
              <a:buNone/>
            </a:pPr>
            <a:r>
              <a:rPr lang="en-US" sz="1800" i="1" dirty="0">
                <a:solidFill>
                  <a:srgbClr val="1C7293"/>
                </a:solidFill>
                <a:latin typeface="Calibri" pitchFamily="34" charset="0"/>
                <a:ea typeface="Calibri" pitchFamily="34" charset="-122"/>
                <a:cs typeface="Calibri" pitchFamily="34" charset="-120"/>
              </a:rPr>
              <a:t>De la mort du cookie tiers aux 4 familles de cas d'usage marketing</a:t>
            </a:r>
            <a:endParaRPr lang="en-US" sz="1800" dirty="0"/>
          </a:p>
        </p:txBody>
      </p:sp>
      <p:sp>
        <p:nvSpPr>
          <p:cNvPr id="7" name="Text 5"/>
          <p:cNvSpPr/>
          <p:nvPr/>
        </p:nvSpPr>
        <p:spPr>
          <a:xfrm>
            <a:off x="548640" y="5760720"/>
            <a:ext cx="5486400" cy="365760"/>
          </a:xfrm>
          <a:prstGeom prst="rect">
            <a:avLst/>
          </a:prstGeom>
          <a:noFill/>
          <a:ln/>
        </p:spPr>
        <p:txBody>
          <a:bodyPr wrap="square" lIns="0" tIns="0" rIns="0" bIns="0" rtlCol="0" anchor="ctr"/>
          <a:lstStyle/>
          <a:p>
            <a:pPr marL="0" indent="0">
              <a:buNone/>
            </a:pPr>
            <a:r>
              <a:rPr lang="en-US" sz="1300" dirty="0">
                <a:solidFill>
                  <a:srgbClr val="E2E8F0"/>
                </a:solidFill>
                <a:latin typeface="Calibri" pitchFamily="34" charset="0"/>
                <a:ea typeface="Calibri" pitchFamily="34" charset="-122"/>
                <a:cs typeface="Calibri" pitchFamily="34" charset="-120"/>
              </a:rPr>
              <a:t>Durée : 3h30</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C47F73-ABE0-5F14-272F-A4060D97CC0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B95EC4A-96AA-DB04-1BDF-04B879299B72}"/>
              </a:ext>
            </a:extLst>
          </p:cNvPr>
          <p:cNvSpPr/>
          <p:nvPr/>
        </p:nvSpPr>
        <p:spPr>
          <a:xfrm>
            <a:off x="-3657600" y="-2734322"/>
            <a:ext cx="9144000" cy="9144000"/>
          </a:xfrm>
          <a:prstGeom prst="ellipse">
            <a:avLst/>
          </a:prstGeom>
          <a:solidFill>
            <a:srgbClr val="065A82">
              <a:alpha val="20000"/>
            </a:srgbClr>
          </a:solidFill>
          <a:ln w="12700">
            <a:solidFill>
              <a:srgbClr val="065A82">
                <a:alpha val="20000"/>
              </a:srgbClr>
            </a:solidFill>
            <a:prstDash val="solid"/>
          </a:ln>
        </p:spPr>
      </p:sp>
      <p:sp>
        <p:nvSpPr>
          <p:cNvPr id="3" name="Text 1">
            <a:extLst>
              <a:ext uri="{FF2B5EF4-FFF2-40B4-BE49-F238E27FC236}">
                <a16:creationId xmlns:a16="http://schemas.microsoft.com/office/drawing/2014/main" id="{1576A7CD-67A4-F56D-EA82-5D7CF6B42E0C}"/>
              </a:ext>
            </a:extLst>
          </p:cNvPr>
          <p:cNvSpPr/>
          <p:nvPr/>
        </p:nvSpPr>
        <p:spPr>
          <a:xfrm>
            <a:off x="548640" y="640080"/>
            <a:ext cx="10972800" cy="365760"/>
          </a:xfrm>
          <a:prstGeom prst="rect">
            <a:avLst/>
          </a:prstGeom>
          <a:noFill/>
          <a:ln/>
        </p:spPr>
        <p:txBody>
          <a:bodyPr wrap="square" lIns="0" tIns="0" rIns="0" bIns="0" rtlCol="0" anchor="ctr"/>
          <a:lstStyle/>
          <a:p>
            <a:pPr marL="0" indent="0">
              <a:buNone/>
            </a:pPr>
            <a:r>
              <a:rPr lang="en-US" sz="1300" b="1" kern="0" spc="300" dirty="0">
                <a:latin typeface="Calibri" pitchFamily="34" charset="0"/>
                <a:ea typeface="Calibri" pitchFamily="34" charset="-122"/>
                <a:cs typeface="Calibri" pitchFamily="34" charset="-120"/>
              </a:rPr>
              <a:t>POURQUOI MAINTENANT ?</a:t>
            </a:r>
            <a:endParaRPr lang="en-US" sz="1300" dirty="0"/>
          </a:p>
        </p:txBody>
      </p:sp>
      <p:sp>
        <p:nvSpPr>
          <p:cNvPr id="4" name="Shape 2">
            <a:extLst>
              <a:ext uri="{FF2B5EF4-FFF2-40B4-BE49-F238E27FC236}">
                <a16:creationId xmlns:a16="http://schemas.microsoft.com/office/drawing/2014/main" id="{B8EE4C3A-B948-9F2C-8303-885232FC5295}"/>
              </a:ext>
            </a:extLst>
          </p:cNvPr>
          <p:cNvSpPr/>
          <p:nvPr/>
        </p:nvSpPr>
        <p:spPr>
          <a:xfrm>
            <a:off x="548640" y="1097280"/>
            <a:ext cx="182880" cy="914400"/>
          </a:xfrm>
          <a:prstGeom prst="rect">
            <a:avLst/>
          </a:prstGeom>
          <a:solidFill>
            <a:srgbClr val="F96167"/>
          </a:solidFill>
          <a:ln w="12700">
            <a:solidFill>
              <a:srgbClr val="F96167"/>
            </a:solidFill>
            <a:prstDash val="solid"/>
          </a:ln>
        </p:spPr>
      </p:sp>
      <p:sp>
        <p:nvSpPr>
          <p:cNvPr id="5" name="Text 3">
            <a:extLst>
              <a:ext uri="{FF2B5EF4-FFF2-40B4-BE49-F238E27FC236}">
                <a16:creationId xmlns:a16="http://schemas.microsoft.com/office/drawing/2014/main" id="{B55D8EB1-C310-153C-BEB5-33A780DC3767}"/>
              </a:ext>
            </a:extLst>
          </p:cNvPr>
          <p:cNvSpPr/>
          <p:nvPr/>
        </p:nvSpPr>
        <p:spPr>
          <a:xfrm>
            <a:off x="777240" y="1051560"/>
            <a:ext cx="10789920" cy="2103120"/>
          </a:xfrm>
          <a:prstGeom prst="rect">
            <a:avLst/>
          </a:prstGeom>
          <a:noFill/>
          <a:ln/>
        </p:spPr>
        <p:txBody>
          <a:bodyPr wrap="square" lIns="0" tIns="0" rIns="0" bIns="0" rtlCol="0" anchor="ctr"/>
          <a:lstStyle/>
          <a:p>
            <a:pPr marL="0" indent="0">
              <a:buNone/>
            </a:pPr>
            <a:r>
              <a:rPr lang="en-US" sz="2500" i="1" dirty="0">
                <a:latin typeface="Calibri" pitchFamily="34" charset="0"/>
                <a:ea typeface="Calibri" pitchFamily="34" charset="-122"/>
                <a:cs typeface="Calibri" pitchFamily="34" charset="-120"/>
              </a:rPr>
              <a:t>« Quand les cookies sont déprécés et qu'il n'y a plus moyen d'identifier votre propre consommateur, votre first-party data devient votre SEULE source. »</a:t>
            </a:r>
            <a:endParaRPr lang="en-US" sz="2500" dirty="0"/>
          </a:p>
        </p:txBody>
      </p:sp>
      <p:sp>
        <p:nvSpPr>
          <p:cNvPr id="6" name="Text 4">
            <a:extLst>
              <a:ext uri="{FF2B5EF4-FFF2-40B4-BE49-F238E27FC236}">
                <a16:creationId xmlns:a16="http://schemas.microsoft.com/office/drawing/2014/main" id="{13BDFECA-248B-D597-74BC-7A53E591F1F9}"/>
              </a:ext>
            </a:extLst>
          </p:cNvPr>
          <p:cNvSpPr/>
          <p:nvPr/>
        </p:nvSpPr>
        <p:spPr>
          <a:xfrm>
            <a:off x="777240" y="3200400"/>
            <a:ext cx="10789920" cy="365760"/>
          </a:xfrm>
          <a:prstGeom prst="rect">
            <a:avLst/>
          </a:prstGeom>
          <a:noFill/>
          <a:ln/>
        </p:spPr>
        <p:txBody>
          <a:bodyPr wrap="square" lIns="0" tIns="0" rIns="0" bIns="0" rtlCol="0" anchor="ctr"/>
          <a:lstStyle/>
          <a:p>
            <a:pPr marL="0" indent="0">
              <a:buNone/>
            </a:pPr>
            <a:r>
              <a:rPr lang="en-US" sz="1300" i="1" dirty="0">
                <a:latin typeface="Calibri" pitchFamily="34" charset="0"/>
                <a:ea typeface="Calibri" pitchFamily="34" charset="-122"/>
                <a:cs typeface="Calibri" pitchFamily="34" charset="-120"/>
              </a:rPr>
              <a:t> Gowthaman Ragothaman, CEO Aqilliz (Clearcode interview, 2023)</a:t>
            </a:r>
            <a:endParaRPr lang="en-US" sz="1300" dirty="0"/>
          </a:p>
        </p:txBody>
      </p:sp>
      <p:sp>
        <p:nvSpPr>
          <p:cNvPr id="7" name="Text 5">
            <a:extLst>
              <a:ext uri="{FF2B5EF4-FFF2-40B4-BE49-F238E27FC236}">
                <a16:creationId xmlns:a16="http://schemas.microsoft.com/office/drawing/2014/main" id="{244A68D9-3C62-41DE-AFA7-8ACD7CE2B244}"/>
              </a:ext>
            </a:extLst>
          </p:cNvPr>
          <p:cNvSpPr/>
          <p:nvPr/>
        </p:nvSpPr>
        <p:spPr>
          <a:xfrm>
            <a:off x="548640" y="3840480"/>
            <a:ext cx="10972800" cy="274320"/>
          </a:xfrm>
          <a:prstGeom prst="rect">
            <a:avLst/>
          </a:prstGeom>
          <a:noFill/>
          <a:ln/>
        </p:spPr>
        <p:txBody>
          <a:bodyPr wrap="square" lIns="0" tIns="0" rIns="0" bIns="0" rtlCol="0" anchor="ctr"/>
          <a:lstStyle/>
          <a:p>
            <a:pPr marL="0" indent="0">
              <a:buNone/>
            </a:pPr>
            <a:r>
              <a:rPr lang="en-US" sz="1100" b="1" kern="0" spc="200" dirty="0">
                <a:latin typeface="Calibri" pitchFamily="34" charset="0"/>
                <a:ea typeface="Calibri" pitchFamily="34" charset="-122"/>
                <a:cs typeface="Calibri" pitchFamily="34" charset="-120"/>
              </a:rPr>
              <a:t>LE CALENDRIER DU COOKIELESS</a:t>
            </a:r>
            <a:endParaRPr lang="en-US" sz="1100" dirty="0"/>
          </a:p>
        </p:txBody>
      </p:sp>
      <p:sp>
        <p:nvSpPr>
          <p:cNvPr id="8" name="Shape 6">
            <a:extLst>
              <a:ext uri="{FF2B5EF4-FFF2-40B4-BE49-F238E27FC236}">
                <a16:creationId xmlns:a16="http://schemas.microsoft.com/office/drawing/2014/main" id="{39340333-3704-9388-732E-1A9DEE868ED5}"/>
              </a:ext>
            </a:extLst>
          </p:cNvPr>
          <p:cNvSpPr/>
          <p:nvPr/>
        </p:nvSpPr>
        <p:spPr>
          <a:xfrm>
            <a:off x="548640" y="4343400"/>
            <a:ext cx="11064240" cy="54864"/>
          </a:xfrm>
          <a:prstGeom prst="rect">
            <a:avLst/>
          </a:prstGeom>
          <a:solidFill>
            <a:srgbClr val="1C7293"/>
          </a:solidFill>
          <a:ln w="12700">
            <a:solidFill>
              <a:srgbClr val="1C7293"/>
            </a:solidFill>
            <a:prstDash val="solid"/>
          </a:ln>
        </p:spPr>
      </p:sp>
      <p:sp>
        <p:nvSpPr>
          <p:cNvPr id="9" name="Shape 7">
            <a:extLst>
              <a:ext uri="{FF2B5EF4-FFF2-40B4-BE49-F238E27FC236}">
                <a16:creationId xmlns:a16="http://schemas.microsoft.com/office/drawing/2014/main" id="{E46A5297-B478-96E4-ED87-77D49E920872}"/>
              </a:ext>
            </a:extLst>
          </p:cNvPr>
          <p:cNvSpPr/>
          <p:nvPr/>
        </p:nvSpPr>
        <p:spPr>
          <a:xfrm>
            <a:off x="1554480" y="4233672"/>
            <a:ext cx="274320" cy="274320"/>
          </a:xfrm>
          <a:prstGeom prst="ellipse">
            <a:avLst/>
          </a:prstGeom>
          <a:solidFill>
            <a:srgbClr val="059669"/>
          </a:solidFill>
          <a:ln w="19050">
            <a:solidFill>
              <a:srgbClr val="FFFFFF"/>
            </a:solidFill>
            <a:prstDash val="solid"/>
          </a:ln>
        </p:spPr>
      </p:sp>
      <p:sp>
        <p:nvSpPr>
          <p:cNvPr id="10" name="Text 8">
            <a:extLst>
              <a:ext uri="{FF2B5EF4-FFF2-40B4-BE49-F238E27FC236}">
                <a16:creationId xmlns:a16="http://schemas.microsoft.com/office/drawing/2014/main" id="{8F3EA363-B1A0-C11C-31BA-50FCCA6C74A3}"/>
              </a:ext>
            </a:extLst>
          </p:cNvPr>
          <p:cNvSpPr/>
          <p:nvPr/>
        </p:nvSpPr>
        <p:spPr>
          <a:xfrm>
            <a:off x="731520" y="4617720"/>
            <a:ext cx="1920240" cy="320040"/>
          </a:xfrm>
          <a:prstGeom prst="rect">
            <a:avLst/>
          </a:prstGeom>
          <a:noFill/>
          <a:ln/>
        </p:spPr>
        <p:txBody>
          <a:bodyPr wrap="square" lIns="0" tIns="0" rIns="0" bIns="0" rtlCol="0" anchor="ctr"/>
          <a:lstStyle/>
          <a:p>
            <a:pPr marL="0" indent="0" algn="ctr">
              <a:buNone/>
            </a:pPr>
            <a:r>
              <a:rPr lang="en-US" sz="1300" b="1" dirty="0">
                <a:latin typeface="Calibri" pitchFamily="34" charset="0"/>
                <a:ea typeface="Calibri" pitchFamily="34" charset="-122"/>
                <a:cs typeface="Calibri" pitchFamily="34" charset="-120"/>
              </a:rPr>
              <a:t>2013</a:t>
            </a:r>
            <a:endParaRPr lang="en-US" sz="1300" dirty="0"/>
          </a:p>
        </p:txBody>
      </p:sp>
      <p:sp>
        <p:nvSpPr>
          <p:cNvPr id="11" name="Text 9">
            <a:extLst>
              <a:ext uri="{FF2B5EF4-FFF2-40B4-BE49-F238E27FC236}">
                <a16:creationId xmlns:a16="http://schemas.microsoft.com/office/drawing/2014/main" id="{9680902C-2625-518D-90BE-865D1B76A1C4}"/>
              </a:ext>
            </a:extLst>
          </p:cNvPr>
          <p:cNvSpPr/>
          <p:nvPr/>
        </p:nvSpPr>
        <p:spPr>
          <a:xfrm>
            <a:off x="731520" y="4937760"/>
            <a:ext cx="1920240" cy="274320"/>
          </a:xfrm>
          <a:prstGeom prst="rect">
            <a:avLst/>
          </a:prstGeom>
          <a:noFill/>
          <a:ln/>
        </p:spPr>
        <p:txBody>
          <a:bodyPr wrap="square" lIns="0" tIns="0" rIns="0" bIns="0" rtlCol="0" anchor="ctr"/>
          <a:lstStyle/>
          <a:p>
            <a:pPr marL="0" indent="0" algn="ctr">
              <a:buNone/>
            </a:pPr>
            <a:r>
              <a:rPr lang="en-US" sz="1200" dirty="0">
                <a:latin typeface="Calibri" pitchFamily="34" charset="0"/>
                <a:ea typeface="Calibri" pitchFamily="34" charset="-122"/>
                <a:cs typeface="Calibri" pitchFamily="34" charset="-120"/>
              </a:rPr>
              <a:t>Safari</a:t>
            </a:r>
            <a:endParaRPr lang="en-US" sz="1200" dirty="0"/>
          </a:p>
        </p:txBody>
      </p:sp>
      <p:sp>
        <p:nvSpPr>
          <p:cNvPr id="12" name="Text 10">
            <a:extLst>
              <a:ext uri="{FF2B5EF4-FFF2-40B4-BE49-F238E27FC236}">
                <a16:creationId xmlns:a16="http://schemas.microsoft.com/office/drawing/2014/main" id="{4D67F760-9DA2-80AD-4E9E-AD6B5E9E2F50}"/>
              </a:ext>
            </a:extLst>
          </p:cNvPr>
          <p:cNvSpPr/>
          <p:nvPr/>
        </p:nvSpPr>
        <p:spPr>
          <a:xfrm>
            <a:off x="731520" y="5193792"/>
            <a:ext cx="1920240" cy="274320"/>
          </a:xfrm>
          <a:prstGeom prst="rect">
            <a:avLst/>
          </a:prstGeom>
          <a:noFill/>
          <a:ln/>
        </p:spPr>
        <p:txBody>
          <a:bodyPr wrap="square" lIns="0" tIns="0" rIns="0" bIns="0" rtlCol="0" anchor="ctr"/>
          <a:lstStyle/>
          <a:p>
            <a:pPr marL="0" indent="0" algn="ctr">
              <a:buNone/>
            </a:pPr>
            <a:r>
              <a:rPr lang="en-US" sz="1000" i="1" dirty="0">
                <a:latin typeface="Calibri" pitchFamily="34" charset="0"/>
                <a:ea typeface="Calibri" pitchFamily="34" charset="-122"/>
                <a:cs typeface="Calibri" pitchFamily="34" charset="-120"/>
              </a:rPr>
              <a:t>Bloqué</a:t>
            </a:r>
            <a:endParaRPr lang="en-US" sz="1000" dirty="0"/>
          </a:p>
        </p:txBody>
      </p:sp>
      <p:sp>
        <p:nvSpPr>
          <p:cNvPr id="13" name="Shape 11">
            <a:extLst>
              <a:ext uri="{FF2B5EF4-FFF2-40B4-BE49-F238E27FC236}">
                <a16:creationId xmlns:a16="http://schemas.microsoft.com/office/drawing/2014/main" id="{9C9E8D71-0808-C840-A6A3-5D510A149911}"/>
              </a:ext>
            </a:extLst>
          </p:cNvPr>
          <p:cNvSpPr/>
          <p:nvPr/>
        </p:nvSpPr>
        <p:spPr>
          <a:xfrm>
            <a:off x="3822192" y="4233672"/>
            <a:ext cx="274320" cy="274320"/>
          </a:xfrm>
          <a:prstGeom prst="ellipse">
            <a:avLst/>
          </a:prstGeom>
          <a:solidFill>
            <a:srgbClr val="059669"/>
          </a:solidFill>
          <a:ln w="19050">
            <a:solidFill>
              <a:srgbClr val="FFFFFF"/>
            </a:solidFill>
            <a:prstDash val="solid"/>
          </a:ln>
        </p:spPr>
      </p:sp>
      <p:sp>
        <p:nvSpPr>
          <p:cNvPr id="14" name="Text 12">
            <a:extLst>
              <a:ext uri="{FF2B5EF4-FFF2-40B4-BE49-F238E27FC236}">
                <a16:creationId xmlns:a16="http://schemas.microsoft.com/office/drawing/2014/main" id="{24A79D3B-719A-E268-1EBF-EA4B7158FF16}"/>
              </a:ext>
            </a:extLst>
          </p:cNvPr>
          <p:cNvSpPr/>
          <p:nvPr/>
        </p:nvSpPr>
        <p:spPr>
          <a:xfrm>
            <a:off x="2999232" y="4617720"/>
            <a:ext cx="1920240" cy="320040"/>
          </a:xfrm>
          <a:prstGeom prst="rect">
            <a:avLst/>
          </a:prstGeom>
          <a:noFill/>
          <a:ln/>
        </p:spPr>
        <p:txBody>
          <a:bodyPr wrap="square" lIns="0" tIns="0" rIns="0" bIns="0" rtlCol="0" anchor="ctr"/>
          <a:lstStyle/>
          <a:p>
            <a:pPr marL="0" indent="0" algn="ctr">
              <a:buNone/>
            </a:pPr>
            <a:r>
              <a:rPr lang="en-US" sz="1300" b="1" dirty="0">
                <a:latin typeface="Calibri" pitchFamily="34" charset="0"/>
                <a:ea typeface="Calibri" pitchFamily="34" charset="-122"/>
                <a:cs typeface="Calibri" pitchFamily="34" charset="-120"/>
              </a:rPr>
              <a:t>2019</a:t>
            </a:r>
            <a:endParaRPr lang="en-US" sz="1300" dirty="0"/>
          </a:p>
        </p:txBody>
      </p:sp>
      <p:sp>
        <p:nvSpPr>
          <p:cNvPr id="15" name="Text 13">
            <a:extLst>
              <a:ext uri="{FF2B5EF4-FFF2-40B4-BE49-F238E27FC236}">
                <a16:creationId xmlns:a16="http://schemas.microsoft.com/office/drawing/2014/main" id="{4708716D-3D45-401D-7076-90AE9B381C68}"/>
              </a:ext>
            </a:extLst>
          </p:cNvPr>
          <p:cNvSpPr/>
          <p:nvPr/>
        </p:nvSpPr>
        <p:spPr>
          <a:xfrm>
            <a:off x="2999232" y="4937760"/>
            <a:ext cx="1920240" cy="274320"/>
          </a:xfrm>
          <a:prstGeom prst="rect">
            <a:avLst/>
          </a:prstGeom>
          <a:noFill/>
          <a:ln/>
        </p:spPr>
        <p:txBody>
          <a:bodyPr wrap="square" lIns="0" tIns="0" rIns="0" bIns="0" rtlCol="0" anchor="ctr"/>
          <a:lstStyle/>
          <a:p>
            <a:pPr marL="0" indent="0" algn="ctr">
              <a:buNone/>
            </a:pPr>
            <a:r>
              <a:rPr lang="en-US" sz="1200" dirty="0">
                <a:latin typeface="Calibri" pitchFamily="34" charset="0"/>
                <a:ea typeface="Calibri" pitchFamily="34" charset="-122"/>
                <a:cs typeface="Calibri" pitchFamily="34" charset="-120"/>
              </a:rPr>
              <a:t>Firefox</a:t>
            </a:r>
            <a:endParaRPr lang="en-US" sz="1200" dirty="0"/>
          </a:p>
        </p:txBody>
      </p:sp>
      <p:sp>
        <p:nvSpPr>
          <p:cNvPr id="16" name="Text 14">
            <a:extLst>
              <a:ext uri="{FF2B5EF4-FFF2-40B4-BE49-F238E27FC236}">
                <a16:creationId xmlns:a16="http://schemas.microsoft.com/office/drawing/2014/main" id="{8EC4B330-47BC-F372-CBC1-3A4A260F3159}"/>
              </a:ext>
            </a:extLst>
          </p:cNvPr>
          <p:cNvSpPr/>
          <p:nvPr/>
        </p:nvSpPr>
        <p:spPr>
          <a:xfrm>
            <a:off x="2999232" y="5193792"/>
            <a:ext cx="1920240" cy="274320"/>
          </a:xfrm>
          <a:prstGeom prst="rect">
            <a:avLst/>
          </a:prstGeom>
          <a:noFill/>
          <a:ln/>
        </p:spPr>
        <p:txBody>
          <a:bodyPr wrap="square" lIns="0" tIns="0" rIns="0" bIns="0" rtlCol="0" anchor="ctr"/>
          <a:lstStyle/>
          <a:p>
            <a:pPr marL="0" indent="0" algn="ctr">
              <a:buNone/>
            </a:pPr>
            <a:r>
              <a:rPr lang="en-US" sz="1000" i="1" dirty="0">
                <a:latin typeface="Calibri" pitchFamily="34" charset="0"/>
                <a:ea typeface="Calibri" pitchFamily="34" charset="-122"/>
                <a:cs typeface="Calibri" pitchFamily="34" charset="-120"/>
              </a:rPr>
              <a:t>Bloqué</a:t>
            </a:r>
            <a:endParaRPr lang="en-US" sz="1000" dirty="0"/>
          </a:p>
        </p:txBody>
      </p:sp>
      <p:sp>
        <p:nvSpPr>
          <p:cNvPr id="17" name="Shape 15">
            <a:extLst>
              <a:ext uri="{FF2B5EF4-FFF2-40B4-BE49-F238E27FC236}">
                <a16:creationId xmlns:a16="http://schemas.microsoft.com/office/drawing/2014/main" id="{7B2CF76C-D8BA-6CA4-E640-270C49D77202}"/>
              </a:ext>
            </a:extLst>
          </p:cNvPr>
          <p:cNvSpPr/>
          <p:nvPr/>
        </p:nvSpPr>
        <p:spPr>
          <a:xfrm>
            <a:off x="6089904" y="4233672"/>
            <a:ext cx="274320" cy="274320"/>
          </a:xfrm>
          <a:prstGeom prst="ellipse">
            <a:avLst/>
          </a:prstGeom>
          <a:solidFill>
            <a:srgbClr val="F9B233"/>
          </a:solidFill>
          <a:ln w="19050">
            <a:solidFill>
              <a:srgbClr val="FFFFFF"/>
            </a:solidFill>
            <a:prstDash val="solid"/>
          </a:ln>
        </p:spPr>
      </p:sp>
      <p:sp>
        <p:nvSpPr>
          <p:cNvPr id="18" name="Text 16">
            <a:extLst>
              <a:ext uri="{FF2B5EF4-FFF2-40B4-BE49-F238E27FC236}">
                <a16:creationId xmlns:a16="http://schemas.microsoft.com/office/drawing/2014/main" id="{8504DC43-4D5B-8F4C-E8A5-846A2F4B0210}"/>
              </a:ext>
            </a:extLst>
          </p:cNvPr>
          <p:cNvSpPr/>
          <p:nvPr/>
        </p:nvSpPr>
        <p:spPr>
          <a:xfrm>
            <a:off x="5266944" y="4617720"/>
            <a:ext cx="1920240" cy="320040"/>
          </a:xfrm>
          <a:prstGeom prst="rect">
            <a:avLst/>
          </a:prstGeom>
          <a:noFill/>
          <a:ln/>
        </p:spPr>
        <p:txBody>
          <a:bodyPr wrap="square" lIns="0" tIns="0" rIns="0" bIns="0" rtlCol="0" anchor="ctr"/>
          <a:lstStyle/>
          <a:p>
            <a:pPr marL="0" indent="0" algn="ctr">
              <a:buNone/>
            </a:pPr>
            <a:r>
              <a:rPr lang="en-US" sz="1300" b="1" dirty="0">
                <a:latin typeface="Calibri" pitchFamily="34" charset="0"/>
                <a:ea typeface="Calibri" pitchFamily="34" charset="-122"/>
                <a:cs typeface="Calibri" pitchFamily="34" charset="-120"/>
              </a:rPr>
              <a:t>2024</a:t>
            </a:r>
            <a:endParaRPr lang="en-US" sz="1300" dirty="0"/>
          </a:p>
        </p:txBody>
      </p:sp>
      <p:sp>
        <p:nvSpPr>
          <p:cNvPr id="19" name="Text 17">
            <a:extLst>
              <a:ext uri="{FF2B5EF4-FFF2-40B4-BE49-F238E27FC236}">
                <a16:creationId xmlns:a16="http://schemas.microsoft.com/office/drawing/2014/main" id="{A7CF9FAA-7324-F9C3-7567-A50C796ED8F2}"/>
              </a:ext>
            </a:extLst>
          </p:cNvPr>
          <p:cNvSpPr/>
          <p:nvPr/>
        </p:nvSpPr>
        <p:spPr>
          <a:xfrm>
            <a:off x="5266944" y="4937760"/>
            <a:ext cx="1920240" cy="274320"/>
          </a:xfrm>
          <a:prstGeom prst="rect">
            <a:avLst/>
          </a:prstGeom>
          <a:noFill/>
          <a:ln/>
        </p:spPr>
        <p:txBody>
          <a:bodyPr wrap="square" lIns="0" tIns="0" rIns="0" bIns="0" rtlCol="0" anchor="ctr"/>
          <a:lstStyle/>
          <a:p>
            <a:pPr marL="0" indent="0" algn="ctr">
              <a:buNone/>
            </a:pPr>
            <a:r>
              <a:rPr lang="en-US" sz="1200" dirty="0">
                <a:latin typeface="Calibri" pitchFamily="34" charset="0"/>
                <a:ea typeface="Calibri" pitchFamily="34" charset="-122"/>
                <a:cs typeface="Calibri" pitchFamily="34" charset="-120"/>
              </a:rPr>
              <a:t>Chrome</a:t>
            </a:r>
            <a:endParaRPr lang="en-US" sz="1200" dirty="0"/>
          </a:p>
        </p:txBody>
      </p:sp>
      <p:sp>
        <p:nvSpPr>
          <p:cNvPr id="20" name="Text 18">
            <a:extLst>
              <a:ext uri="{FF2B5EF4-FFF2-40B4-BE49-F238E27FC236}">
                <a16:creationId xmlns:a16="http://schemas.microsoft.com/office/drawing/2014/main" id="{39F65E96-A29D-1E08-9A8D-3B5A705C595B}"/>
              </a:ext>
            </a:extLst>
          </p:cNvPr>
          <p:cNvSpPr/>
          <p:nvPr/>
        </p:nvSpPr>
        <p:spPr>
          <a:xfrm>
            <a:off x="5266944" y="5193792"/>
            <a:ext cx="1920240" cy="274320"/>
          </a:xfrm>
          <a:prstGeom prst="rect">
            <a:avLst/>
          </a:prstGeom>
          <a:noFill/>
          <a:ln/>
        </p:spPr>
        <p:txBody>
          <a:bodyPr wrap="square" lIns="0" tIns="0" rIns="0" bIns="0" rtlCol="0" anchor="ctr"/>
          <a:lstStyle/>
          <a:p>
            <a:pPr marL="0" indent="0" algn="ctr">
              <a:buNone/>
            </a:pPr>
            <a:r>
              <a:rPr lang="en-US" sz="1000" i="1" dirty="0">
                <a:latin typeface="Calibri" pitchFamily="34" charset="0"/>
                <a:ea typeface="Calibri" pitchFamily="34" charset="-122"/>
                <a:cs typeface="Calibri" pitchFamily="34" charset="-120"/>
              </a:rPr>
              <a:t>Phase-out</a:t>
            </a:r>
            <a:endParaRPr lang="en-US" sz="1000" dirty="0"/>
          </a:p>
        </p:txBody>
      </p:sp>
      <p:sp>
        <p:nvSpPr>
          <p:cNvPr id="21" name="Shape 19">
            <a:extLst>
              <a:ext uri="{FF2B5EF4-FFF2-40B4-BE49-F238E27FC236}">
                <a16:creationId xmlns:a16="http://schemas.microsoft.com/office/drawing/2014/main" id="{629780F3-E273-1B13-A48D-C0E9FB473586}"/>
              </a:ext>
            </a:extLst>
          </p:cNvPr>
          <p:cNvSpPr/>
          <p:nvPr/>
        </p:nvSpPr>
        <p:spPr>
          <a:xfrm>
            <a:off x="8357616" y="4233672"/>
            <a:ext cx="274320" cy="274320"/>
          </a:xfrm>
          <a:prstGeom prst="ellipse">
            <a:avLst/>
          </a:prstGeom>
          <a:solidFill>
            <a:srgbClr val="F96167"/>
          </a:solidFill>
          <a:ln w="19050">
            <a:solidFill>
              <a:srgbClr val="FFFFFF"/>
            </a:solidFill>
            <a:prstDash val="solid"/>
          </a:ln>
        </p:spPr>
      </p:sp>
      <p:sp>
        <p:nvSpPr>
          <p:cNvPr id="22" name="Text 20">
            <a:extLst>
              <a:ext uri="{FF2B5EF4-FFF2-40B4-BE49-F238E27FC236}">
                <a16:creationId xmlns:a16="http://schemas.microsoft.com/office/drawing/2014/main" id="{62E8E6C8-6FFA-C591-BBEF-6BEE60E52416}"/>
              </a:ext>
            </a:extLst>
          </p:cNvPr>
          <p:cNvSpPr/>
          <p:nvPr/>
        </p:nvSpPr>
        <p:spPr>
          <a:xfrm>
            <a:off x="7534656" y="4617720"/>
            <a:ext cx="1920240" cy="320040"/>
          </a:xfrm>
          <a:prstGeom prst="rect">
            <a:avLst/>
          </a:prstGeom>
          <a:noFill/>
          <a:ln/>
        </p:spPr>
        <p:txBody>
          <a:bodyPr wrap="square" lIns="0" tIns="0" rIns="0" bIns="0" rtlCol="0" anchor="ctr"/>
          <a:lstStyle/>
          <a:p>
            <a:pPr marL="0" indent="0" algn="ctr">
              <a:buNone/>
            </a:pPr>
            <a:r>
              <a:rPr lang="en-US" sz="1300" b="1" dirty="0">
                <a:latin typeface="Calibri" pitchFamily="34" charset="0"/>
                <a:ea typeface="Calibri" pitchFamily="34" charset="-122"/>
                <a:cs typeface="Calibri" pitchFamily="34" charset="-120"/>
              </a:rPr>
              <a:t>2025+</a:t>
            </a:r>
            <a:endParaRPr lang="en-US" sz="1300" dirty="0"/>
          </a:p>
        </p:txBody>
      </p:sp>
      <p:sp>
        <p:nvSpPr>
          <p:cNvPr id="23" name="Text 21">
            <a:extLst>
              <a:ext uri="{FF2B5EF4-FFF2-40B4-BE49-F238E27FC236}">
                <a16:creationId xmlns:a16="http://schemas.microsoft.com/office/drawing/2014/main" id="{F9B0A57A-83CE-1D59-BE67-92418518EBA4}"/>
              </a:ext>
            </a:extLst>
          </p:cNvPr>
          <p:cNvSpPr/>
          <p:nvPr/>
        </p:nvSpPr>
        <p:spPr>
          <a:xfrm>
            <a:off x="7534656" y="4937760"/>
            <a:ext cx="1920240" cy="274320"/>
          </a:xfrm>
          <a:prstGeom prst="rect">
            <a:avLst/>
          </a:prstGeom>
          <a:noFill/>
          <a:ln/>
        </p:spPr>
        <p:txBody>
          <a:bodyPr wrap="square" lIns="0" tIns="0" rIns="0" bIns="0" rtlCol="0" anchor="ctr"/>
          <a:lstStyle/>
          <a:p>
            <a:pPr marL="0" indent="0" algn="ctr">
              <a:buNone/>
            </a:pPr>
            <a:r>
              <a:rPr lang="en-US" sz="1200" dirty="0">
                <a:latin typeface="Calibri" pitchFamily="34" charset="0"/>
                <a:ea typeface="Calibri" pitchFamily="34" charset="-122"/>
                <a:cs typeface="Calibri" pitchFamily="34" charset="-120"/>
              </a:rPr>
              <a:t>IDFA / MAID</a:t>
            </a:r>
            <a:endParaRPr lang="en-US" sz="1200" dirty="0"/>
          </a:p>
        </p:txBody>
      </p:sp>
      <p:sp>
        <p:nvSpPr>
          <p:cNvPr id="24" name="Text 22">
            <a:extLst>
              <a:ext uri="{FF2B5EF4-FFF2-40B4-BE49-F238E27FC236}">
                <a16:creationId xmlns:a16="http://schemas.microsoft.com/office/drawing/2014/main" id="{CB77BC12-E2D9-421E-9787-A66C86F41043}"/>
              </a:ext>
            </a:extLst>
          </p:cNvPr>
          <p:cNvSpPr/>
          <p:nvPr/>
        </p:nvSpPr>
        <p:spPr>
          <a:xfrm>
            <a:off x="7534656" y="5193792"/>
            <a:ext cx="1920240" cy="274320"/>
          </a:xfrm>
          <a:prstGeom prst="rect">
            <a:avLst/>
          </a:prstGeom>
          <a:noFill/>
          <a:ln/>
        </p:spPr>
        <p:txBody>
          <a:bodyPr wrap="square" lIns="0" tIns="0" rIns="0" bIns="0" rtlCol="0" anchor="ctr"/>
          <a:lstStyle/>
          <a:p>
            <a:pPr marL="0" indent="0" algn="ctr">
              <a:buNone/>
            </a:pPr>
            <a:r>
              <a:rPr lang="en-US" sz="1000" i="1" dirty="0">
                <a:latin typeface="Calibri" pitchFamily="34" charset="0"/>
                <a:ea typeface="Calibri" pitchFamily="34" charset="-122"/>
                <a:cs typeface="Calibri" pitchFamily="34" charset="-120"/>
              </a:rPr>
              <a:t>Restreint</a:t>
            </a:r>
            <a:endParaRPr lang="en-US" sz="1000" dirty="0"/>
          </a:p>
        </p:txBody>
      </p:sp>
      <p:sp>
        <p:nvSpPr>
          <p:cNvPr id="25" name="Shape 23">
            <a:extLst>
              <a:ext uri="{FF2B5EF4-FFF2-40B4-BE49-F238E27FC236}">
                <a16:creationId xmlns:a16="http://schemas.microsoft.com/office/drawing/2014/main" id="{307F8693-3741-18B9-D177-CEB6B02E9499}"/>
              </a:ext>
            </a:extLst>
          </p:cNvPr>
          <p:cNvSpPr/>
          <p:nvPr/>
        </p:nvSpPr>
        <p:spPr>
          <a:xfrm>
            <a:off x="10625328" y="4233672"/>
            <a:ext cx="274320" cy="274320"/>
          </a:xfrm>
          <a:prstGeom prst="ellipse">
            <a:avLst/>
          </a:prstGeom>
          <a:solidFill>
            <a:srgbClr val="FF0000"/>
          </a:solidFill>
          <a:ln w="19050">
            <a:solidFill>
              <a:srgbClr val="FFFFFF"/>
            </a:solidFill>
            <a:prstDash val="solid"/>
          </a:ln>
        </p:spPr>
      </p:sp>
      <p:sp>
        <p:nvSpPr>
          <p:cNvPr id="26" name="Text 24">
            <a:extLst>
              <a:ext uri="{FF2B5EF4-FFF2-40B4-BE49-F238E27FC236}">
                <a16:creationId xmlns:a16="http://schemas.microsoft.com/office/drawing/2014/main" id="{A43D3BFE-284B-7C4D-40AD-4A0E95B75FB1}"/>
              </a:ext>
            </a:extLst>
          </p:cNvPr>
          <p:cNvSpPr/>
          <p:nvPr/>
        </p:nvSpPr>
        <p:spPr>
          <a:xfrm>
            <a:off x="9802368" y="4617720"/>
            <a:ext cx="1920240" cy="320040"/>
          </a:xfrm>
          <a:prstGeom prst="rect">
            <a:avLst/>
          </a:prstGeom>
          <a:noFill/>
          <a:ln/>
        </p:spPr>
        <p:txBody>
          <a:bodyPr wrap="square" lIns="0" tIns="0" rIns="0" bIns="0" rtlCol="0" anchor="ctr"/>
          <a:lstStyle/>
          <a:p>
            <a:pPr marL="0" indent="0" algn="ctr">
              <a:buNone/>
            </a:pPr>
            <a:r>
              <a:rPr lang="en-US" sz="1300" b="1" dirty="0">
                <a:latin typeface="Calibri" pitchFamily="34" charset="0"/>
                <a:ea typeface="Calibri" pitchFamily="34" charset="-122"/>
                <a:cs typeface="Calibri" pitchFamily="34" charset="-120"/>
              </a:rPr>
              <a:t>Demain</a:t>
            </a:r>
            <a:endParaRPr lang="en-US" sz="1300" dirty="0"/>
          </a:p>
        </p:txBody>
      </p:sp>
      <p:sp>
        <p:nvSpPr>
          <p:cNvPr id="27" name="Text 25">
            <a:extLst>
              <a:ext uri="{FF2B5EF4-FFF2-40B4-BE49-F238E27FC236}">
                <a16:creationId xmlns:a16="http://schemas.microsoft.com/office/drawing/2014/main" id="{791D5845-7CAC-5BD9-ED93-AADABDC49F45}"/>
              </a:ext>
            </a:extLst>
          </p:cNvPr>
          <p:cNvSpPr/>
          <p:nvPr/>
        </p:nvSpPr>
        <p:spPr>
          <a:xfrm>
            <a:off x="9802368" y="4937760"/>
            <a:ext cx="1920240" cy="274320"/>
          </a:xfrm>
          <a:prstGeom prst="rect">
            <a:avLst/>
          </a:prstGeom>
          <a:noFill/>
          <a:ln/>
        </p:spPr>
        <p:txBody>
          <a:bodyPr wrap="square" lIns="0" tIns="0" rIns="0" bIns="0" rtlCol="0" anchor="ctr"/>
          <a:lstStyle/>
          <a:p>
            <a:pPr marL="0" indent="0" algn="ctr">
              <a:buNone/>
            </a:pPr>
            <a:r>
              <a:rPr lang="en-US" sz="1200" dirty="0">
                <a:latin typeface="Calibri" pitchFamily="34" charset="0"/>
                <a:ea typeface="Calibri" pitchFamily="34" charset="-122"/>
                <a:cs typeface="Calibri" pitchFamily="34" charset="-120"/>
              </a:rPr>
              <a:t>First-party DCR</a:t>
            </a:r>
            <a:endParaRPr lang="en-US" sz="1200" dirty="0"/>
          </a:p>
        </p:txBody>
      </p:sp>
      <p:sp>
        <p:nvSpPr>
          <p:cNvPr id="28" name="Text 26">
            <a:extLst>
              <a:ext uri="{FF2B5EF4-FFF2-40B4-BE49-F238E27FC236}">
                <a16:creationId xmlns:a16="http://schemas.microsoft.com/office/drawing/2014/main" id="{1CD76AC7-F02C-A06A-2DBC-FDE8743935D7}"/>
              </a:ext>
            </a:extLst>
          </p:cNvPr>
          <p:cNvSpPr/>
          <p:nvPr/>
        </p:nvSpPr>
        <p:spPr>
          <a:xfrm>
            <a:off x="9802368" y="5193792"/>
            <a:ext cx="1920240" cy="274320"/>
          </a:xfrm>
          <a:prstGeom prst="rect">
            <a:avLst/>
          </a:prstGeom>
          <a:noFill/>
          <a:ln/>
        </p:spPr>
        <p:txBody>
          <a:bodyPr wrap="square" lIns="0" tIns="0" rIns="0" bIns="0" rtlCol="0" anchor="ctr"/>
          <a:lstStyle/>
          <a:p>
            <a:pPr marL="0" indent="0" algn="ctr">
              <a:buNone/>
            </a:pPr>
            <a:r>
              <a:rPr lang="en-US" sz="1000" i="1" dirty="0">
                <a:latin typeface="Calibri" pitchFamily="34" charset="0"/>
                <a:ea typeface="Calibri" pitchFamily="34" charset="-122"/>
                <a:cs typeface="Calibri" pitchFamily="34" charset="-120"/>
              </a:rPr>
              <a:t>Norme</a:t>
            </a:r>
            <a:endParaRPr lang="en-US" sz="1000" dirty="0"/>
          </a:p>
        </p:txBody>
      </p:sp>
      <p:sp>
        <p:nvSpPr>
          <p:cNvPr id="29" name="Shape 27">
            <a:extLst>
              <a:ext uri="{FF2B5EF4-FFF2-40B4-BE49-F238E27FC236}">
                <a16:creationId xmlns:a16="http://schemas.microsoft.com/office/drawing/2014/main" id="{3EB2C827-594A-CCE0-C410-5D15D50390A8}"/>
              </a:ext>
            </a:extLst>
          </p:cNvPr>
          <p:cNvSpPr/>
          <p:nvPr/>
        </p:nvSpPr>
        <p:spPr>
          <a:xfrm>
            <a:off x="548640" y="5760720"/>
            <a:ext cx="11064240" cy="685800"/>
          </a:xfrm>
          <a:prstGeom prst="rect">
            <a:avLst/>
          </a:prstGeom>
          <a:solidFill>
            <a:srgbClr val="F96167">
              <a:alpha val="80000"/>
            </a:srgbClr>
          </a:solidFill>
          <a:ln w="6350">
            <a:solidFill>
              <a:srgbClr val="F96167"/>
            </a:solidFill>
            <a:prstDash val="solid"/>
          </a:ln>
        </p:spPr>
      </p:sp>
      <p:sp>
        <p:nvSpPr>
          <p:cNvPr id="30" name="Text 28">
            <a:extLst>
              <a:ext uri="{FF2B5EF4-FFF2-40B4-BE49-F238E27FC236}">
                <a16:creationId xmlns:a16="http://schemas.microsoft.com/office/drawing/2014/main" id="{B84AF4AB-1271-E7AA-1094-7B9783F991F9}"/>
              </a:ext>
            </a:extLst>
          </p:cNvPr>
          <p:cNvSpPr/>
          <p:nvPr/>
        </p:nvSpPr>
        <p:spPr>
          <a:xfrm>
            <a:off x="731520" y="5833872"/>
            <a:ext cx="10698480" cy="594360"/>
          </a:xfrm>
          <a:prstGeom prst="rect">
            <a:avLst/>
          </a:prstGeom>
          <a:noFill/>
          <a:ln/>
        </p:spPr>
        <p:txBody>
          <a:bodyPr wrap="square" lIns="0" tIns="0" rIns="0" bIns="0" rtlCol="0" anchor="ctr"/>
          <a:lstStyle/>
          <a:p>
            <a:pPr marL="0" indent="0">
              <a:buNone/>
            </a:pPr>
            <a:r>
              <a:rPr lang="en-US" sz="1300" b="1" dirty="0">
                <a:latin typeface="Calibri" pitchFamily="34" charset="0"/>
                <a:ea typeface="Calibri" pitchFamily="34" charset="-122"/>
                <a:cs typeface="Calibri" pitchFamily="34" charset="-120"/>
              </a:rPr>
              <a:t>IMPLICATION GROWTH : vos audiences first-party deviennent votre dernier avantage compétitif. Les DCR sont le seul moyen de les monétiser SANS les exposer.</a:t>
            </a:r>
            <a:endParaRPr lang="en-US" sz="1300" dirty="0"/>
          </a:p>
        </p:txBody>
      </p:sp>
      <p:sp>
        <p:nvSpPr>
          <p:cNvPr id="31" name="Shape 29">
            <a:extLst>
              <a:ext uri="{FF2B5EF4-FFF2-40B4-BE49-F238E27FC236}">
                <a16:creationId xmlns:a16="http://schemas.microsoft.com/office/drawing/2014/main" id="{9C0296F9-0DAB-CBB2-1D23-69704AF5BDDD}"/>
              </a:ext>
            </a:extLst>
          </p:cNvPr>
          <p:cNvSpPr/>
          <p:nvPr/>
        </p:nvSpPr>
        <p:spPr>
          <a:xfrm>
            <a:off x="0" y="6583680"/>
            <a:ext cx="12191695" cy="274320"/>
          </a:xfrm>
          <a:prstGeom prst="rect">
            <a:avLst/>
          </a:prstGeom>
          <a:solidFill>
            <a:srgbClr val="0B1F3A"/>
          </a:solidFill>
          <a:ln w="12700">
            <a:solidFill>
              <a:srgbClr val="0B1F3A"/>
            </a:solidFill>
            <a:prstDash val="solid"/>
          </a:ln>
        </p:spPr>
      </p:sp>
      <p:sp>
        <p:nvSpPr>
          <p:cNvPr id="32" name="Text 30">
            <a:extLst>
              <a:ext uri="{FF2B5EF4-FFF2-40B4-BE49-F238E27FC236}">
                <a16:creationId xmlns:a16="http://schemas.microsoft.com/office/drawing/2014/main" id="{B2921AFE-8DD8-849C-3CDD-27E9E5B9CE30}"/>
              </a:ext>
            </a:extLst>
          </p:cNvPr>
          <p:cNvSpPr/>
          <p:nvPr/>
        </p:nvSpPr>
        <p:spPr>
          <a:xfrm>
            <a:off x="365760" y="6601968"/>
            <a:ext cx="8229600" cy="237744"/>
          </a:xfrm>
          <a:prstGeom prst="rect">
            <a:avLst/>
          </a:prstGeom>
          <a:noFill/>
          <a:ln/>
        </p:spPr>
        <p:txBody>
          <a:bodyPr wrap="square" lIns="0" tIns="0" rIns="0" bIns="0" rtlCol="0" anchor="ctr"/>
          <a:lstStyle/>
          <a:p>
            <a:pPr marL="0" indent="0">
              <a:buNone/>
            </a:pPr>
            <a:r>
              <a:rPr lang="en-US" sz="1000" dirty="0">
                <a:latin typeface="Calibri" pitchFamily="34" charset="0"/>
                <a:ea typeface="Calibri" pitchFamily="34" charset="-122"/>
                <a:cs typeface="Calibri" pitchFamily="34" charset="-120"/>
              </a:rPr>
              <a:t>Bonus  Voix du marché</a:t>
            </a:r>
            <a:endParaRPr lang="en-US" sz="1000" dirty="0"/>
          </a:p>
        </p:txBody>
      </p:sp>
      <p:sp>
        <p:nvSpPr>
          <p:cNvPr id="33" name="Text 31">
            <a:extLst>
              <a:ext uri="{FF2B5EF4-FFF2-40B4-BE49-F238E27FC236}">
                <a16:creationId xmlns:a16="http://schemas.microsoft.com/office/drawing/2014/main" id="{AEE9B34E-E956-3927-6E50-DA28AC08294D}"/>
              </a:ext>
            </a:extLst>
          </p:cNvPr>
          <p:cNvSpPr/>
          <p:nvPr/>
        </p:nvSpPr>
        <p:spPr>
          <a:xfrm>
            <a:off x="11551615" y="6601968"/>
            <a:ext cx="365760" cy="237744"/>
          </a:xfrm>
          <a:prstGeom prst="rect">
            <a:avLst/>
          </a:prstGeom>
          <a:noFill/>
          <a:ln/>
        </p:spPr>
        <p:txBody>
          <a:bodyPr wrap="square" lIns="0" tIns="0" rIns="0" bIns="0" rtlCol="0" anchor="ctr"/>
          <a:lstStyle/>
          <a:p>
            <a:pPr marL="0" indent="0" algn="r">
              <a:buNone/>
            </a:pPr>
            <a:r>
              <a:rPr lang="en-US" sz="1000" dirty="0">
                <a:latin typeface="Calibri" pitchFamily="34" charset="0"/>
                <a:ea typeface="Calibri" pitchFamily="34" charset="-122"/>
                <a:cs typeface="Calibri" pitchFamily="34" charset="-120"/>
              </a:rPr>
              <a:t>57</a:t>
            </a:r>
            <a:endParaRPr lang="en-US" sz="1000" dirty="0"/>
          </a:p>
        </p:txBody>
      </p:sp>
    </p:spTree>
    <p:extLst>
      <p:ext uri="{BB962C8B-B14F-4D97-AF65-F5344CB8AC3E}">
        <p14:creationId xmlns:p14="http://schemas.microsoft.com/office/powerpoint/2010/main" val="18275387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5F8FC"/>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731520"/>
          </a:xfrm>
          <a:prstGeom prst="rect">
            <a:avLst/>
          </a:prstGeom>
          <a:noFill/>
          <a:ln/>
        </p:spPr>
        <p:txBody>
          <a:bodyPr wrap="square" lIns="0" tIns="0" rIns="0" bIns="0" rtlCol="0" anchor="ctr"/>
          <a:lstStyle/>
          <a:p>
            <a:pPr marL="0" indent="0" algn="l">
              <a:buNone/>
            </a:pPr>
            <a:r>
              <a:rPr lang="en-US" sz="3200" b="1" dirty="0">
                <a:solidFill>
                  <a:srgbClr val="0B1F3A"/>
                </a:solidFill>
                <a:latin typeface="Calibri" pitchFamily="34" charset="0"/>
                <a:ea typeface="Calibri" pitchFamily="34" charset="-122"/>
                <a:cs typeface="Calibri" pitchFamily="34" charset="-120"/>
              </a:rPr>
              <a:t>Le problème : le cookie tiers est mort</a:t>
            </a:r>
            <a:endParaRPr lang="en-US" sz="3200" dirty="0"/>
          </a:p>
        </p:txBody>
      </p:sp>
      <p:sp>
        <p:nvSpPr>
          <p:cNvPr id="3" name="Shape 1"/>
          <p:cNvSpPr/>
          <p:nvPr/>
        </p:nvSpPr>
        <p:spPr>
          <a:xfrm>
            <a:off x="548640" y="1005840"/>
            <a:ext cx="548640" cy="73152"/>
          </a:xfrm>
          <a:prstGeom prst="rect">
            <a:avLst/>
          </a:prstGeom>
          <a:solidFill>
            <a:srgbClr val="F96167"/>
          </a:solidFill>
          <a:ln w="12700">
            <a:solidFill>
              <a:srgbClr val="F96167"/>
            </a:solidFill>
            <a:prstDash val="solid"/>
          </a:ln>
        </p:spPr>
      </p:sp>
      <p:sp>
        <p:nvSpPr>
          <p:cNvPr id="4" name="Text 2"/>
          <p:cNvSpPr/>
          <p:nvPr/>
        </p:nvSpPr>
        <p:spPr>
          <a:xfrm>
            <a:off x="548640" y="1143000"/>
            <a:ext cx="11064240" cy="411480"/>
          </a:xfrm>
          <a:prstGeom prst="rect">
            <a:avLst/>
          </a:prstGeom>
          <a:noFill/>
          <a:ln/>
        </p:spPr>
        <p:txBody>
          <a:bodyPr wrap="square" lIns="0" tIns="0" rIns="0" bIns="0" rtlCol="0" anchor="ctr"/>
          <a:lstStyle/>
          <a:p>
            <a:pPr marL="0" indent="0" algn="l">
              <a:buNone/>
            </a:pPr>
            <a:r>
              <a:rPr lang="en-US" sz="1600" i="1" dirty="0">
                <a:solidFill>
                  <a:srgbClr val="1C7293"/>
                </a:solidFill>
                <a:latin typeface="Calibri" pitchFamily="34" charset="0"/>
                <a:ea typeface="Calibri" pitchFamily="34" charset="-122"/>
                <a:cs typeface="Calibri" pitchFamily="34" charset="-120"/>
              </a:rPr>
              <a:t>Depuis 2024, les marketeurs perdent leur principal outil de ciblage et de mesure.</a:t>
            </a:r>
            <a:endParaRPr lang="en-US" sz="1600" dirty="0"/>
          </a:p>
        </p:txBody>
      </p:sp>
      <p:sp>
        <p:nvSpPr>
          <p:cNvPr id="5" name="Shape 3"/>
          <p:cNvSpPr/>
          <p:nvPr/>
        </p:nvSpPr>
        <p:spPr>
          <a:xfrm>
            <a:off x="640080" y="1828800"/>
            <a:ext cx="3657600" cy="192024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6" name="Shape 4"/>
          <p:cNvSpPr/>
          <p:nvPr/>
        </p:nvSpPr>
        <p:spPr>
          <a:xfrm>
            <a:off x="640080" y="1828800"/>
            <a:ext cx="3657600" cy="109728"/>
          </a:xfrm>
          <a:prstGeom prst="rect">
            <a:avLst/>
          </a:prstGeom>
          <a:solidFill>
            <a:srgbClr val="065A82"/>
          </a:solidFill>
          <a:ln w="12700">
            <a:solidFill>
              <a:srgbClr val="065A82"/>
            </a:solidFill>
            <a:prstDash val="solid"/>
          </a:ln>
        </p:spPr>
      </p:sp>
      <p:sp>
        <p:nvSpPr>
          <p:cNvPr id="7" name="Text 5"/>
          <p:cNvSpPr/>
          <p:nvPr/>
        </p:nvSpPr>
        <p:spPr>
          <a:xfrm>
            <a:off x="640080" y="2011680"/>
            <a:ext cx="3657600" cy="1005840"/>
          </a:xfrm>
          <a:prstGeom prst="rect">
            <a:avLst/>
          </a:prstGeom>
          <a:noFill/>
          <a:ln/>
        </p:spPr>
        <p:txBody>
          <a:bodyPr wrap="square" lIns="0" tIns="0" rIns="0" bIns="0" rtlCol="0" anchor="ctr"/>
          <a:lstStyle/>
          <a:p>
            <a:pPr marL="0" indent="0" algn="ctr">
              <a:buNone/>
            </a:pPr>
            <a:r>
              <a:rPr lang="en-US" sz="5200" b="1" dirty="0">
                <a:solidFill>
                  <a:srgbClr val="065A82"/>
                </a:solidFill>
                <a:latin typeface="Calibri" pitchFamily="34" charset="0"/>
                <a:ea typeface="Calibri" pitchFamily="34" charset="-122"/>
                <a:cs typeface="Calibri" pitchFamily="34" charset="-120"/>
              </a:rPr>
              <a:t>78 %</a:t>
            </a:r>
            <a:endParaRPr lang="en-US" sz="5200" dirty="0"/>
          </a:p>
        </p:txBody>
      </p:sp>
      <p:sp>
        <p:nvSpPr>
          <p:cNvPr id="8" name="Text 6"/>
          <p:cNvSpPr/>
          <p:nvPr/>
        </p:nvSpPr>
        <p:spPr>
          <a:xfrm>
            <a:off x="822960" y="3063240"/>
            <a:ext cx="3291840" cy="640080"/>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des navigateurs bloquent</a:t>
            </a:r>
            <a:endParaRPr lang="en-US" sz="1200" dirty="0"/>
          </a:p>
          <a:p>
            <a:pPr marL="0" indent="0" algn="ctr">
              <a:buNone/>
            </a:pPr>
            <a:r>
              <a:rPr lang="en-US" sz="1200" dirty="0">
                <a:solidFill>
                  <a:srgbClr val="1E293B"/>
                </a:solidFill>
                <a:latin typeface="Calibri" pitchFamily="34" charset="0"/>
                <a:ea typeface="Calibri" pitchFamily="34" charset="-122"/>
                <a:cs typeface="Calibri" pitchFamily="34" charset="-120"/>
              </a:rPr>
              <a:t>les cookies tiers (2025)</a:t>
            </a:r>
            <a:endParaRPr lang="en-US" sz="1200" dirty="0"/>
          </a:p>
        </p:txBody>
      </p:sp>
      <p:sp>
        <p:nvSpPr>
          <p:cNvPr id="9" name="Shape 7"/>
          <p:cNvSpPr/>
          <p:nvPr/>
        </p:nvSpPr>
        <p:spPr>
          <a:xfrm>
            <a:off x="4526280" y="1828800"/>
            <a:ext cx="3657600" cy="192024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10" name="Shape 8"/>
          <p:cNvSpPr/>
          <p:nvPr/>
        </p:nvSpPr>
        <p:spPr>
          <a:xfrm>
            <a:off x="4526280" y="1828800"/>
            <a:ext cx="3657600" cy="109728"/>
          </a:xfrm>
          <a:prstGeom prst="rect">
            <a:avLst/>
          </a:prstGeom>
          <a:solidFill>
            <a:srgbClr val="F96167"/>
          </a:solidFill>
          <a:ln w="12700">
            <a:solidFill>
              <a:srgbClr val="F96167"/>
            </a:solidFill>
            <a:prstDash val="solid"/>
          </a:ln>
        </p:spPr>
      </p:sp>
      <p:sp>
        <p:nvSpPr>
          <p:cNvPr id="11" name="Text 9"/>
          <p:cNvSpPr/>
          <p:nvPr/>
        </p:nvSpPr>
        <p:spPr>
          <a:xfrm>
            <a:off x="4526280" y="2011680"/>
            <a:ext cx="3657600" cy="1005840"/>
          </a:xfrm>
          <a:prstGeom prst="rect">
            <a:avLst/>
          </a:prstGeom>
          <a:noFill/>
          <a:ln/>
        </p:spPr>
        <p:txBody>
          <a:bodyPr wrap="square" lIns="0" tIns="0" rIns="0" bIns="0" rtlCol="0" anchor="ctr"/>
          <a:lstStyle/>
          <a:p>
            <a:pPr marL="0" indent="0" algn="ctr">
              <a:buNone/>
            </a:pPr>
            <a:r>
              <a:rPr lang="en-US" sz="5200" b="1" dirty="0">
                <a:solidFill>
                  <a:srgbClr val="F96167"/>
                </a:solidFill>
                <a:latin typeface="Calibri" pitchFamily="34" charset="0"/>
                <a:ea typeface="Calibri" pitchFamily="34" charset="-122"/>
                <a:cs typeface="Calibri" pitchFamily="34" charset="-120"/>
              </a:rPr>
              <a:t>-65 %</a:t>
            </a:r>
            <a:endParaRPr lang="en-US" sz="5200" dirty="0"/>
          </a:p>
        </p:txBody>
      </p:sp>
      <p:sp>
        <p:nvSpPr>
          <p:cNvPr id="12" name="Text 10"/>
          <p:cNvSpPr/>
          <p:nvPr/>
        </p:nvSpPr>
        <p:spPr>
          <a:xfrm>
            <a:off x="4709160" y="3063240"/>
            <a:ext cx="3291840" cy="640080"/>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de précision sur</a:t>
            </a:r>
            <a:endParaRPr lang="en-US" sz="1200" dirty="0"/>
          </a:p>
          <a:p>
            <a:pPr marL="0" indent="0" algn="ctr">
              <a:buNone/>
            </a:pPr>
            <a:r>
              <a:rPr lang="en-US" sz="1200" dirty="0">
                <a:solidFill>
                  <a:srgbClr val="1E293B"/>
                </a:solidFill>
                <a:latin typeface="Calibri" pitchFamily="34" charset="0"/>
                <a:ea typeface="Calibri" pitchFamily="34" charset="-122"/>
                <a:cs typeface="Calibri" pitchFamily="34" charset="-120"/>
              </a:rPr>
              <a:t>l'attribution multi-touch</a:t>
            </a:r>
            <a:endParaRPr lang="en-US" sz="1200" dirty="0"/>
          </a:p>
        </p:txBody>
      </p:sp>
      <p:sp>
        <p:nvSpPr>
          <p:cNvPr id="13" name="Shape 11"/>
          <p:cNvSpPr/>
          <p:nvPr/>
        </p:nvSpPr>
        <p:spPr>
          <a:xfrm>
            <a:off x="8412480" y="1828800"/>
            <a:ext cx="3657600" cy="192024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14" name="Shape 12"/>
          <p:cNvSpPr/>
          <p:nvPr/>
        </p:nvSpPr>
        <p:spPr>
          <a:xfrm>
            <a:off x="8412480" y="1828800"/>
            <a:ext cx="3657600" cy="109728"/>
          </a:xfrm>
          <a:prstGeom prst="rect">
            <a:avLst/>
          </a:prstGeom>
          <a:solidFill>
            <a:srgbClr val="1C7293"/>
          </a:solidFill>
          <a:ln w="12700">
            <a:solidFill>
              <a:srgbClr val="1C7293"/>
            </a:solidFill>
            <a:prstDash val="solid"/>
          </a:ln>
        </p:spPr>
      </p:sp>
      <p:sp>
        <p:nvSpPr>
          <p:cNvPr id="15" name="Text 13"/>
          <p:cNvSpPr/>
          <p:nvPr/>
        </p:nvSpPr>
        <p:spPr>
          <a:xfrm>
            <a:off x="8412480" y="2011680"/>
            <a:ext cx="3657600" cy="1005840"/>
          </a:xfrm>
          <a:prstGeom prst="rect">
            <a:avLst/>
          </a:prstGeom>
          <a:noFill/>
          <a:ln/>
        </p:spPr>
        <p:txBody>
          <a:bodyPr wrap="square" lIns="0" tIns="0" rIns="0" bIns="0" rtlCol="0" anchor="ctr"/>
          <a:lstStyle/>
          <a:p>
            <a:pPr marL="0" indent="0" algn="ctr">
              <a:buNone/>
            </a:pPr>
            <a:r>
              <a:rPr lang="en-US" sz="5200" b="1" dirty="0">
                <a:solidFill>
                  <a:srgbClr val="1C7293"/>
                </a:solidFill>
                <a:latin typeface="Calibri" pitchFamily="34" charset="0"/>
                <a:ea typeface="Calibri" pitchFamily="34" charset="-122"/>
                <a:cs typeface="Calibri" pitchFamily="34" charset="-120"/>
              </a:rPr>
              <a:t>2 Md €</a:t>
            </a:r>
            <a:endParaRPr lang="en-US" sz="5200" dirty="0"/>
          </a:p>
        </p:txBody>
      </p:sp>
      <p:sp>
        <p:nvSpPr>
          <p:cNvPr id="16" name="Text 14"/>
          <p:cNvSpPr/>
          <p:nvPr/>
        </p:nvSpPr>
        <p:spPr>
          <a:xfrm>
            <a:off x="8595360" y="3063240"/>
            <a:ext cx="3291840" cy="640080"/>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de dépenses publicitaires</a:t>
            </a:r>
            <a:endParaRPr lang="en-US" sz="1200" dirty="0"/>
          </a:p>
          <a:p>
            <a:pPr marL="0" indent="0" algn="ctr">
              <a:buNone/>
            </a:pPr>
            <a:r>
              <a:rPr lang="en-US" sz="1200" dirty="0">
                <a:solidFill>
                  <a:srgbClr val="1E293B"/>
                </a:solidFill>
                <a:latin typeface="Calibri" pitchFamily="34" charset="0"/>
                <a:ea typeface="Calibri" pitchFamily="34" charset="-122"/>
                <a:cs typeface="Calibri" pitchFamily="34" charset="-120"/>
              </a:rPr>
              <a:t>"à l'aveugle" en France</a:t>
            </a:r>
            <a:endParaRPr lang="en-US" sz="1200" dirty="0"/>
          </a:p>
        </p:txBody>
      </p:sp>
      <p:sp>
        <p:nvSpPr>
          <p:cNvPr id="17" name="Shape 15"/>
          <p:cNvSpPr/>
          <p:nvPr/>
        </p:nvSpPr>
        <p:spPr>
          <a:xfrm>
            <a:off x="640080" y="4023360"/>
            <a:ext cx="10972800" cy="2286000"/>
          </a:xfrm>
          <a:prstGeom prst="rect">
            <a:avLst/>
          </a:prstGeom>
          <a:solidFill>
            <a:srgbClr val="0B1F3A"/>
          </a:solidFill>
          <a:ln w="12700">
            <a:solidFill>
              <a:srgbClr val="0B1F3A"/>
            </a:solidFill>
            <a:prstDash val="solid"/>
          </a:ln>
          <a:effectLst>
            <a:outerShdw blurRad="76200" dist="25400" dir="8100000" algn="bl" rotWithShape="0">
              <a:srgbClr val="000000">
                <a:alpha val="12000"/>
              </a:srgbClr>
            </a:outerShdw>
          </a:effectLst>
        </p:spPr>
      </p:sp>
      <p:sp>
        <p:nvSpPr>
          <p:cNvPr id="18" name="Shape 16"/>
          <p:cNvSpPr/>
          <p:nvPr/>
        </p:nvSpPr>
        <p:spPr>
          <a:xfrm>
            <a:off x="640080" y="4023360"/>
            <a:ext cx="109728" cy="2286000"/>
          </a:xfrm>
          <a:prstGeom prst="rect">
            <a:avLst/>
          </a:prstGeom>
          <a:solidFill>
            <a:srgbClr val="F96167"/>
          </a:solidFill>
          <a:ln w="12700">
            <a:solidFill>
              <a:srgbClr val="F96167"/>
            </a:solidFill>
            <a:prstDash val="solid"/>
          </a:ln>
        </p:spPr>
      </p:sp>
      <p:sp>
        <p:nvSpPr>
          <p:cNvPr id="19" name="Text 17"/>
          <p:cNvSpPr/>
          <p:nvPr/>
        </p:nvSpPr>
        <p:spPr>
          <a:xfrm>
            <a:off x="868680" y="4160520"/>
            <a:ext cx="10058400" cy="320040"/>
          </a:xfrm>
          <a:prstGeom prst="rect">
            <a:avLst/>
          </a:prstGeom>
          <a:noFill/>
          <a:ln/>
        </p:spPr>
        <p:txBody>
          <a:bodyPr wrap="square" lIns="0" tIns="0" rIns="0" bIns="0" rtlCol="0" anchor="ctr"/>
          <a:lstStyle/>
          <a:p>
            <a:pPr marL="0" indent="0">
              <a:buNone/>
            </a:pPr>
            <a:r>
              <a:rPr lang="en-US" sz="1200" b="1" kern="0" spc="200" dirty="0">
                <a:solidFill>
                  <a:srgbClr val="F9B233"/>
                </a:solidFill>
                <a:latin typeface="Calibri" pitchFamily="34" charset="0"/>
                <a:ea typeface="Calibri" pitchFamily="34" charset="-122"/>
                <a:cs typeface="Calibri" pitchFamily="34" charset="-120"/>
              </a:rPr>
              <a:t>POURQUOI C'EST VOTRE PROBLÈME</a:t>
            </a:r>
            <a:endParaRPr lang="en-US" sz="1200" dirty="0"/>
          </a:p>
        </p:txBody>
      </p:sp>
      <p:sp>
        <p:nvSpPr>
          <p:cNvPr id="20" name="Text 18"/>
          <p:cNvSpPr/>
          <p:nvPr/>
        </p:nvSpPr>
        <p:spPr>
          <a:xfrm>
            <a:off x="868680" y="4526280"/>
            <a:ext cx="10698480" cy="1737360"/>
          </a:xfrm>
          <a:prstGeom prst="rect">
            <a:avLst/>
          </a:prstGeom>
          <a:noFill/>
          <a:ln/>
        </p:spPr>
        <p:txBody>
          <a:bodyPr wrap="square" lIns="0" tIns="0" rIns="0" bIns="0" rtlCol="0" anchor="t"/>
          <a:lstStyle/>
          <a:p>
            <a:pPr marL="0" indent="0">
              <a:spcAft>
                <a:spcPts val="600"/>
              </a:spcAft>
              <a:buNone/>
            </a:pPr>
            <a:r>
              <a:rPr lang="en-US" sz="1400" b="1" dirty="0">
                <a:solidFill>
                  <a:srgbClr val="FFFFFF"/>
                </a:solidFill>
                <a:latin typeface="Calibri" pitchFamily="34" charset="0"/>
                <a:ea typeface="Calibri" pitchFamily="34" charset="-122"/>
                <a:cs typeface="Calibri" pitchFamily="34" charset="-120"/>
              </a:rPr>
              <a:t>Safari, Firefox puis Chrome ont tué le cookie tiers. </a:t>
            </a:r>
            <a:r>
              <a:rPr lang="en-US" sz="1400" dirty="0">
                <a:solidFill>
                  <a:srgbClr val="FFFFFF"/>
                </a:solidFill>
                <a:latin typeface="Calibri" pitchFamily="34" charset="0"/>
                <a:ea typeface="Calibri" pitchFamily="34" charset="-122"/>
                <a:cs typeface="Calibri" pitchFamily="34" charset="-120"/>
              </a:rPr>
              <a:t>Résultat : vos campagnes display, votre retargeting, vos lookalikes et votre mesure d'incrémentalité sont cassés.</a:t>
            </a:r>
            <a:endParaRPr lang="en-US" sz="1400" dirty="0"/>
          </a:p>
          <a:p>
            <a:pPr marL="0" indent="0">
              <a:spcAft>
                <a:spcPts val="600"/>
              </a:spcAft>
              <a:buNone/>
            </a:pPr>
            <a:r>
              <a:rPr lang="en-US" sz="1400" dirty="0">
                <a:solidFill>
                  <a:srgbClr val="000000"/>
                </a:solidFill>
                <a:latin typeface="Calibri" pitchFamily="34" charset="0"/>
                <a:ea typeface="Calibri" pitchFamily="34" charset="-122"/>
                <a:cs typeface="Calibri" pitchFamily="34" charset="-120"/>
              </a:rPr>
              <a:t> </a:t>
            </a:r>
            <a:endParaRPr lang="en-US" sz="1400" dirty="0"/>
          </a:p>
          <a:p>
            <a:pPr marL="0" indent="0">
              <a:spcAft>
                <a:spcPts val="600"/>
              </a:spcAft>
              <a:buNone/>
            </a:pPr>
            <a:r>
              <a:rPr lang="en-US" sz="1400" dirty="0">
                <a:solidFill>
                  <a:srgbClr val="FFFFFF"/>
                </a:solidFill>
                <a:latin typeface="Calibri" pitchFamily="34" charset="0"/>
                <a:ea typeface="Calibri" pitchFamily="34" charset="-122"/>
                <a:cs typeface="Calibri" pitchFamily="34" charset="-120"/>
              </a:rPr>
              <a:t>Les marques qui gagnent la décennie 2025-2035 sont celles qui </a:t>
            </a:r>
            <a:r>
              <a:rPr lang="en-US" sz="1400" b="1" dirty="0">
                <a:solidFill>
                  <a:srgbClr val="F9B233"/>
                </a:solidFill>
                <a:latin typeface="Calibri" pitchFamily="34" charset="0"/>
                <a:ea typeface="Calibri" pitchFamily="34" charset="-122"/>
                <a:cs typeface="Calibri" pitchFamily="34" charset="-120"/>
              </a:rPr>
              <a:t>combinent leur first-party data avec celle de partenaires de </a:t>
            </a:r>
            <a:r>
              <a:rPr lang="en-US" sz="1400" b="1" dirty="0" err="1">
                <a:solidFill>
                  <a:srgbClr val="F9B233"/>
                </a:solidFill>
                <a:latin typeface="Calibri" pitchFamily="34" charset="0"/>
                <a:ea typeface="Calibri" pitchFamily="34" charset="-122"/>
                <a:cs typeface="Calibri" pitchFamily="34" charset="-120"/>
              </a:rPr>
              <a:t>confiance</a:t>
            </a:r>
            <a:r>
              <a:rPr lang="en-US" sz="1400" dirty="0">
                <a:solidFill>
                  <a:srgbClr val="FFFFFF"/>
                </a:solidFill>
                <a:latin typeface="Calibri" pitchFamily="34" charset="0"/>
                <a:ea typeface="Calibri" pitchFamily="34" charset="-122"/>
                <a:cs typeface="Calibri" pitchFamily="34" charset="-120"/>
              </a:rPr>
              <a:t>  sans exposer les données personnelles. C'est exactement le rôle d'une Data Clean Room.</a:t>
            </a:r>
            <a:endParaRPr lang="en-US" sz="1400" dirty="0"/>
          </a:p>
        </p:txBody>
      </p:sp>
      <p:sp>
        <p:nvSpPr>
          <p:cNvPr id="21" name="Shape 19"/>
          <p:cNvSpPr/>
          <p:nvPr/>
        </p:nvSpPr>
        <p:spPr>
          <a:xfrm>
            <a:off x="0" y="6583680"/>
            <a:ext cx="12191695" cy="274320"/>
          </a:xfrm>
          <a:prstGeom prst="rect">
            <a:avLst/>
          </a:prstGeom>
          <a:solidFill>
            <a:srgbClr val="0B1F3A"/>
          </a:solidFill>
          <a:ln w="12700">
            <a:solidFill>
              <a:srgbClr val="0B1F3A"/>
            </a:solidFill>
            <a:prstDash val="solid"/>
          </a:ln>
        </p:spPr>
      </p:sp>
      <p:sp>
        <p:nvSpPr>
          <p:cNvPr id="22" name="Text 20"/>
          <p:cNvSpPr/>
          <p:nvPr/>
        </p:nvSpPr>
        <p:spPr>
          <a:xfrm>
            <a:off x="365760" y="6601968"/>
            <a:ext cx="822960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Session 1  Comprendre les DCR</a:t>
            </a:r>
            <a:endParaRPr lang="en-US" sz="1000" dirty="0"/>
          </a:p>
        </p:txBody>
      </p:sp>
      <p:sp>
        <p:nvSpPr>
          <p:cNvPr id="23" name="Text 21"/>
          <p:cNvSpPr/>
          <p:nvPr/>
        </p:nvSpPr>
        <p:spPr>
          <a:xfrm>
            <a:off x="11551615" y="6601968"/>
            <a:ext cx="365760" cy="237744"/>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5F8FC"/>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731520"/>
          </a:xfrm>
          <a:prstGeom prst="rect">
            <a:avLst/>
          </a:prstGeom>
          <a:noFill/>
          <a:ln/>
        </p:spPr>
        <p:txBody>
          <a:bodyPr wrap="square" lIns="0" tIns="0" rIns="0" bIns="0" rtlCol="0" anchor="ctr"/>
          <a:lstStyle/>
          <a:p>
            <a:pPr marL="0" indent="0" algn="l">
              <a:buNone/>
            </a:pPr>
            <a:r>
              <a:rPr lang="en-US" sz="3200" b="1" dirty="0">
                <a:solidFill>
                  <a:srgbClr val="0B1F3A"/>
                </a:solidFill>
                <a:latin typeface="Calibri" pitchFamily="34" charset="0"/>
                <a:ea typeface="Calibri" pitchFamily="34" charset="-122"/>
                <a:cs typeface="Calibri" pitchFamily="34" charset="-120"/>
              </a:rPr>
              <a:t>Data Clean Room  définition simple</a:t>
            </a:r>
            <a:endParaRPr lang="en-US" sz="3200" dirty="0"/>
          </a:p>
        </p:txBody>
      </p:sp>
      <p:sp>
        <p:nvSpPr>
          <p:cNvPr id="3" name="Shape 1"/>
          <p:cNvSpPr/>
          <p:nvPr/>
        </p:nvSpPr>
        <p:spPr>
          <a:xfrm>
            <a:off x="548640" y="1005840"/>
            <a:ext cx="548640" cy="73152"/>
          </a:xfrm>
          <a:prstGeom prst="rect">
            <a:avLst/>
          </a:prstGeom>
          <a:solidFill>
            <a:srgbClr val="F96167"/>
          </a:solidFill>
          <a:ln w="12700">
            <a:solidFill>
              <a:srgbClr val="F96167"/>
            </a:solidFill>
            <a:prstDash val="solid"/>
          </a:ln>
        </p:spPr>
      </p:sp>
      <p:sp>
        <p:nvSpPr>
          <p:cNvPr id="4" name="Text 2"/>
          <p:cNvSpPr/>
          <p:nvPr/>
        </p:nvSpPr>
        <p:spPr>
          <a:xfrm>
            <a:off x="548640" y="1143000"/>
            <a:ext cx="11064240" cy="411480"/>
          </a:xfrm>
          <a:prstGeom prst="rect">
            <a:avLst/>
          </a:prstGeom>
          <a:noFill/>
          <a:ln/>
        </p:spPr>
        <p:txBody>
          <a:bodyPr wrap="square" lIns="0" tIns="0" rIns="0" bIns="0" rtlCol="0" anchor="ctr"/>
          <a:lstStyle/>
          <a:p>
            <a:pPr marL="0" indent="0" algn="l">
              <a:buNone/>
            </a:pPr>
            <a:r>
              <a:rPr lang="en-US" sz="1600" i="1" dirty="0">
                <a:solidFill>
                  <a:srgbClr val="1C7293"/>
                </a:solidFill>
                <a:latin typeface="Calibri" pitchFamily="34" charset="0"/>
                <a:ea typeface="Calibri" pitchFamily="34" charset="-122"/>
                <a:cs typeface="Calibri" pitchFamily="34" charset="-120"/>
              </a:rPr>
              <a:t>Un environnement où deux parties collaborent sur leurs données sans jamais se les révéler.</a:t>
            </a:r>
            <a:endParaRPr lang="en-US" sz="1600" dirty="0"/>
          </a:p>
        </p:txBody>
      </p:sp>
      <p:sp>
        <p:nvSpPr>
          <p:cNvPr id="5" name="Shape 3"/>
          <p:cNvSpPr/>
          <p:nvPr/>
        </p:nvSpPr>
        <p:spPr>
          <a:xfrm>
            <a:off x="1371600" y="1828800"/>
            <a:ext cx="9418320" cy="1828800"/>
          </a:xfrm>
          <a:prstGeom prst="rect">
            <a:avLst/>
          </a:prstGeom>
          <a:solidFill>
            <a:srgbClr val="0B1F3A"/>
          </a:solidFill>
          <a:ln w="12700">
            <a:solidFill>
              <a:srgbClr val="0B1F3A"/>
            </a:solidFill>
            <a:prstDash val="solid"/>
          </a:ln>
          <a:effectLst>
            <a:outerShdw blurRad="127000" dist="38100" dir="8100000" algn="bl" rotWithShape="0">
              <a:srgbClr val="000000">
                <a:alpha val="10000"/>
              </a:srgbClr>
            </a:outerShdw>
          </a:effectLst>
        </p:spPr>
      </p:sp>
      <p:sp>
        <p:nvSpPr>
          <p:cNvPr id="6" name="Shape 4"/>
          <p:cNvSpPr/>
          <p:nvPr/>
        </p:nvSpPr>
        <p:spPr>
          <a:xfrm>
            <a:off x="1371600" y="1828800"/>
            <a:ext cx="9418320" cy="109728"/>
          </a:xfrm>
          <a:prstGeom prst="rect">
            <a:avLst/>
          </a:prstGeom>
          <a:solidFill>
            <a:srgbClr val="F96167"/>
          </a:solidFill>
          <a:ln w="12700">
            <a:solidFill>
              <a:srgbClr val="F96167"/>
            </a:solidFill>
            <a:prstDash val="solid"/>
          </a:ln>
        </p:spPr>
      </p:sp>
      <p:sp>
        <p:nvSpPr>
          <p:cNvPr id="7" name="Text 5"/>
          <p:cNvSpPr/>
          <p:nvPr/>
        </p:nvSpPr>
        <p:spPr>
          <a:xfrm>
            <a:off x="1645920" y="2103120"/>
            <a:ext cx="8869680" cy="1417320"/>
          </a:xfrm>
          <a:prstGeom prst="rect">
            <a:avLst/>
          </a:prstGeom>
          <a:noFill/>
          <a:ln/>
        </p:spPr>
        <p:txBody>
          <a:bodyPr wrap="square" lIns="0" tIns="0" rIns="0" bIns="0" rtlCol="0" anchor="ctr"/>
          <a:lstStyle/>
          <a:p>
            <a:pPr marL="0" indent="0" algn="ctr">
              <a:buNone/>
            </a:pPr>
            <a:r>
              <a:rPr lang="en-US" sz="1700" i="1" dirty="0">
                <a:solidFill>
                  <a:srgbClr val="FFFFFF"/>
                </a:solidFill>
                <a:latin typeface="Calibri" pitchFamily="34" charset="0"/>
                <a:ea typeface="Calibri" pitchFamily="34" charset="-122"/>
                <a:cs typeface="Calibri" pitchFamily="34" charset="-120"/>
              </a:rPr>
              <a:t>« Une Data Clean Room est un espace sécurisé et contrôlé où plusieurs organisations peuvent faire travailler leurs données ensemble sans que personne ne voie les données brutes des autres. Seuls des résultats agrégés et anonymisés en sortent. »</a:t>
            </a:r>
            <a:endParaRPr lang="en-US" sz="1700" dirty="0"/>
          </a:p>
        </p:txBody>
      </p:sp>
      <p:sp>
        <p:nvSpPr>
          <p:cNvPr id="8" name="Shape 6"/>
          <p:cNvSpPr/>
          <p:nvPr/>
        </p:nvSpPr>
        <p:spPr>
          <a:xfrm>
            <a:off x="640080" y="4023360"/>
            <a:ext cx="3657600" cy="228600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9" name="Shape 7"/>
          <p:cNvSpPr/>
          <p:nvPr/>
        </p:nvSpPr>
        <p:spPr>
          <a:xfrm>
            <a:off x="640080" y="4023360"/>
            <a:ext cx="91440" cy="2286000"/>
          </a:xfrm>
          <a:prstGeom prst="rect">
            <a:avLst/>
          </a:prstGeom>
          <a:solidFill>
            <a:srgbClr val="1C7293"/>
          </a:solidFill>
          <a:ln w="12700">
            <a:solidFill>
              <a:srgbClr val="1C7293"/>
            </a:solidFill>
            <a:prstDash val="solid"/>
          </a:ln>
        </p:spPr>
      </p:sp>
      <p:sp>
        <p:nvSpPr>
          <p:cNvPr id="10" name="Text 8"/>
          <p:cNvSpPr/>
          <p:nvPr/>
        </p:nvSpPr>
        <p:spPr>
          <a:xfrm>
            <a:off x="868680" y="4206240"/>
            <a:ext cx="3383280" cy="365760"/>
          </a:xfrm>
          <a:prstGeom prst="rect">
            <a:avLst/>
          </a:prstGeom>
          <a:noFill/>
          <a:ln/>
        </p:spPr>
        <p:txBody>
          <a:bodyPr wrap="square" lIns="0" tIns="0" rIns="0" bIns="0" rtlCol="0" anchor="ctr"/>
          <a:lstStyle/>
          <a:p>
            <a:pPr marL="0" indent="0">
              <a:buNone/>
            </a:pPr>
            <a:r>
              <a:rPr lang="en-US" sz="1300" b="1" kern="0" spc="100" dirty="0">
                <a:solidFill>
                  <a:srgbClr val="065A82"/>
                </a:solidFill>
                <a:latin typeface="Calibri" pitchFamily="34" charset="0"/>
                <a:ea typeface="Calibri" pitchFamily="34" charset="-122"/>
                <a:cs typeface="Calibri" pitchFamily="34" charset="-120"/>
              </a:rPr>
              <a:t>PRIVACY BY DESIGN</a:t>
            </a:r>
            <a:endParaRPr lang="en-US" sz="1300" dirty="0"/>
          </a:p>
        </p:txBody>
      </p:sp>
      <p:sp>
        <p:nvSpPr>
          <p:cNvPr id="11" name="Text 9"/>
          <p:cNvSpPr/>
          <p:nvPr/>
        </p:nvSpPr>
        <p:spPr>
          <a:xfrm>
            <a:off x="868680" y="4617720"/>
            <a:ext cx="3383280" cy="1645920"/>
          </a:xfrm>
          <a:prstGeom prst="rect">
            <a:avLst/>
          </a:prstGeom>
          <a:noFill/>
          <a:ln/>
        </p:spPr>
        <p:txBody>
          <a:bodyPr wrap="square" lIns="0" tIns="0" rIns="0" bIns="0" rtlCol="0" anchor="t"/>
          <a:lstStyle/>
          <a:p>
            <a:pPr marL="0" indent="0">
              <a:buNone/>
            </a:pPr>
            <a:r>
              <a:rPr lang="en-US" sz="1200" dirty="0">
                <a:solidFill>
                  <a:srgbClr val="1E293B"/>
                </a:solidFill>
                <a:latin typeface="Calibri" pitchFamily="34" charset="0"/>
                <a:ea typeface="Calibri" pitchFamily="34" charset="-122"/>
                <a:cs typeface="Calibri" pitchFamily="34" charset="-120"/>
              </a:rPr>
              <a:t>Les données brutes ne sortent jamais. Seuls des agrégats, des audiences ou des scores sont partagés.</a:t>
            </a:r>
            <a:endParaRPr lang="en-US" sz="1200" dirty="0"/>
          </a:p>
        </p:txBody>
      </p:sp>
      <p:sp>
        <p:nvSpPr>
          <p:cNvPr id="12" name="Shape 10"/>
          <p:cNvSpPr/>
          <p:nvPr/>
        </p:nvSpPr>
        <p:spPr>
          <a:xfrm>
            <a:off x="4526280" y="4023360"/>
            <a:ext cx="3657600" cy="228600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13" name="Shape 11"/>
          <p:cNvSpPr/>
          <p:nvPr/>
        </p:nvSpPr>
        <p:spPr>
          <a:xfrm>
            <a:off x="4526280" y="4023360"/>
            <a:ext cx="91440" cy="2286000"/>
          </a:xfrm>
          <a:prstGeom prst="rect">
            <a:avLst/>
          </a:prstGeom>
          <a:solidFill>
            <a:srgbClr val="1C7293"/>
          </a:solidFill>
          <a:ln w="12700">
            <a:solidFill>
              <a:srgbClr val="1C7293"/>
            </a:solidFill>
            <a:prstDash val="solid"/>
          </a:ln>
        </p:spPr>
      </p:sp>
      <p:sp>
        <p:nvSpPr>
          <p:cNvPr id="14" name="Text 12"/>
          <p:cNvSpPr/>
          <p:nvPr/>
        </p:nvSpPr>
        <p:spPr>
          <a:xfrm>
            <a:off x="4754880" y="4206240"/>
            <a:ext cx="3383280" cy="365760"/>
          </a:xfrm>
          <a:prstGeom prst="rect">
            <a:avLst/>
          </a:prstGeom>
          <a:noFill/>
          <a:ln/>
        </p:spPr>
        <p:txBody>
          <a:bodyPr wrap="square" lIns="0" tIns="0" rIns="0" bIns="0" rtlCol="0" anchor="ctr"/>
          <a:lstStyle/>
          <a:p>
            <a:pPr marL="0" indent="0">
              <a:buNone/>
            </a:pPr>
            <a:r>
              <a:rPr lang="en-US" sz="1300" b="1" kern="0" spc="100" dirty="0">
                <a:solidFill>
                  <a:srgbClr val="065A82"/>
                </a:solidFill>
                <a:latin typeface="Calibri" pitchFamily="34" charset="0"/>
                <a:ea typeface="Calibri" pitchFamily="34" charset="-122"/>
                <a:cs typeface="Calibri" pitchFamily="34" charset="-120"/>
              </a:rPr>
              <a:t>CONTRÔLE GRANULAIRE</a:t>
            </a:r>
            <a:endParaRPr lang="en-US" sz="1300" dirty="0"/>
          </a:p>
        </p:txBody>
      </p:sp>
      <p:sp>
        <p:nvSpPr>
          <p:cNvPr id="15" name="Text 13"/>
          <p:cNvSpPr/>
          <p:nvPr/>
        </p:nvSpPr>
        <p:spPr>
          <a:xfrm>
            <a:off x="4754880" y="4617720"/>
            <a:ext cx="3383280" cy="1645920"/>
          </a:xfrm>
          <a:prstGeom prst="rect">
            <a:avLst/>
          </a:prstGeom>
          <a:noFill/>
          <a:ln/>
        </p:spPr>
        <p:txBody>
          <a:bodyPr wrap="square" lIns="0" tIns="0" rIns="0" bIns="0" rtlCol="0" anchor="t"/>
          <a:lstStyle/>
          <a:p>
            <a:pPr marL="0" indent="0">
              <a:buNone/>
            </a:pPr>
            <a:r>
              <a:rPr lang="en-US" sz="1200" dirty="0">
                <a:solidFill>
                  <a:srgbClr val="1E293B"/>
                </a:solidFill>
                <a:latin typeface="Calibri" pitchFamily="34" charset="0"/>
                <a:ea typeface="Calibri" pitchFamily="34" charset="-122"/>
                <a:cs typeface="Calibri" pitchFamily="34" charset="-120"/>
              </a:rPr>
              <a:t>Chaque partie décide qui peut accéder, à quelles colonnes, avec quelles règles (k-anonymat, seuil minimal...).</a:t>
            </a:r>
            <a:endParaRPr lang="en-US" sz="1200" dirty="0"/>
          </a:p>
        </p:txBody>
      </p:sp>
      <p:sp>
        <p:nvSpPr>
          <p:cNvPr id="16" name="Shape 14"/>
          <p:cNvSpPr/>
          <p:nvPr/>
        </p:nvSpPr>
        <p:spPr>
          <a:xfrm>
            <a:off x="8412480" y="4023360"/>
            <a:ext cx="3657600" cy="228600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17" name="Shape 15"/>
          <p:cNvSpPr/>
          <p:nvPr/>
        </p:nvSpPr>
        <p:spPr>
          <a:xfrm>
            <a:off x="8412480" y="4023360"/>
            <a:ext cx="91440" cy="2286000"/>
          </a:xfrm>
          <a:prstGeom prst="rect">
            <a:avLst/>
          </a:prstGeom>
          <a:solidFill>
            <a:srgbClr val="1C7293"/>
          </a:solidFill>
          <a:ln w="12700">
            <a:solidFill>
              <a:srgbClr val="1C7293"/>
            </a:solidFill>
            <a:prstDash val="solid"/>
          </a:ln>
        </p:spPr>
      </p:sp>
      <p:sp>
        <p:nvSpPr>
          <p:cNvPr id="18" name="Text 16"/>
          <p:cNvSpPr/>
          <p:nvPr/>
        </p:nvSpPr>
        <p:spPr>
          <a:xfrm>
            <a:off x="8641080" y="4206240"/>
            <a:ext cx="3383280" cy="365760"/>
          </a:xfrm>
          <a:prstGeom prst="rect">
            <a:avLst/>
          </a:prstGeom>
          <a:noFill/>
          <a:ln/>
        </p:spPr>
        <p:txBody>
          <a:bodyPr wrap="square" lIns="0" tIns="0" rIns="0" bIns="0" rtlCol="0" anchor="ctr"/>
          <a:lstStyle/>
          <a:p>
            <a:pPr marL="0" indent="0">
              <a:buNone/>
            </a:pPr>
            <a:r>
              <a:rPr lang="en-US" sz="1300" b="1" kern="0" spc="100" dirty="0">
                <a:solidFill>
                  <a:srgbClr val="065A82"/>
                </a:solidFill>
                <a:latin typeface="Calibri" pitchFamily="34" charset="0"/>
                <a:ea typeface="Calibri" pitchFamily="34" charset="-122"/>
                <a:cs typeface="Calibri" pitchFamily="34" charset="-120"/>
              </a:rPr>
              <a:t>CONFORMITÉ RGPD</a:t>
            </a:r>
            <a:endParaRPr lang="en-US" sz="1300" dirty="0"/>
          </a:p>
        </p:txBody>
      </p:sp>
      <p:sp>
        <p:nvSpPr>
          <p:cNvPr id="19" name="Text 17"/>
          <p:cNvSpPr/>
          <p:nvPr/>
        </p:nvSpPr>
        <p:spPr>
          <a:xfrm>
            <a:off x="8641080" y="4617720"/>
            <a:ext cx="3383280" cy="1645920"/>
          </a:xfrm>
          <a:prstGeom prst="rect">
            <a:avLst/>
          </a:prstGeom>
          <a:noFill/>
          <a:ln/>
        </p:spPr>
        <p:txBody>
          <a:bodyPr wrap="square" lIns="0" tIns="0" rIns="0" bIns="0" rtlCol="0" anchor="t"/>
          <a:lstStyle/>
          <a:p>
            <a:pPr marL="0" indent="0">
              <a:buNone/>
            </a:pPr>
            <a:r>
              <a:rPr lang="en-US" sz="1200" dirty="0">
                <a:solidFill>
                  <a:srgbClr val="1E293B"/>
                </a:solidFill>
                <a:latin typeface="Calibri" pitchFamily="34" charset="0"/>
                <a:ea typeface="Calibri" pitchFamily="34" charset="-122"/>
                <a:cs typeface="Calibri" pitchFamily="34" charset="-120"/>
              </a:rPr>
              <a:t>Pensée pour le RGPD Art. 28 (processeur) et l'Art. 6.1.f (intérêt légitime). Auditable.</a:t>
            </a:r>
            <a:endParaRPr lang="en-US" sz="1200" dirty="0"/>
          </a:p>
        </p:txBody>
      </p:sp>
      <p:sp>
        <p:nvSpPr>
          <p:cNvPr id="20" name="Shape 18"/>
          <p:cNvSpPr/>
          <p:nvPr/>
        </p:nvSpPr>
        <p:spPr>
          <a:xfrm>
            <a:off x="0" y="6583680"/>
            <a:ext cx="12191695" cy="274320"/>
          </a:xfrm>
          <a:prstGeom prst="rect">
            <a:avLst/>
          </a:prstGeom>
          <a:solidFill>
            <a:srgbClr val="0B1F3A"/>
          </a:solidFill>
          <a:ln w="12700">
            <a:solidFill>
              <a:srgbClr val="0B1F3A"/>
            </a:solidFill>
            <a:prstDash val="solid"/>
          </a:ln>
        </p:spPr>
      </p:sp>
      <p:sp>
        <p:nvSpPr>
          <p:cNvPr id="21" name="Text 19"/>
          <p:cNvSpPr/>
          <p:nvPr/>
        </p:nvSpPr>
        <p:spPr>
          <a:xfrm>
            <a:off x="365760" y="6601968"/>
            <a:ext cx="822960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Session 1  Comprendre les DCR</a:t>
            </a:r>
            <a:endParaRPr lang="en-US" sz="1000" dirty="0"/>
          </a:p>
        </p:txBody>
      </p:sp>
      <p:sp>
        <p:nvSpPr>
          <p:cNvPr id="22" name="Text 20"/>
          <p:cNvSpPr/>
          <p:nvPr/>
        </p:nvSpPr>
        <p:spPr>
          <a:xfrm>
            <a:off x="11551615" y="6601968"/>
            <a:ext cx="365760" cy="237744"/>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5F8FC"/>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731520"/>
          </a:xfrm>
          <a:prstGeom prst="rect">
            <a:avLst/>
          </a:prstGeom>
          <a:noFill/>
          <a:ln/>
        </p:spPr>
        <p:txBody>
          <a:bodyPr wrap="square" lIns="0" tIns="0" rIns="0" bIns="0" rtlCol="0" anchor="ctr"/>
          <a:lstStyle/>
          <a:p>
            <a:pPr marL="0" indent="0" algn="l">
              <a:buNone/>
            </a:pPr>
            <a:r>
              <a:rPr lang="en-US" sz="3200" b="1" dirty="0">
                <a:solidFill>
                  <a:srgbClr val="0B1F3A"/>
                </a:solidFill>
                <a:latin typeface="Calibri" pitchFamily="34" charset="0"/>
                <a:ea typeface="Calibri" pitchFamily="34" charset="-122"/>
                <a:cs typeface="Calibri" pitchFamily="34" charset="-120"/>
              </a:rPr>
              <a:t>Une analogie : le coffre-fort partagé</a:t>
            </a:r>
            <a:endParaRPr lang="en-US" sz="3200" dirty="0"/>
          </a:p>
        </p:txBody>
      </p:sp>
      <p:sp>
        <p:nvSpPr>
          <p:cNvPr id="3" name="Shape 1"/>
          <p:cNvSpPr/>
          <p:nvPr/>
        </p:nvSpPr>
        <p:spPr>
          <a:xfrm>
            <a:off x="548640" y="1005840"/>
            <a:ext cx="548640" cy="73152"/>
          </a:xfrm>
          <a:prstGeom prst="rect">
            <a:avLst/>
          </a:prstGeom>
          <a:solidFill>
            <a:srgbClr val="F96167"/>
          </a:solidFill>
          <a:ln w="12700">
            <a:solidFill>
              <a:srgbClr val="F96167"/>
            </a:solidFill>
            <a:prstDash val="solid"/>
          </a:ln>
        </p:spPr>
      </p:sp>
      <p:sp>
        <p:nvSpPr>
          <p:cNvPr id="4" name="Text 2"/>
          <p:cNvSpPr/>
          <p:nvPr/>
        </p:nvSpPr>
        <p:spPr>
          <a:xfrm>
            <a:off x="548640" y="1143000"/>
            <a:ext cx="11064240" cy="411480"/>
          </a:xfrm>
          <a:prstGeom prst="rect">
            <a:avLst/>
          </a:prstGeom>
          <a:noFill/>
          <a:ln/>
        </p:spPr>
        <p:txBody>
          <a:bodyPr wrap="square" lIns="0" tIns="0" rIns="0" bIns="0" rtlCol="0" anchor="ctr"/>
          <a:lstStyle/>
          <a:p>
            <a:pPr marL="0" indent="0" algn="l">
              <a:buNone/>
            </a:pPr>
            <a:r>
              <a:rPr lang="en-US" sz="1600" i="1" dirty="0">
                <a:solidFill>
                  <a:srgbClr val="1C7293"/>
                </a:solidFill>
                <a:latin typeface="Calibri" pitchFamily="34" charset="0"/>
                <a:ea typeface="Calibri" pitchFamily="34" charset="-122"/>
                <a:cs typeface="Calibri" pitchFamily="34" charset="-120"/>
              </a:rPr>
              <a:t>Oubliez la technique. Voici comment expliquer une DCR à votre direction.</a:t>
            </a:r>
            <a:endParaRPr lang="en-US" sz="1600" dirty="0"/>
          </a:p>
        </p:txBody>
      </p:sp>
      <p:sp>
        <p:nvSpPr>
          <p:cNvPr id="5" name="Shape 3"/>
          <p:cNvSpPr/>
          <p:nvPr/>
        </p:nvSpPr>
        <p:spPr>
          <a:xfrm>
            <a:off x="640080" y="1737360"/>
            <a:ext cx="5029200" cy="4572000"/>
          </a:xfrm>
          <a:prstGeom prst="rect">
            <a:avLst/>
          </a:prstGeom>
          <a:solidFill>
            <a:srgbClr val="0B1F3A"/>
          </a:solidFill>
          <a:ln w="12700">
            <a:solidFill>
              <a:srgbClr val="0B1F3A"/>
            </a:solidFill>
            <a:prstDash val="solid"/>
          </a:ln>
          <a:effectLst>
            <a:outerShdw blurRad="76200" dist="25400" dir="8100000" algn="bl" rotWithShape="0">
              <a:srgbClr val="000000">
                <a:alpha val="12000"/>
              </a:srgbClr>
            </a:outerShdw>
          </a:effectLst>
        </p:spPr>
      </p:sp>
      <p:sp>
        <p:nvSpPr>
          <p:cNvPr id="6" name="Text 4"/>
          <p:cNvSpPr/>
          <p:nvPr/>
        </p:nvSpPr>
        <p:spPr>
          <a:xfrm>
            <a:off x="822960" y="1920240"/>
            <a:ext cx="4572000" cy="320040"/>
          </a:xfrm>
          <a:prstGeom prst="rect">
            <a:avLst/>
          </a:prstGeom>
          <a:noFill/>
          <a:ln/>
        </p:spPr>
        <p:txBody>
          <a:bodyPr wrap="square" lIns="0" tIns="0" rIns="0" bIns="0" rtlCol="0" anchor="ctr"/>
          <a:lstStyle/>
          <a:p>
            <a:pPr marL="0" indent="0">
              <a:buNone/>
            </a:pPr>
            <a:r>
              <a:rPr lang="en-US" sz="1200" b="1" kern="0" spc="200" dirty="0">
                <a:solidFill>
                  <a:srgbClr val="F9B233"/>
                </a:solidFill>
                <a:latin typeface="Calibri" pitchFamily="34" charset="0"/>
                <a:ea typeface="Calibri" pitchFamily="34" charset="-122"/>
                <a:cs typeface="Calibri" pitchFamily="34" charset="-120"/>
              </a:rPr>
              <a:t>IMAGINEZ</a:t>
            </a:r>
            <a:endParaRPr lang="en-US" sz="1200" dirty="0"/>
          </a:p>
        </p:txBody>
      </p:sp>
      <p:sp>
        <p:nvSpPr>
          <p:cNvPr id="7" name="Text 5"/>
          <p:cNvSpPr/>
          <p:nvPr/>
        </p:nvSpPr>
        <p:spPr>
          <a:xfrm>
            <a:off x="822960" y="2331720"/>
            <a:ext cx="4709160" cy="3931920"/>
          </a:xfrm>
          <a:prstGeom prst="rect">
            <a:avLst/>
          </a:prstGeom>
          <a:noFill/>
          <a:ln/>
        </p:spPr>
        <p:txBody>
          <a:bodyPr wrap="square" lIns="0" tIns="0" rIns="0" bIns="0" rtlCol="0" anchor="t"/>
          <a:lstStyle/>
          <a:p>
            <a:pPr marL="0" indent="0">
              <a:spcAft>
                <a:spcPts val="400"/>
              </a:spcAft>
              <a:buNone/>
            </a:pPr>
            <a:r>
              <a:rPr lang="en-US" sz="1400" dirty="0">
                <a:solidFill>
                  <a:srgbClr val="FFFFFF"/>
                </a:solidFill>
                <a:latin typeface="Calibri" pitchFamily="34" charset="0"/>
                <a:ea typeface="Calibri" pitchFamily="34" charset="-122"/>
                <a:cs typeface="Calibri" pitchFamily="34" charset="-120"/>
              </a:rPr>
              <a:t>Deux entreprises A et B possèdent chacune un classeur secret.</a:t>
            </a:r>
            <a:endParaRPr lang="en-US" sz="1400" dirty="0"/>
          </a:p>
          <a:p>
            <a:pPr marL="0" indent="0">
              <a:spcAft>
                <a:spcPts val="400"/>
              </a:spcAft>
              <a:buNone/>
            </a:pPr>
            <a:endParaRPr lang="en-US" sz="1400" dirty="0"/>
          </a:p>
          <a:p>
            <a:pPr marL="0" indent="0">
              <a:spcAft>
                <a:spcPts val="400"/>
              </a:spcAft>
              <a:buNone/>
            </a:pPr>
            <a:r>
              <a:rPr lang="en-US" sz="1400" dirty="0">
                <a:solidFill>
                  <a:srgbClr val="FFFFFF"/>
                </a:solidFill>
                <a:latin typeface="Calibri" pitchFamily="34" charset="0"/>
                <a:ea typeface="Calibri" pitchFamily="34" charset="-122"/>
                <a:cs typeface="Calibri" pitchFamily="34" charset="-120"/>
              </a:rPr>
              <a:t>Elles veulent savoir : combien de clients ont-elles en commun ? Sans se montrer leurs classeurs.</a:t>
            </a:r>
            <a:endParaRPr lang="en-US" sz="1400" dirty="0"/>
          </a:p>
          <a:p>
            <a:pPr marL="0" indent="0">
              <a:spcAft>
                <a:spcPts val="400"/>
              </a:spcAft>
              <a:buNone/>
            </a:pPr>
            <a:endParaRPr lang="en-US" sz="1400" dirty="0"/>
          </a:p>
          <a:p>
            <a:pPr marL="0" indent="0">
              <a:spcAft>
                <a:spcPts val="400"/>
              </a:spcAft>
              <a:buNone/>
            </a:pPr>
            <a:r>
              <a:rPr lang="en-US" sz="1400" dirty="0">
                <a:solidFill>
                  <a:srgbClr val="FFFFFF"/>
                </a:solidFill>
                <a:latin typeface="Calibri" pitchFamily="34" charset="0"/>
                <a:ea typeface="Calibri" pitchFamily="34" charset="-122"/>
                <a:cs typeface="Calibri" pitchFamily="34" charset="-120"/>
              </a:rPr>
              <a:t>Elles vont chez un notaire (la DCR).</a:t>
            </a:r>
            <a:endParaRPr lang="en-US" sz="1400" dirty="0"/>
          </a:p>
          <a:p>
            <a:pPr marL="0" indent="0">
              <a:spcAft>
                <a:spcPts val="400"/>
              </a:spcAft>
              <a:buNone/>
            </a:pPr>
            <a:endParaRPr lang="en-US" sz="1400" dirty="0"/>
          </a:p>
          <a:p>
            <a:pPr marL="0" indent="0">
              <a:spcAft>
                <a:spcPts val="400"/>
              </a:spcAft>
              <a:buNone/>
            </a:pPr>
            <a:r>
              <a:rPr lang="en-US" sz="1400" dirty="0">
                <a:solidFill>
                  <a:srgbClr val="FFFFFF"/>
                </a:solidFill>
                <a:latin typeface="Calibri" pitchFamily="34" charset="0"/>
                <a:ea typeface="Calibri" pitchFamily="34" charset="-122"/>
                <a:cs typeface="Calibri" pitchFamily="34" charset="-120"/>
              </a:rPr>
              <a:t>Chacune lui confie une copie chiffrée de son classeur.</a:t>
            </a:r>
            <a:endParaRPr lang="en-US" sz="1400" dirty="0"/>
          </a:p>
          <a:p>
            <a:pPr marL="0" indent="0">
              <a:spcAft>
                <a:spcPts val="400"/>
              </a:spcAft>
              <a:buNone/>
            </a:pPr>
            <a:endParaRPr lang="en-US" sz="1400" dirty="0"/>
          </a:p>
          <a:p>
            <a:pPr marL="0" indent="0">
              <a:spcAft>
                <a:spcPts val="400"/>
              </a:spcAft>
              <a:buNone/>
            </a:pPr>
            <a:r>
              <a:rPr lang="en-US" sz="1400" dirty="0">
                <a:solidFill>
                  <a:srgbClr val="FFFFFF"/>
                </a:solidFill>
                <a:latin typeface="Calibri" pitchFamily="34" charset="0"/>
                <a:ea typeface="Calibri" pitchFamily="34" charset="-122"/>
                <a:cs typeface="Calibri" pitchFamily="34" charset="-120"/>
              </a:rPr>
              <a:t>Le notaire compare, trouve la </a:t>
            </a:r>
            <a:r>
              <a:rPr lang="en-US" sz="1400" dirty="0" err="1">
                <a:solidFill>
                  <a:srgbClr val="FFFFFF"/>
                </a:solidFill>
                <a:latin typeface="Calibri" pitchFamily="34" charset="0"/>
                <a:ea typeface="Calibri" pitchFamily="34" charset="-122"/>
                <a:cs typeface="Calibri" pitchFamily="34" charset="-120"/>
              </a:rPr>
              <a:t>réponse</a:t>
            </a:r>
            <a:r>
              <a:rPr lang="en-US" sz="1400" dirty="0">
                <a:solidFill>
                  <a:srgbClr val="FFFFFF"/>
                </a:solidFill>
                <a:latin typeface="Calibri" pitchFamily="34" charset="0"/>
                <a:ea typeface="Calibri" pitchFamily="34" charset="-122"/>
                <a:cs typeface="Calibri" pitchFamily="34" charset="-120"/>
              </a:rPr>
              <a:t>  « 12 345 clients communs »  et ne dit QUE ça.</a:t>
            </a:r>
            <a:endParaRPr lang="en-US" sz="1400" dirty="0"/>
          </a:p>
          <a:p>
            <a:pPr marL="0" indent="0">
              <a:spcAft>
                <a:spcPts val="400"/>
              </a:spcAft>
              <a:buNone/>
            </a:pPr>
            <a:endParaRPr lang="en-US" sz="1400" dirty="0"/>
          </a:p>
          <a:p>
            <a:pPr marL="0" indent="0">
              <a:spcAft>
                <a:spcPts val="400"/>
              </a:spcAft>
              <a:buNone/>
            </a:pPr>
            <a:r>
              <a:rPr lang="en-US" sz="1400" dirty="0">
                <a:solidFill>
                  <a:srgbClr val="FFFFFF"/>
                </a:solidFill>
                <a:latin typeface="Calibri" pitchFamily="34" charset="0"/>
                <a:ea typeface="Calibri" pitchFamily="34" charset="-122"/>
                <a:cs typeface="Calibri" pitchFamily="34" charset="-120"/>
              </a:rPr>
              <a:t>Aucune des deux n'a vu la liste de l'autre.</a:t>
            </a:r>
            <a:endParaRPr lang="en-US" sz="1400" dirty="0"/>
          </a:p>
        </p:txBody>
      </p:sp>
      <p:sp>
        <p:nvSpPr>
          <p:cNvPr id="8" name="Shape 6"/>
          <p:cNvSpPr/>
          <p:nvPr/>
        </p:nvSpPr>
        <p:spPr>
          <a:xfrm>
            <a:off x="5943600" y="1737360"/>
            <a:ext cx="5760720" cy="457200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9" name="Shape 7"/>
          <p:cNvSpPr/>
          <p:nvPr/>
        </p:nvSpPr>
        <p:spPr>
          <a:xfrm>
            <a:off x="5943600" y="1737360"/>
            <a:ext cx="5760720" cy="109728"/>
          </a:xfrm>
          <a:prstGeom prst="rect">
            <a:avLst/>
          </a:prstGeom>
          <a:solidFill>
            <a:srgbClr val="F96167"/>
          </a:solidFill>
          <a:ln w="12700">
            <a:solidFill>
              <a:srgbClr val="F96167"/>
            </a:solidFill>
            <a:prstDash val="solid"/>
          </a:ln>
        </p:spPr>
      </p:sp>
      <p:sp>
        <p:nvSpPr>
          <p:cNvPr id="10" name="Text 8"/>
          <p:cNvSpPr/>
          <p:nvPr/>
        </p:nvSpPr>
        <p:spPr>
          <a:xfrm>
            <a:off x="6172200" y="1920240"/>
            <a:ext cx="5486400" cy="320040"/>
          </a:xfrm>
          <a:prstGeom prst="rect">
            <a:avLst/>
          </a:prstGeom>
          <a:noFill/>
          <a:ln/>
        </p:spPr>
        <p:txBody>
          <a:bodyPr wrap="square" lIns="0" tIns="0" rIns="0" bIns="0" rtlCol="0" anchor="ctr"/>
          <a:lstStyle/>
          <a:p>
            <a:pPr marL="0" indent="0">
              <a:buNone/>
            </a:pPr>
            <a:r>
              <a:rPr lang="en-US" sz="1200" b="1" kern="0" spc="200" dirty="0">
                <a:solidFill>
                  <a:srgbClr val="F96167"/>
                </a:solidFill>
                <a:latin typeface="Calibri" pitchFamily="34" charset="0"/>
                <a:ea typeface="Calibri" pitchFamily="34" charset="-122"/>
                <a:cs typeface="Calibri" pitchFamily="34" charset="-120"/>
              </a:rPr>
              <a:t>CORRESPONDANCES</a:t>
            </a:r>
            <a:endParaRPr lang="en-US" sz="1200" dirty="0"/>
          </a:p>
        </p:txBody>
      </p:sp>
      <p:sp>
        <p:nvSpPr>
          <p:cNvPr id="11" name="Shape 9"/>
          <p:cNvSpPr/>
          <p:nvPr/>
        </p:nvSpPr>
        <p:spPr>
          <a:xfrm>
            <a:off x="6126480" y="2468880"/>
            <a:ext cx="5440680" cy="640080"/>
          </a:xfrm>
          <a:prstGeom prst="rect">
            <a:avLst/>
          </a:prstGeom>
          <a:solidFill>
            <a:srgbClr val="F5F8FC"/>
          </a:solidFill>
          <a:ln w="6350">
            <a:solidFill>
              <a:srgbClr val="E2E8F0"/>
            </a:solidFill>
            <a:prstDash val="solid"/>
          </a:ln>
        </p:spPr>
      </p:sp>
      <p:sp>
        <p:nvSpPr>
          <p:cNvPr id="12" name="Text 10"/>
          <p:cNvSpPr/>
          <p:nvPr/>
        </p:nvSpPr>
        <p:spPr>
          <a:xfrm>
            <a:off x="6217920" y="2560320"/>
            <a:ext cx="2103120" cy="457200"/>
          </a:xfrm>
          <a:prstGeom prst="rect">
            <a:avLst/>
          </a:prstGeom>
          <a:noFill/>
          <a:ln/>
        </p:spPr>
        <p:txBody>
          <a:bodyPr wrap="square" lIns="0" tIns="0" rIns="0" bIns="0"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Classeur secret</a:t>
            </a:r>
            <a:endParaRPr lang="en-US" sz="1200" dirty="0"/>
          </a:p>
        </p:txBody>
      </p:sp>
      <p:sp>
        <p:nvSpPr>
          <p:cNvPr id="13" name="Text 11"/>
          <p:cNvSpPr/>
          <p:nvPr/>
        </p:nvSpPr>
        <p:spPr>
          <a:xfrm>
            <a:off x="8366760" y="2560320"/>
            <a:ext cx="365760" cy="457200"/>
          </a:xfrm>
          <a:prstGeom prst="rect">
            <a:avLst/>
          </a:prstGeom>
          <a:noFill/>
          <a:ln/>
        </p:spPr>
        <p:txBody>
          <a:bodyPr wrap="square" lIns="0" tIns="0" rIns="0" bIns="0" rtlCol="0" anchor="ctr"/>
          <a:lstStyle/>
          <a:p>
            <a:pPr marL="0" indent="0" algn="ctr">
              <a:buNone/>
            </a:pPr>
            <a:r>
              <a:rPr lang="en-US" sz="1400" b="1" dirty="0">
                <a:solidFill>
                  <a:srgbClr val="F96167"/>
                </a:solidFill>
                <a:latin typeface="Calibri" pitchFamily="34" charset="0"/>
                <a:ea typeface="Calibri" pitchFamily="34" charset="-122"/>
                <a:cs typeface="Calibri" pitchFamily="34" charset="-120"/>
              </a:rPr>
              <a:t>→</a:t>
            </a:r>
            <a:endParaRPr lang="en-US" sz="1400" dirty="0"/>
          </a:p>
        </p:txBody>
      </p:sp>
      <p:sp>
        <p:nvSpPr>
          <p:cNvPr id="14" name="Text 12"/>
          <p:cNvSpPr/>
          <p:nvPr/>
        </p:nvSpPr>
        <p:spPr>
          <a:xfrm>
            <a:off x="8732520" y="2560320"/>
            <a:ext cx="2788920" cy="45720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Votre base CRM / 1st-party</a:t>
            </a:r>
            <a:endParaRPr lang="en-US" sz="1200" dirty="0"/>
          </a:p>
        </p:txBody>
      </p:sp>
      <p:sp>
        <p:nvSpPr>
          <p:cNvPr id="15" name="Shape 13"/>
          <p:cNvSpPr/>
          <p:nvPr/>
        </p:nvSpPr>
        <p:spPr>
          <a:xfrm>
            <a:off x="6126480" y="3218688"/>
            <a:ext cx="5440680" cy="640080"/>
          </a:xfrm>
          <a:prstGeom prst="rect">
            <a:avLst/>
          </a:prstGeom>
          <a:solidFill>
            <a:srgbClr val="F5F8FC"/>
          </a:solidFill>
          <a:ln w="6350">
            <a:solidFill>
              <a:srgbClr val="E2E8F0"/>
            </a:solidFill>
            <a:prstDash val="solid"/>
          </a:ln>
        </p:spPr>
      </p:sp>
      <p:sp>
        <p:nvSpPr>
          <p:cNvPr id="16" name="Text 14"/>
          <p:cNvSpPr/>
          <p:nvPr/>
        </p:nvSpPr>
        <p:spPr>
          <a:xfrm>
            <a:off x="6217920" y="3310128"/>
            <a:ext cx="2103120" cy="457200"/>
          </a:xfrm>
          <a:prstGeom prst="rect">
            <a:avLst/>
          </a:prstGeom>
          <a:noFill/>
          <a:ln/>
        </p:spPr>
        <p:txBody>
          <a:bodyPr wrap="square" lIns="0" tIns="0" rIns="0" bIns="0"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Le notaire</a:t>
            </a:r>
            <a:endParaRPr lang="en-US" sz="1200" dirty="0"/>
          </a:p>
        </p:txBody>
      </p:sp>
      <p:sp>
        <p:nvSpPr>
          <p:cNvPr id="17" name="Text 15"/>
          <p:cNvSpPr/>
          <p:nvPr/>
        </p:nvSpPr>
        <p:spPr>
          <a:xfrm>
            <a:off x="8366760" y="3310128"/>
            <a:ext cx="365760" cy="457200"/>
          </a:xfrm>
          <a:prstGeom prst="rect">
            <a:avLst/>
          </a:prstGeom>
          <a:noFill/>
          <a:ln/>
        </p:spPr>
        <p:txBody>
          <a:bodyPr wrap="square" lIns="0" tIns="0" rIns="0" bIns="0" rtlCol="0" anchor="ctr"/>
          <a:lstStyle/>
          <a:p>
            <a:pPr marL="0" indent="0" algn="ctr">
              <a:buNone/>
            </a:pPr>
            <a:r>
              <a:rPr lang="en-US" sz="1400" b="1" dirty="0">
                <a:solidFill>
                  <a:srgbClr val="F96167"/>
                </a:solidFill>
                <a:latin typeface="Calibri" pitchFamily="34" charset="0"/>
                <a:ea typeface="Calibri" pitchFamily="34" charset="-122"/>
                <a:cs typeface="Calibri" pitchFamily="34" charset="-120"/>
              </a:rPr>
              <a:t>→</a:t>
            </a:r>
            <a:endParaRPr lang="en-US" sz="1400" dirty="0"/>
          </a:p>
        </p:txBody>
      </p:sp>
      <p:sp>
        <p:nvSpPr>
          <p:cNvPr id="18" name="Text 16"/>
          <p:cNvSpPr/>
          <p:nvPr/>
        </p:nvSpPr>
        <p:spPr>
          <a:xfrm>
            <a:off x="8732520" y="3310128"/>
            <a:ext cx="2788920" cy="45720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Le provider de DCR</a:t>
            </a:r>
            <a:endParaRPr lang="en-US" sz="1200" dirty="0"/>
          </a:p>
        </p:txBody>
      </p:sp>
      <p:sp>
        <p:nvSpPr>
          <p:cNvPr id="19" name="Shape 17"/>
          <p:cNvSpPr/>
          <p:nvPr/>
        </p:nvSpPr>
        <p:spPr>
          <a:xfrm>
            <a:off x="6126480" y="3968496"/>
            <a:ext cx="5440680" cy="640080"/>
          </a:xfrm>
          <a:prstGeom prst="rect">
            <a:avLst/>
          </a:prstGeom>
          <a:solidFill>
            <a:srgbClr val="F5F8FC"/>
          </a:solidFill>
          <a:ln w="6350">
            <a:solidFill>
              <a:srgbClr val="E2E8F0"/>
            </a:solidFill>
            <a:prstDash val="solid"/>
          </a:ln>
        </p:spPr>
      </p:sp>
      <p:sp>
        <p:nvSpPr>
          <p:cNvPr id="20" name="Text 18"/>
          <p:cNvSpPr/>
          <p:nvPr/>
        </p:nvSpPr>
        <p:spPr>
          <a:xfrm>
            <a:off x="6217920" y="4059936"/>
            <a:ext cx="2103120" cy="457200"/>
          </a:xfrm>
          <a:prstGeom prst="rect">
            <a:avLst/>
          </a:prstGeom>
          <a:noFill/>
          <a:ln/>
        </p:spPr>
        <p:txBody>
          <a:bodyPr wrap="square" lIns="0" tIns="0" rIns="0" bIns="0"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La copie chiffrée</a:t>
            </a:r>
            <a:endParaRPr lang="en-US" sz="1200" dirty="0"/>
          </a:p>
        </p:txBody>
      </p:sp>
      <p:sp>
        <p:nvSpPr>
          <p:cNvPr id="21" name="Text 19"/>
          <p:cNvSpPr/>
          <p:nvPr/>
        </p:nvSpPr>
        <p:spPr>
          <a:xfrm>
            <a:off x="8366760" y="4059936"/>
            <a:ext cx="365760" cy="457200"/>
          </a:xfrm>
          <a:prstGeom prst="rect">
            <a:avLst/>
          </a:prstGeom>
          <a:noFill/>
          <a:ln/>
        </p:spPr>
        <p:txBody>
          <a:bodyPr wrap="square" lIns="0" tIns="0" rIns="0" bIns="0" rtlCol="0" anchor="ctr"/>
          <a:lstStyle/>
          <a:p>
            <a:pPr marL="0" indent="0" algn="ctr">
              <a:buNone/>
            </a:pPr>
            <a:r>
              <a:rPr lang="en-US" sz="1400" b="1" dirty="0">
                <a:solidFill>
                  <a:srgbClr val="F96167"/>
                </a:solidFill>
                <a:latin typeface="Calibri" pitchFamily="34" charset="0"/>
                <a:ea typeface="Calibri" pitchFamily="34" charset="-122"/>
                <a:cs typeface="Calibri" pitchFamily="34" charset="-120"/>
              </a:rPr>
              <a:t>→</a:t>
            </a:r>
            <a:endParaRPr lang="en-US" sz="1400" dirty="0"/>
          </a:p>
        </p:txBody>
      </p:sp>
      <p:sp>
        <p:nvSpPr>
          <p:cNvPr id="22" name="Text 20"/>
          <p:cNvSpPr/>
          <p:nvPr/>
        </p:nvSpPr>
        <p:spPr>
          <a:xfrm>
            <a:off x="8732520" y="4059936"/>
            <a:ext cx="2788920" cy="45720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Données hashées + contrôles</a:t>
            </a:r>
            <a:endParaRPr lang="en-US" sz="1200" dirty="0"/>
          </a:p>
        </p:txBody>
      </p:sp>
      <p:sp>
        <p:nvSpPr>
          <p:cNvPr id="23" name="Shape 21"/>
          <p:cNvSpPr/>
          <p:nvPr/>
        </p:nvSpPr>
        <p:spPr>
          <a:xfrm>
            <a:off x="6126480" y="4718304"/>
            <a:ext cx="5440680" cy="640080"/>
          </a:xfrm>
          <a:prstGeom prst="rect">
            <a:avLst/>
          </a:prstGeom>
          <a:solidFill>
            <a:srgbClr val="F5F8FC"/>
          </a:solidFill>
          <a:ln w="6350">
            <a:solidFill>
              <a:srgbClr val="E2E8F0"/>
            </a:solidFill>
            <a:prstDash val="solid"/>
          </a:ln>
        </p:spPr>
      </p:sp>
      <p:sp>
        <p:nvSpPr>
          <p:cNvPr id="24" name="Text 22"/>
          <p:cNvSpPr/>
          <p:nvPr/>
        </p:nvSpPr>
        <p:spPr>
          <a:xfrm>
            <a:off x="6217920" y="4809744"/>
            <a:ext cx="2103120" cy="457200"/>
          </a:xfrm>
          <a:prstGeom prst="rect">
            <a:avLst/>
          </a:prstGeom>
          <a:noFill/>
          <a:ln/>
        </p:spPr>
        <p:txBody>
          <a:bodyPr wrap="square" lIns="0" tIns="0" rIns="0" bIns="0"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La réponse agrégée</a:t>
            </a:r>
            <a:endParaRPr lang="en-US" sz="1200" dirty="0"/>
          </a:p>
        </p:txBody>
      </p:sp>
      <p:sp>
        <p:nvSpPr>
          <p:cNvPr id="25" name="Text 23"/>
          <p:cNvSpPr/>
          <p:nvPr/>
        </p:nvSpPr>
        <p:spPr>
          <a:xfrm>
            <a:off x="8366760" y="4809744"/>
            <a:ext cx="365760" cy="457200"/>
          </a:xfrm>
          <a:prstGeom prst="rect">
            <a:avLst/>
          </a:prstGeom>
          <a:noFill/>
          <a:ln/>
        </p:spPr>
        <p:txBody>
          <a:bodyPr wrap="square" lIns="0" tIns="0" rIns="0" bIns="0" rtlCol="0" anchor="ctr"/>
          <a:lstStyle/>
          <a:p>
            <a:pPr marL="0" indent="0" algn="ctr">
              <a:buNone/>
            </a:pPr>
            <a:r>
              <a:rPr lang="en-US" sz="1400" b="1" dirty="0">
                <a:solidFill>
                  <a:srgbClr val="F96167"/>
                </a:solidFill>
                <a:latin typeface="Calibri" pitchFamily="34" charset="0"/>
                <a:ea typeface="Calibri" pitchFamily="34" charset="-122"/>
                <a:cs typeface="Calibri" pitchFamily="34" charset="-120"/>
              </a:rPr>
              <a:t>→</a:t>
            </a:r>
            <a:endParaRPr lang="en-US" sz="1400" dirty="0"/>
          </a:p>
        </p:txBody>
      </p:sp>
      <p:sp>
        <p:nvSpPr>
          <p:cNvPr id="26" name="Text 24"/>
          <p:cNvSpPr/>
          <p:nvPr/>
        </p:nvSpPr>
        <p:spPr>
          <a:xfrm>
            <a:off x="8732520" y="4809744"/>
            <a:ext cx="2788920" cy="45720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Audience, score, attribution</a:t>
            </a:r>
            <a:endParaRPr lang="en-US" sz="1200" dirty="0"/>
          </a:p>
        </p:txBody>
      </p:sp>
      <p:sp>
        <p:nvSpPr>
          <p:cNvPr id="27" name="Shape 25"/>
          <p:cNvSpPr/>
          <p:nvPr/>
        </p:nvSpPr>
        <p:spPr>
          <a:xfrm>
            <a:off x="6126480" y="5468112"/>
            <a:ext cx="5440680" cy="640080"/>
          </a:xfrm>
          <a:prstGeom prst="rect">
            <a:avLst/>
          </a:prstGeom>
          <a:solidFill>
            <a:srgbClr val="F5F8FC"/>
          </a:solidFill>
          <a:ln w="6350">
            <a:solidFill>
              <a:srgbClr val="E2E8F0"/>
            </a:solidFill>
            <a:prstDash val="solid"/>
          </a:ln>
        </p:spPr>
      </p:sp>
      <p:sp>
        <p:nvSpPr>
          <p:cNvPr id="28" name="Text 26"/>
          <p:cNvSpPr/>
          <p:nvPr/>
        </p:nvSpPr>
        <p:spPr>
          <a:xfrm>
            <a:off x="6217920" y="5559552"/>
            <a:ext cx="2103120" cy="457200"/>
          </a:xfrm>
          <a:prstGeom prst="rect">
            <a:avLst/>
          </a:prstGeom>
          <a:noFill/>
          <a:ln/>
        </p:spPr>
        <p:txBody>
          <a:bodyPr wrap="square" lIns="0" tIns="0" rIns="0" bIns="0"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Les autres clients</a:t>
            </a:r>
            <a:endParaRPr lang="en-US" sz="1200" dirty="0"/>
          </a:p>
        </p:txBody>
      </p:sp>
      <p:sp>
        <p:nvSpPr>
          <p:cNvPr id="29" name="Text 27"/>
          <p:cNvSpPr/>
          <p:nvPr/>
        </p:nvSpPr>
        <p:spPr>
          <a:xfrm>
            <a:off x="8366760" y="5559552"/>
            <a:ext cx="365760" cy="457200"/>
          </a:xfrm>
          <a:prstGeom prst="rect">
            <a:avLst/>
          </a:prstGeom>
          <a:noFill/>
          <a:ln/>
        </p:spPr>
        <p:txBody>
          <a:bodyPr wrap="square" lIns="0" tIns="0" rIns="0" bIns="0" rtlCol="0" anchor="ctr"/>
          <a:lstStyle/>
          <a:p>
            <a:pPr marL="0" indent="0" algn="ctr">
              <a:buNone/>
            </a:pPr>
            <a:r>
              <a:rPr lang="en-US" sz="1400" b="1" dirty="0">
                <a:solidFill>
                  <a:srgbClr val="F96167"/>
                </a:solidFill>
                <a:latin typeface="Calibri" pitchFamily="34" charset="0"/>
                <a:ea typeface="Calibri" pitchFamily="34" charset="-122"/>
                <a:cs typeface="Calibri" pitchFamily="34" charset="-120"/>
              </a:rPr>
              <a:t>→</a:t>
            </a:r>
            <a:endParaRPr lang="en-US" sz="1400" dirty="0"/>
          </a:p>
        </p:txBody>
      </p:sp>
      <p:sp>
        <p:nvSpPr>
          <p:cNvPr id="30" name="Text 28"/>
          <p:cNvSpPr/>
          <p:nvPr/>
        </p:nvSpPr>
        <p:spPr>
          <a:xfrm>
            <a:off x="8732520" y="5559552"/>
            <a:ext cx="2788920" cy="45720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Jamais révélés (k-anonymat)</a:t>
            </a:r>
            <a:endParaRPr lang="en-US" sz="1200" dirty="0"/>
          </a:p>
        </p:txBody>
      </p:sp>
      <p:sp>
        <p:nvSpPr>
          <p:cNvPr id="31" name="Shape 29"/>
          <p:cNvSpPr/>
          <p:nvPr/>
        </p:nvSpPr>
        <p:spPr>
          <a:xfrm>
            <a:off x="0" y="6583680"/>
            <a:ext cx="12191695" cy="274320"/>
          </a:xfrm>
          <a:prstGeom prst="rect">
            <a:avLst/>
          </a:prstGeom>
          <a:solidFill>
            <a:srgbClr val="0B1F3A"/>
          </a:solidFill>
          <a:ln w="12700">
            <a:solidFill>
              <a:srgbClr val="0B1F3A"/>
            </a:solidFill>
            <a:prstDash val="solid"/>
          </a:ln>
        </p:spPr>
      </p:sp>
      <p:sp>
        <p:nvSpPr>
          <p:cNvPr id="32" name="Text 30"/>
          <p:cNvSpPr/>
          <p:nvPr/>
        </p:nvSpPr>
        <p:spPr>
          <a:xfrm>
            <a:off x="365760" y="6601968"/>
            <a:ext cx="822960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Session 1  Comprendre les DCR</a:t>
            </a:r>
            <a:endParaRPr lang="en-US" sz="1000" dirty="0"/>
          </a:p>
        </p:txBody>
      </p:sp>
      <p:sp>
        <p:nvSpPr>
          <p:cNvPr id="33" name="Text 31"/>
          <p:cNvSpPr/>
          <p:nvPr/>
        </p:nvSpPr>
        <p:spPr>
          <a:xfrm>
            <a:off x="11551615" y="6601968"/>
            <a:ext cx="365760" cy="237744"/>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5F8FC"/>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731520"/>
          </a:xfrm>
          <a:prstGeom prst="rect">
            <a:avLst/>
          </a:prstGeom>
          <a:noFill/>
          <a:ln/>
        </p:spPr>
        <p:txBody>
          <a:bodyPr wrap="square" lIns="0" tIns="0" rIns="0" bIns="0" rtlCol="0" anchor="ctr"/>
          <a:lstStyle/>
          <a:p>
            <a:pPr marL="0" indent="0" algn="l">
              <a:buNone/>
            </a:pPr>
            <a:r>
              <a:rPr lang="en-US" sz="3200" b="1" dirty="0">
                <a:solidFill>
                  <a:srgbClr val="0B1F3A"/>
                </a:solidFill>
                <a:latin typeface="Calibri" pitchFamily="34" charset="0"/>
                <a:ea typeface="Calibri" pitchFamily="34" charset="-122"/>
                <a:cs typeface="Calibri" pitchFamily="34" charset="-120"/>
              </a:rPr>
              <a:t>Comment ça </a:t>
            </a:r>
            <a:r>
              <a:rPr lang="en-US" sz="3200" b="1" dirty="0" err="1">
                <a:solidFill>
                  <a:srgbClr val="0B1F3A"/>
                </a:solidFill>
                <a:latin typeface="Calibri" pitchFamily="34" charset="0"/>
                <a:ea typeface="Calibri" pitchFamily="34" charset="-122"/>
                <a:cs typeface="Calibri" pitchFamily="34" charset="-120"/>
              </a:rPr>
              <a:t>marche</a:t>
            </a:r>
            <a:r>
              <a:rPr lang="en-US" sz="3200" b="1" dirty="0">
                <a:solidFill>
                  <a:srgbClr val="0B1F3A"/>
                </a:solidFill>
                <a:latin typeface="Calibri" pitchFamily="34" charset="0"/>
                <a:ea typeface="Calibri" pitchFamily="34" charset="-122"/>
                <a:cs typeface="Calibri" pitchFamily="34" charset="-120"/>
              </a:rPr>
              <a:t>  le flux en 5 étapes</a:t>
            </a:r>
            <a:endParaRPr lang="en-US" sz="3200" dirty="0"/>
          </a:p>
        </p:txBody>
      </p:sp>
      <p:sp>
        <p:nvSpPr>
          <p:cNvPr id="3" name="Shape 1"/>
          <p:cNvSpPr/>
          <p:nvPr/>
        </p:nvSpPr>
        <p:spPr>
          <a:xfrm>
            <a:off x="548640" y="1005840"/>
            <a:ext cx="548640" cy="73152"/>
          </a:xfrm>
          <a:prstGeom prst="rect">
            <a:avLst/>
          </a:prstGeom>
          <a:solidFill>
            <a:srgbClr val="F96167"/>
          </a:solidFill>
          <a:ln w="12700">
            <a:solidFill>
              <a:srgbClr val="F96167"/>
            </a:solidFill>
            <a:prstDash val="solid"/>
          </a:ln>
        </p:spPr>
      </p:sp>
      <p:sp>
        <p:nvSpPr>
          <p:cNvPr id="4" name="Text 2"/>
          <p:cNvSpPr/>
          <p:nvPr/>
        </p:nvSpPr>
        <p:spPr>
          <a:xfrm>
            <a:off x="548640" y="1143000"/>
            <a:ext cx="11064240" cy="411480"/>
          </a:xfrm>
          <a:prstGeom prst="rect">
            <a:avLst/>
          </a:prstGeom>
          <a:noFill/>
          <a:ln/>
        </p:spPr>
        <p:txBody>
          <a:bodyPr wrap="square" lIns="0" tIns="0" rIns="0" bIns="0" rtlCol="0" anchor="ctr"/>
          <a:lstStyle/>
          <a:p>
            <a:pPr marL="0" indent="0" algn="l">
              <a:buNone/>
            </a:pPr>
            <a:r>
              <a:rPr lang="en-US" sz="1600" i="1" dirty="0">
                <a:solidFill>
                  <a:srgbClr val="1C7293"/>
                </a:solidFill>
                <a:latin typeface="Calibri" pitchFamily="34" charset="0"/>
                <a:ea typeface="Calibri" pitchFamily="34" charset="-122"/>
                <a:cs typeface="Calibri" pitchFamily="34" charset="-120"/>
              </a:rPr>
              <a:t>Vue conceptuelle : vous n'aurez JAMAIS à coder ça vous-même.</a:t>
            </a:r>
            <a:endParaRPr lang="en-US" sz="1600" dirty="0"/>
          </a:p>
        </p:txBody>
      </p:sp>
      <p:sp>
        <p:nvSpPr>
          <p:cNvPr id="5" name="Shape 3"/>
          <p:cNvSpPr/>
          <p:nvPr/>
        </p:nvSpPr>
        <p:spPr>
          <a:xfrm>
            <a:off x="640080" y="1920240"/>
            <a:ext cx="2148840" cy="411480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6" name="Shape 4"/>
          <p:cNvSpPr/>
          <p:nvPr/>
        </p:nvSpPr>
        <p:spPr>
          <a:xfrm>
            <a:off x="1417320" y="2103120"/>
            <a:ext cx="594360" cy="594360"/>
          </a:xfrm>
          <a:prstGeom prst="ellipse">
            <a:avLst/>
          </a:prstGeom>
          <a:solidFill>
            <a:srgbClr val="065A82"/>
          </a:solidFill>
          <a:ln w="12700">
            <a:solidFill>
              <a:srgbClr val="065A82"/>
            </a:solidFill>
            <a:prstDash val="solid"/>
          </a:ln>
        </p:spPr>
      </p:sp>
      <p:sp>
        <p:nvSpPr>
          <p:cNvPr id="7" name="Text 5"/>
          <p:cNvSpPr/>
          <p:nvPr/>
        </p:nvSpPr>
        <p:spPr>
          <a:xfrm>
            <a:off x="1417320" y="2121408"/>
            <a:ext cx="59436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Text 6"/>
          <p:cNvSpPr/>
          <p:nvPr/>
        </p:nvSpPr>
        <p:spPr>
          <a:xfrm>
            <a:off x="731520" y="2834640"/>
            <a:ext cx="1965960" cy="365760"/>
          </a:xfrm>
          <a:prstGeom prst="rect">
            <a:avLst/>
          </a:prstGeom>
          <a:noFill/>
          <a:ln/>
        </p:spPr>
        <p:txBody>
          <a:bodyPr wrap="square" lIns="0" tIns="0" rIns="0" bIns="0" rtlCol="0" anchor="ctr"/>
          <a:lstStyle/>
          <a:p>
            <a:pPr marL="0" indent="0" algn="ctr">
              <a:buNone/>
            </a:pPr>
            <a:r>
              <a:rPr lang="en-US" sz="1300" b="1" kern="0" spc="100" dirty="0">
                <a:solidFill>
                  <a:srgbClr val="F96167"/>
                </a:solidFill>
                <a:latin typeface="Calibri" pitchFamily="34" charset="0"/>
                <a:ea typeface="Calibri" pitchFamily="34" charset="-122"/>
                <a:cs typeface="Calibri" pitchFamily="34" charset="-120"/>
              </a:rPr>
              <a:t>CONTRAT</a:t>
            </a:r>
            <a:endParaRPr lang="en-US" sz="1300" dirty="0"/>
          </a:p>
        </p:txBody>
      </p:sp>
      <p:sp>
        <p:nvSpPr>
          <p:cNvPr id="9" name="Text 7"/>
          <p:cNvSpPr/>
          <p:nvPr/>
        </p:nvSpPr>
        <p:spPr>
          <a:xfrm>
            <a:off x="777240" y="3246120"/>
            <a:ext cx="1920240" cy="2606040"/>
          </a:xfrm>
          <a:prstGeom prst="rect">
            <a:avLst/>
          </a:prstGeom>
          <a:noFill/>
          <a:ln/>
        </p:spPr>
        <p:txBody>
          <a:bodyPr wrap="square" lIns="0" tIns="0" rIns="0" bIns="0" rtlCol="0" anchor="t"/>
          <a:lstStyle/>
          <a:p>
            <a:pPr marL="0" indent="0" algn="ctr">
              <a:buNone/>
            </a:pPr>
            <a:r>
              <a:rPr lang="en-US" sz="1100" dirty="0">
                <a:solidFill>
                  <a:srgbClr val="1E293B"/>
                </a:solidFill>
                <a:latin typeface="Calibri" pitchFamily="34" charset="0"/>
                <a:ea typeface="Calibri" pitchFamily="34" charset="-122"/>
                <a:cs typeface="Calibri" pitchFamily="34" charset="-120"/>
              </a:rPr>
              <a:t>A et B signent un accord de collaboration DCR (scope, durée, règles).</a:t>
            </a:r>
            <a:endParaRPr lang="en-US" sz="1100" dirty="0"/>
          </a:p>
        </p:txBody>
      </p:sp>
      <p:sp>
        <p:nvSpPr>
          <p:cNvPr id="10" name="Shape 8"/>
          <p:cNvSpPr/>
          <p:nvPr/>
        </p:nvSpPr>
        <p:spPr>
          <a:xfrm rot="1800000">
            <a:off x="2807208" y="3840480"/>
            <a:ext cx="164592" cy="228600"/>
          </a:xfrm>
          <a:prstGeom prst="rtTriangle">
            <a:avLst/>
          </a:prstGeom>
          <a:solidFill>
            <a:srgbClr val="F96167"/>
          </a:solidFill>
          <a:ln w="12700">
            <a:solidFill>
              <a:srgbClr val="F96167"/>
            </a:solidFill>
            <a:prstDash val="solid"/>
          </a:ln>
        </p:spPr>
      </p:sp>
      <p:sp>
        <p:nvSpPr>
          <p:cNvPr id="11" name="Shape 9"/>
          <p:cNvSpPr/>
          <p:nvPr/>
        </p:nvSpPr>
        <p:spPr>
          <a:xfrm>
            <a:off x="2971800" y="1920240"/>
            <a:ext cx="2148840" cy="411480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12" name="Shape 10"/>
          <p:cNvSpPr/>
          <p:nvPr/>
        </p:nvSpPr>
        <p:spPr>
          <a:xfrm>
            <a:off x="3749040" y="2103120"/>
            <a:ext cx="594360" cy="594360"/>
          </a:xfrm>
          <a:prstGeom prst="ellipse">
            <a:avLst/>
          </a:prstGeom>
          <a:solidFill>
            <a:srgbClr val="065A82"/>
          </a:solidFill>
          <a:ln w="12700">
            <a:solidFill>
              <a:srgbClr val="065A82"/>
            </a:solidFill>
            <a:prstDash val="solid"/>
          </a:ln>
        </p:spPr>
      </p:sp>
      <p:sp>
        <p:nvSpPr>
          <p:cNvPr id="13" name="Text 11"/>
          <p:cNvSpPr/>
          <p:nvPr/>
        </p:nvSpPr>
        <p:spPr>
          <a:xfrm>
            <a:off x="3749040" y="2121408"/>
            <a:ext cx="59436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4" name="Text 12"/>
          <p:cNvSpPr/>
          <p:nvPr/>
        </p:nvSpPr>
        <p:spPr>
          <a:xfrm>
            <a:off x="3063240" y="2834640"/>
            <a:ext cx="1965960" cy="365760"/>
          </a:xfrm>
          <a:prstGeom prst="rect">
            <a:avLst/>
          </a:prstGeom>
          <a:noFill/>
          <a:ln/>
        </p:spPr>
        <p:txBody>
          <a:bodyPr wrap="square" lIns="0" tIns="0" rIns="0" bIns="0" rtlCol="0" anchor="ctr"/>
          <a:lstStyle/>
          <a:p>
            <a:pPr marL="0" indent="0" algn="ctr">
              <a:buNone/>
            </a:pPr>
            <a:r>
              <a:rPr lang="en-US" sz="1300" b="1" kern="0" spc="100" dirty="0">
                <a:solidFill>
                  <a:srgbClr val="F96167"/>
                </a:solidFill>
                <a:latin typeface="Calibri" pitchFamily="34" charset="0"/>
                <a:ea typeface="Calibri" pitchFamily="34" charset="-122"/>
                <a:cs typeface="Calibri" pitchFamily="34" charset="-120"/>
              </a:rPr>
              <a:t>HASH</a:t>
            </a:r>
            <a:endParaRPr lang="en-US" sz="1300" dirty="0"/>
          </a:p>
        </p:txBody>
      </p:sp>
      <p:sp>
        <p:nvSpPr>
          <p:cNvPr id="15" name="Text 13"/>
          <p:cNvSpPr/>
          <p:nvPr/>
        </p:nvSpPr>
        <p:spPr>
          <a:xfrm>
            <a:off x="3108960" y="3246120"/>
            <a:ext cx="1920240" cy="2606040"/>
          </a:xfrm>
          <a:prstGeom prst="rect">
            <a:avLst/>
          </a:prstGeom>
          <a:noFill/>
          <a:ln/>
        </p:spPr>
        <p:txBody>
          <a:bodyPr wrap="square" lIns="0" tIns="0" rIns="0" bIns="0" rtlCol="0" anchor="t"/>
          <a:lstStyle/>
          <a:p>
            <a:pPr marL="0" indent="0" algn="ctr">
              <a:buNone/>
            </a:pPr>
            <a:r>
              <a:rPr lang="en-US" sz="1100" dirty="0">
                <a:solidFill>
                  <a:srgbClr val="1E293B"/>
                </a:solidFill>
                <a:latin typeface="Calibri" pitchFamily="34" charset="0"/>
                <a:ea typeface="Calibri" pitchFamily="34" charset="-122"/>
                <a:cs typeface="Calibri" pitchFamily="34" charset="-120"/>
              </a:rPr>
              <a:t>Chacun hashe ses identifiants (email, téléphone) avec un sel commun.</a:t>
            </a:r>
            <a:endParaRPr lang="en-US" sz="1100" dirty="0"/>
          </a:p>
        </p:txBody>
      </p:sp>
      <p:sp>
        <p:nvSpPr>
          <p:cNvPr id="16" name="Shape 14"/>
          <p:cNvSpPr/>
          <p:nvPr/>
        </p:nvSpPr>
        <p:spPr>
          <a:xfrm rot="1800000">
            <a:off x="5138928" y="3840480"/>
            <a:ext cx="164592" cy="228600"/>
          </a:xfrm>
          <a:prstGeom prst="rtTriangle">
            <a:avLst/>
          </a:prstGeom>
          <a:solidFill>
            <a:srgbClr val="F96167"/>
          </a:solidFill>
          <a:ln w="12700">
            <a:solidFill>
              <a:srgbClr val="F96167"/>
            </a:solidFill>
            <a:prstDash val="solid"/>
          </a:ln>
        </p:spPr>
      </p:sp>
      <p:sp>
        <p:nvSpPr>
          <p:cNvPr id="17" name="Shape 15"/>
          <p:cNvSpPr/>
          <p:nvPr/>
        </p:nvSpPr>
        <p:spPr>
          <a:xfrm>
            <a:off x="5303520" y="1920240"/>
            <a:ext cx="2148840" cy="411480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18" name="Shape 16"/>
          <p:cNvSpPr/>
          <p:nvPr/>
        </p:nvSpPr>
        <p:spPr>
          <a:xfrm>
            <a:off x="6080760" y="2103120"/>
            <a:ext cx="594360" cy="594360"/>
          </a:xfrm>
          <a:prstGeom prst="ellipse">
            <a:avLst/>
          </a:prstGeom>
          <a:solidFill>
            <a:srgbClr val="065A82"/>
          </a:solidFill>
          <a:ln w="12700">
            <a:solidFill>
              <a:srgbClr val="065A82"/>
            </a:solidFill>
            <a:prstDash val="solid"/>
          </a:ln>
        </p:spPr>
      </p:sp>
      <p:sp>
        <p:nvSpPr>
          <p:cNvPr id="19" name="Text 17"/>
          <p:cNvSpPr/>
          <p:nvPr/>
        </p:nvSpPr>
        <p:spPr>
          <a:xfrm>
            <a:off x="6080760" y="2121408"/>
            <a:ext cx="59436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Text 18"/>
          <p:cNvSpPr/>
          <p:nvPr/>
        </p:nvSpPr>
        <p:spPr>
          <a:xfrm>
            <a:off x="5394960" y="2834640"/>
            <a:ext cx="1965960" cy="365760"/>
          </a:xfrm>
          <a:prstGeom prst="rect">
            <a:avLst/>
          </a:prstGeom>
          <a:noFill/>
          <a:ln/>
        </p:spPr>
        <p:txBody>
          <a:bodyPr wrap="square" lIns="0" tIns="0" rIns="0" bIns="0" rtlCol="0" anchor="ctr"/>
          <a:lstStyle/>
          <a:p>
            <a:pPr marL="0" indent="0" algn="ctr">
              <a:buNone/>
            </a:pPr>
            <a:r>
              <a:rPr lang="en-US" sz="1300" b="1" kern="0" spc="100" dirty="0">
                <a:solidFill>
                  <a:srgbClr val="F96167"/>
                </a:solidFill>
                <a:latin typeface="Calibri" pitchFamily="34" charset="0"/>
                <a:ea typeface="Calibri" pitchFamily="34" charset="-122"/>
                <a:cs typeface="Calibri" pitchFamily="34" charset="-120"/>
              </a:rPr>
              <a:t>UPLOAD</a:t>
            </a:r>
            <a:endParaRPr lang="en-US" sz="1300" dirty="0"/>
          </a:p>
        </p:txBody>
      </p:sp>
      <p:sp>
        <p:nvSpPr>
          <p:cNvPr id="21" name="Text 19"/>
          <p:cNvSpPr/>
          <p:nvPr/>
        </p:nvSpPr>
        <p:spPr>
          <a:xfrm>
            <a:off x="5440680" y="3246120"/>
            <a:ext cx="1920240" cy="2606040"/>
          </a:xfrm>
          <a:prstGeom prst="rect">
            <a:avLst/>
          </a:prstGeom>
          <a:noFill/>
          <a:ln/>
        </p:spPr>
        <p:txBody>
          <a:bodyPr wrap="square" lIns="0" tIns="0" rIns="0" bIns="0" rtlCol="0" anchor="t"/>
          <a:lstStyle/>
          <a:p>
            <a:pPr marL="0" indent="0" algn="ctr">
              <a:buNone/>
            </a:pPr>
            <a:r>
              <a:rPr lang="en-US" sz="1100" dirty="0">
                <a:solidFill>
                  <a:srgbClr val="1E293B"/>
                </a:solidFill>
                <a:latin typeface="Calibri" pitchFamily="34" charset="0"/>
                <a:ea typeface="Calibri" pitchFamily="34" charset="-122"/>
                <a:cs typeface="Calibri" pitchFamily="34" charset="-120"/>
              </a:rPr>
              <a:t>Les données hashées sont envoyées dans la DCR (sans aller chez l'autre).</a:t>
            </a:r>
            <a:endParaRPr lang="en-US" sz="1100" dirty="0"/>
          </a:p>
        </p:txBody>
      </p:sp>
      <p:sp>
        <p:nvSpPr>
          <p:cNvPr id="22" name="Shape 20"/>
          <p:cNvSpPr/>
          <p:nvPr/>
        </p:nvSpPr>
        <p:spPr>
          <a:xfrm rot="1800000">
            <a:off x="7470648" y="3840480"/>
            <a:ext cx="164592" cy="228600"/>
          </a:xfrm>
          <a:prstGeom prst="rtTriangle">
            <a:avLst/>
          </a:prstGeom>
          <a:solidFill>
            <a:srgbClr val="F96167"/>
          </a:solidFill>
          <a:ln w="12700">
            <a:solidFill>
              <a:srgbClr val="F96167"/>
            </a:solidFill>
            <a:prstDash val="solid"/>
          </a:ln>
        </p:spPr>
      </p:sp>
      <p:sp>
        <p:nvSpPr>
          <p:cNvPr id="23" name="Shape 21"/>
          <p:cNvSpPr/>
          <p:nvPr/>
        </p:nvSpPr>
        <p:spPr>
          <a:xfrm>
            <a:off x="7635240" y="1920240"/>
            <a:ext cx="2148840" cy="411480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24" name="Shape 22"/>
          <p:cNvSpPr/>
          <p:nvPr/>
        </p:nvSpPr>
        <p:spPr>
          <a:xfrm>
            <a:off x="8412480" y="2103120"/>
            <a:ext cx="594360" cy="594360"/>
          </a:xfrm>
          <a:prstGeom prst="ellipse">
            <a:avLst/>
          </a:prstGeom>
          <a:solidFill>
            <a:srgbClr val="065A82"/>
          </a:solidFill>
          <a:ln w="12700">
            <a:solidFill>
              <a:srgbClr val="065A82"/>
            </a:solidFill>
            <a:prstDash val="solid"/>
          </a:ln>
        </p:spPr>
      </p:sp>
      <p:sp>
        <p:nvSpPr>
          <p:cNvPr id="25" name="Text 23"/>
          <p:cNvSpPr/>
          <p:nvPr/>
        </p:nvSpPr>
        <p:spPr>
          <a:xfrm>
            <a:off x="8412480" y="2121408"/>
            <a:ext cx="59436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6" name="Text 24"/>
          <p:cNvSpPr/>
          <p:nvPr/>
        </p:nvSpPr>
        <p:spPr>
          <a:xfrm>
            <a:off x="7726680" y="2834640"/>
            <a:ext cx="1965960" cy="365760"/>
          </a:xfrm>
          <a:prstGeom prst="rect">
            <a:avLst/>
          </a:prstGeom>
          <a:noFill/>
          <a:ln/>
        </p:spPr>
        <p:txBody>
          <a:bodyPr wrap="square" lIns="0" tIns="0" rIns="0" bIns="0" rtlCol="0" anchor="ctr"/>
          <a:lstStyle/>
          <a:p>
            <a:pPr marL="0" indent="0" algn="ctr">
              <a:buNone/>
            </a:pPr>
            <a:r>
              <a:rPr lang="en-US" sz="1300" b="1" kern="0" spc="100" dirty="0">
                <a:solidFill>
                  <a:srgbClr val="F96167"/>
                </a:solidFill>
                <a:latin typeface="Calibri" pitchFamily="34" charset="0"/>
                <a:ea typeface="Calibri" pitchFamily="34" charset="-122"/>
                <a:cs typeface="Calibri" pitchFamily="34" charset="-120"/>
              </a:rPr>
              <a:t>CALCUL</a:t>
            </a:r>
            <a:endParaRPr lang="en-US" sz="1300" dirty="0"/>
          </a:p>
        </p:txBody>
      </p:sp>
      <p:sp>
        <p:nvSpPr>
          <p:cNvPr id="27" name="Text 25"/>
          <p:cNvSpPr/>
          <p:nvPr/>
        </p:nvSpPr>
        <p:spPr>
          <a:xfrm>
            <a:off x="7772400" y="3246120"/>
            <a:ext cx="1920240" cy="2606040"/>
          </a:xfrm>
          <a:prstGeom prst="rect">
            <a:avLst/>
          </a:prstGeom>
          <a:noFill/>
          <a:ln/>
        </p:spPr>
        <p:txBody>
          <a:bodyPr wrap="square" lIns="0" tIns="0" rIns="0" bIns="0" rtlCol="0" anchor="t"/>
          <a:lstStyle/>
          <a:p>
            <a:pPr marL="0" indent="0" algn="ctr">
              <a:buNone/>
            </a:pPr>
            <a:r>
              <a:rPr lang="en-US" sz="1100" dirty="0">
                <a:solidFill>
                  <a:srgbClr val="1E293B"/>
                </a:solidFill>
                <a:latin typeface="Calibri" pitchFamily="34" charset="0"/>
                <a:ea typeface="Calibri" pitchFamily="34" charset="-122"/>
                <a:cs typeface="Calibri" pitchFamily="34" charset="-120"/>
              </a:rPr>
              <a:t>La DCR exécute la requête autorisée : intersection, overlap, attribution...</a:t>
            </a:r>
            <a:endParaRPr lang="en-US" sz="1100" dirty="0"/>
          </a:p>
        </p:txBody>
      </p:sp>
      <p:sp>
        <p:nvSpPr>
          <p:cNvPr id="28" name="Shape 26"/>
          <p:cNvSpPr/>
          <p:nvPr/>
        </p:nvSpPr>
        <p:spPr>
          <a:xfrm rot="1800000">
            <a:off x="9802368" y="3840480"/>
            <a:ext cx="164592" cy="228600"/>
          </a:xfrm>
          <a:prstGeom prst="rtTriangle">
            <a:avLst/>
          </a:prstGeom>
          <a:solidFill>
            <a:srgbClr val="F96167"/>
          </a:solidFill>
          <a:ln w="12700">
            <a:solidFill>
              <a:srgbClr val="F96167"/>
            </a:solidFill>
            <a:prstDash val="solid"/>
          </a:ln>
        </p:spPr>
      </p:sp>
      <p:sp>
        <p:nvSpPr>
          <p:cNvPr id="29" name="Shape 27"/>
          <p:cNvSpPr/>
          <p:nvPr/>
        </p:nvSpPr>
        <p:spPr>
          <a:xfrm>
            <a:off x="9966960" y="1920240"/>
            <a:ext cx="2148840" cy="411480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30" name="Shape 28"/>
          <p:cNvSpPr/>
          <p:nvPr/>
        </p:nvSpPr>
        <p:spPr>
          <a:xfrm>
            <a:off x="10744200" y="2103120"/>
            <a:ext cx="594360" cy="594360"/>
          </a:xfrm>
          <a:prstGeom prst="ellipse">
            <a:avLst/>
          </a:prstGeom>
          <a:solidFill>
            <a:srgbClr val="065A82"/>
          </a:solidFill>
          <a:ln w="12700">
            <a:solidFill>
              <a:srgbClr val="065A82"/>
            </a:solidFill>
            <a:prstDash val="solid"/>
          </a:ln>
        </p:spPr>
      </p:sp>
      <p:sp>
        <p:nvSpPr>
          <p:cNvPr id="31" name="Text 29"/>
          <p:cNvSpPr/>
          <p:nvPr/>
        </p:nvSpPr>
        <p:spPr>
          <a:xfrm>
            <a:off x="10744200" y="2121408"/>
            <a:ext cx="59436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32" name="Text 30"/>
          <p:cNvSpPr/>
          <p:nvPr/>
        </p:nvSpPr>
        <p:spPr>
          <a:xfrm>
            <a:off x="10058400" y="2834640"/>
            <a:ext cx="1965960" cy="365760"/>
          </a:xfrm>
          <a:prstGeom prst="rect">
            <a:avLst/>
          </a:prstGeom>
          <a:noFill/>
          <a:ln/>
        </p:spPr>
        <p:txBody>
          <a:bodyPr wrap="square" lIns="0" tIns="0" rIns="0" bIns="0" rtlCol="0" anchor="ctr"/>
          <a:lstStyle/>
          <a:p>
            <a:pPr marL="0" indent="0" algn="ctr">
              <a:buNone/>
            </a:pPr>
            <a:r>
              <a:rPr lang="en-US" sz="1300" b="1" kern="0" spc="100" dirty="0">
                <a:solidFill>
                  <a:srgbClr val="F96167"/>
                </a:solidFill>
                <a:latin typeface="Calibri" pitchFamily="34" charset="0"/>
                <a:ea typeface="Calibri" pitchFamily="34" charset="-122"/>
                <a:cs typeface="Calibri" pitchFamily="34" charset="-120"/>
              </a:rPr>
              <a:t>SORTIE</a:t>
            </a:r>
            <a:endParaRPr lang="en-US" sz="1300" dirty="0"/>
          </a:p>
        </p:txBody>
      </p:sp>
      <p:sp>
        <p:nvSpPr>
          <p:cNvPr id="33" name="Text 31"/>
          <p:cNvSpPr/>
          <p:nvPr/>
        </p:nvSpPr>
        <p:spPr>
          <a:xfrm>
            <a:off x="10104120" y="3246120"/>
            <a:ext cx="1920240" cy="2606040"/>
          </a:xfrm>
          <a:prstGeom prst="rect">
            <a:avLst/>
          </a:prstGeom>
          <a:noFill/>
          <a:ln/>
        </p:spPr>
        <p:txBody>
          <a:bodyPr wrap="square" lIns="0" tIns="0" rIns="0" bIns="0" rtlCol="0" anchor="t"/>
          <a:lstStyle/>
          <a:p>
            <a:pPr marL="0" indent="0" algn="ctr">
              <a:buNone/>
            </a:pPr>
            <a:r>
              <a:rPr lang="en-US" sz="1100" dirty="0">
                <a:solidFill>
                  <a:srgbClr val="1E293B"/>
                </a:solidFill>
                <a:latin typeface="Calibri" pitchFamily="34" charset="0"/>
                <a:ea typeface="Calibri" pitchFamily="34" charset="-122"/>
                <a:cs typeface="Calibri" pitchFamily="34" charset="-120"/>
              </a:rPr>
              <a:t>Seul un résultat agrégé (k≥50) sort. Aucune donnée individuelle ne quitte la DCR.</a:t>
            </a:r>
            <a:endParaRPr lang="en-US" sz="1100" dirty="0"/>
          </a:p>
        </p:txBody>
      </p:sp>
      <p:sp>
        <p:nvSpPr>
          <p:cNvPr id="34" name="Text 32"/>
          <p:cNvSpPr/>
          <p:nvPr/>
        </p:nvSpPr>
        <p:spPr>
          <a:xfrm>
            <a:off x="640080" y="6172200"/>
            <a:ext cx="11064240" cy="320040"/>
          </a:xfrm>
          <a:prstGeom prst="rect">
            <a:avLst/>
          </a:prstGeom>
          <a:noFill/>
          <a:ln/>
        </p:spPr>
        <p:txBody>
          <a:bodyPr wrap="square" lIns="0" tIns="0" rIns="0" bIns="0" rtlCol="0" anchor="ctr"/>
          <a:lstStyle/>
          <a:p>
            <a:pPr marL="0" indent="0" algn="ctr">
              <a:buNone/>
            </a:pPr>
            <a:r>
              <a:rPr lang="en-US" sz="1200" b="1" i="1" dirty="0">
                <a:solidFill>
                  <a:srgbClr val="065A82"/>
                </a:solidFill>
                <a:latin typeface="Calibri" pitchFamily="34" charset="0"/>
                <a:ea typeface="Calibri" pitchFamily="34" charset="-122"/>
                <a:cs typeface="Calibri" pitchFamily="34" charset="-120"/>
              </a:rPr>
              <a:t>Votre rôle = définir le besoin, vérifier la conformité, valider les résultats. PAS écrire le SQL.</a:t>
            </a:r>
            <a:endParaRPr lang="en-US" sz="1200" dirty="0"/>
          </a:p>
        </p:txBody>
      </p:sp>
      <p:sp>
        <p:nvSpPr>
          <p:cNvPr id="35" name="Shape 33"/>
          <p:cNvSpPr/>
          <p:nvPr/>
        </p:nvSpPr>
        <p:spPr>
          <a:xfrm>
            <a:off x="0" y="6583680"/>
            <a:ext cx="12191695" cy="274320"/>
          </a:xfrm>
          <a:prstGeom prst="rect">
            <a:avLst/>
          </a:prstGeom>
          <a:solidFill>
            <a:srgbClr val="0B1F3A"/>
          </a:solidFill>
          <a:ln w="12700">
            <a:solidFill>
              <a:srgbClr val="0B1F3A"/>
            </a:solidFill>
            <a:prstDash val="solid"/>
          </a:ln>
        </p:spPr>
      </p:sp>
      <p:sp>
        <p:nvSpPr>
          <p:cNvPr id="36" name="Text 34"/>
          <p:cNvSpPr/>
          <p:nvPr/>
        </p:nvSpPr>
        <p:spPr>
          <a:xfrm>
            <a:off x="365760" y="6601968"/>
            <a:ext cx="822960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Session 1  Comprendre les DCR</a:t>
            </a:r>
            <a:endParaRPr lang="en-US" sz="1000" dirty="0"/>
          </a:p>
        </p:txBody>
      </p:sp>
      <p:sp>
        <p:nvSpPr>
          <p:cNvPr id="37" name="Text 35"/>
          <p:cNvSpPr/>
          <p:nvPr/>
        </p:nvSpPr>
        <p:spPr>
          <a:xfrm>
            <a:off x="11551615" y="6601968"/>
            <a:ext cx="365760" cy="237744"/>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5F8FC"/>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731520"/>
          </a:xfrm>
          <a:prstGeom prst="rect">
            <a:avLst/>
          </a:prstGeom>
          <a:noFill/>
          <a:ln/>
        </p:spPr>
        <p:txBody>
          <a:bodyPr wrap="square" lIns="0" tIns="0" rIns="0" bIns="0" rtlCol="0" anchor="ctr"/>
          <a:lstStyle/>
          <a:p>
            <a:pPr marL="0" indent="0" algn="l">
              <a:buNone/>
            </a:pPr>
            <a:r>
              <a:rPr lang="en-US" sz="3200" b="1" dirty="0">
                <a:solidFill>
                  <a:srgbClr val="0B1F3A"/>
                </a:solidFill>
                <a:latin typeface="Calibri" pitchFamily="34" charset="0"/>
                <a:ea typeface="Calibri" pitchFamily="34" charset="-122"/>
                <a:cs typeface="Calibri" pitchFamily="34" charset="-120"/>
              </a:rPr>
              <a:t>Ce que permet une DCR (et ce qu'elle ne permet pas)</a:t>
            </a:r>
            <a:endParaRPr lang="en-US" sz="3200" dirty="0"/>
          </a:p>
        </p:txBody>
      </p:sp>
      <p:sp>
        <p:nvSpPr>
          <p:cNvPr id="3" name="Shape 1"/>
          <p:cNvSpPr/>
          <p:nvPr/>
        </p:nvSpPr>
        <p:spPr>
          <a:xfrm>
            <a:off x="548640" y="1005840"/>
            <a:ext cx="548640" cy="73152"/>
          </a:xfrm>
          <a:prstGeom prst="rect">
            <a:avLst/>
          </a:prstGeom>
          <a:solidFill>
            <a:srgbClr val="F96167"/>
          </a:solidFill>
          <a:ln w="12700">
            <a:solidFill>
              <a:srgbClr val="F96167"/>
            </a:solidFill>
            <a:prstDash val="solid"/>
          </a:ln>
        </p:spPr>
      </p:sp>
      <p:sp>
        <p:nvSpPr>
          <p:cNvPr id="4" name="Text 2"/>
          <p:cNvSpPr/>
          <p:nvPr/>
        </p:nvSpPr>
        <p:spPr>
          <a:xfrm>
            <a:off x="548640" y="1143000"/>
            <a:ext cx="11064240" cy="411480"/>
          </a:xfrm>
          <a:prstGeom prst="rect">
            <a:avLst/>
          </a:prstGeom>
          <a:noFill/>
          <a:ln/>
        </p:spPr>
        <p:txBody>
          <a:bodyPr wrap="square" lIns="0" tIns="0" rIns="0" bIns="0" rtlCol="0" anchor="ctr"/>
          <a:lstStyle/>
          <a:p>
            <a:pPr marL="0" indent="0" algn="l">
              <a:buNone/>
            </a:pPr>
            <a:r>
              <a:rPr lang="en-US" sz="1600" i="1" dirty="0">
                <a:solidFill>
                  <a:srgbClr val="1C7293"/>
                </a:solidFill>
                <a:latin typeface="Calibri" pitchFamily="34" charset="0"/>
                <a:ea typeface="Calibri" pitchFamily="34" charset="-122"/>
                <a:cs typeface="Calibri" pitchFamily="34" charset="-120"/>
              </a:rPr>
              <a:t>Gardez cette slide en tête quand vous pitchez un projet DCR.</a:t>
            </a:r>
            <a:endParaRPr lang="en-US" sz="1600" dirty="0"/>
          </a:p>
        </p:txBody>
      </p:sp>
      <p:sp>
        <p:nvSpPr>
          <p:cNvPr id="5" name="Shape 3"/>
          <p:cNvSpPr/>
          <p:nvPr/>
        </p:nvSpPr>
        <p:spPr>
          <a:xfrm>
            <a:off x="640080" y="1737360"/>
            <a:ext cx="5486400" cy="457200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6" name="Shape 4"/>
          <p:cNvSpPr/>
          <p:nvPr/>
        </p:nvSpPr>
        <p:spPr>
          <a:xfrm>
            <a:off x="640080" y="1737360"/>
            <a:ext cx="5486400" cy="109728"/>
          </a:xfrm>
          <a:prstGeom prst="rect">
            <a:avLst/>
          </a:prstGeom>
          <a:solidFill>
            <a:srgbClr val="059669"/>
          </a:solidFill>
          <a:ln w="12700">
            <a:solidFill>
              <a:srgbClr val="059669"/>
            </a:solidFill>
            <a:prstDash val="solid"/>
          </a:ln>
        </p:spPr>
      </p:sp>
      <p:sp>
        <p:nvSpPr>
          <p:cNvPr id="7" name="Text 5"/>
          <p:cNvSpPr/>
          <p:nvPr/>
        </p:nvSpPr>
        <p:spPr>
          <a:xfrm>
            <a:off x="868680" y="1920240"/>
            <a:ext cx="5029200" cy="365760"/>
          </a:xfrm>
          <a:prstGeom prst="rect">
            <a:avLst/>
          </a:prstGeom>
          <a:noFill/>
          <a:ln/>
        </p:spPr>
        <p:txBody>
          <a:bodyPr wrap="square" lIns="0" tIns="0" rIns="0" bIns="0" rtlCol="0" anchor="ctr"/>
          <a:lstStyle/>
          <a:p>
            <a:pPr marL="0" indent="0">
              <a:buNone/>
            </a:pPr>
            <a:r>
              <a:rPr lang="en-US" sz="1300" b="1" kern="0" spc="150" dirty="0">
                <a:solidFill>
                  <a:srgbClr val="059669"/>
                </a:solidFill>
                <a:latin typeface="Calibri" pitchFamily="34" charset="0"/>
                <a:ea typeface="Calibri" pitchFamily="34" charset="-122"/>
                <a:cs typeface="Calibri" pitchFamily="34" charset="-120"/>
              </a:rPr>
              <a:t>CE QUE ÇA PERMET</a:t>
            </a:r>
            <a:endParaRPr lang="en-US" sz="1300" dirty="0"/>
          </a:p>
        </p:txBody>
      </p:sp>
      <p:sp>
        <p:nvSpPr>
          <p:cNvPr id="8" name="Text 6"/>
          <p:cNvSpPr/>
          <p:nvPr/>
        </p:nvSpPr>
        <p:spPr>
          <a:xfrm>
            <a:off x="868680" y="2331720"/>
            <a:ext cx="5074920" cy="39319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Mesurer l'overlap entre vos clients et ceux d'un partenaire (retailer, média, marque)</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Calculer l'attribution d'une campagne média sur les ventes réelles d'un partenaire retail</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Construire des audiences lookalike à partir d'une base partenaire, sans récupérer ses données</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Mesurer l'incrémentalité réelle d'une campagne vs un groupe de contrôle</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Activer des segments d'audience chez un partenaire média sans exposer votre CRM</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Partager des insights client avec une marque co-partenaire dans un cadre RGPD</a:t>
            </a:r>
            <a:endParaRPr lang="en-US" sz="1200" dirty="0"/>
          </a:p>
        </p:txBody>
      </p:sp>
      <p:sp>
        <p:nvSpPr>
          <p:cNvPr id="9" name="Shape 7"/>
          <p:cNvSpPr/>
          <p:nvPr/>
        </p:nvSpPr>
        <p:spPr>
          <a:xfrm>
            <a:off x="6400800" y="1737360"/>
            <a:ext cx="5303520" cy="457200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10" name="Shape 8"/>
          <p:cNvSpPr/>
          <p:nvPr/>
        </p:nvSpPr>
        <p:spPr>
          <a:xfrm>
            <a:off x="6400800" y="1737360"/>
            <a:ext cx="5303520" cy="109728"/>
          </a:xfrm>
          <a:prstGeom prst="rect">
            <a:avLst/>
          </a:prstGeom>
          <a:solidFill>
            <a:srgbClr val="DC2626"/>
          </a:solidFill>
          <a:ln w="12700">
            <a:solidFill>
              <a:srgbClr val="DC2626"/>
            </a:solidFill>
            <a:prstDash val="solid"/>
          </a:ln>
        </p:spPr>
      </p:sp>
      <p:sp>
        <p:nvSpPr>
          <p:cNvPr id="11" name="Text 9"/>
          <p:cNvSpPr/>
          <p:nvPr/>
        </p:nvSpPr>
        <p:spPr>
          <a:xfrm>
            <a:off x="6629400" y="1920240"/>
            <a:ext cx="4846320" cy="365760"/>
          </a:xfrm>
          <a:prstGeom prst="rect">
            <a:avLst/>
          </a:prstGeom>
          <a:noFill/>
          <a:ln/>
        </p:spPr>
        <p:txBody>
          <a:bodyPr wrap="square" lIns="0" tIns="0" rIns="0" bIns="0" rtlCol="0" anchor="ctr"/>
          <a:lstStyle/>
          <a:p>
            <a:pPr marL="0" indent="0">
              <a:buNone/>
            </a:pPr>
            <a:r>
              <a:rPr lang="en-US" sz="1300" b="1" kern="0" spc="150" dirty="0">
                <a:solidFill>
                  <a:srgbClr val="DC2626"/>
                </a:solidFill>
                <a:latin typeface="Calibri" pitchFamily="34" charset="0"/>
                <a:ea typeface="Calibri" pitchFamily="34" charset="-122"/>
                <a:cs typeface="Calibri" pitchFamily="34" charset="-120"/>
              </a:rPr>
              <a:t>CE QUE ÇA NE PERMET PAS</a:t>
            </a:r>
            <a:endParaRPr lang="en-US" sz="1300" dirty="0"/>
          </a:p>
        </p:txBody>
      </p:sp>
      <p:sp>
        <p:nvSpPr>
          <p:cNvPr id="12" name="Text 10"/>
          <p:cNvSpPr/>
          <p:nvPr/>
        </p:nvSpPr>
        <p:spPr>
          <a:xfrm>
            <a:off x="6629400" y="2331720"/>
            <a:ext cx="4892040" cy="39319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Récupérer les emails ou identifiants bruts d'un partenaire (jamais, par design)</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Faire du ciblage 1-to-1 avec moins de 50 individus par segment (k-anonymat)</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Remplacer un DMP ou un CDP  c'est un espace de collaboration, pas de stockage master</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Enrichir votre CRM avec les données d'un autre (seulement des scores / agrégats)</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Fonctionner sans first-party data solide de votre côté (garbage in, garbage out)</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Vous dispenser d'une base légale RGPD (intérêt légitime ou consentement)</a:t>
            </a:r>
            <a:endParaRPr lang="en-US" sz="1200" dirty="0"/>
          </a:p>
        </p:txBody>
      </p:sp>
      <p:sp>
        <p:nvSpPr>
          <p:cNvPr id="13" name="Shape 11"/>
          <p:cNvSpPr/>
          <p:nvPr/>
        </p:nvSpPr>
        <p:spPr>
          <a:xfrm>
            <a:off x="0" y="6583680"/>
            <a:ext cx="12191695" cy="274320"/>
          </a:xfrm>
          <a:prstGeom prst="rect">
            <a:avLst/>
          </a:prstGeom>
          <a:solidFill>
            <a:srgbClr val="0B1F3A"/>
          </a:solidFill>
          <a:ln w="12700">
            <a:solidFill>
              <a:srgbClr val="0B1F3A"/>
            </a:solidFill>
            <a:prstDash val="solid"/>
          </a:ln>
        </p:spPr>
      </p:sp>
      <p:sp>
        <p:nvSpPr>
          <p:cNvPr id="14" name="Text 12"/>
          <p:cNvSpPr/>
          <p:nvPr/>
        </p:nvSpPr>
        <p:spPr>
          <a:xfrm>
            <a:off x="365760" y="6601968"/>
            <a:ext cx="822960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Session 1  Comprendre les DCR</a:t>
            </a:r>
            <a:endParaRPr lang="en-US" sz="1000" dirty="0"/>
          </a:p>
        </p:txBody>
      </p:sp>
      <p:sp>
        <p:nvSpPr>
          <p:cNvPr id="15" name="Text 13"/>
          <p:cNvSpPr/>
          <p:nvPr/>
        </p:nvSpPr>
        <p:spPr>
          <a:xfrm>
            <a:off x="11551615" y="6601968"/>
            <a:ext cx="365760" cy="237744"/>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5F8FC"/>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731520"/>
          </a:xfrm>
          <a:prstGeom prst="rect">
            <a:avLst/>
          </a:prstGeom>
          <a:noFill/>
          <a:ln/>
        </p:spPr>
        <p:txBody>
          <a:bodyPr wrap="square" lIns="0" tIns="0" rIns="0" bIns="0" rtlCol="0" anchor="ctr"/>
          <a:lstStyle/>
          <a:p>
            <a:pPr marL="0" indent="0" algn="l">
              <a:buNone/>
            </a:pPr>
            <a:r>
              <a:rPr lang="en-US" sz="3200" b="1" dirty="0">
                <a:solidFill>
                  <a:srgbClr val="0B1F3A"/>
                </a:solidFill>
                <a:latin typeface="Calibri" pitchFamily="34" charset="0"/>
                <a:ea typeface="Calibri" pitchFamily="34" charset="-122"/>
                <a:cs typeface="Calibri" pitchFamily="34" charset="-120"/>
              </a:rPr>
              <a:t>À quoi ressemble une requête DCR ?</a:t>
            </a:r>
            <a:endParaRPr lang="en-US" sz="3200" dirty="0"/>
          </a:p>
        </p:txBody>
      </p:sp>
      <p:sp>
        <p:nvSpPr>
          <p:cNvPr id="3" name="Shape 1"/>
          <p:cNvSpPr/>
          <p:nvPr/>
        </p:nvSpPr>
        <p:spPr>
          <a:xfrm>
            <a:off x="548640" y="1005840"/>
            <a:ext cx="548640" cy="73152"/>
          </a:xfrm>
          <a:prstGeom prst="rect">
            <a:avLst/>
          </a:prstGeom>
          <a:solidFill>
            <a:srgbClr val="F96167"/>
          </a:solidFill>
          <a:ln w="12700">
            <a:solidFill>
              <a:srgbClr val="F96167"/>
            </a:solidFill>
            <a:prstDash val="solid"/>
          </a:ln>
        </p:spPr>
      </p:sp>
      <p:sp>
        <p:nvSpPr>
          <p:cNvPr id="4" name="Text 2"/>
          <p:cNvSpPr/>
          <p:nvPr/>
        </p:nvSpPr>
        <p:spPr>
          <a:xfrm>
            <a:off x="548640" y="1143000"/>
            <a:ext cx="11064240" cy="411480"/>
          </a:xfrm>
          <a:prstGeom prst="rect">
            <a:avLst/>
          </a:prstGeom>
          <a:noFill/>
          <a:ln/>
        </p:spPr>
        <p:txBody>
          <a:bodyPr wrap="square" lIns="0" tIns="0" rIns="0" bIns="0" rtlCol="0" anchor="ctr"/>
          <a:lstStyle/>
          <a:p>
            <a:pPr marL="0" indent="0" algn="l">
              <a:buNone/>
            </a:pPr>
            <a:r>
              <a:rPr lang="en-US" sz="1600" i="1" dirty="0">
                <a:solidFill>
                  <a:srgbClr val="1C7293"/>
                </a:solidFill>
                <a:latin typeface="Calibri" pitchFamily="34" charset="0"/>
                <a:ea typeface="Calibri" pitchFamily="34" charset="-122"/>
                <a:cs typeface="Calibri" pitchFamily="34" charset="-120"/>
              </a:rPr>
              <a:t>Illustration </a:t>
            </a:r>
            <a:r>
              <a:rPr lang="en-US" sz="1600" i="1" dirty="0" err="1">
                <a:solidFill>
                  <a:srgbClr val="1C7293"/>
                </a:solidFill>
                <a:latin typeface="Calibri" pitchFamily="34" charset="0"/>
                <a:ea typeface="Calibri" pitchFamily="34" charset="-122"/>
                <a:cs typeface="Calibri" pitchFamily="34" charset="-120"/>
              </a:rPr>
              <a:t>conceptuelle</a:t>
            </a:r>
            <a:r>
              <a:rPr lang="en-US" sz="1600" i="1" dirty="0">
                <a:solidFill>
                  <a:srgbClr val="1C7293"/>
                </a:solidFill>
                <a:latin typeface="Calibri" pitchFamily="34" charset="0"/>
                <a:ea typeface="Calibri" pitchFamily="34" charset="-122"/>
                <a:cs typeface="Calibri" pitchFamily="34" charset="-120"/>
              </a:rPr>
              <a:t>  vous n'avez PAS à savoir écrire ça. C'est votre équipe data (ou le provider) qui le fait.</a:t>
            </a:r>
            <a:endParaRPr lang="en-US" sz="1600" dirty="0"/>
          </a:p>
        </p:txBody>
      </p:sp>
      <p:sp>
        <p:nvSpPr>
          <p:cNvPr id="5" name="Shape 3"/>
          <p:cNvSpPr/>
          <p:nvPr/>
        </p:nvSpPr>
        <p:spPr>
          <a:xfrm>
            <a:off x="640080" y="1737360"/>
            <a:ext cx="6858000" cy="4114800"/>
          </a:xfrm>
          <a:prstGeom prst="rect">
            <a:avLst/>
          </a:prstGeom>
          <a:solidFill>
            <a:srgbClr val="0F172A"/>
          </a:solidFill>
          <a:ln w="12700">
            <a:solidFill>
              <a:srgbClr val="0F172A"/>
            </a:solidFill>
            <a:prstDash val="solid"/>
          </a:ln>
          <a:effectLst>
            <a:outerShdw blurRad="76200" dist="25400" dir="8100000" algn="bl" rotWithShape="0">
              <a:srgbClr val="000000">
                <a:alpha val="12000"/>
              </a:srgbClr>
            </a:outerShdw>
          </a:effectLst>
        </p:spPr>
      </p:sp>
      <p:sp>
        <p:nvSpPr>
          <p:cNvPr id="6" name="Text 4"/>
          <p:cNvSpPr/>
          <p:nvPr/>
        </p:nvSpPr>
        <p:spPr>
          <a:xfrm>
            <a:off x="822960" y="1874520"/>
            <a:ext cx="6492240" cy="274320"/>
          </a:xfrm>
          <a:prstGeom prst="rect">
            <a:avLst/>
          </a:prstGeom>
          <a:noFill/>
          <a:ln/>
        </p:spPr>
        <p:txBody>
          <a:bodyPr wrap="square" lIns="0" tIns="0" rIns="0" bIns="0" rtlCol="0" anchor="ctr"/>
          <a:lstStyle/>
          <a:p>
            <a:pPr marL="0" indent="0">
              <a:buNone/>
            </a:pPr>
            <a:r>
              <a:rPr lang="en-US" sz="1100" i="1" dirty="0">
                <a:solidFill>
                  <a:srgbClr val="94A3B8"/>
                </a:solidFill>
                <a:latin typeface="Consolas" pitchFamily="34" charset="0"/>
                <a:ea typeface="Consolas" pitchFamily="34" charset="-122"/>
                <a:cs typeface="Consolas" pitchFamily="34" charset="-120"/>
              </a:rPr>
              <a:t>-- Exemple (Snowflake DCR)</a:t>
            </a:r>
            <a:endParaRPr lang="en-US" sz="1100" dirty="0"/>
          </a:p>
        </p:txBody>
      </p:sp>
      <p:sp>
        <p:nvSpPr>
          <p:cNvPr id="7" name="Text 5"/>
          <p:cNvSpPr/>
          <p:nvPr/>
        </p:nvSpPr>
        <p:spPr>
          <a:xfrm>
            <a:off x="868680" y="2240280"/>
            <a:ext cx="6492240" cy="3520440"/>
          </a:xfrm>
          <a:prstGeom prst="rect">
            <a:avLst/>
          </a:prstGeom>
          <a:noFill/>
          <a:ln/>
        </p:spPr>
        <p:txBody>
          <a:bodyPr wrap="square" lIns="0" tIns="0" rIns="0" bIns="0" rtlCol="0" anchor="t"/>
          <a:lstStyle/>
          <a:p>
            <a:pPr marL="0" indent="0">
              <a:spcAft>
                <a:spcPts val="400"/>
              </a:spcAft>
              <a:buNone/>
            </a:pPr>
            <a:r>
              <a:rPr lang="en-US" sz="1400" b="1" dirty="0">
                <a:solidFill>
                  <a:srgbClr val="F472B6"/>
                </a:solidFill>
                <a:latin typeface="Consolas" pitchFamily="34" charset="0"/>
                <a:ea typeface="Consolas" pitchFamily="34" charset="-122"/>
                <a:cs typeface="Consolas" pitchFamily="34" charset="-120"/>
              </a:rPr>
              <a:t>SELECT</a:t>
            </a:r>
            <a:r>
              <a:rPr lang="en-US" sz="1400" dirty="0">
                <a:solidFill>
                  <a:srgbClr val="E2E8F0"/>
                </a:solidFill>
                <a:latin typeface="Consolas" pitchFamily="34" charset="0"/>
                <a:ea typeface="Consolas" pitchFamily="34" charset="-122"/>
                <a:cs typeface="Consolas" pitchFamily="34" charset="-120"/>
              </a:rPr>
              <a:t> count_distinct(client_id) </a:t>
            </a:r>
            <a:r>
              <a:rPr lang="en-US" sz="1400" b="1" dirty="0">
                <a:solidFill>
                  <a:srgbClr val="F472B6"/>
                </a:solidFill>
                <a:latin typeface="Consolas" pitchFamily="34" charset="0"/>
                <a:ea typeface="Consolas" pitchFamily="34" charset="-122"/>
                <a:cs typeface="Consolas" pitchFamily="34" charset="-120"/>
              </a:rPr>
              <a:t>FROM </a:t>
            </a:r>
            <a:r>
              <a:rPr lang="en-US" sz="1400" dirty="0">
                <a:solidFill>
                  <a:srgbClr val="E2E8F0"/>
                </a:solidFill>
                <a:latin typeface="Consolas" pitchFamily="34" charset="0"/>
                <a:ea typeface="Consolas" pitchFamily="34" charset="-122"/>
                <a:cs typeface="Consolas" pitchFamily="34" charset="-120"/>
              </a:rPr>
              <a:t>MARQUE_A.clients a</a:t>
            </a:r>
            <a:r>
              <a:rPr lang="en-US" sz="1400" b="1" dirty="0">
                <a:solidFill>
                  <a:srgbClr val="F472B6"/>
                </a:solidFill>
                <a:latin typeface="Consolas" pitchFamily="34" charset="0"/>
                <a:ea typeface="Consolas" pitchFamily="34" charset="-122"/>
                <a:cs typeface="Consolas" pitchFamily="34" charset="-120"/>
              </a:rPr>
              <a:t>JOIN </a:t>
            </a:r>
            <a:r>
              <a:rPr lang="en-US" sz="1400" dirty="0">
                <a:solidFill>
                  <a:srgbClr val="E2E8F0"/>
                </a:solidFill>
                <a:latin typeface="Consolas" pitchFamily="34" charset="0"/>
                <a:ea typeface="Consolas" pitchFamily="34" charset="-122"/>
                <a:cs typeface="Consolas" pitchFamily="34" charset="-120"/>
              </a:rPr>
              <a:t>RETAILER_B.acheteurs b</a:t>
            </a:r>
            <a:r>
              <a:rPr lang="en-US" sz="1400" b="1" dirty="0">
                <a:solidFill>
                  <a:srgbClr val="F472B6"/>
                </a:solidFill>
                <a:latin typeface="Consolas" pitchFamily="34" charset="0"/>
                <a:ea typeface="Consolas" pitchFamily="34" charset="-122"/>
                <a:cs typeface="Consolas" pitchFamily="34" charset="-120"/>
              </a:rPr>
              <a:t>  ON </a:t>
            </a:r>
            <a:r>
              <a:rPr lang="en-US" sz="1400" dirty="0">
                <a:solidFill>
                  <a:srgbClr val="E2E8F0"/>
                </a:solidFill>
                <a:latin typeface="Consolas" pitchFamily="34" charset="0"/>
                <a:ea typeface="Consolas" pitchFamily="34" charset="-122"/>
                <a:cs typeface="Consolas" pitchFamily="34" charset="-120"/>
              </a:rPr>
              <a:t>a.email_hash = b.email_hash</a:t>
            </a:r>
            <a:r>
              <a:rPr lang="en-US" sz="1400" b="1" dirty="0">
                <a:solidFill>
                  <a:srgbClr val="F472B6"/>
                </a:solidFill>
                <a:latin typeface="Consolas" pitchFamily="34" charset="0"/>
                <a:ea typeface="Consolas" pitchFamily="34" charset="-122"/>
                <a:cs typeface="Consolas" pitchFamily="34" charset="-120"/>
              </a:rPr>
              <a:t>WHERE </a:t>
            </a:r>
            <a:r>
              <a:rPr lang="en-US" sz="1400" dirty="0">
                <a:solidFill>
                  <a:srgbClr val="E2E8F0"/>
                </a:solidFill>
                <a:latin typeface="Consolas" pitchFamily="34" charset="0"/>
                <a:ea typeface="Consolas" pitchFamily="34" charset="-122"/>
                <a:cs typeface="Consolas" pitchFamily="34" charset="-120"/>
              </a:rPr>
              <a:t>b.date_achat &gt;= '2026-01-01'</a:t>
            </a:r>
            <a:r>
              <a:rPr lang="en-US" sz="1400" dirty="0">
                <a:solidFill>
                  <a:srgbClr val="000000"/>
                </a:solidFill>
                <a:latin typeface="Consolas" pitchFamily="34" charset="0"/>
                <a:ea typeface="Consolas" pitchFamily="34" charset="-122"/>
                <a:cs typeface="Consolas" pitchFamily="34" charset="-120"/>
              </a:rPr>
              <a:t> </a:t>
            </a:r>
            <a:r>
              <a:rPr lang="en-US" sz="1400" i="1" dirty="0">
                <a:solidFill>
                  <a:srgbClr val="94A3B8"/>
                </a:solidFill>
                <a:latin typeface="Consolas" pitchFamily="34" charset="0"/>
                <a:ea typeface="Consolas" pitchFamily="34" charset="-122"/>
                <a:cs typeface="Consolas" pitchFamily="34" charset="-120"/>
              </a:rPr>
              <a:t>-- Contrôles DCR appliqués automatiquement :</a:t>
            </a:r>
            <a:r>
              <a:rPr lang="en-US" sz="1400" dirty="0">
                <a:solidFill>
                  <a:srgbClr val="4ADE80"/>
                </a:solidFill>
                <a:latin typeface="Consolas" pitchFamily="34" charset="0"/>
                <a:ea typeface="Consolas" pitchFamily="34" charset="-122"/>
                <a:cs typeface="Consolas" pitchFamily="34" charset="-120"/>
              </a:rPr>
              <a:t>-- ✓ k-anonymat : seuil minimum 50 individus-- ✓ colonnes autorisées : email_hash uniquement-- ✓ audit log : requête signée et tracée</a:t>
            </a:r>
            <a:endParaRPr lang="en-US" sz="1400" dirty="0"/>
          </a:p>
        </p:txBody>
      </p:sp>
      <p:sp>
        <p:nvSpPr>
          <p:cNvPr id="8" name="Shape 6"/>
          <p:cNvSpPr/>
          <p:nvPr/>
        </p:nvSpPr>
        <p:spPr>
          <a:xfrm>
            <a:off x="7772400" y="1737360"/>
            <a:ext cx="3931920" cy="1920240"/>
          </a:xfrm>
          <a:prstGeom prst="rect">
            <a:avLst/>
          </a:prstGeom>
          <a:solidFill>
            <a:srgbClr val="0B1F3A"/>
          </a:solidFill>
          <a:ln w="12700">
            <a:solidFill>
              <a:srgbClr val="0B1F3A"/>
            </a:solidFill>
            <a:prstDash val="solid"/>
          </a:ln>
          <a:effectLst>
            <a:outerShdw blurRad="76200" dist="25400" dir="8100000" algn="bl" rotWithShape="0">
              <a:srgbClr val="000000">
                <a:alpha val="12000"/>
              </a:srgbClr>
            </a:outerShdw>
          </a:effectLst>
        </p:spPr>
      </p:sp>
      <p:sp>
        <p:nvSpPr>
          <p:cNvPr id="9" name="Shape 7"/>
          <p:cNvSpPr/>
          <p:nvPr/>
        </p:nvSpPr>
        <p:spPr>
          <a:xfrm>
            <a:off x="7772400" y="1737360"/>
            <a:ext cx="91440" cy="1920240"/>
          </a:xfrm>
          <a:prstGeom prst="rect">
            <a:avLst/>
          </a:prstGeom>
          <a:solidFill>
            <a:srgbClr val="F96167"/>
          </a:solidFill>
          <a:ln w="12700">
            <a:solidFill>
              <a:srgbClr val="F96167"/>
            </a:solidFill>
            <a:prstDash val="solid"/>
          </a:ln>
        </p:spPr>
      </p:sp>
      <p:sp>
        <p:nvSpPr>
          <p:cNvPr id="10" name="Text 8"/>
          <p:cNvSpPr/>
          <p:nvPr/>
        </p:nvSpPr>
        <p:spPr>
          <a:xfrm>
            <a:off x="8001000" y="1874520"/>
            <a:ext cx="3657600" cy="320040"/>
          </a:xfrm>
          <a:prstGeom prst="rect">
            <a:avLst/>
          </a:prstGeom>
          <a:noFill/>
          <a:ln/>
        </p:spPr>
        <p:txBody>
          <a:bodyPr wrap="square" lIns="0" tIns="0" rIns="0" bIns="0" rtlCol="0" anchor="ctr"/>
          <a:lstStyle/>
          <a:p>
            <a:pPr marL="0" indent="0">
              <a:buNone/>
            </a:pPr>
            <a:r>
              <a:rPr lang="en-US" sz="1100" b="1" kern="0" spc="200" dirty="0">
                <a:solidFill>
                  <a:srgbClr val="F9B233"/>
                </a:solidFill>
                <a:latin typeface="Calibri" pitchFamily="34" charset="0"/>
                <a:ea typeface="Calibri" pitchFamily="34" charset="-122"/>
                <a:cs typeface="Calibri" pitchFamily="34" charset="-120"/>
              </a:rPr>
              <a:t>RÉSULTAT</a:t>
            </a:r>
            <a:endParaRPr lang="en-US" sz="1100" dirty="0"/>
          </a:p>
        </p:txBody>
      </p:sp>
      <p:sp>
        <p:nvSpPr>
          <p:cNvPr id="11" name="Text 9"/>
          <p:cNvSpPr/>
          <p:nvPr/>
        </p:nvSpPr>
        <p:spPr>
          <a:xfrm>
            <a:off x="8001000" y="2194560"/>
            <a:ext cx="3657600" cy="82296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12 347</a:t>
            </a:r>
            <a:endParaRPr lang="en-US" sz="4400" dirty="0"/>
          </a:p>
        </p:txBody>
      </p:sp>
      <p:sp>
        <p:nvSpPr>
          <p:cNvPr id="12" name="Text 10"/>
          <p:cNvSpPr/>
          <p:nvPr/>
        </p:nvSpPr>
        <p:spPr>
          <a:xfrm>
            <a:off x="8001000" y="3017520"/>
            <a:ext cx="3657600" cy="365760"/>
          </a:xfrm>
          <a:prstGeom prst="rect">
            <a:avLst/>
          </a:prstGeom>
          <a:noFill/>
          <a:ln/>
        </p:spPr>
        <p:txBody>
          <a:bodyPr wrap="square" lIns="0" tIns="0" rIns="0" bIns="0" rtlCol="0" anchor="ctr"/>
          <a:lstStyle/>
          <a:p>
            <a:pPr marL="0" indent="0">
              <a:buNone/>
            </a:pPr>
            <a:r>
              <a:rPr lang="en-US" sz="1300" i="1" dirty="0">
                <a:solidFill>
                  <a:srgbClr val="1C7293"/>
                </a:solidFill>
                <a:latin typeface="Calibri" pitchFamily="34" charset="0"/>
                <a:ea typeface="Calibri" pitchFamily="34" charset="-122"/>
                <a:cs typeface="Calibri" pitchFamily="34" charset="-120"/>
              </a:rPr>
              <a:t>clients communs</a:t>
            </a:r>
            <a:endParaRPr lang="en-US" sz="1300" dirty="0"/>
          </a:p>
        </p:txBody>
      </p:sp>
      <p:sp>
        <p:nvSpPr>
          <p:cNvPr id="13" name="Text 11"/>
          <p:cNvSpPr/>
          <p:nvPr/>
        </p:nvSpPr>
        <p:spPr>
          <a:xfrm>
            <a:off x="8001000" y="3291840"/>
            <a:ext cx="3657600" cy="274320"/>
          </a:xfrm>
          <a:prstGeom prst="rect">
            <a:avLst/>
          </a:prstGeom>
          <a:noFill/>
          <a:ln/>
        </p:spPr>
        <p:txBody>
          <a:bodyPr wrap="square" lIns="0" tIns="0" rIns="0" bIns="0" rtlCol="0" anchor="ctr"/>
          <a:lstStyle/>
          <a:p>
            <a:pPr marL="0" indent="0">
              <a:buNone/>
            </a:pPr>
            <a:r>
              <a:rPr lang="en-US" sz="1100" dirty="0">
                <a:solidFill>
                  <a:srgbClr val="E2E8F0"/>
                </a:solidFill>
                <a:latin typeface="Calibri" pitchFamily="34" charset="0"/>
                <a:ea typeface="Calibri" pitchFamily="34" charset="-122"/>
                <a:cs typeface="Calibri" pitchFamily="34" charset="-120"/>
              </a:rPr>
              <a:t>(et RIEN de plus)</a:t>
            </a:r>
            <a:endParaRPr lang="en-US" sz="1100" dirty="0"/>
          </a:p>
        </p:txBody>
      </p:sp>
      <p:sp>
        <p:nvSpPr>
          <p:cNvPr id="14" name="Shape 12"/>
          <p:cNvSpPr/>
          <p:nvPr/>
        </p:nvSpPr>
        <p:spPr>
          <a:xfrm>
            <a:off x="7772400" y="3886200"/>
            <a:ext cx="3931920" cy="196596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15" name="Shape 13"/>
          <p:cNvSpPr/>
          <p:nvPr/>
        </p:nvSpPr>
        <p:spPr>
          <a:xfrm>
            <a:off x="7772400" y="3886200"/>
            <a:ext cx="91440" cy="1965960"/>
          </a:xfrm>
          <a:prstGeom prst="rect">
            <a:avLst/>
          </a:prstGeom>
          <a:solidFill>
            <a:srgbClr val="065A82"/>
          </a:solidFill>
          <a:ln w="12700">
            <a:solidFill>
              <a:srgbClr val="065A82"/>
            </a:solidFill>
            <a:prstDash val="solid"/>
          </a:ln>
        </p:spPr>
      </p:sp>
      <p:sp>
        <p:nvSpPr>
          <p:cNvPr id="16" name="Text 14"/>
          <p:cNvSpPr/>
          <p:nvPr/>
        </p:nvSpPr>
        <p:spPr>
          <a:xfrm>
            <a:off x="8001000" y="4023360"/>
            <a:ext cx="3657600" cy="274320"/>
          </a:xfrm>
          <a:prstGeom prst="rect">
            <a:avLst/>
          </a:prstGeom>
          <a:noFill/>
          <a:ln/>
        </p:spPr>
        <p:txBody>
          <a:bodyPr wrap="square" lIns="0" tIns="0" rIns="0" bIns="0" rtlCol="0" anchor="ctr"/>
          <a:lstStyle/>
          <a:p>
            <a:pPr marL="0" indent="0">
              <a:buNone/>
            </a:pPr>
            <a:r>
              <a:rPr lang="en-US" sz="1100" b="1" kern="0" spc="150" dirty="0">
                <a:solidFill>
                  <a:srgbClr val="F96167"/>
                </a:solidFill>
                <a:latin typeface="Calibri" pitchFamily="34" charset="0"/>
                <a:ea typeface="Calibri" pitchFamily="34" charset="-122"/>
                <a:cs typeface="Calibri" pitchFamily="34" charset="-120"/>
              </a:rPr>
              <a:t>À RETENIR</a:t>
            </a:r>
            <a:endParaRPr lang="en-US" sz="1100" dirty="0"/>
          </a:p>
        </p:txBody>
      </p:sp>
      <p:sp>
        <p:nvSpPr>
          <p:cNvPr id="17" name="Text 15"/>
          <p:cNvSpPr/>
          <p:nvPr/>
        </p:nvSpPr>
        <p:spPr>
          <a:xfrm>
            <a:off x="8001000" y="4297680"/>
            <a:ext cx="3611880" cy="1554480"/>
          </a:xfrm>
          <a:prstGeom prst="rect">
            <a:avLst/>
          </a:prstGeom>
          <a:noFill/>
          <a:ln/>
        </p:spPr>
        <p:txBody>
          <a:bodyPr wrap="square" lIns="0" tIns="0" rIns="0" bIns="0" rtlCol="0" anchor="t"/>
          <a:lstStyle/>
          <a:p>
            <a:pPr marL="0" indent="0">
              <a:spcAft>
                <a:spcPts val="200"/>
              </a:spcAft>
              <a:buNone/>
            </a:pPr>
            <a:r>
              <a:rPr lang="en-US" sz="1100" dirty="0">
                <a:solidFill>
                  <a:srgbClr val="1E293B"/>
                </a:solidFill>
                <a:latin typeface="Calibri" pitchFamily="34" charset="0"/>
                <a:ea typeface="Calibri" pitchFamily="34" charset="-122"/>
                <a:cs typeface="Calibri" pitchFamily="34" charset="-120"/>
              </a:rPr>
              <a:t>Ce SQL, c'est pour illustrer.</a:t>
            </a:r>
            <a:endParaRPr lang="en-US" sz="1100" dirty="0"/>
          </a:p>
          <a:p>
            <a:pPr marL="0" indent="0">
              <a:spcAft>
                <a:spcPts val="200"/>
              </a:spcAft>
              <a:buNone/>
            </a:pPr>
            <a:endParaRPr lang="en-US" sz="1100" dirty="0"/>
          </a:p>
          <a:p>
            <a:pPr marL="0" indent="0">
              <a:spcAft>
                <a:spcPts val="200"/>
              </a:spcAft>
              <a:buNone/>
            </a:pPr>
            <a:r>
              <a:rPr lang="en-US" sz="1100" dirty="0">
                <a:solidFill>
                  <a:srgbClr val="1E293B"/>
                </a:solidFill>
                <a:latin typeface="Calibri" pitchFamily="34" charset="0"/>
                <a:ea typeface="Calibri" pitchFamily="34" charset="-122"/>
                <a:cs typeface="Calibri" pitchFamily="34" charset="-120"/>
              </a:rPr>
              <a:t>Votre job n'est pas de l'écrire. Votre job :</a:t>
            </a:r>
            <a:endParaRPr lang="en-US" sz="1100" dirty="0"/>
          </a:p>
          <a:p>
            <a:pPr marL="0" indent="0">
              <a:spcAft>
                <a:spcPts val="200"/>
              </a:spcAft>
              <a:buNone/>
            </a:pPr>
            <a:r>
              <a:rPr lang="en-US" sz="1100" dirty="0">
                <a:solidFill>
                  <a:srgbClr val="1E293B"/>
                </a:solidFill>
                <a:latin typeface="Calibri" pitchFamily="34" charset="0"/>
                <a:ea typeface="Calibri" pitchFamily="34" charset="-122"/>
                <a:cs typeface="Calibri" pitchFamily="34" charset="-120"/>
              </a:rPr>
              <a:t>• définir le besoin business</a:t>
            </a:r>
            <a:endParaRPr lang="en-US" sz="1100" dirty="0"/>
          </a:p>
          <a:p>
            <a:pPr marL="0" indent="0">
              <a:spcAft>
                <a:spcPts val="200"/>
              </a:spcAft>
              <a:buNone/>
            </a:pPr>
            <a:r>
              <a:rPr lang="en-US" sz="1100" dirty="0">
                <a:solidFill>
                  <a:srgbClr val="1E293B"/>
                </a:solidFill>
                <a:latin typeface="Calibri" pitchFamily="34" charset="0"/>
                <a:ea typeface="Calibri" pitchFamily="34" charset="-122"/>
                <a:cs typeface="Calibri" pitchFamily="34" charset="-120"/>
              </a:rPr>
              <a:t>• valider la conformité</a:t>
            </a:r>
            <a:endParaRPr lang="en-US" sz="1100" dirty="0"/>
          </a:p>
          <a:p>
            <a:pPr marL="0" indent="0">
              <a:spcAft>
                <a:spcPts val="200"/>
              </a:spcAft>
              <a:buNone/>
            </a:pPr>
            <a:r>
              <a:rPr lang="en-US" sz="1100" dirty="0">
                <a:solidFill>
                  <a:srgbClr val="1E293B"/>
                </a:solidFill>
                <a:latin typeface="Calibri" pitchFamily="34" charset="0"/>
                <a:ea typeface="Calibri" pitchFamily="34" charset="-122"/>
                <a:cs typeface="Calibri" pitchFamily="34" charset="-120"/>
              </a:rPr>
              <a:t>• interpréter le résultat</a:t>
            </a:r>
            <a:endParaRPr lang="en-US" sz="1100" dirty="0"/>
          </a:p>
        </p:txBody>
      </p:sp>
      <p:sp>
        <p:nvSpPr>
          <p:cNvPr id="18" name="Shape 16"/>
          <p:cNvSpPr/>
          <p:nvPr/>
        </p:nvSpPr>
        <p:spPr>
          <a:xfrm>
            <a:off x="0" y="6583680"/>
            <a:ext cx="12191695" cy="274320"/>
          </a:xfrm>
          <a:prstGeom prst="rect">
            <a:avLst/>
          </a:prstGeom>
          <a:solidFill>
            <a:srgbClr val="0B1F3A"/>
          </a:solidFill>
          <a:ln w="12700">
            <a:solidFill>
              <a:srgbClr val="0B1F3A"/>
            </a:solidFill>
            <a:prstDash val="solid"/>
          </a:ln>
        </p:spPr>
      </p:sp>
      <p:sp>
        <p:nvSpPr>
          <p:cNvPr id="19" name="Text 17"/>
          <p:cNvSpPr/>
          <p:nvPr/>
        </p:nvSpPr>
        <p:spPr>
          <a:xfrm>
            <a:off x="365760" y="6601968"/>
            <a:ext cx="822960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Session 1  Comprendre les DCR</a:t>
            </a:r>
            <a:endParaRPr lang="en-US" sz="1000" dirty="0"/>
          </a:p>
        </p:txBody>
      </p:sp>
      <p:sp>
        <p:nvSpPr>
          <p:cNvPr id="20" name="Text 18"/>
          <p:cNvSpPr/>
          <p:nvPr/>
        </p:nvSpPr>
        <p:spPr>
          <a:xfrm>
            <a:off x="11551615" y="6601968"/>
            <a:ext cx="365760" cy="237744"/>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88FEC-1757-5F59-0305-63A9B922798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E59AD6B-7AE7-BBDF-E6A8-3062CA93BF6F}"/>
              </a:ext>
            </a:extLst>
          </p:cNvPr>
          <p:cNvSpPr/>
          <p:nvPr/>
        </p:nvSpPr>
        <p:spPr>
          <a:xfrm>
            <a:off x="548640" y="411480"/>
            <a:ext cx="11064240" cy="731520"/>
          </a:xfrm>
          <a:prstGeom prst="rect">
            <a:avLst/>
          </a:prstGeom>
          <a:noFill/>
          <a:ln/>
        </p:spPr>
        <p:txBody>
          <a:bodyPr wrap="square" lIns="0" tIns="0" rIns="0" bIns="0" rtlCol="0" anchor="ctr"/>
          <a:lstStyle/>
          <a:p>
            <a:pPr marL="0" indent="0" algn="l">
              <a:buNone/>
            </a:pPr>
            <a:r>
              <a:rPr lang="en-US" sz="3200" b="1" dirty="0">
                <a:solidFill>
                  <a:srgbClr val="0B1F3A"/>
                </a:solidFill>
                <a:latin typeface="Calibri" pitchFamily="34" charset="0"/>
                <a:ea typeface="Calibri" pitchFamily="34" charset="-122"/>
                <a:cs typeface="Calibri" pitchFamily="34" charset="-120"/>
              </a:rPr>
              <a:t>First Party Data</a:t>
            </a:r>
            <a:endParaRPr lang="en-US" sz="3200" dirty="0"/>
          </a:p>
        </p:txBody>
      </p:sp>
      <p:sp>
        <p:nvSpPr>
          <p:cNvPr id="3" name="Shape 1">
            <a:extLst>
              <a:ext uri="{FF2B5EF4-FFF2-40B4-BE49-F238E27FC236}">
                <a16:creationId xmlns:a16="http://schemas.microsoft.com/office/drawing/2014/main" id="{B7F88644-7D59-B563-918A-09C5EC9F6D83}"/>
              </a:ext>
            </a:extLst>
          </p:cNvPr>
          <p:cNvSpPr/>
          <p:nvPr/>
        </p:nvSpPr>
        <p:spPr>
          <a:xfrm>
            <a:off x="548640" y="1005840"/>
            <a:ext cx="548640" cy="73152"/>
          </a:xfrm>
          <a:prstGeom prst="rect">
            <a:avLst/>
          </a:prstGeom>
          <a:solidFill>
            <a:srgbClr val="F96167"/>
          </a:solidFill>
          <a:ln w="12700">
            <a:solidFill>
              <a:srgbClr val="F96167"/>
            </a:solidFill>
            <a:prstDash val="solid"/>
          </a:ln>
        </p:spPr>
      </p:sp>
      <p:sp>
        <p:nvSpPr>
          <p:cNvPr id="4" name="Text 2">
            <a:extLst>
              <a:ext uri="{FF2B5EF4-FFF2-40B4-BE49-F238E27FC236}">
                <a16:creationId xmlns:a16="http://schemas.microsoft.com/office/drawing/2014/main" id="{3AC95766-F60E-9744-EA4C-FB9B2BBDA966}"/>
              </a:ext>
            </a:extLst>
          </p:cNvPr>
          <p:cNvSpPr/>
          <p:nvPr/>
        </p:nvSpPr>
        <p:spPr>
          <a:xfrm>
            <a:off x="548640" y="1143000"/>
            <a:ext cx="11064240" cy="411480"/>
          </a:xfrm>
          <a:prstGeom prst="rect">
            <a:avLst/>
          </a:prstGeom>
          <a:noFill/>
          <a:ln/>
        </p:spPr>
        <p:txBody>
          <a:bodyPr wrap="square" lIns="0" tIns="0" rIns="0" bIns="0" rtlCol="0" anchor="ctr"/>
          <a:lstStyle/>
          <a:p>
            <a:pPr marL="0" indent="0" algn="l">
              <a:buNone/>
            </a:pPr>
            <a:r>
              <a:rPr lang="en-US" sz="1600" i="1" dirty="0">
                <a:solidFill>
                  <a:srgbClr val="1C7293"/>
                </a:solidFill>
                <a:latin typeface="Calibri" pitchFamily="34" charset="0"/>
                <a:ea typeface="Calibri" pitchFamily="34" charset="-122"/>
                <a:cs typeface="Calibri" pitchFamily="34" charset="-120"/>
              </a:rPr>
              <a:t>Un growth hacker qui ne comprend pas les DCR en 2026 = un growth hacker qui ne pilote plus son acquisition.</a:t>
            </a:r>
            <a:endParaRPr lang="en-US" sz="1600" dirty="0"/>
          </a:p>
        </p:txBody>
      </p:sp>
      <p:sp>
        <p:nvSpPr>
          <p:cNvPr id="5" name="Shape 3">
            <a:extLst>
              <a:ext uri="{FF2B5EF4-FFF2-40B4-BE49-F238E27FC236}">
                <a16:creationId xmlns:a16="http://schemas.microsoft.com/office/drawing/2014/main" id="{5EB6FB2D-5995-369C-7194-5FB493416E81}"/>
              </a:ext>
            </a:extLst>
          </p:cNvPr>
          <p:cNvSpPr/>
          <p:nvPr/>
        </p:nvSpPr>
        <p:spPr>
          <a:xfrm>
            <a:off x="640080" y="1737360"/>
            <a:ext cx="11064240" cy="100584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6" name="Shape 4">
            <a:extLst>
              <a:ext uri="{FF2B5EF4-FFF2-40B4-BE49-F238E27FC236}">
                <a16:creationId xmlns:a16="http://schemas.microsoft.com/office/drawing/2014/main" id="{5766C96D-D4FD-4229-27D8-730FF2C955B3}"/>
              </a:ext>
            </a:extLst>
          </p:cNvPr>
          <p:cNvSpPr/>
          <p:nvPr/>
        </p:nvSpPr>
        <p:spPr>
          <a:xfrm>
            <a:off x="640080" y="1737360"/>
            <a:ext cx="109728" cy="1005840"/>
          </a:xfrm>
          <a:prstGeom prst="rect">
            <a:avLst/>
          </a:prstGeom>
          <a:solidFill>
            <a:srgbClr val="F96167"/>
          </a:solidFill>
          <a:ln w="12700">
            <a:solidFill>
              <a:srgbClr val="F96167"/>
            </a:solidFill>
            <a:prstDash val="solid"/>
          </a:ln>
        </p:spPr>
      </p:sp>
      <p:sp>
        <p:nvSpPr>
          <p:cNvPr id="7" name="Shape 5">
            <a:extLst>
              <a:ext uri="{FF2B5EF4-FFF2-40B4-BE49-F238E27FC236}">
                <a16:creationId xmlns:a16="http://schemas.microsoft.com/office/drawing/2014/main" id="{1276CFBA-43DD-7A0A-9010-99A348276DD8}"/>
              </a:ext>
            </a:extLst>
          </p:cNvPr>
          <p:cNvSpPr/>
          <p:nvPr/>
        </p:nvSpPr>
        <p:spPr>
          <a:xfrm>
            <a:off x="868680" y="2011680"/>
            <a:ext cx="502920" cy="502920"/>
          </a:xfrm>
          <a:prstGeom prst="ellipse">
            <a:avLst/>
          </a:prstGeom>
          <a:solidFill>
            <a:srgbClr val="065A82"/>
          </a:solidFill>
          <a:ln w="12700">
            <a:solidFill>
              <a:srgbClr val="065A82"/>
            </a:solidFill>
            <a:prstDash val="solid"/>
          </a:ln>
        </p:spPr>
      </p:sp>
      <p:sp>
        <p:nvSpPr>
          <p:cNvPr id="8" name="Text 6">
            <a:extLst>
              <a:ext uri="{FF2B5EF4-FFF2-40B4-BE49-F238E27FC236}">
                <a16:creationId xmlns:a16="http://schemas.microsoft.com/office/drawing/2014/main" id="{474837DD-C886-19BD-5255-C989D0A499CC}"/>
              </a:ext>
            </a:extLst>
          </p:cNvPr>
          <p:cNvSpPr/>
          <p:nvPr/>
        </p:nvSpPr>
        <p:spPr>
          <a:xfrm>
            <a:off x="868680" y="201168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9" name="Text 7">
            <a:extLst>
              <a:ext uri="{FF2B5EF4-FFF2-40B4-BE49-F238E27FC236}">
                <a16:creationId xmlns:a16="http://schemas.microsoft.com/office/drawing/2014/main" id="{5E80983A-E016-7CF2-3728-E693FDAF1D84}"/>
              </a:ext>
            </a:extLst>
          </p:cNvPr>
          <p:cNvSpPr/>
          <p:nvPr/>
        </p:nvSpPr>
        <p:spPr>
          <a:xfrm>
            <a:off x="1554480" y="1920240"/>
            <a:ext cx="9601200" cy="365760"/>
          </a:xfrm>
          <a:prstGeom prst="rect">
            <a:avLst/>
          </a:prstGeom>
          <a:noFill/>
          <a:ln/>
        </p:spPr>
        <p:txBody>
          <a:bodyPr wrap="square" lIns="0" tIns="0" rIns="0" bIns="0" rtlCol="0" anchor="ctr"/>
          <a:lstStyle/>
          <a:p>
            <a:pPr marL="0" indent="0">
              <a:buNone/>
            </a:pPr>
            <a:r>
              <a:rPr lang="en-US" sz="1600" b="1" dirty="0">
                <a:solidFill>
                  <a:srgbClr val="0B1F3A"/>
                </a:solidFill>
                <a:latin typeface="Calibri" pitchFamily="34" charset="0"/>
                <a:ea typeface="Calibri" pitchFamily="34" charset="-122"/>
                <a:cs typeface="Calibri" pitchFamily="34" charset="-120"/>
              </a:rPr>
              <a:t>Le retail media pèse 1,3 Md€</a:t>
            </a:r>
            <a:endParaRPr lang="en-US" sz="1600" dirty="0"/>
          </a:p>
        </p:txBody>
      </p:sp>
      <p:sp>
        <p:nvSpPr>
          <p:cNvPr id="10" name="Text 8">
            <a:extLst>
              <a:ext uri="{FF2B5EF4-FFF2-40B4-BE49-F238E27FC236}">
                <a16:creationId xmlns:a16="http://schemas.microsoft.com/office/drawing/2014/main" id="{C88530A6-7F89-C3AA-88F3-E1664556856A}"/>
              </a:ext>
            </a:extLst>
          </p:cNvPr>
          <p:cNvSpPr/>
          <p:nvPr/>
        </p:nvSpPr>
        <p:spPr>
          <a:xfrm>
            <a:off x="1554480" y="2240280"/>
            <a:ext cx="9966960" cy="502920"/>
          </a:xfrm>
          <a:prstGeom prst="rect">
            <a:avLst/>
          </a:prstGeom>
          <a:noFill/>
          <a:ln/>
        </p:spPr>
        <p:txBody>
          <a:bodyPr wrap="square" lIns="0" tIns="0" rIns="0" bIns="0" rtlCol="0" anchor="t"/>
          <a:lstStyle/>
          <a:p>
            <a:pPr marL="0" indent="0">
              <a:buNone/>
            </a:pPr>
            <a:r>
              <a:rPr lang="en-US" sz="1200" dirty="0">
                <a:solidFill>
                  <a:srgbClr val="1E293B"/>
                </a:solidFill>
                <a:latin typeface="Calibri" pitchFamily="34" charset="0"/>
                <a:ea typeface="Calibri" pitchFamily="34" charset="-122"/>
                <a:cs typeface="Calibri" pitchFamily="34" charset="-120"/>
              </a:rPr>
              <a:t>Et TOUT le retail media passe par des DCR (Carrefour Links, Unlimitail, Casino...). Si vous ne savez pas les briefer, vous ne pilotez pas ces budgets.</a:t>
            </a:r>
            <a:endParaRPr lang="en-US" sz="1200" dirty="0"/>
          </a:p>
        </p:txBody>
      </p:sp>
      <p:sp>
        <p:nvSpPr>
          <p:cNvPr id="11" name="Shape 9">
            <a:extLst>
              <a:ext uri="{FF2B5EF4-FFF2-40B4-BE49-F238E27FC236}">
                <a16:creationId xmlns:a16="http://schemas.microsoft.com/office/drawing/2014/main" id="{7B400045-9051-6EE2-F310-25125BBDCEE5}"/>
              </a:ext>
            </a:extLst>
          </p:cNvPr>
          <p:cNvSpPr/>
          <p:nvPr/>
        </p:nvSpPr>
        <p:spPr>
          <a:xfrm>
            <a:off x="640080" y="2880360"/>
            <a:ext cx="11064240" cy="100584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12" name="Shape 10">
            <a:extLst>
              <a:ext uri="{FF2B5EF4-FFF2-40B4-BE49-F238E27FC236}">
                <a16:creationId xmlns:a16="http://schemas.microsoft.com/office/drawing/2014/main" id="{25DE0F75-9B47-E44E-8F59-C263E257A1E5}"/>
              </a:ext>
            </a:extLst>
          </p:cNvPr>
          <p:cNvSpPr/>
          <p:nvPr/>
        </p:nvSpPr>
        <p:spPr>
          <a:xfrm>
            <a:off x="640080" y="2880360"/>
            <a:ext cx="109728" cy="1005840"/>
          </a:xfrm>
          <a:prstGeom prst="rect">
            <a:avLst/>
          </a:prstGeom>
          <a:solidFill>
            <a:srgbClr val="F96167"/>
          </a:solidFill>
          <a:ln w="12700">
            <a:solidFill>
              <a:srgbClr val="F96167"/>
            </a:solidFill>
            <a:prstDash val="solid"/>
          </a:ln>
        </p:spPr>
      </p:sp>
      <p:sp>
        <p:nvSpPr>
          <p:cNvPr id="13" name="Shape 11">
            <a:extLst>
              <a:ext uri="{FF2B5EF4-FFF2-40B4-BE49-F238E27FC236}">
                <a16:creationId xmlns:a16="http://schemas.microsoft.com/office/drawing/2014/main" id="{0E0B3D6B-3F87-D05C-0918-C730CCC2CF17}"/>
              </a:ext>
            </a:extLst>
          </p:cNvPr>
          <p:cNvSpPr/>
          <p:nvPr/>
        </p:nvSpPr>
        <p:spPr>
          <a:xfrm>
            <a:off x="868680" y="3154680"/>
            <a:ext cx="502920" cy="502920"/>
          </a:xfrm>
          <a:prstGeom prst="ellipse">
            <a:avLst/>
          </a:prstGeom>
          <a:solidFill>
            <a:srgbClr val="065A82"/>
          </a:solidFill>
          <a:ln w="12700">
            <a:solidFill>
              <a:srgbClr val="065A82"/>
            </a:solidFill>
            <a:prstDash val="solid"/>
          </a:ln>
        </p:spPr>
      </p:sp>
      <p:sp>
        <p:nvSpPr>
          <p:cNvPr id="14" name="Text 12">
            <a:extLst>
              <a:ext uri="{FF2B5EF4-FFF2-40B4-BE49-F238E27FC236}">
                <a16:creationId xmlns:a16="http://schemas.microsoft.com/office/drawing/2014/main" id="{E0F63AED-C479-C0BD-D345-7116C4F5B468}"/>
              </a:ext>
            </a:extLst>
          </p:cNvPr>
          <p:cNvSpPr/>
          <p:nvPr/>
        </p:nvSpPr>
        <p:spPr>
          <a:xfrm>
            <a:off x="868680" y="315468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5" name="Text 13">
            <a:extLst>
              <a:ext uri="{FF2B5EF4-FFF2-40B4-BE49-F238E27FC236}">
                <a16:creationId xmlns:a16="http://schemas.microsoft.com/office/drawing/2014/main" id="{1CF7AB7E-EB12-D43D-85BB-A3872F7C2A42}"/>
              </a:ext>
            </a:extLst>
          </p:cNvPr>
          <p:cNvSpPr/>
          <p:nvPr/>
        </p:nvSpPr>
        <p:spPr>
          <a:xfrm>
            <a:off x="1554480" y="3063240"/>
            <a:ext cx="9601200" cy="365760"/>
          </a:xfrm>
          <a:prstGeom prst="rect">
            <a:avLst/>
          </a:prstGeom>
          <a:noFill/>
          <a:ln/>
        </p:spPr>
        <p:txBody>
          <a:bodyPr wrap="square" lIns="0" tIns="0" rIns="0" bIns="0" rtlCol="0" anchor="ctr"/>
          <a:lstStyle/>
          <a:p>
            <a:pPr marL="0" indent="0">
              <a:buNone/>
            </a:pPr>
            <a:r>
              <a:rPr lang="en-US" sz="1600" b="1" dirty="0">
                <a:solidFill>
                  <a:srgbClr val="0B1F3A"/>
                </a:solidFill>
                <a:latin typeface="Calibri" pitchFamily="34" charset="0"/>
                <a:ea typeface="Calibri" pitchFamily="34" charset="-122"/>
                <a:cs typeface="Calibri" pitchFamily="34" charset="-120"/>
              </a:rPr>
              <a:t>L'attribution moderne s'y joue</a:t>
            </a:r>
            <a:endParaRPr lang="en-US" sz="1600" dirty="0"/>
          </a:p>
        </p:txBody>
      </p:sp>
      <p:sp>
        <p:nvSpPr>
          <p:cNvPr id="16" name="Text 14">
            <a:extLst>
              <a:ext uri="{FF2B5EF4-FFF2-40B4-BE49-F238E27FC236}">
                <a16:creationId xmlns:a16="http://schemas.microsoft.com/office/drawing/2014/main" id="{3ABCEBE1-A6AF-7195-44B8-27893E79BCD5}"/>
              </a:ext>
            </a:extLst>
          </p:cNvPr>
          <p:cNvSpPr/>
          <p:nvPr/>
        </p:nvSpPr>
        <p:spPr>
          <a:xfrm>
            <a:off x="1554480" y="3383280"/>
            <a:ext cx="9966960" cy="502920"/>
          </a:xfrm>
          <a:prstGeom prst="rect">
            <a:avLst/>
          </a:prstGeom>
          <a:noFill/>
          <a:ln/>
        </p:spPr>
        <p:txBody>
          <a:bodyPr wrap="square" lIns="0" tIns="0" rIns="0" bIns="0" rtlCol="0" anchor="t"/>
          <a:lstStyle/>
          <a:p>
            <a:pPr marL="0" indent="0">
              <a:buNone/>
            </a:pPr>
            <a:r>
              <a:rPr lang="en-US" sz="1200" dirty="0">
                <a:solidFill>
                  <a:srgbClr val="1E293B"/>
                </a:solidFill>
                <a:latin typeface="Calibri" pitchFamily="34" charset="0"/>
                <a:ea typeface="Calibri" pitchFamily="34" charset="-122"/>
                <a:cs typeface="Calibri" pitchFamily="34" charset="-120"/>
              </a:rPr>
              <a:t>Avec la mort du cookie, les DCR sont devenues le seul moyen de mesurer sérieusement ROAS et incrémentalité cross-canal.</a:t>
            </a:r>
            <a:endParaRPr lang="en-US" sz="1200" dirty="0"/>
          </a:p>
        </p:txBody>
      </p:sp>
      <p:sp>
        <p:nvSpPr>
          <p:cNvPr id="17" name="Shape 15">
            <a:extLst>
              <a:ext uri="{FF2B5EF4-FFF2-40B4-BE49-F238E27FC236}">
                <a16:creationId xmlns:a16="http://schemas.microsoft.com/office/drawing/2014/main" id="{5F5A45D0-EE02-1276-FCA1-67126793A80A}"/>
              </a:ext>
            </a:extLst>
          </p:cNvPr>
          <p:cNvSpPr/>
          <p:nvPr/>
        </p:nvSpPr>
        <p:spPr>
          <a:xfrm>
            <a:off x="640080" y="4023360"/>
            <a:ext cx="11064240" cy="100584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18" name="Shape 16">
            <a:extLst>
              <a:ext uri="{FF2B5EF4-FFF2-40B4-BE49-F238E27FC236}">
                <a16:creationId xmlns:a16="http://schemas.microsoft.com/office/drawing/2014/main" id="{73185757-A48B-9D22-D74C-7A6E8F538843}"/>
              </a:ext>
            </a:extLst>
          </p:cNvPr>
          <p:cNvSpPr/>
          <p:nvPr/>
        </p:nvSpPr>
        <p:spPr>
          <a:xfrm>
            <a:off x="640080" y="4023360"/>
            <a:ext cx="109728" cy="1005840"/>
          </a:xfrm>
          <a:prstGeom prst="rect">
            <a:avLst/>
          </a:prstGeom>
          <a:solidFill>
            <a:srgbClr val="F96167"/>
          </a:solidFill>
          <a:ln w="12700">
            <a:solidFill>
              <a:srgbClr val="F96167"/>
            </a:solidFill>
            <a:prstDash val="solid"/>
          </a:ln>
        </p:spPr>
      </p:sp>
      <p:sp>
        <p:nvSpPr>
          <p:cNvPr id="19" name="Shape 17">
            <a:extLst>
              <a:ext uri="{FF2B5EF4-FFF2-40B4-BE49-F238E27FC236}">
                <a16:creationId xmlns:a16="http://schemas.microsoft.com/office/drawing/2014/main" id="{A6BA9919-D94E-7F1B-AF0C-50C23F8332D4}"/>
              </a:ext>
            </a:extLst>
          </p:cNvPr>
          <p:cNvSpPr/>
          <p:nvPr/>
        </p:nvSpPr>
        <p:spPr>
          <a:xfrm>
            <a:off x="868680" y="4297680"/>
            <a:ext cx="502920" cy="502920"/>
          </a:xfrm>
          <a:prstGeom prst="ellipse">
            <a:avLst/>
          </a:prstGeom>
          <a:solidFill>
            <a:srgbClr val="065A82"/>
          </a:solidFill>
          <a:ln w="12700">
            <a:solidFill>
              <a:srgbClr val="065A82"/>
            </a:solidFill>
            <a:prstDash val="solid"/>
          </a:ln>
        </p:spPr>
      </p:sp>
      <p:sp>
        <p:nvSpPr>
          <p:cNvPr id="20" name="Text 18">
            <a:extLst>
              <a:ext uri="{FF2B5EF4-FFF2-40B4-BE49-F238E27FC236}">
                <a16:creationId xmlns:a16="http://schemas.microsoft.com/office/drawing/2014/main" id="{632B90FC-29DC-F114-9C8F-43E5D0A5BC75}"/>
              </a:ext>
            </a:extLst>
          </p:cNvPr>
          <p:cNvSpPr/>
          <p:nvPr/>
        </p:nvSpPr>
        <p:spPr>
          <a:xfrm>
            <a:off x="868680" y="429768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1" name="Text 19">
            <a:extLst>
              <a:ext uri="{FF2B5EF4-FFF2-40B4-BE49-F238E27FC236}">
                <a16:creationId xmlns:a16="http://schemas.microsoft.com/office/drawing/2014/main" id="{8350DCB5-7871-5C8B-D076-A8C7CD094CC5}"/>
              </a:ext>
            </a:extLst>
          </p:cNvPr>
          <p:cNvSpPr/>
          <p:nvPr/>
        </p:nvSpPr>
        <p:spPr>
          <a:xfrm>
            <a:off x="1554480" y="4206240"/>
            <a:ext cx="9601200" cy="365760"/>
          </a:xfrm>
          <a:prstGeom prst="rect">
            <a:avLst/>
          </a:prstGeom>
          <a:noFill/>
          <a:ln/>
        </p:spPr>
        <p:txBody>
          <a:bodyPr wrap="square" lIns="0" tIns="0" rIns="0" bIns="0" rtlCol="0" anchor="ctr"/>
          <a:lstStyle/>
          <a:p>
            <a:pPr marL="0" indent="0">
              <a:buNone/>
            </a:pPr>
            <a:r>
              <a:rPr lang="en-US" sz="1600" b="1" dirty="0">
                <a:solidFill>
                  <a:srgbClr val="0B1F3A"/>
                </a:solidFill>
                <a:latin typeface="Calibri" pitchFamily="34" charset="0"/>
                <a:ea typeface="Calibri" pitchFamily="34" charset="-122"/>
                <a:cs typeface="Calibri" pitchFamily="34" charset="-120"/>
              </a:rPr>
              <a:t>Les directions en parlent</a:t>
            </a:r>
            <a:endParaRPr lang="en-US" sz="1600" dirty="0"/>
          </a:p>
        </p:txBody>
      </p:sp>
      <p:sp>
        <p:nvSpPr>
          <p:cNvPr id="22" name="Text 20">
            <a:extLst>
              <a:ext uri="{FF2B5EF4-FFF2-40B4-BE49-F238E27FC236}">
                <a16:creationId xmlns:a16="http://schemas.microsoft.com/office/drawing/2014/main" id="{6B7372CB-6560-5B35-0A7A-E419F4B7F538}"/>
              </a:ext>
            </a:extLst>
          </p:cNvPr>
          <p:cNvSpPr/>
          <p:nvPr/>
        </p:nvSpPr>
        <p:spPr>
          <a:xfrm>
            <a:off x="1554480" y="4526280"/>
            <a:ext cx="9966960" cy="502920"/>
          </a:xfrm>
          <a:prstGeom prst="rect">
            <a:avLst/>
          </a:prstGeom>
          <a:noFill/>
          <a:ln/>
        </p:spPr>
        <p:txBody>
          <a:bodyPr wrap="square" lIns="0" tIns="0" rIns="0" bIns="0" rtlCol="0" anchor="t"/>
          <a:lstStyle/>
          <a:p>
            <a:pPr marL="0" indent="0">
              <a:buNone/>
            </a:pPr>
            <a:r>
              <a:rPr lang="en-US" sz="1200" dirty="0">
                <a:solidFill>
                  <a:srgbClr val="1E293B"/>
                </a:solidFill>
                <a:latin typeface="Calibri" pitchFamily="34" charset="0"/>
                <a:ea typeface="Calibri" pitchFamily="34" charset="-122"/>
                <a:cs typeface="Calibri" pitchFamily="34" charset="-120"/>
              </a:rPr>
              <a:t>Votre DG, votre CMO, vos clients : tous entendent « data clean room ». Si vous ne savez pas expliquer, vous perdez en crédibilité.</a:t>
            </a:r>
            <a:endParaRPr lang="en-US" sz="1200" dirty="0"/>
          </a:p>
        </p:txBody>
      </p:sp>
      <p:sp>
        <p:nvSpPr>
          <p:cNvPr id="23" name="Shape 21">
            <a:extLst>
              <a:ext uri="{FF2B5EF4-FFF2-40B4-BE49-F238E27FC236}">
                <a16:creationId xmlns:a16="http://schemas.microsoft.com/office/drawing/2014/main" id="{27566F63-E129-FA2D-4F92-B3EB99B28C66}"/>
              </a:ext>
            </a:extLst>
          </p:cNvPr>
          <p:cNvSpPr/>
          <p:nvPr/>
        </p:nvSpPr>
        <p:spPr>
          <a:xfrm>
            <a:off x="640080" y="5166360"/>
            <a:ext cx="11064240" cy="100584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24" name="Shape 22">
            <a:extLst>
              <a:ext uri="{FF2B5EF4-FFF2-40B4-BE49-F238E27FC236}">
                <a16:creationId xmlns:a16="http://schemas.microsoft.com/office/drawing/2014/main" id="{D9C8974A-D25F-79CC-D73D-E15C33246EFB}"/>
              </a:ext>
            </a:extLst>
          </p:cNvPr>
          <p:cNvSpPr/>
          <p:nvPr/>
        </p:nvSpPr>
        <p:spPr>
          <a:xfrm>
            <a:off x="640080" y="5166360"/>
            <a:ext cx="109728" cy="1005840"/>
          </a:xfrm>
          <a:prstGeom prst="rect">
            <a:avLst/>
          </a:prstGeom>
          <a:solidFill>
            <a:srgbClr val="F96167"/>
          </a:solidFill>
          <a:ln w="12700">
            <a:solidFill>
              <a:srgbClr val="F96167"/>
            </a:solidFill>
            <a:prstDash val="solid"/>
          </a:ln>
        </p:spPr>
      </p:sp>
      <p:sp>
        <p:nvSpPr>
          <p:cNvPr id="25" name="Shape 23">
            <a:extLst>
              <a:ext uri="{FF2B5EF4-FFF2-40B4-BE49-F238E27FC236}">
                <a16:creationId xmlns:a16="http://schemas.microsoft.com/office/drawing/2014/main" id="{D3FB924F-6C6F-4B7F-4002-B7CF410201F5}"/>
              </a:ext>
            </a:extLst>
          </p:cNvPr>
          <p:cNvSpPr/>
          <p:nvPr/>
        </p:nvSpPr>
        <p:spPr>
          <a:xfrm>
            <a:off x="868680" y="5440680"/>
            <a:ext cx="502920" cy="502920"/>
          </a:xfrm>
          <a:prstGeom prst="ellipse">
            <a:avLst/>
          </a:prstGeom>
          <a:solidFill>
            <a:srgbClr val="065A82"/>
          </a:solidFill>
          <a:ln w="12700">
            <a:solidFill>
              <a:srgbClr val="065A82"/>
            </a:solidFill>
            <a:prstDash val="solid"/>
          </a:ln>
        </p:spPr>
      </p:sp>
      <p:sp>
        <p:nvSpPr>
          <p:cNvPr id="26" name="Text 24">
            <a:extLst>
              <a:ext uri="{FF2B5EF4-FFF2-40B4-BE49-F238E27FC236}">
                <a16:creationId xmlns:a16="http://schemas.microsoft.com/office/drawing/2014/main" id="{07A30632-455F-B7DD-4966-377AA3F218F3}"/>
              </a:ext>
            </a:extLst>
          </p:cNvPr>
          <p:cNvSpPr/>
          <p:nvPr/>
        </p:nvSpPr>
        <p:spPr>
          <a:xfrm>
            <a:off x="868680" y="544068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Text 25">
            <a:extLst>
              <a:ext uri="{FF2B5EF4-FFF2-40B4-BE49-F238E27FC236}">
                <a16:creationId xmlns:a16="http://schemas.microsoft.com/office/drawing/2014/main" id="{72A89999-A345-0E97-52CF-6FC3CD15A7D1}"/>
              </a:ext>
            </a:extLst>
          </p:cNvPr>
          <p:cNvSpPr/>
          <p:nvPr/>
        </p:nvSpPr>
        <p:spPr>
          <a:xfrm>
            <a:off x="1554480" y="5349240"/>
            <a:ext cx="9601200" cy="365760"/>
          </a:xfrm>
          <a:prstGeom prst="rect">
            <a:avLst/>
          </a:prstGeom>
          <a:noFill/>
          <a:ln/>
        </p:spPr>
        <p:txBody>
          <a:bodyPr wrap="square" lIns="0" tIns="0" rIns="0" bIns="0" rtlCol="0" anchor="ctr"/>
          <a:lstStyle/>
          <a:p>
            <a:pPr marL="0" indent="0">
              <a:buNone/>
            </a:pPr>
            <a:r>
              <a:rPr lang="en-US" sz="1600" b="1" dirty="0">
                <a:solidFill>
                  <a:srgbClr val="0B1F3A"/>
                </a:solidFill>
                <a:latin typeface="Calibri" pitchFamily="34" charset="0"/>
                <a:ea typeface="Calibri" pitchFamily="34" charset="-122"/>
                <a:cs typeface="Calibri" pitchFamily="34" charset="-120"/>
              </a:rPr>
              <a:t>C'est un accélérateur de carrière</a:t>
            </a:r>
            <a:endParaRPr lang="en-US" sz="1600" dirty="0"/>
          </a:p>
        </p:txBody>
      </p:sp>
      <p:sp>
        <p:nvSpPr>
          <p:cNvPr id="28" name="Text 26">
            <a:extLst>
              <a:ext uri="{FF2B5EF4-FFF2-40B4-BE49-F238E27FC236}">
                <a16:creationId xmlns:a16="http://schemas.microsoft.com/office/drawing/2014/main" id="{F88838A4-2B0C-C569-F4B6-0E57933A663C}"/>
              </a:ext>
            </a:extLst>
          </p:cNvPr>
          <p:cNvSpPr/>
          <p:nvPr/>
        </p:nvSpPr>
        <p:spPr>
          <a:xfrm>
            <a:off x="1554480" y="5669280"/>
            <a:ext cx="9966960" cy="502920"/>
          </a:xfrm>
          <a:prstGeom prst="rect">
            <a:avLst/>
          </a:prstGeom>
          <a:noFill/>
          <a:ln/>
        </p:spPr>
        <p:txBody>
          <a:bodyPr wrap="square" lIns="0" tIns="0" rIns="0" bIns="0" rtlCol="0" anchor="t"/>
          <a:lstStyle/>
          <a:p>
            <a:pPr marL="0" indent="0">
              <a:buNone/>
            </a:pPr>
            <a:r>
              <a:rPr lang="en-US" sz="1200" dirty="0">
                <a:solidFill>
                  <a:srgbClr val="1E293B"/>
                </a:solidFill>
                <a:latin typeface="Calibri" pitchFamily="34" charset="0"/>
                <a:ea typeface="Calibri" pitchFamily="34" charset="-122"/>
                <a:cs typeface="Calibri" pitchFamily="34" charset="-120"/>
              </a:rPr>
              <a:t>Les profils "growth + data privacy" sont payés 15-25% au-dessus de la moyenne (source : Michael Page 2025).</a:t>
            </a:r>
            <a:endParaRPr lang="en-US" sz="1200" dirty="0"/>
          </a:p>
        </p:txBody>
      </p:sp>
      <p:sp>
        <p:nvSpPr>
          <p:cNvPr id="29" name="Shape 27">
            <a:extLst>
              <a:ext uri="{FF2B5EF4-FFF2-40B4-BE49-F238E27FC236}">
                <a16:creationId xmlns:a16="http://schemas.microsoft.com/office/drawing/2014/main" id="{9B1B9C3F-E734-BC7B-5046-F68F4737C90A}"/>
              </a:ext>
            </a:extLst>
          </p:cNvPr>
          <p:cNvSpPr/>
          <p:nvPr/>
        </p:nvSpPr>
        <p:spPr>
          <a:xfrm>
            <a:off x="0" y="6583680"/>
            <a:ext cx="12191695" cy="274320"/>
          </a:xfrm>
          <a:prstGeom prst="rect">
            <a:avLst/>
          </a:prstGeom>
          <a:solidFill>
            <a:srgbClr val="0B1F3A"/>
          </a:solidFill>
          <a:ln w="12700">
            <a:solidFill>
              <a:srgbClr val="0B1F3A"/>
            </a:solidFill>
            <a:prstDash val="solid"/>
          </a:ln>
        </p:spPr>
      </p:sp>
      <p:sp>
        <p:nvSpPr>
          <p:cNvPr id="30" name="Text 28">
            <a:extLst>
              <a:ext uri="{FF2B5EF4-FFF2-40B4-BE49-F238E27FC236}">
                <a16:creationId xmlns:a16="http://schemas.microsoft.com/office/drawing/2014/main" id="{96A7CD1B-CC19-0EFB-9840-567F90FBD437}"/>
              </a:ext>
            </a:extLst>
          </p:cNvPr>
          <p:cNvSpPr/>
          <p:nvPr/>
        </p:nvSpPr>
        <p:spPr>
          <a:xfrm>
            <a:off x="365760" y="6601968"/>
            <a:ext cx="822960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Session 1  Comprendre les DCR</a:t>
            </a:r>
            <a:endParaRPr lang="en-US" sz="1000" dirty="0"/>
          </a:p>
        </p:txBody>
      </p:sp>
      <p:sp>
        <p:nvSpPr>
          <p:cNvPr id="31" name="Text 29">
            <a:extLst>
              <a:ext uri="{FF2B5EF4-FFF2-40B4-BE49-F238E27FC236}">
                <a16:creationId xmlns:a16="http://schemas.microsoft.com/office/drawing/2014/main" id="{0D5DDB23-88EA-5ED0-A01E-720875475B74}"/>
              </a:ext>
            </a:extLst>
          </p:cNvPr>
          <p:cNvSpPr/>
          <p:nvPr/>
        </p:nvSpPr>
        <p:spPr>
          <a:xfrm>
            <a:off x="11551615" y="6601968"/>
            <a:ext cx="365760" cy="237744"/>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13</a:t>
            </a:r>
            <a:endParaRPr lang="en-US" sz="1000" dirty="0"/>
          </a:p>
        </p:txBody>
      </p:sp>
    </p:spTree>
    <p:extLst>
      <p:ext uri="{BB962C8B-B14F-4D97-AF65-F5344CB8AC3E}">
        <p14:creationId xmlns:p14="http://schemas.microsoft.com/office/powerpoint/2010/main" val="7760810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59ABE0-F630-829B-68B7-1AFC2F35849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58CC383-28EC-22ED-AF94-3074DEFBFC70}"/>
              </a:ext>
            </a:extLst>
          </p:cNvPr>
          <p:cNvSpPr/>
          <p:nvPr/>
        </p:nvSpPr>
        <p:spPr>
          <a:xfrm>
            <a:off x="548640" y="411480"/>
            <a:ext cx="11064240" cy="731520"/>
          </a:xfrm>
          <a:prstGeom prst="rect">
            <a:avLst/>
          </a:prstGeom>
          <a:noFill/>
          <a:ln/>
        </p:spPr>
        <p:txBody>
          <a:bodyPr wrap="square" lIns="0" tIns="0" rIns="0" bIns="0" rtlCol="0" anchor="ctr"/>
          <a:lstStyle/>
          <a:p>
            <a:r>
              <a:rPr lang="en-US" sz="3200" b="1" dirty="0">
                <a:solidFill>
                  <a:schemeClr val="tx2"/>
                </a:solidFill>
              </a:rPr>
              <a:t>First-party data (données 1st party)</a:t>
            </a:r>
          </a:p>
        </p:txBody>
      </p:sp>
      <p:sp>
        <p:nvSpPr>
          <p:cNvPr id="3" name="Shape 1">
            <a:extLst>
              <a:ext uri="{FF2B5EF4-FFF2-40B4-BE49-F238E27FC236}">
                <a16:creationId xmlns:a16="http://schemas.microsoft.com/office/drawing/2014/main" id="{3EB78A85-C392-30C3-C2D6-5ACEA101B8AB}"/>
              </a:ext>
            </a:extLst>
          </p:cNvPr>
          <p:cNvSpPr/>
          <p:nvPr/>
        </p:nvSpPr>
        <p:spPr>
          <a:xfrm>
            <a:off x="548640" y="1005840"/>
            <a:ext cx="548640" cy="73152"/>
          </a:xfrm>
          <a:prstGeom prst="rect">
            <a:avLst/>
          </a:prstGeom>
          <a:solidFill>
            <a:srgbClr val="F96167"/>
          </a:solidFill>
          <a:ln w="12700">
            <a:solidFill>
              <a:srgbClr val="F96167"/>
            </a:solidFill>
            <a:prstDash val="solid"/>
          </a:ln>
        </p:spPr>
      </p:sp>
      <p:sp>
        <p:nvSpPr>
          <p:cNvPr id="5" name="Shape 3">
            <a:extLst>
              <a:ext uri="{FF2B5EF4-FFF2-40B4-BE49-F238E27FC236}">
                <a16:creationId xmlns:a16="http://schemas.microsoft.com/office/drawing/2014/main" id="{8BB6E24C-7887-32A2-0EC2-CCF9186D72B8}"/>
              </a:ext>
            </a:extLst>
          </p:cNvPr>
          <p:cNvSpPr/>
          <p:nvPr/>
        </p:nvSpPr>
        <p:spPr>
          <a:xfrm>
            <a:off x="640080" y="1737359"/>
            <a:ext cx="11064240" cy="2377441"/>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6" name="Shape 4">
            <a:extLst>
              <a:ext uri="{FF2B5EF4-FFF2-40B4-BE49-F238E27FC236}">
                <a16:creationId xmlns:a16="http://schemas.microsoft.com/office/drawing/2014/main" id="{533F5D59-3763-D0F1-A64B-00B42ECEFFF3}"/>
              </a:ext>
            </a:extLst>
          </p:cNvPr>
          <p:cNvSpPr/>
          <p:nvPr/>
        </p:nvSpPr>
        <p:spPr>
          <a:xfrm>
            <a:off x="640080" y="1737359"/>
            <a:ext cx="109728" cy="2386585"/>
          </a:xfrm>
          <a:prstGeom prst="rect">
            <a:avLst/>
          </a:prstGeom>
          <a:solidFill>
            <a:srgbClr val="F96167"/>
          </a:solidFill>
          <a:ln w="12700">
            <a:solidFill>
              <a:srgbClr val="F96167"/>
            </a:solidFill>
            <a:prstDash val="solid"/>
          </a:ln>
        </p:spPr>
      </p:sp>
      <p:sp>
        <p:nvSpPr>
          <p:cNvPr id="8" name="Text 6">
            <a:extLst>
              <a:ext uri="{FF2B5EF4-FFF2-40B4-BE49-F238E27FC236}">
                <a16:creationId xmlns:a16="http://schemas.microsoft.com/office/drawing/2014/main" id="{EB683440-A124-FA36-67C1-D87609C8BC8A}"/>
              </a:ext>
            </a:extLst>
          </p:cNvPr>
          <p:cNvSpPr/>
          <p:nvPr/>
        </p:nvSpPr>
        <p:spPr>
          <a:xfrm>
            <a:off x="868680" y="201168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0" name="Text 8">
            <a:extLst>
              <a:ext uri="{FF2B5EF4-FFF2-40B4-BE49-F238E27FC236}">
                <a16:creationId xmlns:a16="http://schemas.microsoft.com/office/drawing/2014/main" id="{E3C63741-CE5D-AD1E-FB79-33F801FED33E}"/>
              </a:ext>
            </a:extLst>
          </p:cNvPr>
          <p:cNvSpPr/>
          <p:nvPr/>
        </p:nvSpPr>
        <p:spPr>
          <a:xfrm>
            <a:off x="1554480" y="2240280"/>
            <a:ext cx="9966960" cy="1188720"/>
          </a:xfrm>
          <a:prstGeom prst="rect">
            <a:avLst/>
          </a:prstGeom>
          <a:noFill/>
          <a:ln/>
        </p:spPr>
        <p:txBody>
          <a:bodyPr wrap="square" lIns="0" tIns="0" rIns="0" bIns="0" rtlCol="0" anchor="t"/>
          <a:lstStyle/>
          <a:p>
            <a:r>
              <a:rPr lang="fr-FR" sz="1400" dirty="0"/>
              <a:t>Données collectées directement par votre entreprise auprès de vos clients/utilisateurs : CRM, historique d’achats, navigation sur votre site, emails, programme de fidélité. C’est votre actif le plus précieux et le seul qui survive à la fin des cookies tiers </a:t>
            </a:r>
          </a:p>
          <a:p>
            <a:r>
              <a:rPr lang="fr-FR" sz="1400" dirty="0"/>
              <a:t>« Quand tous les cookies sont désactivés, votre propre consommateur — votre first-party data — devient votre SEULE source. &gt;&gt;</a:t>
            </a:r>
            <a:endParaRPr lang="en-US" sz="1400" dirty="0"/>
          </a:p>
        </p:txBody>
      </p:sp>
      <p:sp>
        <p:nvSpPr>
          <p:cNvPr id="29" name="Shape 27">
            <a:extLst>
              <a:ext uri="{FF2B5EF4-FFF2-40B4-BE49-F238E27FC236}">
                <a16:creationId xmlns:a16="http://schemas.microsoft.com/office/drawing/2014/main" id="{D49B3951-E218-E266-FD34-E384BEB2994D}"/>
              </a:ext>
            </a:extLst>
          </p:cNvPr>
          <p:cNvSpPr/>
          <p:nvPr/>
        </p:nvSpPr>
        <p:spPr>
          <a:xfrm>
            <a:off x="0" y="6583680"/>
            <a:ext cx="12191695" cy="274320"/>
          </a:xfrm>
          <a:prstGeom prst="rect">
            <a:avLst/>
          </a:prstGeom>
          <a:solidFill>
            <a:srgbClr val="0B1F3A"/>
          </a:solidFill>
          <a:ln w="12700">
            <a:solidFill>
              <a:srgbClr val="0B1F3A"/>
            </a:solidFill>
            <a:prstDash val="solid"/>
          </a:ln>
        </p:spPr>
      </p:sp>
      <p:sp>
        <p:nvSpPr>
          <p:cNvPr id="30" name="Text 28">
            <a:extLst>
              <a:ext uri="{FF2B5EF4-FFF2-40B4-BE49-F238E27FC236}">
                <a16:creationId xmlns:a16="http://schemas.microsoft.com/office/drawing/2014/main" id="{5C0E1102-6B37-240C-64B6-A0EC3DBD7309}"/>
              </a:ext>
            </a:extLst>
          </p:cNvPr>
          <p:cNvSpPr/>
          <p:nvPr/>
        </p:nvSpPr>
        <p:spPr>
          <a:xfrm>
            <a:off x="365760" y="6601968"/>
            <a:ext cx="822960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Session 1  Comprendre les DCR</a:t>
            </a:r>
            <a:endParaRPr lang="en-US" sz="1000" dirty="0"/>
          </a:p>
        </p:txBody>
      </p:sp>
      <p:sp>
        <p:nvSpPr>
          <p:cNvPr id="31" name="Text 29">
            <a:extLst>
              <a:ext uri="{FF2B5EF4-FFF2-40B4-BE49-F238E27FC236}">
                <a16:creationId xmlns:a16="http://schemas.microsoft.com/office/drawing/2014/main" id="{61DAE5C4-EA4F-E1A7-FF99-CA05D45BF48C}"/>
              </a:ext>
            </a:extLst>
          </p:cNvPr>
          <p:cNvSpPr/>
          <p:nvPr/>
        </p:nvSpPr>
        <p:spPr>
          <a:xfrm>
            <a:off x="11551615" y="6601968"/>
            <a:ext cx="365760" cy="237744"/>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13</a:t>
            </a:r>
            <a:endParaRPr lang="en-US" sz="1000" dirty="0"/>
          </a:p>
        </p:txBody>
      </p:sp>
    </p:spTree>
    <p:extLst>
      <p:ext uri="{BB962C8B-B14F-4D97-AF65-F5344CB8AC3E}">
        <p14:creationId xmlns:p14="http://schemas.microsoft.com/office/powerpoint/2010/main" val="15730537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5401BE-EAFA-EF53-AF6A-BD90F76D307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18753BC-F888-D9B8-DFC4-5E2ED1157DD3}"/>
              </a:ext>
            </a:extLst>
          </p:cNvPr>
          <p:cNvSpPr/>
          <p:nvPr/>
        </p:nvSpPr>
        <p:spPr>
          <a:xfrm>
            <a:off x="548640" y="411480"/>
            <a:ext cx="11064240" cy="731520"/>
          </a:xfrm>
          <a:prstGeom prst="rect">
            <a:avLst/>
          </a:prstGeom>
          <a:noFill/>
          <a:ln/>
        </p:spPr>
        <p:txBody>
          <a:bodyPr wrap="square" lIns="0" tIns="0" rIns="0" bIns="0" rtlCol="0" anchor="ctr"/>
          <a:lstStyle/>
          <a:p>
            <a:r>
              <a:rPr lang="en-US" sz="3200" b="1" dirty="0"/>
              <a:t>Second-party data (données 2nd party)</a:t>
            </a:r>
            <a:endParaRPr lang="en-US" sz="3200" b="1" dirty="0">
              <a:solidFill>
                <a:schemeClr val="tx2"/>
              </a:solidFill>
            </a:endParaRPr>
          </a:p>
        </p:txBody>
      </p:sp>
      <p:sp>
        <p:nvSpPr>
          <p:cNvPr id="3" name="Shape 1">
            <a:extLst>
              <a:ext uri="{FF2B5EF4-FFF2-40B4-BE49-F238E27FC236}">
                <a16:creationId xmlns:a16="http://schemas.microsoft.com/office/drawing/2014/main" id="{337F3BDD-9FDB-A8C9-776E-C2FE422900EE}"/>
              </a:ext>
            </a:extLst>
          </p:cNvPr>
          <p:cNvSpPr/>
          <p:nvPr/>
        </p:nvSpPr>
        <p:spPr>
          <a:xfrm>
            <a:off x="548640" y="1005840"/>
            <a:ext cx="548640" cy="73152"/>
          </a:xfrm>
          <a:prstGeom prst="rect">
            <a:avLst/>
          </a:prstGeom>
          <a:solidFill>
            <a:srgbClr val="F96167"/>
          </a:solidFill>
          <a:ln w="12700">
            <a:solidFill>
              <a:srgbClr val="F96167"/>
            </a:solidFill>
            <a:prstDash val="solid"/>
          </a:ln>
        </p:spPr>
      </p:sp>
      <p:sp>
        <p:nvSpPr>
          <p:cNvPr id="5" name="Shape 3">
            <a:extLst>
              <a:ext uri="{FF2B5EF4-FFF2-40B4-BE49-F238E27FC236}">
                <a16:creationId xmlns:a16="http://schemas.microsoft.com/office/drawing/2014/main" id="{CF2BD9C3-A677-D84C-ACDF-F32DCE85DF85}"/>
              </a:ext>
            </a:extLst>
          </p:cNvPr>
          <p:cNvSpPr/>
          <p:nvPr/>
        </p:nvSpPr>
        <p:spPr>
          <a:xfrm>
            <a:off x="640080" y="1737359"/>
            <a:ext cx="11064240" cy="2377441"/>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6" name="Shape 4">
            <a:extLst>
              <a:ext uri="{FF2B5EF4-FFF2-40B4-BE49-F238E27FC236}">
                <a16:creationId xmlns:a16="http://schemas.microsoft.com/office/drawing/2014/main" id="{EB379FAB-2226-D144-E235-27781EBC48D5}"/>
              </a:ext>
            </a:extLst>
          </p:cNvPr>
          <p:cNvSpPr/>
          <p:nvPr/>
        </p:nvSpPr>
        <p:spPr>
          <a:xfrm>
            <a:off x="640080" y="1737359"/>
            <a:ext cx="109728" cy="2386585"/>
          </a:xfrm>
          <a:prstGeom prst="rect">
            <a:avLst/>
          </a:prstGeom>
          <a:solidFill>
            <a:srgbClr val="F96167"/>
          </a:solidFill>
          <a:ln w="12700">
            <a:solidFill>
              <a:srgbClr val="F96167"/>
            </a:solidFill>
            <a:prstDash val="solid"/>
          </a:ln>
        </p:spPr>
      </p:sp>
      <p:sp>
        <p:nvSpPr>
          <p:cNvPr id="8" name="Text 6">
            <a:extLst>
              <a:ext uri="{FF2B5EF4-FFF2-40B4-BE49-F238E27FC236}">
                <a16:creationId xmlns:a16="http://schemas.microsoft.com/office/drawing/2014/main" id="{37D42EDB-C103-0718-5F80-3403A34736E8}"/>
              </a:ext>
            </a:extLst>
          </p:cNvPr>
          <p:cNvSpPr/>
          <p:nvPr/>
        </p:nvSpPr>
        <p:spPr>
          <a:xfrm>
            <a:off x="868680" y="201168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0" name="Text 8">
            <a:extLst>
              <a:ext uri="{FF2B5EF4-FFF2-40B4-BE49-F238E27FC236}">
                <a16:creationId xmlns:a16="http://schemas.microsoft.com/office/drawing/2014/main" id="{A6AD2A67-0CD7-D1D9-3791-127EAC654200}"/>
              </a:ext>
            </a:extLst>
          </p:cNvPr>
          <p:cNvSpPr/>
          <p:nvPr/>
        </p:nvSpPr>
        <p:spPr>
          <a:xfrm>
            <a:off x="1554480" y="2240280"/>
            <a:ext cx="9966960" cy="1188720"/>
          </a:xfrm>
          <a:prstGeom prst="rect">
            <a:avLst/>
          </a:prstGeom>
          <a:noFill/>
          <a:ln/>
        </p:spPr>
        <p:txBody>
          <a:bodyPr wrap="square" lIns="0" tIns="0" rIns="0" bIns="0" rtlCol="0" anchor="t"/>
          <a:lstStyle/>
          <a:p>
            <a:r>
              <a:rPr lang="fr-FR" sz="1400" dirty="0"/>
              <a:t>Données FIRST d’un partenaire partagées dans le cadre d’un accord direct (</a:t>
            </a:r>
            <a:r>
              <a:rPr lang="fr-FR" sz="1400" dirty="0" err="1"/>
              <a:t>retailer</a:t>
            </a:r>
            <a:r>
              <a:rPr lang="fr-FR" sz="1400" dirty="0"/>
              <a:t> → marque, éditeur → annonceur). C’est exactement ce que permettent les DCR : deux parties collaborent sur leurs first-party data sans se les échanger. Le résultat (</a:t>
            </a:r>
            <a:r>
              <a:rPr lang="fr-FR" sz="1400" dirty="0" err="1"/>
              <a:t>overlap</a:t>
            </a:r>
            <a:r>
              <a:rPr lang="fr-FR" sz="1400" dirty="0"/>
              <a:t>, insights) est de la second-party data. </a:t>
            </a:r>
            <a:endParaRPr lang="en-US" sz="1400" dirty="0"/>
          </a:p>
        </p:txBody>
      </p:sp>
      <p:sp>
        <p:nvSpPr>
          <p:cNvPr id="29" name="Shape 27">
            <a:extLst>
              <a:ext uri="{FF2B5EF4-FFF2-40B4-BE49-F238E27FC236}">
                <a16:creationId xmlns:a16="http://schemas.microsoft.com/office/drawing/2014/main" id="{BAB831C9-0BC3-1B01-718B-CAE053A68C5F}"/>
              </a:ext>
            </a:extLst>
          </p:cNvPr>
          <p:cNvSpPr/>
          <p:nvPr/>
        </p:nvSpPr>
        <p:spPr>
          <a:xfrm>
            <a:off x="0" y="6583680"/>
            <a:ext cx="12191695" cy="274320"/>
          </a:xfrm>
          <a:prstGeom prst="rect">
            <a:avLst/>
          </a:prstGeom>
          <a:solidFill>
            <a:srgbClr val="0B1F3A"/>
          </a:solidFill>
          <a:ln w="12700">
            <a:solidFill>
              <a:srgbClr val="0B1F3A"/>
            </a:solidFill>
            <a:prstDash val="solid"/>
          </a:ln>
        </p:spPr>
      </p:sp>
      <p:sp>
        <p:nvSpPr>
          <p:cNvPr id="30" name="Text 28">
            <a:extLst>
              <a:ext uri="{FF2B5EF4-FFF2-40B4-BE49-F238E27FC236}">
                <a16:creationId xmlns:a16="http://schemas.microsoft.com/office/drawing/2014/main" id="{0059215A-CB3D-AA3F-5AF1-6BD093E187D1}"/>
              </a:ext>
            </a:extLst>
          </p:cNvPr>
          <p:cNvSpPr/>
          <p:nvPr/>
        </p:nvSpPr>
        <p:spPr>
          <a:xfrm>
            <a:off x="365760" y="6601968"/>
            <a:ext cx="822960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Session 1  Comprendre les DCR</a:t>
            </a:r>
            <a:endParaRPr lang="en-US" sz="1000" dirty="0"/>
          </a:p>
        </p:txBody>
      </p:sp>
      <p:sp>
        <p:nvSpPr>
          <p:cNvPr id="31" name="Text 29">
            <a:extLst>
              <a:ext uri="{FF2B5EF4-FFF2-40B4-BE49-F238E27FC236}">
                <a16:creationId xmlns:a16="http://schemas.microsoft.com/office/drawing/2014/main" id="{9B8DC75A-D004-AB91-8FC0-CF9A4B5959BD}"/>
              </a:ext>
            </a:extLst>
          </p:cNvPr>
          <p:cNvSpPr/>
          <p:nvPr/>
        </p:nvSpPr>
        <p:spPr>
          <a:xfrm>
            <a:off x="11551615" y="6601968"/>
            <a:ext cx="365760" cy="237744"/>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13</a:t>
            </a:r>
            <a:endParaRPr lang="en-US" sz="1000" dirty="0"/>
          </a:p>
        </p:txBody>
      </p:sp>
    </p:spTree>
    <p:extLst>
      <p:ext uri="{BB962C8B-B14F-4D97-AF65-F5344CB8AC3E}">
        <p14:creationId xmlns:p14="http://schemas.microsoft.com/office/powerpoint/2010/main" val="28094181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FEE9B-22BC-CF0E-9EDD-26ABE98822F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E39D3AF-6E86-4787-1534-281B13B7CDF3}"/>
              </a:ext>
            </a:extLst>
          </p:cNvPr>
          <p:cNvSpPr/>
          <p:nvPr/>
        </p:nvSpPr>
        <p:spPr>
          <a:xfrm>
            <a:off x="548640" y="411480"/>
            <a:ext cx="11064240" cy="731520"/>
          </a:xfrm>
          <a:prstGeom prst="rect">
            <a:avLst/>
          </a:prstGeom>
          <a:noFill/>
          <a:ln/>
        </p:spPr>
        <p:txBody>
          <a:bodyPr wrap="square" lIns="0" tIns="0" rIns="0" bIns="0" rtlCol="0" anchor="ctr"/>
          <a:lstStyle/>
          <a:p>
            <a:r>
              <a:rPr lang="en-US" sz="3200" b="1" dirty="0"/>
              <a:t>Third-party data (données 3rd party) </a:t>
            </a:r>
            <a:endParaRPr lang="en-US" sz="3200" b="1" dirty="0">
              <a:solidFill>
                <a:schemeClr val="tx2"/>
              </a:solidFill>
            </a:endParaRPr>
          </a:p>
        </p:txBody>
      </p:sp>
      <p:sp>
        <p:nvSpPr>
          <p:cNvPr id="3" name="Shape 1">
            <a:extLst>
              <a:ext uri="{FF2B5EF4-FFF2-40B4-BE49-F238E27FC236}">
                <a16:creationId xmlns:a16="http://schemas.microsoft.com/office/drawing/2014/main" id="{2D8C8F85-B632-B071-E7F7-0747A2875028}"/>
              </a:ext>
            </a:extLst>
          </p:cNvPr>
          <p:cNvSpPr/>
          <p:nvPr/>
        </p:nvSpPr>
        <p:spPr>
          <a:xfrm>
            <a:off x="548640" y="1005840"/>
            <a:ext cx="548640" cy="73152"/>
          </a:xfrm>
          <a:prstGeom prst="rect">
            <a:avLst/>
          </a:prstGeom>
          <a:solidFill>
            <a:srgbClr val="F96167"/>
          </a:solidFill>
          <a:ln w="12700">
            <a:solidFill>
              <a:srgbClr val="F96167"/>
            </a:solidFill>
            <a:prstDash val="solid"/>
          </a:ln>
        </p:spPr>
      </p:sp>
      <p:sp>
        <p:nvSpPr>
          <p:cNvPr id="5" name="Shape 3">
            <a:extLst>
              <a:ext uri="{FF2B5EF4-FFF2-40B4-BE49-F238E27FC236}">
                <a16:creationId xmlns:a16="http://schemas.microsoft.com/office/drawing/2014/main" id="{BBD76791-A1F7-AB5A-169A-17732B593E63}"/>
              </a:ext>
            </a:extLst>
          </p:cNvPr>
          <p:cNvSpPr/>
          <p:nvPr/>
        </p:nvSpPr>
        <p:spPr>
          <a:xfrm>
            <a:off x="640080" y="1737359"/>
            <a:ext cx="11064240" cy="2377441"/>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6" name="Shape 4">
            <a:extLst>
              <a:ext uri="{FF2B5EF4-FFF2-40B4-BE49-F238E27FC236}">
                <a16:creationId xmlns:a16="http://schemas.microsoft.com/office/drawing/2014/main" id="{6D24A698-0CE3-48AD-316F-4C1BF7EB8E57}"/>
              </a:ext>
            </a:extLst>
          </p:cNvPr>
          <p:cNvSpPr/>
          <p:nvPr/>
        </p:nvSpPr>
        <p:spPr>
          <a:xfrm>
            <a:off x="640080" y="1737359"/>
            <a:ext cx="109728" cy="2386585"/>
          </a:xfrm>
          <a:prstGeom prst="rect">
            <a:avLst/>
          </a:prstGeom>
          <a:solidFill>
            <a:srgbClr val="F96167"/>
          </a:solidFill>
          <a:ln w="12700">
            <a:solidFill>
              <a:srgbClr val="F96167"/>
            </a:solidFill>
            <a:prstDash val="solid"/>
          </a:ln>
        </p:spPr>
      </p:sp>
      <p:sp>
        <p:nvSpPr>
          <p:cNvPr id="8" name="Text 6">
            <a:extLst>
              <a:ext uri="{FF2B5EF4-FFF2-40B4-BE49-F238E27FC236}">
                <a16:creationId xmlns:a16="http://schemas.microsoft.com/office/drawing/2014/main" id="{75402A54-6B64-C243-5B00-87D1DFA8220F}"/>
              </a:ext>
            </a:extLst>
          </p:cNvPr>
          <p:cNvSpPr/>
          <p:nvPr/>
        </p:nvSpPr>
        <p:spPr>
          <a:xfrm>
            <a:off x="868680" y="201168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0" name="Text 8">
            <a:extLst>
              <a:ext uri="{FF2B5EF4-FFF2-40B4-BE49-F238E27FC236}">
                <a16:creationId xmlns:a16="http://schemas.microsoft.com/office/drawing/2014/main" id="{DAE37830-9220-C22B-B9E5-7B72A6A47031}"/>
              </a:ext>
            </a:extLst>
          </p:cNvPr>
          <p:cNvSpPr/>
          <p:nvPr/>
        </p:nvSpPr>
        <p:spPr>
          <a:xfrm>
            <a:off x="1554480" y="2240280"/>
            <a:ext cx="9966960" cy="1188720"/>
          </a:xfrm>
          <a:prstGeom prst="rect">
            <a:avLst/>
          </a:prstGeom>
          <a:noFill/>
          <a:ln/>
        </p:spPr>
        <p:txBody>
          <a:bodyPr wrap="square" lIns="0" tIns="0" rIns="0" bIns="0" rtlCol="0" anchor="t"/>
          <a:lstStyle/>
          <a:p>
            <a:r>
              <a:rPr lang="fr-FR" sz="1400" dirty="0"/>
              <a:t>Données collectées par un tiers (data broker, régie) à partir de cookies tiers, enchères publicitaires, SDK… sans relation directe avec le consommateur. En voie de disparition avec la fin des cookies tiers (Chrome 2024-2025) et les restrictions iOS (App </a:t>
            </a:r>
            <a:r>
              <a:rPr lang="fr-FR" sz="1400" dirty="0" err="1"/>
              <a:t>Tracking</a:t>
            </a:r>
            <a:r>
              <a:rPr lang="fr-FR" sz="1400" dirty="0"/>
              <a:t> </a:t>
            </a:r>
            <a:r>
              <a:rPr lang="fr-FR" sz="1400" dirty="0" err="1"/>
              <a:t>Transparency</a:t>
            </a:r>
            <a:r>
              <a:rPr lang="fr-FR" sz="1400" dirty="0"/>
              <a:t>). C’est précisément ce déclin qui rend les DCR indispensables.</a:t>
            </a:r>
            <a:endParaRPr lang="en-US" sz="1400" dirty="0"/>
          </a:p>
        </p:txBody>
      </p:sp>
      <p:sp>
        <p:nvSpPr>
          <p:cNvPr id="29" name="Shape 27">
            <a:extLst>
              <a:ext uri="{FF2B5EF4-FFF2-40B4-BE49-F238E27FC236}">
                <a16:creationId xmlns:a16="http://schemas.microsoft.com/office/drawing/2014/main" id="{87340C86-3C55-34A2-70B5-A0335EABC89D}"/>
              </a:ext>
            </a:extLst>
          </p:cNvPr>
          <p:cNvSpPr/>
          <p:nvPr/>
        </p:nvSpPr>
        <p:spPr>
          <a:xfrm>
            <a:off x="0" y="6583680"/>
            <a:ext cx="12191695" cy="274320"/>
          </a:xfrm>
          <a:prstGeom prst="rect">
            <a:avLst/>
          </a:prstGeom>
          <a:solidFill>
            <a:srgbClr val="0B1F3A"/>
          </a:solidFill>
          <a:ln w="12700">
            <a:solidFill>
              <a:srgbClr val="0B1F3A"/>
            </a:solidFill>
            <a:prstDash val="solid"/>
          </a:ln>
        </p:spPr>
      </p:sp>
      <p:sp>
        <p:nvSpPr>
          <p:cNvPr id="30" name="Text 28">
            <a:extLst>
              <a:ext uri="{FF2B5EF4-FFF2-40B4-BE49-F238E27FC236}">
                <a16:creationId xmlns:a16="http://schemas.microsoft.com/office/drawing/2014/main" id="{930DD7DE-D10C-9CD6-BA97-10377B8DA56C}"/>
              </a:ext>
            </a:extLst>
          </p:cNvPr>
          <p:cNvSpPr/>
          <p:nvPr/>
        </p:nvSpPr>
        <p:spPr>
          <a:xfrm>
            <a:off x="365760" y="6601968"/>
            <a:ext cx="822960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Session 1  Comprendre les DCR</a:t>
            </a:r>
            <a:endParaRPr lang="en-US" sz="1000" dirty="0"/>
          </a:p>
        </p:txBody>
      </p:sp>
      <p:sp>
        <p:nvSpPr>
          <p:cNvPr id="31" name="Text 29">
            <a:extLst>
              <a:ext uri="{FF2B5EF4-FFF2-40B4-BE49-F238E27FC236}">
                <a16:creationId xmlns:a16="http://schemas.microsoft.com/office/drawing/2014/main" id="{A39AF94D-0CD3-9034-007C-9FEAF4AA2F79}"/>
              </a:ext>
            </a:extLst>
          </p:cNvPr>
          <p:cNvSpPr/>
          <p:nvPr/>
        </p:nvSpPr>
        <p:spPr>
          <a:xfrm>
            <a:off x="11551615" y="6601968"/>
            <a:ext cx="365760" cy="237744"/>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13</a:t>
            </a:r>
            <a:endParaRPr lang="en-US" sz="1000" dirty="0"/>
          </a:p>
        </p:txBody>
      </p:sp>
    </p:spTree>
    <p:extLst>
      <p:ext uri="{BB962C8B-B14F-4D97-AF65-F5344CB8AC3E}">
        <p14:creationId xmlns:p14="http://schemas.microsoft.com/office/powerpoint/2010/main" val="24416213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CF487-3FCC-A6D7-9BF3-D06D577CC46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885F240-88E9-791E-3585-13BA2B6232AE}"/>
              </a:ext>
            </a:extLst>
          </p:cNvPr>
          <p:cNvSpPr/>
          <p:nvPr/>
        </p:nvSpPr>
        <p:spPr>
          <a:xfrm>
            <a:off x="548640" y="411480"/>
            <a:ext cx="11064240" cy="731520"/>
          </a:xfrm>
          <a:prstGeom prst="rect">
            <a:avLst/>
          </a:prstGeom>
          <a:noFill/>
          <a:ln/>
        </p:spPr>
        <p:txBody>
          <a:bodyPr wrap="square" lIns="0" tIns="0" rIns="0" bIns="0" rtlCol="0" anchor="ctr"/>
          <a:lstStyle/>
          <a:p>
            <a:r>
              <a:rPr lang="en-US" sz="3200" b="1" dirty="0">
                <a:solidFill>
                  <a:srgbClr val="0B1F3A"/>
                </a:solidFill>
                <a:latin typeface="Calibri" pitchFamily="34" charset="0"/>
                <a:ea typeface="Calibri" pitchFamily="34" charset="-122"/>
                <a:cs typeface="Calibri" pitchFamily="34" charset="-120"/>
              </a:rPr>
              <a:t>Attribution</a:t>
            </a:r>
            <a:endParaRPr lang="en-US" sz="3200" dirty="0"/>
          </a:p>
        </p:txBody>
      </p:sp>
      <p:sp>
        <p:nvSpPr>
          <p:cNvPr id="3" name="Shape 1">
            <a:extLst>
              <a:ext uri="{FF2B5EF4-FFF2-40B4-BE49-F238E27FC236}">
                <a16:creationId xmlns:a16="http://schemas.microsoft.com/office/drawing/2014/main" id="{9C73891D-65FC-3983-37A1-B74B9EFED646}"/>
              </a:ext>
            </a:extLst>
          </p:cNvPr>
          <p:cNvSpPr/>
          <p:nvPr/>
        </p:nvSpPr>
        <p:spPr>
          <a:xfrm>
            <a:off x="548640" y="1005840"/>
            <a:ext cx="548640" cy="73152"/>
          </a:xfrm>
          <a:prstGeom prst="rect">
            <a:avLst/>
          </a:prstGeom>
          <a:solidFill>
            <a:srgbClr val="F96167"/>
          </a:solidFill>
          <a:ln w="12700">
            <a:solidFill>
              <a:srgbClr val="F96167"/>
            </a:solidFill>
            <a:prstDash val="solid"/>
          </a:ln>
        </p:spPr>
      </p:sp>
      <p:sp>
        <p:nvSpPr>
          <p:cNvPr id="5" name="Shape 3">
            <a:extLst>
              <a:ext uri="{FF2B5EF4-FFF2-40B4-BE49-F238E27FC236}">
                <a16:creationId xmlns:a16="http://schemas.microsoft.com/office/drawing/2014/main" id="{BCD5B0A8-4926-E7A4-09E6-90BDD51608F2}"/>
              </a:ext>
            </a:extLst>
          </p:cNvPr>
          <p:cNvSpPr/>
          <p:nvPr/>
        </p:nvSpPr>
        <p:spPr>
          <a:xfrm>
            <a:off x="640080" y="1737359"/>
            <a:ext cx="11064240" cy="2377441"/>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6" name="Shape 4">
            <a:extLst>
              <a:ext uri="{FF2B5EF4-FFF2-40B4-BE49-F238E27FC236}">
                <a16:creationId xmlns:a16="http://schemas.microsoft.com/office/drawing/2014/main" id="{C20BD0E8-3019-1F51-1669-055569709117}"/>
              </a:ext>
            </a:extLst>
          </p:cNvPr>
          <p:cNvSpPr/>
          <p:nvPr/>
        </p:nvSpPr>
        <p:spPr>
          <a:xfrm>
            <a:off x="640080" y="1737359"/>
            <a:ext cx="109728" cy="2386585"/>
          </a:xfrm>
          <a:prstGeom prst="rect">
            <a:avLst/>
          </a:prstGeom>
          <a:solidFill>
            <a:srgbClr val="F96167"/>
          </a:solidFill>
          <a:ln w="12700">
            <a:solidFill>
              <a:srgbClr val="F96167"/>
            </a:solidFill>
            <a:prstDash val="solid"/>
          </a:ln>
        </p:spPr>
      </p:sp>
      <p:sp>
        <p:nvSpPr>
          <p:cNvPr id="8" name="Text 6">
            <a:extLst>
              <a:ext uri="{FF2B5EF4-FFF2-40B4-BE49-F238E27FC236}">
                <a16:creationId xmlns:a16="http://schemas.microsoft.com/office/drawing/2014/main" id="{B092F93B-FCC0-9D4E-BEFE-3D5EE33D1C4D}"/>
              </a:ext>
            </a:extLst>
          </p:cNvPr>
          <p:cNvSpPr/>
          <p:nvPr/>
        </p:nvSpPr>
        <p:spPr>
          <a:xfrm>
            <a:off x="868680" y="201168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0" name="Text 8">
            <a:extLst>
              <a:ext uri="{FF2B5EF4-FFF2-40B4-BE49-F238E27FC236}">
                <a16:creationId xmlns:a16="http://schemas.microsoft.com/office/drawing/2014/main" id="{70300B33-D0A5-3644-5B51-366164D0DE0E}"/>
              </a:ext>
            </a:extLst>
          </p:cNvPr>
          <p:cNvSpPr/>
          <p:nvPr/>
        </p:nvSpPr>
        <p:spPr>
          <a:xfrm>
            <a:off x="1554480" y="2240280"/>
            <a:ext cx="9966960" cy="502920"/>
          </a:xfrm>
          <a:prstGeom prst="rect">
            <a:avLst/>
          </a:prstGeom>
          <a:noFill/>
          <a:ln/>
        </p:spPr>
        <p:txBody>
          <a:bodyPr wrap="square" lIns="0" tIns="0" rIns="0" bIns="0" rtlCol="0" anchor="t"/>
          <a:lstStyle/>
          <a:p>
            <a:r>
              <a:rPr lang="fr-FR" sz="1400" dirty="0"/>
              <a:t>Processus qui consiste à identifier quels points de contact marketing (pub, email, SEO…) ont contribué à une conversion (achat, inscription). Dans une DCR, on peut mesurer l’attribution cross-canal en croisant les données d’exposition publicitaire (impressions YouTube, Meta, Amazon) avec les données de vente CRM, le tout sans échanger les données brutes. Modèles courants : last-click, multi-</a:t>
            </a:r>
            <a:r>
              <a:rPr lang="fr-FR" sz="1400" dirty="0" err="1"/>
              <a:t>touch</a:t>
            </a:r>
            <a:r>
              <a:rPr lang="fr-FR" sz="1400" dirty="0"/>
              <a:t>, data-</a:t>
            </a:r>
            <a:r>
              <a:rPr lang="fr-FR" sz="1400" dirty="0" err="1"/>
              <a:t>driven</a:t>
            </a:r>
            <a:r>
              <a:rPr lang="fr-FR" sz="1400" dirty="0"/>
              <a:t> attribution (DDA). </a:t>
            </a:r>
            <a:endParaRPr lang="en-US" sz="1400" dirty="0"/>
          </a:p>
        </p:txBody>
      </p:sp>
      <p:sp>
        <p:nvSpPr>
          <p:cNvPr id="29" name="Shape 27">
            <a:extLst>
              <a:ext uri="{FF2B5EF4-FFF2-40B4-BE49-F238E27FC236}">
                <a16:creationId xmlns:a16="http://schemas.microsoft.com/office/drawing/2014/main" id="{07AB43AD-74D2-544B-C774-0660E97E01C0}"/>
              </a:ext>
            </a:extLst>
          </p:cNvPr>
          <p:cNvSpPr/>
          <p:nvPr/>
        </p:nvSpPr>
        <p:spPr>
          <a:xfrm>
            <a:off x="0" y="6583680"/>
            <a:ext cx="12191695" cy="274320"/>
          </a:xfrm>
          <a:prstGeom prst="rect">
            <a:avLst/>
          </a:prstGeom>
          <a:solidFill>
            <a:srgbClr val="0B1F3A"/>
          </a:solidFill>
          <a:ln w="12700">
            <a:solidFill>
              <a:srgbClr val="0B1F3A"/>
            </a:solidFill>
            <a:prstDash val="solid"/>
          </a:ln>
        </p:spPr>
      </p:sp>
      <p:sp>
        <p:nvSpPr>
          <p:cNvPr id="30" name="Text 28">
            <a:extLst>
              <a:ext uri="{FF2B5EF4-FFF2-40B4-BE49-F238E27FC236}">
                <a16:creationId xmlns:a16="http://schemas.microsoft.com/office/drawing/2014/main" id="{875BF25A-2AEB-1FFE-3BD9-C0B8D30D0A9F}"/>
              </a:ext>
            </a:extLst>
          </p:cNvPr>
          <p:cNvSpPr/>
          <p:nvPr/>
        </p:nvSpPr>
        <p:spPr>
          <a:xfrm>
            <a:off x="365760" y="6601968"/>
            <a:ext cx="822960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Session 1  Comprendre les DCR</a:t>
            </a:r>
            <a:endParaRPr lang="en-US" sz="1000" dirty="0"/>
          </a:p>
        </p:txBody>
      </p:sp>
      <p:sp>
        <p:nvSpPr>
          <p:cNvPr id="31" name="Text 29">
            <a:extLst>
              <a:ext uri="{FF2B5EF4-FFF2-40B4-BE49-F238E27FC236}">
                <a16:creationId xmlns:a16="http://schemas.microsoft.com/office/drawing/2014/main" id="{58CDE776-575A-0C61-4882-0813C3C4F652}"/>
              </a:ext>
            </a:extLst>
          </p:cNvPr>
          <p:cNvSpPr/>
          <p:nvPr/>
        </p:nvSpPr>
        <p:spPr>
          <a:xfrm>
            <a:off x="11551615" y="6601968"/>
            <a:ext cx="365760" cy="237744"/>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13</a:t>
            </a:r>
            <a:endParaRPr lang="en-US" sz="1000" dirty="0"/>
          </a:p>
        </p:txBody>
      </p:sp>
    </p:spTree>
    <p:extLst>
      <p:ext uri="{BB962C8B-B14F-4D97-AF65-F5344CB8AC3E}">
        <p14:creationId xmlns:p14="http://schemas.microsoft.com/office/powerpoint/2010/main" val="11865061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E4AB3D-3C0B-2751-2A8B-253B2BC6840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AE79AC4-742F-B3B2-C835-DD6F22E4F961}"/>
              </a:ext>
            </a:extLst>
          </p:cNvPr>
          <p:cNvSpPr/>
          <p:nvPr/>
        </p:nvSpPr>
        <p:spPr>
          <a:xfrm>
            <a:off x="548640" y="411480"/>
            <a:ext cx="11064240" cy="731520"/>
          </a:xfrm>
          <a:prstGeom prst="rect">
            <a:avLst/>
          </a:prstGeom>
          <a:noFill/>
          <a:ln/>
        </p:spPr>
        <p:txBody>
          <a:bodyPr wrap="square" lIns="0" tIns="0" rIns="0" bIns="0" rtlCol="0" anchor="ctr"/>
          <a:lstStyle/>
          <a:p>
            <a:r>
              <a:rPr lang="en-US" sz="3200" b="1" dirty="0">
                <a:solidFill>
                  <a:srgbClr val="0B1F3A"/>
                </a:solidFill>
                <a:latin typeface="Calibri" pitchFamily="34" charset="0"/>
                <a:ea typeface="Calibri" pitchFamily="34" charset="-122"/>
                <a:cs typeface="Calibri" pitchFamily="34" charset="-120"/>
              </a:rPr>
              <a:t>Activation</a:t>
            </a:r>
            <a:endParaRPr lang="en-US" sz="3200" dirty="0"/>
          </a:p>
        </p:txBody>
      </p:sp>
      <p:sp>
        <p:nvSpPr>
          <p:cNvPr id="3" name="Shape 1">
            <a:extLst>
              <a:ext uri="{FF2B5EF4-FFF2-40B4-BE49-F238E27FC236}">
                <a16:creationId xmlns:a16="http://schemas.microsoft.com/office/drawing/2014/main" id="{BB713021-0491-68F9-F0EF-5575DD8477D9}"/>
              </a:ext>
            </a:extLst>
          </p:cNvPr>
          <p:cNvSpPr/>
          <p:nvPr/>
        </p:nvSpPr>
        <p:spPr>
          <a:xfrm>
            <a:off x="548640" y="1005840"/>
            <a:ext cx="548640" cy="73152"/>
          </a:xfrm>
          <a:prstGeom prst="rect">
            <a:avLst/>
          </a:prstGeom>
          <a:solidFill>
            <a:srgbClr val="F96167"/>
          </a:solidFill>
          <a:ln w="12700">
            <a:solidFill>
              <a:srgbClr val="F96167"/>
            </a:solidFill>
            <a:prstDash val="solid"/>
          </a:ln>
        </p:spPr>
      </p:sp>
      <p:sp>
        <p:nvSpPr>
          <p:cNvPr id="5" name="Shape 3">
            <a:extLst>
              <a:ext uri="{FF2B5EF4-FFF2-40B4-BE49-F238E27FC236}">
                <a16:creationId xmlns:a16="http://schemas.microsoft.com/office/drawing/2014/main" id="{7B15BEA7-953C-B1BE-8086-842EF293A953}"/>
              </a:ext>
            </a:extLst>
          </p:cNvPr>
          <p:cNvSpPr/>
          <p:nvPr/>
        </p:nvSpPr>
        <p:spPr>
          <a:xfrm>
            <a:off x="640080" y="1737359"/>
            <a:ext cx="11064240" cy="2377441"/>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6" name="Shape 4">
            <a:extLst>
              <a:ext uri="{FF2B5EF4-FFF2-40B4-BE49-F238E27FC236}">
                <a16:creationId xmlns:a16="http://schemas.microsoft.com/office/drawing/2014/main" id="{99B5F9F1-8C15-0069-AD6B-EF0D90AA9EEB}"/>
              </a:ext>
            </a:extLst>
          </p:cNvPr>
          <p:cNvSpPr/>
          <p:nvPr/>
        </p:nvSpPr>
        <p:spPr>
          <a:xfrm>
            <a:off x="640080" y="1737359"/>
            <a:ext cx="109728" cy="2386585"/>
          </a:xfrm>
          <a:prstGeom prst="rect">
            <a:avLst/>
          </a:prstGeom>
          <a:solidFill>
            <a:srgbClr val="F96167"/>
          </a:solidFill>
          <a:ln w="12700">
            <a:solidFill>
              <a:srgbClr val="F96167"/>
            </a:solidFill>
            <a:prstDash val="solid"/>
          </a:ln>
        </p:spPr>
      </p:sp>
      <p:sp>
        <p:nvSpPr>
          <p:cNvPr id="8" name="Text 6">
            <a:extLst>
              <a:ext uri="{FF2B5EF4-FFF2-40B4-BE49-F238E27FC236}">
                <a16:creationId xmlns:a16="http://schemas.microsoft.com/office/drawing/2014/main" id="{754544CD-BA38-298D-9E19-FD76655FDE91}"/>
              </a:ext>
            </a:extLst>
          </p:cNvPr>
          <p:cNvSpPr/>
          <p:nvPr/>
        </p:nvSpPr>
        <p:spPr>
          <a:xfrm>
            <a:off x="868680" y="201168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0" name="Text 8">
            <a:extLst>
              <a:ext uri="{FF2B5EF4-FFF2-40B4-BE49-F238E27FC236}">
                <a16:creationId xmlns:a16="http://schemas.microsoft.com/office/drawing/2014/main" id="{F078DA92-92B3-73EB-4237-A9CC8311A39E}"/>
              </a:ext>
            </a:extLst>
          </p:cNvPr>
          <p:cNvSpPr/>
          <p:nvPr/>
        </p:nvSpPr>
        <p:spPr>
          <a:xfrm>
            <a:off x="1554480" y="2240280"/>
            <a:ext cx="9966960" cy="502920"/>
          </a:xfrm>
          <a:prstGeom prst="rect">
            <a:avLst/>
          </a:prstGeom>
          <a:noFill/>
          <a:ln/>
        </p:spPr>
        <p:txBody>
          <a:bodyPr wrap="square" lIns="0" tIns="0" rIns="0" bIns="0" rtlCol="0" anchor="t"/>
          <a:lstStyle/>
          <a:p>
            <a:r>
              <a:rPr lang="fr-FR" sz="1400" dirty="0"/>
              <a:t>Mise en œuvre concrète d’un insight data sous forme d’action marketing : création d’audience, envoi de campagne, personnalisation de message. Après un </a:t>
            </a:r>
            <a:r>
              <a:rPr lang="fr-FR" sz="1400" dirty="0" err="1"/>
              <a:t>overlap</a:t>
            </a:r>
            <a:r>
              <a:rPr lang="fr-FR" sz="1400" dirty="0"/>
              <a:t> dans une DCR, l’activation consiste à pousser le segment identifié vers un DSP (The Trade Desk, DV360) ou un canal direct (email, push) pour cibler les bons profils. </a:t>
            </a:r>
            <a:endParaRPr lang="en-US" sz="1400" dirty="0"/>
          </a:p>
        </p:txBody>
      </p:sp>
      <p:sp>
        <p:nvSpPr>
          <p:cNvPr id="29" name="Shape 27">
            <a:extLst>
              <a:ext uri="{FF2B5EF4-FFF2-40B4-BE49-F238E27FC236}">
                <a16:creationId xmlns:a16="http://schemas.microsoft.com/office/drawing/2014/main" id="{BC28032E-00A2-2753-3EF9-F6DB5C1D65B8}"/>
              </a:ext>
            </a:extLst>
          </p:cNvPr>
          <p:cNvSpPr/>
          <p:nvPr/>
        </p:nvSpPr>
        <p:spPr>
          <a:xfrm>
            <a:off x="0" y="6583680"/>
            <a:ext cx="12191695" cy="274320"/>
          </a:xfrm>
          <a:prstGeom prst="rect">
            <a:avLst/>
          </a:prstGeom>
          <a:solidFill>
            <a:srgbClr val="0B1F3A"/>
          </a:solidFill>
          <a:ln w="12700">
            <a:solidFill>
              <a:srgbClr val="0B1F3A"/>
            </a:solidFill>
            <a:prstDash val="solid"/>
          </a:ln>
        </p:spPr>
      </p:sp>
      <p:sp>
        <p:nvSpPr>
          <p:cNvPr id="30" name="Text 28">
            <a:extLst>
              <a:ext uri="{FF2B5EF4-FFF2-40B4-BE49-F238E27FC236}">
                <a16:creationId xmlns:a16="http://schemas.microsoft.com/office/drawing/2014/main" id="{8442A55F-913F-34B6-E8CA-634B291912CB}"/>
              </a:ext>
            </a:extLst>
          </p:cNvPr>
          <p:cNvSpPr/>
          <p:nvPr/>
        </p:nvSpPr>
        <p:spPr>
          <a:xfrm>
            <a:off x="365760" y="6601968"/>
            <a:ext cx="822960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Session 1  Comprendre les DCR</a:t>
            </a:r>
            <a:endParaRPr lang="en-US" sz="1000" dirty="0"/>
          </a:p>
        </p:txBody>
      </p:sp>
      <p:sp>
        <p:nvSpPr>
          <p:cNvPr id="31" name="Text 29">
            <a:extLst>
              <a:ext uri="{FF2B5EF4-FFF2-40B4-BE49-F238E27FC236}">
                <a16:creationId xmlns:a16="http://schemas.microsoft.com/office/drawing/2014/main" id="{8259FC61-6929-454F-DECE-43CD98BAFB6F}"/>
              </a:ext>
            </a:extLst>
          </p:cNvPr>
          <p:cNvSpPr/>
          <p:nvPr/>
        </p:nvSpPr>
        <p:spPr>
          <a:xfrm>
            <a:off x="11551615" y="6601968"/>
            <a:ext cx="365760" cy="237744"/>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13</a:t>
            </a:r>
            <a:endParaRPr lang="en-US" sz="1000" dirty="0"/>
          </a:p>
        </p:txBody>
      </p:sp>
    </p:spTree>
    <p:extLst>
      <p:ext uri="{BB962C8B-B14F-4D97-AF65-F5344CB8AC3E}">
        <p14:creationId xmlns:p14="http://schemas.microsoft.com/office/powerpoint/2010/main" val="38951891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47F40-0A99-3C94-8F9F-96C789C3965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7DB7536-D8D3-0347-2906-7464BBB7A4C3}"/>
              </a:ext>
            </a:extLst>
          </p:cNvPr>
          <p:cNvSpPr/>
          <p:nvPr/>
        </p:nvSpPr>
        <p:spPr>
          <a:xfrm>
            <a:off x="548640" y="411480"/>
            <a:ext cx="11064240" cy="731520"/>
          </a:xfrm>
          <a:prstGeom prst="rect">
            <a:avLst/>
          </a:prstGeom>
          <a:noFill/>
          <a:ln/>
        </p:spPr>
        <p:txBody>
          <a:bodyPr wrap="square" lIns="0" tIns="0" rIns="0" bIns="0" rtlCol="0" anchor="ctr"/>
          <a:lstStyle/>
          <a:p>
            <a:r>
              <a:rPr lang="fr-FR" sz="3200" b="1" dirty="0"/>
              <a:t>Mesure d’attention </a:t>
            </a:r>
            <a:endParaRPr lang="en-US" sz="3200" b="1" dirty="0"/>
          </a:p>
        </p:txBody>
      </p:sp>
      <p:sp>
        <p:nvSpPr>
          <p:cNvPr id="3" name="Shape 1">
            <a:extLst>
              <a:ext uri="{FF2B5EF4-FFF2-40B4-BE49-F238E27FC236}">
                <a16:creationId xmlns:a16="http://schemas.microsoft.com/office/drawing/2014/main" id="{3E688A87-8A79-AA52-E795-3BB8367D61B1}"/>
              </a:ext>
            </a:extLst>
          </p:cNvPr>
          <p:cNvSpPr/>
          <p:nvPr/>
        </p:nvSpPr>
        <p:spPr>
          <a:xfrm>
            <a:off x="548640" y="1005840"/>
            <a:ext cx="548640" cy="73152"/>
          </a:xfrm>
          <a:prstGeom prst="rect">
            <a:avLst/>
          </a:prstGeom>
          <a:solidFill>
            <a:srgbClr val="F96167"/>
          </a:solidFill>
          <a:ln w="12700">
            <a:solidFill>
              <a:srgbClr val="F96167"/>
            </a:solidFill>
            <a:prstDash val="solid"/>
          </a:ln>
        </p:spPr>
      </p:sp>
      <p:sp>
        <p:nvSpPr>
          <p:cNvPr id="5" name="Shape 3">
            <a:extLst>
              <a:ext uri="{FF2B5EF4-FFF2-40B4-BE49-F238E27FC236}">
                <a16:creationId xmlns:a16="http://schemas.microsoft.com/office/drawing/2014/main" id="{439AA7E3-D6FF-6259-20D7-81ADEC2F2E89}"/>
              </a:ext>
            </a:extLst>
          </p:cNvPr>
          <p:cNvSpPr/>
          <p:nvPr/>
        </p:nvSpPr>
        <p:spPr>
          <a:xfrm>
            <a:off x="640080" y="1737359"/>
            <a:ext cx="11064240" cy="2377441"/>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6" name="Shape 4">
            <a:extLst>
              <a:ext uri="{FF2B5EF4-FFF2-40B4-BE49-F238E27FC236}">
                <a16:creationId xmlns:a16="http://schemas.microsoft.com/office/drawing/2014/main" id="{D794D6AB-070A-EC34-5EAA-EA0D041B276C}"/>
              </a:ext>
            </a:extLst>
          </p:cNvPr>
          <p:cNvSpPr/>
          <p:nvPr/>
        </p:nvSpPr>
        <p:spPr>
          <a:xfrm>
            <a:off x="640080" y="1737359"/>
            <a:ext cx="109728" cy="2386585"/>
          </a:xfrm>
          <a:prstGeom prst="rect">
            <a:avLst/>
          </a:prstGeom>
          <a:solidFill>
            <a:srgbClr val="F96167"/>
          </a:solidFill>
          <a:ln w="12700">
            <a:solidFill>
              <a:srgbClr val="F96167"/>
            </a:solidFill>
            <a:prstDash val="solid"/>
          </a:ln>
        </p:spPr>
      </p:sp>
      <p:sp>
        <p:nvSpPr>
          <p:cNvPr id="8" name="Text 6">
            <a:extLst>
              <a:ext uri="{FF2B5EF4-FFF2-40B4-BE49-F238E27FC236}">
                <a16:creationId xmlns:a16="http://schemas.microsoft.com/office/drawing/2014/main" id="{60B05B90-47AE-6D7A-5200-088F0637BF58}"/>
              </a:ext>
            </a:extLst>
          </p:cNvPr>
          <p:cNvSpPr/>
          <p:nvPr/>
        </p:nvSpPr>
        <p:spPr>
          <a:xfrm>
            <a:off x="868680" y="201168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0" name="Text 8">
            <a:extLst>
              <a:ext uri="{FF2B5EF4-FFF2-40B4-BE49-F238E27FC236}">
                <a16:creationId xmlns:a16="http://schemas.microsoft.com/office/drawing/2014/main" id="{9B8AFC92-8B81-8E1C-5758-79734198D813}"/>
              </a:ext>
            </a:extLst>
          </p:cNvPr>
          <p:cNvSpPr/>
          <p:nvPr/>
        </p:nvSpPr>
        <p:spPr>
          <a:xfrm>
            <a:off x="1554480" y="2240280"/>
            <a:ext cx="9966960" cy="502920"/>
          </a:xfrm>
          <a:prstGeom prst="rect">
            <a:avLst/>
          </a:prstGeom>
          <a:noFill/>
          <a:ln/>
        </p:spPr>
        <p:txBody>
          <a:bodyPr wrap="square" lIns="0" tIns="0" rIns="0" bIns="0" rtlCol="0" anchor="t"/>
          <a:lstStyle/>
          <a:p>
            <a:r>
              <a:rPr lang="fr-FR" sz="1400" dirty="0"/>
              <a:t>Métrique qui va au-delà de la simple visibilité (</a:t>
            </a:r>
            <a:r>
              <a:rPr lang="fr-FR" sz="1400" dirty="0" err="1"/>
              <a:t>viewability</a:t>
            </a:r>
            <a:r>
              <a:rPr lang="fr-FR" sz="1400" dirty="0"/>
              <a:t>) pour quantifier le temps et l’engagement réel d’un utilisateur face à une publicité. Mesurée en « secondes d’attention » via </a:t>
            </a:r>
            <a:r>
              <a:rPr lang="fr-FR" sz="1400" dirty="0" err="1"/>
              <a:t>eye-tracking</a:t>
            </a:r>
            <a:r>
              <a:rPr lang="fr-FR" sz="1400" dirty="0"/>
              <a:t>, scroll-</a:t>
            </a:r>
            <a:r>
              <a:rPr lang="fr-FR" sz="1400" dirty="0" err="1"/>
              <a:t>depth</a:t>
            </a:r>
            <a:r>
              <a:rPr lang="fr-FR" sz="1400" dirty="0"/>
              <a:t>, interaction. Des acteurs comme </a:t>
            </a:r>
            <a:r>
              <a:rPr lang="fr-FR" sz="1400" dirty="0" err="1"/>
              <a:t>Adelaide</a:t>
            </a:r>
            <a:r>
              <a:rPr lang="fr-FR" sz="1400" dirty="0"/>
              <a:t>, Lumen, IAS proposent des scores d’attention. Dans une DCR, on peut croiser ces scores avec les données de conversion pour savoir si l’attention génère du business. </a:t>
            </a:r>
            <a:endParaRPr lang="en-US" sz="1400" dirty="0"/>
          </a:p>
        </p:txBody>
      </p:sp>
      <p:sp>
        <p:nvSpPr>
          <p:cNvPr id="29" name="Shape 27">
            <a:extLst>
              <a:ext uri="{FF2B5EF4-FFF2-40B4-BE49-F238E27FC236}">
                <a16:creationId xmlns:a16="http://schemas.microsoft.com/office/drawing/2014/main" id="{F0F8A6F2-27C8-FE4E-64B3-E7DA312772EF}"/>
              </a:ext>
            </a:extLst>
          </p:cNvPr>
          <p:cNvSpPr/>
          <p:nvPr/>
        </p:nvSpPr>
        <p:spPr>
          <a:xfrm>
            <a:off x="0" y="6583680"/>
            <a:ext cx="12191695" cy="274320"/>
          </a:xfrm>
          <a:prstGeom prst="rect">
            <a:avLst/>
          </a:prstGeom>
          <a:solidFill>
            <a:srgbClr val="0B1F3A"/>
          </a:solidFill>
          <a:ln w="12700">
            <a:solidFill>
              <a:srgbClr val="0B1F3A"/>
            </a:solidFill>
            <a:prstDash val="solid"/>
          </a:ln>
        </p:spPr>
      </p:sp>
      <p:sp>
        <p:nvSpPr>
          <p:cNvPr id="30" name="Text 28">
            <a:extLst>
              <a:ext uri="{FF2B5EF4-FFF2-40B4-BE49-F238E27FC236}">
                <a16:creationId xmlns:a16="http://schemas.microsoft.com/office/drawing/2014/main" id="{EAE3D289-7BC6-D787-9AA8-16548B79AE4C}"/>
              </a:ext>
            </a:extLst>
          </p:cNvPr>
          <p:cNvSpPr/>
          <p:nvPr/>
        </p:nvSpPr>
        <p:spPr>
          <a:xfrm>
            <a:off x="365760" y="6601968"/>
            <a:ext cx="822960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Session 1  Comprendre les DCR</a:t>
            </a:r>
            <a:endParaRPr lang="en-US" sz="1000" dirty="0"/>
          </a:p>
        </p:txBody>
      </p:sp>
      <p:sp>
        <p:nvSpPr>
          <p:cNvPr id="31" name="Text 29">
            <a:extLst>
              <a:ext uri="{FF2B5EF4-FFF2-40B4-BE49-F238E27FC236}">
                <a16:creationId xmlns:a16="http://schemas.microsoft.com/office/drawing/2014/main" id="{57334B11-D7DC-08EF-2375-E402AE1E2604}"/>
              </a:ext>
            </a:extLst>
          </p:cNvPr>
          <p:cNvSpPr/>
          <p:nvPr/>
        </p:nvSpPr>
        <p:spPr>
          <a:xfrm>
            <a:off x="11551615" y="6601968"/>
            <a:ext cx="365760" cy="237744"/>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13</a:t>
            </a:r>
            <a:endParaRPr lang="en-US" sz="1000" dirty="0"/>
          </a:p>
        </p:txBody>
      </p:sp>
    </p:spTree>
    <p:extLst>
      <p:ext uri="{BB962C8B-B14F-4D97-AF65-F5344CB8AC3E}">
        <p14:creationId xmlns:p14="http://schemas.microsoft.com/office/powerpoint/2010/main" val="40616163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FD679-4C54-55F9-90FA-5BCD4F39AFB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B60F4EE-36B1-5294-8C18-4FA948FA4981}"/>
              </a:ext>
            </a:extLst>
          </p:cNvPr>
          <p:cNvSpPr/>
          <p:nvPr/>
        </p:nvSpPr>
        <p:spPr>
          <a:xfrm>
            <a:off x="548640" y="411480"/>
            <a:ext cx="11064240" cy="731520"/>
          </a:xfrm>
          <a:prstGeom prst="rect">
            <a:avLst/>
          </a:prstGeom>
          <a:noFill/>
          <a:ln/>
        </p:spPr>
        <p:txBody>
          <a:bodyPr wrap="square" lIns="0" tIns="0" rIns="0" bIns="0" rtlCol="0" anchor="ctr"/>
          <a:lstStyle/>
          <a:p>
            <a:r>
              <a:rPr lang="fr-FR" sz="3200" b="1" dirty="0" err="1"/>
              <a:t>Incrémentalité</a:t>
            </a:r>
            <a:r>
              <a:rPr lang="fr-FR" sz="3200" b="1" dirty="0"/>
              <a:t> (</a:t>
            </a:r>
            <a:r>
              <a:rPr lang="fr-FR" sz="3200" b="1" dirty="0" err="1"/>
              <a:t>Incrementality</a:t>
            </a:r>
            <a:r>
              <a:rPr lang="fr-FR" sz="3200" b="1" dirty="0"/>
              <a:t>)</a:t>
            </a:r>
            <a:endParaRPr lang="en-US" sz="3200" b="1" dirty="0"/>
          </a:p>
        </p:txBody>
      </p:sp>
      <p:sp>
        <p:nvSpPr>
          <p:cNvPr id="3" name="Shape 1">
            <a:extLst>
              <a:ext uri="{FF2B5EF4-FFF2-40B4-BE49-F238E27FC236}">
                <a16:creationId xmlns:a16="http://schemas.microsoft.com/office/drawing/2014/main" id="{3FED4FE8-5081-FF56-7AC6-F1FA48943425}"/>
              </a:ext>
            </a:extLst>
          </p:cNvPr>
          <p:cNvSpPr/>
          <p:nvPr/>
        </p:nvSpPr>
        <p:spPr>
          <a:xfrm>
            <a:off x="548640" y="1005840"/>
            <a:ext cx="548640" cy="73152"/>
          </a:xfrm>
          <a:prstGeom prst="rect">
            <a:avLst/>
          </a:prstGeom>
          <a:solidFill>
            <a:srgbClr val="F96167"/>
          </a:solidFill>
          <a:ln w="12700">
            <a:solidFill>
              <a:srgbClr val="F96167"/>
            </a:solidFill>
            <a:prstDash val="solid"/>
          </a:ln>
        </p:spPr>
      </p:sp>
      <p:sp>
        <p:nvSpPr>
          <p:cNvPr id="5" name="Shape 3">
            <a:extLst>
              <a:ext uri="{FF2B5EF4-FFF2-40B4-BE49-F238E27FC236}">
                <a16:creationId xmlns:a16="http://schemas.microsoft.com/office/drawing/2014/main" id="{6F0EDEEB-103F-3602-48C6-BC9A3603FF40}"/>
              </a:ext>
            </a:extLst>
          </p:cNvPr>
          <p:cNvSpPr/>
          <p:nvPr/>
        </p:nvSpPr>
        <p:spPr>
          <a:xfrm>
            <a:off x="640080" y="1737359"/>
            <a:ext cx="11064240" cy="2377441"/>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6" name="Shape 4">
            <a:extLst>
              <a:ext uri="{FF2B5EF4-FFF2-40B4-BE49-F238E27FC236}">
                <a16:creationId xmlns:a16="http://schemas.microsoft.com/office/drawing/2014/main" id="{B65F58C7-A50F-F7A7-7507-1F4DC573A7B7}"/>
              </a:ext>
            </a:extLst>
          </p:cNvPr>
          <p:cNvSpPr/>
          <p:nvPr/>
        </p:nvSpPr>
        <p:spPr>
          <a:xfrm>
            <a:off x="640080" y="1737359"/>
            <a:ext cx="109728" cy="2386585"/>
          </a:xfrm>
          <a:prstGeom prst="rect">
            <a:avLst/>
          </a:prstGeom>
          <a:solidFill>
            <a:srgbClr val="F96167"/>
          </a:solidFill>
          <a:ln w="12700">
            <a:solidFill>
              <a:srgbClr val="F96167"/>
            </a:solidFill>
            <a:prstDash val="solid"/>
          </a:ln>
        </p:spPr>
      </p:sp>
      <p:sp>
        <p:nvSpPr>
          <p:cNvPr id="8" name="Text 6">
            <a:extLst>
              <a:ext uri="{FF2B5EF4-FFF2-40B4-BE49-F238E27FC236}">
                <a16:creationId xmlns:a16="http://schemas.microsoft.com/office/drawing/2014/main" id="{8B2EB820-EF50-1355-DE61-C8E15EB3D1AF}"/>
              </a:ext>
            </a:extLst>
          </p:cNvPr>
          <p:cNvSpPr/>
          <p:nvPr/>
        </p:nvSpPr>
        <p:spPr>
          <a:xfrm>
            <a:off x="868680" y="201168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0" name="Text 8">
            <a:extLst>
              <a:ext uri="{FF2B5EF4-FFF2-40B4-BE49-F238E27FC236}">
                <a16:creationId xmlns:a16="http://schemas.microsoft.com/office/drawing/2014/main" id="{D1D76C26-F56B-CDDA-86EC-22D4BBB07056}"/>
              </a:ext>
            </a:extLst>
          </p:cNvPr>
          <p:cNvSpPr/>
          <p:nvPr/>
        </p:nvSpPr>
        <p:spPr>
          <a:xfrm>
            <a:off x="1554480" y="2240280"/>
            <a:ext cx="9966960" cy="502920"/>
          </a:xfrm>
          <a:prstGeom prst="rect">
            <a:avLst/>
          </a:prstGeom>
          <a:noFill/>
          <a:ln/>
        </p:spPr>
        <p:txBody>
          <a:bodyPr wrap="square" lIns="0" tIns="0" rIns="0" bIns="0" rtlCol="0" anchor="t"/>
          <a:lstStyle/>
          <a:p>
            <a:r>
              <a:rPr lang="fr-FR" sz="1600" dirty="0"/>
              <a:t>Mesure la contribution NETTE d’une campagne : combien de conversions n’auraient PAS eu lieu sans cette campagne ? On compare un groupe exposé (test) à un groupe non-exposé (contrôle) pour isoler le « lift » réel. C’est la mesure la plus fiable en marketing, car elle élimine le biais de sélection. Les DCR comme Meta AA et ADH proposent des « Lift Tests » natifs.</a:t>
            </a:r>
            <a:endParaRPr lang="en-US" sz="1600" dirty="0"/>
          </a:p>
        </p:txBody>
      </p:sp>
      <p:sp>
        <p:nvSpPr>
          <p:cNvPr id="29" name="Shape 27">
            <a:extLst>
              <a:ext uri="{FF2B5EF4-FFF2-40B4-BE49-F238E27FC236}">
                <a16:creationId xmlns:a16="http://schemas.microsoft.com/office/drawing/2014/main" id="{BFD0E3ED-F8D3-9D93-9447-D7315DFEC9AE}"/>
              </a:ext>
            </a:extLst>
          </p:cNvPr>
          <p:cNvSpPr/>
          <p:nvPr/>
        </p:nvSpPr>
        <p:spPr>
          <a:xfrm>
            <a:off x="0" y="6583680"/>
            <a:ext cx="12191695" cy="274320"/>
          </a:xfrm>
          <a:prstGeom prst="rect">
            <a:avLst/>
          </a:prstGeom>
          <a:solidFill>
            <a:srgbClr val="0B1F3A"/>
          </a:solidFill>
          <a:ln w="12700">
            <a:solidFill>
              <a:srgbClr val="0B1F3A"/>
            </a:solidFill>
            <a:prstDash val="solid"/>
          </a:ln>
        </p:spPr>
      </p:sp>
      <p:sp>
        <p:nvSpPr>
          <p:cNvPr id="30" name="Text 28">
            <a:extLst>
              <a:ext uri="{FF2B5EF4-FFF2-40B4-BE49-F238E27FC236}">
                <a16:creationId xmlns:a16="http://schemas.microsoft.com/office/drawing/2014/main" id="{0952430B-BC21-BB90-6463-16A61561CF3E}"/>
              </a:ext>
            </a:extLst>
          </p:cNvPr>
          <p:cNvSpPr/>
          <p:nvPr/>
        </p:nvSpPr>
        <p:spPr>
          <a:xfrm>
            <a:off x="365760" y="6601968"/>
            <a:ext cx="822960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Session 1  Comprendre les DCR</a:t>
            </a:r>
            <a:endParaRPr lang="en-US" sz="1000" dirty="0"/>
          </a:p>
        </p:txBody>
      </p:sp>
      <p:sp>
        <p:nvSpPr>
          <p:cNvPr id="31" name="Text 29">
            <a:extLst>
              <a:ext uri="{FF2B5EF4-FFF2-40B4-BE49-F238E27FC236}">
                <a16:creationId xmlns:a16="http://schemas.microsoft.com/office/drawing/2014/main" id="{E6ABCD9C-6008-65B0-6B5A-BB9AA8C40625}"/>
              </a:ext>
            </a:extLst>
          </p:cNvPr>
          <p:cNvSpPr/>
          <p:nvPr/>
        </p:nvSpPr>
        <p:spPr>
          <a:xfrm>
            <a:off x="11551615" y="6601968"/>
            <a:ext cx="365760" cy="237744"/>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13</a:t>
            </a:r>
            <a:endParaRPr lang="en-US" sz="1000" dirty="0"/>
          </a:p>
        </p:txBody>
      </p:sp>
    </p:spTree>
    <p:extLst>
      <p:ext uri="{BB962C8B-B14F-4D97-AF65-F5344CB8AC3E}">
        <p14:creationId xmlns:p14="http://schemas.microsoft.com/office/powerpoint/2010/main" val="30148861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55FA4-3168-FCF2-74EA-F3064137D45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CE541EB-AD81-DA56-ABFA-F016E0D27F52}"/>
              </a:ext>
            </a:extLst>
          </p:cNvPr>
          <p:cNvSpPr/>
          <p:nvPr/>
        </p:nvSpPr>
        <p:spPr>
          <a:xfrm>
            <a:off x="548640" y="411480"/>
            <a:ext cx="11064240" cy="731520"/>
          </a:xfrm>
          <a:prstGeom prst="rect">
            <a:avLst/>
          </a:prstGeom>
          <a:noFill/>
          <a:ln/>
        </p:spPr>
        <p:txBody>
          <a:bodyPr wrap="square" lIns="0" tIns="0" rIns="0" bIns="0" rtlCol="0" anchor="ctr"/>
          <a:lstStyle/>
          <a:p>
            <a:pPr marL="0" indent="0" algn="l">
              <a:buNone/>
            </a:pPr>
            <a:r>
              <a:rPr lang="en-US" sz="3200" b="1" dirty="0">
                <a:solidFill>
                  <a:srgbClr val="0B1F3A"/>
                </a:solidFill>
                <a:latin typeface="Calibri" pitchFamily="34" charset="0"/>
                <a:ea typeface="Calibri" pitchFamily="34" charset="-122"/>
                <a:cs typeface="Calibri" pitchFamily="34" charset="-120"/>
              </a:rPr>
              <a:t>Data Lake / Data Science / Data Viz</a:t>
            </a:r>
            <a:endParaRPr lang="en-US" sz="3200" dirty="0"/>
          </a:p>
        </p:txBody>
      </p:sp>
      <p:sp>
        <p:nvSpPr>
          <p:cNvPr id="3" name="Shape 1">
            <a:extLst>
              <a:ext uri="{FF2B5EF4-FFF2-40B4-BE49-F238E27FC236}">
                <a16:creationId xmlns:a16="http://schemas.microsoft.com/office/drawing/2014/main" id="{6E99F4F7-3107-E3E1-1791-618F1C15318E}"/>
              </a:ext>
            </a:extLst>
          </p:cNvPr>
          <p:cNvSpPr/>
          <p:nvPr/>
        </p:nvSpPr>
        <p:spPr>
          <a:xfrm>
            <a:off x="548640" y="1005840"/>
            <a:ext cx="548640" cy="73152"/>
          </a:xfrm>
          <a:prstGeom prst="rect">
            <a:avLst/>
          </a:prstGeom>
          <a:solidFill>
            <a:srgbClr val="F96167"/>
          </a:solidFill>
          <a:ln w="12700">
            <a:solidFill>
              <a:srgbClr val="F96167"/>
            </a:solidFill>
            <a:prstDash val="solid"/>
          </a:ln>
        </p:spPr>
      </p:sp>
      <p:sp>
        <p:nvSpPr>
          <p:cNvPr id="29" name="Shape 27">
            <a:extLst>
              <a:ext uri="{FF2B5EF4-FFF2-40B4-BE49-F238E27FC236}">
                <a16:creationId xmlns:a16="http://schemas.microsoft.com/office/drawing/2014/main" id="{3367C3A2-4FA0-F378-F68A-70B961705AE2}"/>
              </a:ext>
            </a:extLst>
          </p:cNvPr>
          <p:cNvSpPr/>
          <p:nvPr/>
        </p:nvSpPr>
        <p:spPr>
          <a:xfrm>
            <a:off x="0" y="6583680"/>
            <a:ext cx="12191695" cy="274320"/>
          </a:xfrm>
          <a:prstGeom prst="rect">
            <a:avLst/>
          </a:prstGeom>
          <a:solidFill>
            <a:srgbClr val="0B1F3A"/>
          </a:solidFill>
          <a:ln w="12700">
            <a:solidFill>
              <a:srgbClr val="0B1F3A"/>
            </a:solidFill>
            <a:prstDash val="solid"/>
          </a:ln>
        </p:spPr>
      </p:sp>
      <p:sp>
        <p:nvSpPr>
          <p:cNvPr id="30" name="Text 28">
            <a:extLst>
              <a:ext uri="{FF2B5EF4-FFF2-40B4-BE49-F238E27FC236}">
                <a16:creationId xmlns:a16="http://schemas.microsoft.com/office/drawing/2014/main" id="{8F18A9B8-B621-DE56-9D1B-3A6F1DE86C02}"/>
              </a:ext>
            </a:extLst>
          </p:cNvPr>
          <p:cNvSpPr/>
          <p:nvPr/>
        </p:nvSpPr>
        <p:spPr>
          <a:xfrm>
            <a:off x="365760" y="6601968"/>
            <a:ext cx="822960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Session 1  Comprendre les DCR</a:t>
            </a:r>
            <a:endParaRPr lang="en-US" sz="1000" dirty="0"/>
          </a:p>
        </p:txBody>
      </p:sp>
      <p:sp>
        <p:nvSpPr>
          <p:cNvPr id="31" name="Text 29">
            <a:extLst>
              <a:ext uri="{FF2B5EF4-FFF2-40B4-BE49-F238E27FC236}">
                <a16:creationId xmlns:a16="http://schemas.microsoft.com/office/drawing/2014/main" id="{5991AF4F-4C9B-FBF9-7EE0-41913D2F208D}"/>
              </a:ext>
            </a:extLst>
          </p:cNvPr>
          <p:cNvSpPr/>
          <p:nvPr/>
        </p:nvSpPr>
        <p:spPr>
          <a:xfrm>
            <a:off x="11551615" y="6601968"/>
            <a:ext cx="365760" cy="237744"/>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13</a:t>
            </a:r>
            <a:endParaRPr lang="en-US" sz="1000" dirty="0"/>
          </a:p>
        </p:txBody>
      </p:sp>
      <p:sp>
        <p:nvSpPr>
          <p:cNvPr id="32" name="Shape 3">
            <a:extLst>
              <a:ext uri="{FF2B5EF4-FFF2-40B4-BE49-F238E27FC236}">
                <a16:creationId xmlns:a16="http://schemas.microsoft.com/office/drawing/2014/main" id="{D42539B3-78F6-ACBE-E782-2F0D3C6908BC}"/>
              </a:ext>
            </a:extLst>
          </p:cNvPr>
          <p:cNvSpPr/>
          <p:nvPr/>
        </p:nvSpPr>
        <p:spPr>
          <a:xfrm>
            <a:off x="640080" y="1737359"/>
            <a:ext cx="11064240" cy="2377441"/>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33" name="Shape 4">
            <a:extLst>
              <a:ext uri="{FF2B5EF4-FFF2-40B4-BE49-F238E27FC236}">
                <a16:creationId xmlns:a16="http://schemas.microsoft.com/office/drawing/2014/main" id="{99954672-4782-CD68-F1A0-BF9DB7FDF0FA}"/>
              </a:ext>
            </a:extLst>
          </p:cNvPr>
          <p:cNvSpPr/>
          <p:nvPr/>
        </p:nvSpPr>
        <p:spPr>
          <a:xfrm>
            <a:off x="640080" y="1737359"/>
            <a:ext cx="109728" cy="2386585"/>
          </a:xfrm>
          <a:prstGeom prst="rect">
            <a:avLst/>
          </a:prstGeom>
          <a:solidFill>
            <a:srgbClr val="F96167"/>
          </a:solidFill>
          <a:ln w="12700">
            <a:solidFill>
              <a:srgbClr val="F96167"/>
            </a:solidFill>
            <a:prstDash val="solid"/>
          </a:ln>
        </p:spPr>
      </p:sp>
      <p:sp>
        <p:nvSpPr>
          <p:cNvPr id="34" name="Text 6">
            <a:extLst>
              <a:ext uri="{FF2B5EF4-FFF2-40B4-BE49-F238E27FC236}">
                <a16:creationId xmlns:a16="http://schemas.microsoft.com/office/drawing/2014/main" id="{44B2CBD1-54FC-6864-8EBC-FB15010C29FD}"/>
              </a:ext>
            </a:extLst>
          </p:cNvPr>
          <p:cNvSpPr/>
          <p:nvPr/>
        </p:nvSpPr>
        <p:spPr>
          <a:xfrm>
            <a:off x="868680" y="201168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35" name="Text 8">
            <a:extLst>
              <a:ext uri="{FF2B5EF4-FFF2-40B4-BE49-F238E27FC236}">
                <a16:creationId xmlns:a16="http://schemas.microsoft.com/office/drawing/2014/main" id="{C6359144-D9A8-37DF-100C-5F560DFB7F05}"/>
              </a:ext>
            </a:extLst>
          </p:cNvPr>
          <p:cNvSpPr/>
          <p:nvPr/>
        </p:nvSpPr>
        <p:spPr>
          <a:xfrm>
            <a:off x="1554480" y="2240280"/>
            <a:ext cx="9966960" cy="502920"/>
          </a:xfrm>
          <a:prstGeom prst="rect">
            <a:avLst/>
          </a:prstGeom>
          <a:noFill/>
          <a:ln/>
        </p:spPr>
        <p:txBody>
          <a:bodyPr wrap="square" lIns="0" tIns="0" rIns="0" bIns="0" rtlCol="0" anchor="t"/>
          <a:lstStyle/>
          <a:p>
            <a:pPr marL="285750" indent="-285750">
              <a:buFont typeface="Wingdings" panose="05000000000000000000" pitchFamily="2" charset="2"/>
              <a:buChar char="Ø"/>
            </a:pPr>
            <a:r>
              <a:rPr lang="fr-FR" sz="1600" dirty="0"/>
              <a:t>Data LAKE</a:t>
            </a:r>
          </a:p>
          <a:p>
            <a:pPr marL="285750" indent="-285750">
              <a:buFont typeface="Wingdings" panose="05000000000000000000" pitchFamily="2" charset="2"/>
              <a:buChar char="Ø"/>
            </a:pPr>
            <a:r>
              <a:rPr lang="fr-FR" sz="1600" dirty="0"/>
              <a:t>Data Science</a:t>
            </a:r>
          </a:p>
          <a:p>
            <a:pPr marL="285750" indent="-285750">
              <a:buFont typeface="Wingdings" panose="05000000000000000000" pitchFamily="2" charset="2"/>
              <a:buChar char="Ø"/>
            </a:pPr>
            <a:r>
              <a:rPr lang="fr-FR" sz="1600" dirty="0"/>
              <a:t>Data Visualisation</a:t>
            </a:r>
          </a:p>
          <a:p>
            <a:endParaRPr lang="en-US" sz="1600" dirty="0"/>
          </a:p>
        </p:txBody>
      </p:sp>
    </p:spTree>
    <p:extLst>
      <p:ext uri="{BB962C8B-B14F-4D97-AF65-F5344CB8AC3E}">
        <p14:creationId xmlns:p14="http://schemas.microsoft.com/office/powerpoint/2010/main" val="3982843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13B5C-98CB-B45B-DC0C-B935703B11E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BDA6735-38AC-5162-8BEA-94D17F06DD51}"/>
              </a:ext>
            </a:extLst>
          </p:cNvPr>
          <p:cNvSpPr/>
          <p:nvPr/>
        </p:nvSpPr>
        <p:spPr>
          <a:xfrm>
            <a:off x="548640" y="411480"/>
            <a:ext cx="11064240" cy="731520"/>
          </a:xfrm>
          <a:prstGeom prst="rect">
            <a:avLst/>
          </a:prstGeom>
          <a:noFill/>
          <a:ln/>
        </p:spPr>
        <p:txBody>
          <a:bodyPr wrap="square" lIns="0" tIns="0" rIns="0" bIns="0" rtlCol="0" anchor="ctr"/>
          <a:lstStyle/>
          <a:p>
            <a:r>
              <a:rPr lang="en-US" sz="3200" b="1" dirty="0" err="1">
                <a:solidFill>
                  <a:srgbClr val="0B1F3A"/>
                </a:solidFill>
                <a:latin typeface="Calibri" pitchFamily="34" charset="0"/>
                <a:ea typeface="Calibri" pitchFamily="34" charset="-122"/>
                <a:cs typeface="Calibri" pitchFamily="34" charset="-120"/>
              </a:rPr>
              <a:t>Stratégies</a:t>
            </a:r>
            <a:r>
              <a:rPr lang="en-US" sz="3200" b="1" dirty="0">
                <a:solidFill>
                  <a:srgbClr val="0B1F3A"/>
                </a:solidFill>
                <a:latin typeface="Calibri" pitchFamily="34" charset="0"/>
                <a:ea typeface="Calibri" pitchFamily="34" charset="-122"/>
                <a:cs typeface="Calibri" pitchFamily="34" charset="-120"/>
              </a:rPr>
              <a:t> </a:t>
            </a:r>
            <a:r>
              <a:rPr lang="en-US" sz="3200" b="1" dirty="0" err="1">
                <a:solidFill>
                  <a:srgbClr val="0B1F3A"/>
                </a:solidFill>
                <a:latin typeface="Calibri" pitchFamily="34" charset="0"/>
                <a:ea typeface="Calibri" pitchFamily="34" charset="-122"/>
                <a:cs typeface="Calibri" pitchFamily="34" charset="-120"/>
              </a:rPr>
              <a:t>d’activation</a:t>
            </a:r>
            <a:r>
              <a:rPr lang="en-US" sz="3200" b="1" dirty="0">
                <a:solidFill>
                  <a:srgbClr val="0B1F3A"/>
                </a:solidFill>
                <a:latin typeface="Calibri" pitchFamily="34" charset="0"/>
                <a:ea typeface="Calibri" pitchFamily="34" charset="-122"/>
                <a:cs typeface="Calibri" pitchFamily="34" charset="-120"/>
              </a:rPr>
              <a:t> :  </a:t>
            </a:r>
            <a:r>
              <a:rPr lang="fr-FR" sz="3200" dirty="0"/>
              <a:t>Audience Extension (Look-</a:t>
            </a:r>
            <a:r>
              <a:rPr lang="fr-FR" sz="3200" dirty="0" err="1"/>
              <a:t>alike</a:t>
            </a:r>
            <a:r>
              <a:rPr lang="fr-FR" sz="3200" dirty="0"/>
              <a:t>) </a:t>
            </a:r>
            <a:r>
              <a:rPr lang="en-US" sz="3200" b="1" dirty="0">
                <a:solidFill>
                  <a:srgbClr val="0B1F3A"/>
                </a:solidFill>
                <a:latin typeface="Calibri" pitchFamily="34" charset="0"/>
                <a:ea typeface="Calibri" pitchFamily="34" charset="-122"/>
                <a:cs typeface="Calibri" pitchFamily="34" charset="-120"/>
              </a:rPr>
              <a:t> </a:t>
            </a:r>
          </a:p>
          <a:p>
            <a:pPr marL="0" indent="0" algn="l">
              <a:buNone/>
            </a:pPr>
            <a:endParaRPr lang="en-US" sz="3200" dirty="0"/>
          </a:p>
        </p:txBody>
      </p:sp>
      <p:sp>
        <p:nvSpPr>
          <p:cNvPr id="3" name="Shape 1">
            <a:extLst>
              <a:ext uri="{FF2B5EF4-FFF2-40B4-BE49-F238E27FC236}">
                <a16:creationId xmlns:a16="http://schemas.microsoft.com/office/drawing/2014/main" id="{902955C8-1613-BABC-A09F-FECD3E536D0B}"/>
              </a:ext>
            </a:extLst>
          </p:cNvPr>
          <p:cNvSpPr/>
          <p:nvPr/>
        </p:nvSpPr>
        <p:spPr>
          <a:xfrm>
            <a:off x="548640" y="1005840"/>
            <a:ext cx="548640" cy="73152"/>
          </a:xfrm>
          <a:prstGeom prst="rect">
            <a:avLst/>
          </a:prstGeom>
          <a:solidFill>
            <a:srgbClr val="F96167"/>
          </a:solidFill>
          <a:ln w="12700">
            <a:solidFill>
              <a:srgbClr val="F96167"/>
            </a:solidFill>
            <a:prstDash val="solid"/>
          </a:ln>
        </p:spPr>
      </p:sp>
      <p:sp>
        <p:nvSpPr>
          <p:cNvPr id="29" name="Shape 27">
            <a:extLst>
              <a:ext uri="{FF2B5EF4-FFF2-40B4-BE49-F238E27FC236}">
                <a16:creationId xmlns:a16="http://schemas.microsoft.com/office/drawing/2014/main" id="{FB21FE1A-6B6B-C067-4C68-2731D5B1C2F6}"/>
              </a:ext>
            </a:extLst>
          </p:cNvPr>
          <p:cNvSpPr/>
          <p:nvPr/>
        </p:nvSpPr>
        <p:spPr>
          <a:xfrm>
            <a:off x="0" y="6583680"/>
            <a:ext cx="12191695" cy="274320"/>
          </a:xfrm>
          <a:prstGeom prst="rect">
            <a:avLst/>
          </a:prstGeom>
          <a:solidFill>
            <a:srgbClr val="0B1F3A"/>
          </a:solidFill>
          <a:ln w="12700">
            <a:solidFill>
              <a:srgbClr val="0B1F3A"/>
            </a:solidFill>
            <a:prstDash val="solid"/>
          </a:ln>
        </p:spPr>
      </p:sp>
      <p:sp>
        <p:nvSpPr>
          <p:cNvPr id="30" name="Text 28">
            <a:extLst>
              <a:ext uri="{FF2B5EF4-FFF2-40B4-BE49-F238E27FC236}">
                <a16:creationId xmlns:a16="http://schemas.microsoft.com/office/drawing/2014/main" id="{3241AF7B-9205-B5FB-690A-A2981D291BD0}"/>
              </a:ext>
            </a:extLst>
          </p:cNvPr>
          <p:cNvSpPr/>
          <p:nvPr/>
        </p:nvSpPr>
        <p:spPr>
          <a:xfrm>
            <a:off x="365760" y="6601968"/>
            <a:ext cx="822960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Session 1  Comprendre les DCR</a:t>
            </a:r>
            <a:endParaRPr lang="en-US" sz="1000" dirty="0"/>
          </a:p>
        </p:txBody>
      </p:sp>
      <p:sp>
        <p:nvSpPr>
          <p:cNvPr id="31" name="Text 29">
            <a:extLst>
              <a:ext uri="{FF2B5EF4-FFF2-40B4-BE49-F238E27FC236}">
                <a16:creationId xmlns:a16="http://schemas.microsoft.com/office/drawing/2014/main" id="{0A579E74-7CA8-BB1D-7165-5053445B180E}"/>
              </a:ext>
            </a:extLst>
          </p:cNvPr>
          <p:cNvSpPr/>
          <p:nvPr/>
        </p:nvSpPr>
        <p:spPr>
          <a:xfrm>
            <a:off x="11551615" y="6601968"/>
            <a:ext cx="365760" cy="237744"/>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13</a:t>
            </a:r>
            <a:endParaRPr lang="en-US" sz="1000" dirty="0"/>
          </a:p>
        </p:txBody>
      </p:sp>
      <p:sp>
        <p:nvSpPr>
          <p:cNvPr id="32" name="Shape 3">
            <a:extLst>
              <a:ext uri="{FF2B5EF4-FFF2-40B4-BE49-F238E27FC236}">
                <a16:creationId xmlns:a16="http://schemas.microsoft.com/office/drawing/2014/main" id="{B82A4475-825A-7E56-E44A-0A04909EEC5A}"/>
              </a:ext>
            </a:extLst>
          </p:cNvPr>
          <p:cNvSpPr/>
          <p:nvPr/>
        </p:nvSpPr>
        <p:spPr>
          <a:xfrm>
            <a:off x="640080" y="1737359"/>
            <a:ext cx="11064240" cy="2377441"/>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33" name="Shape 4">
            <a:extLst>
              <a:ext uri="{FF2B5EF4-FFF2-40B4-BE49-F238E27FC236}">
                <a16:creationId xmlns:a16="http://schemas.microsoft.com/office/drawing/2014/main" id="{64157C54-CE8B-ECE5-B343-FD61B38A6653}"/>
              </a:ext>
            </a:extLst>
          </p:cNvPr>
          <p:cNvSpPr/>
          <p:nvPr/>
        </p:nvSpPr>
        <p:spPr>
          <a:xfrm>
            <a:off x="640080" y="1737359"/>
            <a:ext cx="109728" cy="2386585"/>
          </a:xfrm>
          <a:prstGeom prst="rect">
            <a:avLst/>
          </a:prstGeom>
          <a:solidFill>
            <a:srgbClr val="F96167"/>
          </a:solidFill>
          <a:ln w="12700">
            <a:solidFill>
              <a:srgbClr val="F96167"/>
            </a:solidFill>
            <a:prstDash val="solid"/>
          </a:ln>
        </p:spPr>
      </p:sp>
      <p:sp>
        <p:nvSpPr>
          <p:cNvPr id="34" name="Text 6">
            <a:extLst>
              <a:ext uri="{FF2B5EF4-FFF2-40B4-BE49-F238E27FC236}">
                <a16:creationId xmlns:a16="http://schemas.microsoft.com/office/drawing/2014/main" id="{422A48D4-7E3E-1FD8-69CB-96E33D8C4FBD}"/>
              </a:ext>
            </a:extLst>
          </p:cNvPr>
          <p:cNvSpPr/>
          <p:nvPr/>
        </p:nvSpPr>
        <p:spPr>
          <a:xfrm>
            <a:off x="868680" y="201168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35" name="Text 8">
            <a:extLst>
              <a:ext uri="{FF2B5EF4-FFF2-40B4-BE49-F238E27FC236}">
                <a16:creationId xmlns:a16="http://schemas.microsoft.com/office/drawing/2014/main" id="{BC07E4C2-2507-3A4D-A99E-1C65AD2A41AB}"/>
              </a:ext>
            </a:extLst>
          </p:cNvPr>
          <p:cNvSpPr/>
          <p:nvPr/>
        </p:nvSpPr>
        <p:spPr>
          <a:xfrm>
            <a:off x="1554480" y="2240280"/>
            <a:ext cx="9966960" cy="502920"/>
          </a:xfrm>
          <a:prstGeom prst="rect">
            <a:avLst/>
          </a:prstGeom>
          <a:noFill/>
          <a:ln/>
        </p:spPr>
        <p:txBody>
          <a:bodyPr wrap="square" lIns="0" tIns="0" rIns="0" bIns="0" rtlCol="0" anchor="t"/>
          <a:lstStyle/>
          <a:p>
            <a:r>
              <a:rPr lang="fr-FR" sz="1600" dirty="0"/>
              <a:t>Créer un modèle de sosie à partir de vos meilleurs clients en les croisant avec la base d’un </a:t>
            </a:r>
            <a:r>
              <a:rPr lang="fr-FR" sz="1600" dirty="0" err="1"/>
              <a:t>retailer</a:t>
            </a:r>
            <a:r>
              <a:rPr lang="fr-FR" sz="1600" dirty="0"/>
              <a:t>/</a:t>
            </a:r>
            <a:r>
              <a:rPr lang="fr-FR" sz="1600" dirty="0" err="1"/>
              <a:t>publisher</a:t>
            </a:r>
            <a:r>
              <a:rPr lang="fr-FR" sz="1600" dirty="0"/>
              <a:t> dans une DCR. Résultat : un segment activable dans votre DSP (TTD, DV360, Amazon DSP) sans avoir vu les données brutes du partenaire.</a:t>
            </a:r>
            <a:endParaRPr lang="en-US" sz="1600" dirty="0"/>
          </a:p>
        </p:txBody>
      </p:sp>
    </p:spTree>
    <p:extLst>
      <p:ext uri="{BB962C8B-B14F-4D97-AF65-F5344CB8AC3E}">
        <p14:creationId xmlns:p14="http://schemas.microsoft.com/office/powerpoint/2010/main" val="33107467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3D329-5051-1251-5866-47B6B59E9C4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6AE8A3D-5E6B-CA1A-67E7-AC7F3FFE818B}"/>
              </a:ext>
            </a:extLst>
          </p:cNvPr>
          <p:cNvSpPr/>
          <p:nvPr/>
        </p:nvSpPr>
        <p:spPr>
          <a:xfrm>
            <a:off x="548640" y="411480"/>
            <a:ext cx="11064240" cy="731520"/>
          </a:xfrm>
          <a:prstGeom prst="rect">
            <a:avLst/>
          </a:prstGeom>
          <a:noFill/>
          <a:ln/>
        </p:spPr>
        <p:txBody>
          <a:bodyPr wrap="square" lIns="0" tIns="0" rIns="0" bIns="0" rtlCol="0" anchor="ctr"/>
          <a:lstStyle/>
          <a:p>
            <a:r>
              <a:rPr lang="en-US" sz="3200" b="1" dirty="0" err="1">
                <a:solidFill>
                  <a:srgbClr val="0B1F3A"/>
                </a:solidFill>
                <a:latin typeface="Calibri" pitchFamily="34" charset="0"/>
                <a:ea typeface="Calibri" pitchFamily="34" charset="-122"/>
                <a:cs typeface="Calibri" pitchFamily="34" charset="-120"/>
              </a:rPr>
              <a:t>Stratégies</a:t>
            </a:r>
            <a:r>
              <a:rPr lang="en-US" sz="3200" b="1" dirty="0">
                <a:solidFill>
                  <a:srgbClr val="0B1F3A"/>
                </a:solidFill>
                <a:latin typeface="Calibri" pitchFamily="34" charset="0"/>
                <a:ea typeface="Calibri" pitchFamily="34" charset="-122"/>
                <a:cs typeface="Calibri" pitchFamily="34" charset="-120"/>
              </a:rPr>
              <a:t> </a:t>
            </a:r>
            <a:r>
              <a:rPr lang="en-US" sz="3200" b="1" dirty="0" err="1">
                <a:solidFill>
                  <a:srgbClr val="0B1F3A"/>
                </a:solidFill>
                <a:latin typeface="Calibri" pitchFamily="34" charset="0"/>
                <a:ea typeface="Calibri" pitchFamily="34" charset="-122"/>
                <a:cs typeface="Calibri" pitchFamily="34" charset="-120"/>
              </a:rPr>
              <a:t>d’activation</a:t>
            </a:r>
            <a:r>
              <a:rPr lang="en-US" sz="3200" b="1" dirty="0">
                <a:solidFill>
                  <a:srgbClr val="0B1F3A"/>
                </a:solidFill>
                <a:latin typeface="Calibri" pitchFamily="34" charset="0"/>
                <a:ea typeface="Calibri" pitchFamily="34" charset="-122"/>
                <a:cs typeface="Calibri" pitchFamily="34" charset="-120"/>
              </a:rPr>
              <a:t> :  </a:t>
            </a:r>
            <a:r>
              <a:rPr lang="fr-FR" sz="3200" dirty="0"/>
              <a:t>Suppression / Exclusion</a:t>
            </a:r>
            <a:endParaRPr lang="en-US" sz="3200" dirty="0"/>
          </a:p>
        </p:txBody>
      </p:sp>
      <p:sp>
        <p:nvSpPr>
          <p:cNvPr id="3" name="Shape 1">
            <a:extLst>
              <a:ext uri="{FF2B5EF4-FFF2-40B4-BE49-F238E27FC236}">
                <a16:creationId xmlns:a16="http://schemas.microsoft.com/office/drawing/2014/main" id="{6479EFAE-235A-B115-0922-CCE570062785}"/>
              </a:ext>
            </a:extLst>
          </p:cNvPr>
          <p:cNvSpPr/>
          <p:nvPr/>
        </p:nvSpPr>
        <p:spPr>
          <a:xfrm>
            <a:off x="548640" y="1005840"/>
            <a:ext cx="548640" cy="73152"/>
          </a:xfrm>
          <a:prstGeom prst="rect">
            <a:avLst/>
          </a:prstGeom>
          <a:solidFill>
            <a:srgbClr val="F96167"/>
          </a:solidFill>
          <a:ln w="12700">
            <a:solidFill>
              <a:srgbClr val="F96167"/>
            </a:solidFill>
            <a:prstDash val="solid"/>
          </a:ln>
        </p:spPr>
      </p:sp>
      <p:sp>
        <p:nvSpPr>
          <p:cNvPr id="29" name="Shape 27">
            <a:extLst>
              <a:ext uri="{FF2B5EF4-FFF2-40B4-BE49-F238E27FC236}">
                <a16:creationId xmlns:a16="http://schemas.microsoft.com/office/drawing/2014/main" id="{DDE1E068-954B-C08E-D4FB-964FA0B1E9D6}"/>
              </a:ext>
            </a:extLst>
          </p:cNvPr>
          <p:cNvSpPr/>
          <p:nvPr/>
        </p:nvSpPr>
        <p:spPr>
          <a:xfrm>
            <a:off x="0" y="6583680"/>
            <a:ext cx="12191695" cy="274320"/>
          </a:xfrm>
          <a:prstGeom prst="rect">
            <a:avLst/>
          </a:prstGeom>
          <a:solidFill>
            <a:srgbClr val="0B1F3A"/>
          </a:solidFill>
          <a:ln w="12700">
            <a:solidFill>
              <a:srgbClr val="0B1F3A"/>
            </a:solidFill>
            <a:prstDash val="solid"/>
          </a:ln>
        </p:spPr>
      </p:sp>
      <p:sp>
        <p:nvSpPr>
          <p:cNvPr id="30" name="Text 28">
            <a:extLst>
              <a:ext uri="{FF2B5EF4-FFF2-40B4-BE49-F238E27FC236}">
                <a16:creationId xmlns:a16="http://schemas.microsoft.com/office/drawing/2014/main" id="{8730FEEF-E6D4-4961-0464-0B8D696BC1C5}"/>
              </a:ext>
            </a:extLst>
          </p:cNvPr>
          <p:cNvSpPr/>
          <p:nvPr/>
        </p:nvSpPr>
        <p:spPr>
          <a:xfrm>
            <a:off x="365760" y="6601968"/>
            <a:ext cx="822960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Session 1  Comprendre les DCR</a:t>
            </a:r>
            <a:endParaRPr lang="en-US" sz="1000" dirty="0"/>
          </a:p>
        </p:txBody>
      </p:sp>
      <p:sp>
        <p:nvSpPr>
          <p:cNvPr id="31" name="Text 29">
            <a:extLst>
              <a:ext uri="{FF2B5EF4-FFF2-40B4-BE49-F238E27FC236}">
                <a16:creationId xmlns:a16="http://schemas.microsoft.com/office/drawing/2014/main" id="{70A3A1F5-2C64-A76C-7F71-DE2594ADC9B7}"/>
              </a:ext>
            </a:extLst>
          </p:cNvPr>
          <p:cNvSpPr/>
          <p:nvPr/>
        </p:nvSpPr>
        <p:spPr>
          <a:xfrm>
            <a:off x="11551615" y="6601968"/>
            <a:ext cx="365760" cy="237744"/>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13</a:t>
            </a:r>
            <a:endParaRPr lang="en-US" sz="1000" dirty="0"/>
          </a:p>
        </p:txBody>
      </p:sp>
      <p:sp>
        <p:nvSpPr>
          <p:cNvPr id="32" name="Shape 3">
            <a:extLst>
              <a:ext uri="{FF2B5EF4-FFF2-40B4-BE49-F238E27FC236}">
                <a16:creationId xmlns:a16="http://schemas.microsoft.com/office/drawing/2014/main" id="{AC4137F4-FF71-5D92-F701-A05B949FF953}"/>
              </a:ext>
            </a:extLst>
          </p:cNvPr>
          <p:cNvSpPr/>
          <p:nvPr/>
        </p:nvSpPr>
        <p:spPr>
          <a:xfrm>
            <a:off x="640080" y="1737359"/>
            <a:ext cx="11064240" cy="2377441"/>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33" name="Shape 4">
            <a:extLst>
              <a:ext uri="{FF2B5EF4-FFF2-40B4-BE49-F238E27FC236}">
                <a16:creationId xmlns:a16="http://schemas.microsoft.com/office/drawing/2014/main" id="{8EC39002-E22E-E794-83E7-186AEBB51BB4}"/>
              </a:ext>
            </a:extLst>
          </p:cNvPr>
          <p:cNvSpPr/>
          <p:nvPr/>
        </p:nvSpPr>
        <p:spPr>
          <a:xfrm>
            <a:off x="640080" y="1737359"/>
            <a:ext cx="109728" cy="2386585"/>
          </a:xfrm>
          <a:prstGeom prst="rect">
            <a:avLst/>
          </a:prstGeom>
          <a:solidFill>
            <a:srgbClr val="F96167"/>
          </a:solidFill>
          <a:ln w="12700">
            <a:solidFill>
              <a:srgbClr val="F96167"/>
            </a:solidFill>
            <a:prstDash val="solid"/>
          </a:ln>
        </p:spPr>
      </p:sp>
      <p:sp>
        <p:nvSpPr>
          <p:cNvPr id="34" name="Text 6">
            <a:extLst>
              <a:ext uri="{FF2B5EF4-FFF2-40B4-BE49-F238E27FC236}">
                <a16:creationId xmlns:a16="http://schemas.microsoft.com/office/drawing/2014/main" id="{C6747C1A-B0E1-96C1-5585-1595AF52303B}"/>
              </a:ext>
            </a:extLst>
          </p:cNvPr>
          <p:cNvSpPr/>
          <p:nvPr/>
        </p:nvSpPr>
        <p:spPr>
          <a:xfrm>
            <a:off x="868680" y="201168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35" name="Text 8">
            <a:extLst>
              <a:ext uri="{FF2B5EF4-FFF2-40B4-BE49-F238E27FC236}">
                <a16:creationId xmlns:a16="http://schemas.microsoft.com/office/drawing/2014/main" id="{DD9BCEEF-06B6-C243-F621-D9828DF597A7}"/>
              </a:ext>
            </a:extLst>
          </p:cNvPr>
          <p:cNvSpPr/>
          <p:nvPr/>
        </p:nvSpPr>
        <p:spPr>
          <a:xfrm>
            <a:off x="1554480" y="2240280"/>
            <a:ext cx="9966960" cy="502920"/>
          </a:xfrm>
          <a:prstGeom prst="rect">
            <a:avLst/>
          </a:prstGeom>
          <a:noFill/>
          <a:ln/>
        </p:spPr>
        <p:txBody>
          <a:bodyPr wrap="square" lIns="0" tIns="0" rIns="0" bIns="0" rtlCol="0" anchor="t"/>
          <a:lstStyle/>
          <a:p>
            <a:r>
              <a:rPr lang="fr-FR" sz="1600" dirty="0"/>
              <a:t>Exclure vos clients existants des campagnes d’acquisition pour éviter de payer pour des conversions qui auraient eu lieu de toute façon. L’</a:t>
            </a:r>
            <a:r>
              <a:rPr lang="fr-FR" sz="1600" dirty="0" err="1"/>
              <a:t>overlap</a:t>
            </a:r>
            <a:r>
              <a:rPr lang="fr-FR" sz="1600" dirty="0"/>
              <a:t> DCR identifie les clients communs → on les supprime du ciblage → le budget se concentre sur le net new. </a:t>
            </a:r>
            <a:endParaRPr lang="en-US" sz="1600" dirty="0"/>
          </a:p>
        </p:txBody>
      </p:sp>
    </p:spTree>
    <p:extLst>
      <p:ext uri="{BB962C8B-B14F-4D97-AF65-F5344CB8AC3E}">
        <p14:creationId xmlns:p14="http://schemas.microsoft.com/office/powerpoint/2010/main" val="9634672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7FE12-1381-498A-86DA-6848F9474A4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05153E2-DC40-F200-508C-75DA8FF468FC}"/>
              </a:ext>
            </a:extLst>
          </p:cNvPr>
          <p:cNvSpPr/>
          <p:nvPr/>
        </p:nvSpPr>
        <p:spPr>
          <a:xfrm>
            <a:off x="548640" y="411480"/>
            <a:ext cx="11064240" cy="731520"/>
          </a:xfrm>
          <a:prstGeom prst="rect">
            <a:avLst/>
          </a:prstGeom>
          <a:noFill/>
          <a:ln/>
        </p:spPr>
        <p:txBody>
          <a:bodyPr wrap="square" lIns="0" tIns="0" rIns="0" bIns="0" rtlCol="0" anchor="ctr"/>
          <a:lstStyle/>
          <a:p>
            <a:r>
              <a:rPr lang="en-US" sz="3200" b="1" dirty="0" err="1">
                <a:solidFill>
                  <a:srgbClr val="0B1F3A"/>
                </a:solidFill>
                <a:latin typeface="Calibri" pitchFamily="34" charset="0"/>
                <a:ea typeface="Calibri" pitchFamily="34" charset="-122"/>
                <a:cs typeface="Calibri" pitchFamily="34" charset="-120"/>
              </a:rPr>
              <a:t>Stratégies</a:t>
            </a:r>
            <a:r>
              <a:rPr lang="en-US" sz="3200" b="1" dirty="0">
                <a:solidFill>
                  <a:srgbClr val="0B1F3A"/>
                </a:solidFill>
                <a:latin typeface="Calibri" pitchFamily="34" charset="0"/>
                <a:ea typeface="Calibri" pitchFamily="34" charset="-122"/>
                <a:cs typeface="Calibri" pitchFamily="34" charset="-120"/>
              </a:rPr>
              <a:t> </a:t>
            </a:r>
            <a:r>
              <a:rPr lang="en-US" sz="3200" b="1" dirty="0" err="1">
                <a:solidFill>
                  <a:srgbClr val="0B1F3A"/>
                </a:solidFill>
                <a:latin typeface="Calibri" pitchFamily="34" charset="0"/>
                <a:ea typeface="Calibri" pitchFamily="34" charset="-122"/>
                <a:cs typeface="Calibri" pitchFamily="34" charset="-120"/>
              </a:rPr>
              <a:t>d’activation</a:t>
            </a:r>
            <a:r>
              <a:rPr lang="en-US" sz="3200" b="1" dirty="0">
                <a:solidFill>
                  <a:srgbClr val="0B1F3A"/>
                </a:solidFill>
                <a:latin typeface="Calibri" pitchFamily="34" charset="0"/>
                <a:ea typeface="Calibri" pitchFamily="34" charset="-122"/>
                <a:cs typeface="Calibri" pitchFamily="34" charset="-120"/>
              </a:rPr>
              <a:t> : </a:t>
            </a:r>
            <a:r>
              <a:rPr lang="fr-FR" sz="3200" dirty="0" err="1"/>
              <a:t>Retargeting</a:t>
            </a:r>
            <a:r>
              <a:rPr lang="fr-FR" sz="3200" dirty="0"/>
              <a:t> cross-</a:t>
            </a:r>
            <a:r>
              <a:rPr lang="fr-FR" sz="3200" dirty="0" err="1"/>
              <a:t>partner</a:t>
            </a:r>
            <a:r>
              <a:rPr lang="fr-FR" sz="3200" dirty="0"/>
              <a:t>  </a:t>
            </a:r>
            <a:r>
              <a:rPr lang="en-US" sz="3200" b="1" dirty="0">
                <a:solidFill>
                  <a:srgbClr val="0B1F3A"/>
                </a:solidFill>
                <a:latin typeface="Calibri" pitchFamily="34" charset="0"/>
                <a:ea typeface="Calibri" pitchFamily="34" charset="-122"/>
                <a:cs typeface="Calibri" pitchFamily="34" charset="-120"/>
              </a:rPr>
              <a:t> </a:t>
            </a:r>
          </a:p>
          <a:p>
            <a:pPr marL="0" indent="0" algn="l">
              <a:buNone/>
            </a:pPr>
            <a:endParaRPr lang="en-US" sz="3200" dirty="0"/>
          </a:p>
        </p:txBody>
      </p:sp>
      <p:sp>
        <p:nvSpPr>
          <p:cNvPr id="3" name="Shape 1">
            <a:extLst>
              <a:ext uri="{FF2B5EF4-FFF2-40B4-BE49-F238E27FC236}">
                <a16:creationId xmlns:a16="http://schemas.microsoft.com/office/drawing/2014/main" id="{A722D2B0-B830-2FFE-5BA8-162C79CF7307}"/>
              </a:ext>
            </a:extLst>
          </p:cNvPr>
          <p:cNvSpPr/>
          <p:nvPr/>
        </p:nvSpPr>
        <p:spPr>
          <a:xfrm>
            <a:off x="548640" y="1005840"/>
            <a:ext cx="548640" cy="73152"/>
          </a:xfrm>
          <a:prstGeom prst="rect">
            <a:avLst/>
          </a:prstGeom>
          <a:solidFill>
            <a:srgbClr val="F96167"/>
          </a:solidFill>
          <a:ln w="12700">
            <a:solidFill>
              <a:srgbClr val="F96167"/>
            </a:solidFill>
            <a:prstDash val="solid"/>
          </a:ln>
        </p:spPr>
      </p:sp>
      <p:sp>
        <p:nvSpPr>
          <p:cNvPr id="29" name="Shape 27">
            <a:extLst>
              <a:ext uri="{FF2B5EF4-FFF2-40B4-BE49-F238E27FC236}">
                <a16:creationId xmlns:a16="http://schemas.microsoft.com/office/drawing/2014/main" id="{24EBD543-0D00-CE88-DB42-24878B188DDB}"/>
              </a:ext>
            </a:extLst>
          </p:cNvPr>
          <p:cNvSpPr/>
          <p:nvPr/>
        </p:nvSpPr>
        <p:spPr>
          <a:xfrm>
            <a:off x="0" y="6583680"/>
            <a:ext cx="12191695" cy="274320"/>
          </a:xfrm>
          <a:prstGeom prst="rect">
            <a:avLst/>
          </a:prstGeom>
          <a:solidFill>
            <a:srgbClr val="0B1F3A"/>
          </a:solidFill>
          <a:ln w="12700">
            <a:solidFill>
              <a:srgbClr val="0B1F3A"/>
            </a:solidFill>
            <a:prstDash val="solid"/>
          </a:ln>
        </p:spPr>
      </p:sp>
      <p:sp>
        <p:nvSpPr>
          <p:cNvPr id="30" name="Text 28">
            <a:extLst>
              <a:ext uri="{FF2B5EF4-FFF2-40B4-BE49-F238E27FC236}">
                <a16:creationId xmlns:a16="http://schemas.microsoft.com/office/drawing/2014/main" id="{88F54909-1FFE-A522-9B36-C401E012CDDC}"/>
              </a:ext>
            </a:extLst>
          </p:cNvPr>
          <p:cNvSpPr/>
          <p:nvPr/>
        </p:nvSpPr>
        <p:spPr>
          <a:xfrm>
            <a:off x="365760" y="6601968"/>
            <a:ext cx="822960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Session 1  Comprendre les DCR</a:t>
            </a:r>
            <a:endParaRPr lang="en-US" sz="1000" dirty="0"/>
          </a:p>
        </p:txBody>
      </p:sp>
      <p:sp>
        <p:nvSpPr>
          <p:cNvPr id="31" name="Text 29">
            <a:extLst>
              <a:ext uri="{FF2B5EF4-FFF2-40B4-BE49-F238E27FC236}">
                <a16:creationId xmlns:a16="http://schemas.microsoft.com/office/drawing/2014/main" id="{FB552FFF-0B68-EED6-AE03-1FDCF3B09E7E}"/>
              </a:ext>
            </a:extLst>
          </p:cNvPr>
          <p:cNvSpPr/>
          <p:nvPr/>
        </p:nvSpPr>
        <p:spPr>
          <a:xfrm>
            <a:off x="11551615" y="6601968"/>
            <a:ext cx="365760" cy="237744"/>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13</a:t>
            </a:r>
            <a:endParaRPr lang="en-US" sz="1000" dirty="0"/>
          </a:p>
        </p:txBody>
      </p:sp>
      <p:sp>
        <p:nvSpPr>
          <p:cNvPr id="32" name="Shape 3">
            <a:extLst>
              <a:ext uri="{FF2B5EF4-FFF2-40B4-BE49-F238E27FC236}">
                <a16:creationId xmlns:a16="http://schemas.microsoft.com/office/drawing/2014/main" id="{D4C5134C-FD6C-9EDB-1861-AE1B999851D4}"/>
              </a:ext>
            </a:extLst>
          </p:cNvPr>
          <p:cNvSpPr/>
          <p:nvPr/>
        </p:nvSpPr>
        <p:spPr>
          <a:xfrm>
            <a:off x="640080" y="1737359"/>
            <a:ext cx="11064240" cy="2377441"/>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33" name="Shape 4">
            <a:extLst>
              <a:ext uri="{FF2B5EF4-FFF2-40B4-BE49-F238E27FC236}">
                <a16:creationId xmlns:a16="http://schemas.microsoft.com/office/drawing/2014/main" id="{4D43E5EF-3C2E-5DDA-A487-EE0EB415CF7D}"/>
              </a:ext>
            </a:extLst>
          </p:cNvPr>
          <p:cNvSpPr/>
          <p:nvPr/>
        </p:nvSpPr>
        <p:spPr>
          <a:xfrm>
            <a:off x="640080" y="1737359"/>
            <a:ext cx="109728" cy="2386585"/>
          </a:xfrm>
          <a:prstGeom prst="rect">
            <a:avLst/>
          </a:prstGeom>
          <a:solidFill>
            <a:srgbClr val="F96167"/>
          </a:solidFill>
          <a:ln w="12700">
            <a:solidFill>
              <a:srgbClr val="F96167"/>
            </a:solidFill>
            <a:prstDash val="solid"/>
          </a:ln>
        </p:spPr>
      </p:sp>
      <p:sp>
        <p:nvSpPr>
          <p:cNvPr id="34" name="Text 6">
            <a:extLst>
              <a:ext uri="{FF2B5EF4-FFF2-40B4-BE49-F238E27FC236}">
                <a16:creationId xmlns:a16="http://schemas.microsoft.com/office/drawing/2014/main" id="{D4B34F33-DFD0-0E5B-AADD-D81DB640F144}"/>
              </a:ext>
            </a:extLst>
          </p:cNvPr>
          <p:cNvSpPr/>
          <p:nvPr/>
        </p:nvSpPr>
        <p:spPr>
          <a:xfrm>
            <a:off x="868680" y="201168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35" name="Text 8">
            <a:extLst>
              <a:ext uri="{FF2B5EF4-FFF2-40B4-BE49-F238E27FC236}">
                <a16:creationId xmlns:a16="http://schemas.microsoft.com/office/drawing/2014/main" id="{BDC4C99F-F7BD-D4ED-4AAF-79B9E9023382}"/>
              </a:ext>
            </a:extLst>
          </p:cNvPr>
          <p:cNvSpPr/>
          <p:nvPr/>
        </p:nvSpPr>
        <p:spPr>
          <a:xfrm>
            <a:off x="1554480" y="2240280"/>
            <a:ext cx="9966960" cy="502920"/>
          </a:xfrm>
          <a:prstGeom prst="rect">
            <a:avLst/>
          </a:prstGeom>
          <a:noFill/>
          <a:ln/>
        </p:spPr>
        <p:txBody>
          <a:bodyPr wrap="square" lIns="0" tIns="0" rIns="0" bIns="0" rtlCol="0" anchor="t"/>
          <a:lstStyle/>
          <a:p>
            <a:r>
              <a:rPr lang="fr-FR" sz="1600" dirty="0"/>
              <a:t>Un </a:t>
            </a:r>
            <a:r>
              <a:rPr lang="fr-FR" sz="1600" dirty="0" err="1"/>
              <a:t>retailer</a:t>
            </a:r>
            <a:r>
              <a:rPr lang="fr-FR" sz="1600" dirty="0"/>
              <a:t> partage (via DCR) les visiteurs non-convertis à la marque, qui les </a:t>
            </a:r>
            <a:r>
              <a:rPr lang="fr-FR" sz="1600" dirty="0" err="1"/>
              <a:t>reciblage</a:t>
            </a:r>
            <a:r>
              <a:rPr lang="fr-FR" sz="1600" dirty="0"/>
              <a:t> sur CTV ou display. Les données ne quittent pas la clean room ; seul le segment activable sort.</a:t>
            </a:r>
            <a:endParaRPr lang="en-US" sz="1600" dirty="0"/>
          </a:p>
        </p:txBody>
      </p:sp>
    </p:spTree>
    <p:extLst>
      <p:ext uri="{BB962C8B-B14F-4D97-AF65-F5344CB8AC3E}">
        <p14:creationId xmlns:p14="http://schemas.microsoft.com/office/powerpoint/2010/main" val="1457364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73CCF-87BB-ED74-5673-F8EDB7A617E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7DE313E-45CB-ABB3-EDD6-3EE858BA8195}"/>
              </a:ext>
            </a:extLst>
          </p:cNvPr>
          <p:cNvSpPr/>
          <p:nvPr/>
        </p:nvSpPr>
        <p:spPr>
          <a:xfrm>
            <a:off x="548640" y="411480"/>
            <a:ext cx="11064240" cy="731520"/>
          </a:xfrm>
          <a:prstGeom prst="rect">
            <a:avLst/>
          </a:prstGeom>
          <a:noFill/>
          <a:ln/>
        </p:spPr>
        <p:txBody>
          <a:bodyPr wrap="square" lIns="0" tIns="0" rIns="0" bIns="0" rtlCol="0" anchor="ctr"/>
          <a:lstStyle/>
          <a:p>
            <a:r>
              <a:rPr lang="en-US" sz="3200" b="1" dirty="0" err="1">
                <a:solidFill>
                  <a:srgbClr val="0B1F3A"/>
                </a:solidFill>
                <a:latin typeface="Calibri" pitchFamily="34" charset="0"/>
                <a:ea typeface="Calibri" pitchFamily="34" charset="-122"/>
                <a:cs typeface="Calibri" pitchFamily="34" charset="-120"/>
              </a:rPr>
              <a:t>Stratégies</a:t>
            </a:r>
            <a:r>
              <a:rPr lang="en-US" sz="3200" b="1" dirty="0">
                <a:solidFill>
                  <a:srgbClr val="0B1F3A"/>
                </a:solidFill>
                <a:latin typeface="Calibri" pitchFamily="34" charset="0"/>
                <a:ea typeface="Calibri" pitchFamily="34" charset="-122"/>
                <a:cs typeface="Calibri" pitchFamily="34" charset="-120"/>
              </a:rPr>
              <a:t> </a:t>
            </a:r>
            <a:r>
              <a:rPr lang="en-US" sz="3200" b="1" dirty="0" err="1">
                <a:solidFill>
                  <a:srgbClr val="0B1F3A"/>
                </a:solidFill>
                <a:latin typeface="Calibri" pitchFamily="34" charset="0"/>
                <a:ea typeface="Calibri" pitchFamily="34" charset="-122"/>
                <a:cs typeface="Calibri" pitchFamily="34" charset="-120"/>
              </a:rPr>
              <a:t>d’activation</a:t>
            </a:r>
            <a:r>
              <a:rPr lang="en-US" sz="3200" b="1" dirty="0">
                <a:solidFill>
                  <a:srgbClr val="0B1F3A"/>
                </a:solidFill>
                <a:latin typeface="Calibri" pitchFamily="34" charset="0"/>
                <a:ea typeface="Calibri" pitchFamily="34" charset="-122"/>
                <a:cs typeface="Calibri" pitchFamily="34" charset="-120"/>
              </a:rPr>
              <a:t> :  </a:t>
            </a:r>
            <a:r>
              <a:rPr lang="fr-FR" sz="3200" dirty="0"/>
              <a:t>Mesure d’</a:t>
            </a:r>
            <a:r>
              <a:rPr lang="fr-FR" sz="3200" dirty="0" err="1"/>
              <a:t>incrémentalité</a:t>
            </a:r>
            <a:r>
              <a:rPr lang="fr-FR" sz="3200" dirty="0"/>
              <a:t> (Lift Test)</a:t>
            </a:r>
            <a:endParaRPr lang="en-US" sz="3200" dirty="0"/>
          </a:p>
        </p:txBody>
      </p:sp>
      <p:sp>
        <p:nvSpPr>
          <p:cNvPr id="3" name="Shape 1">
            <a:extLst>
              <a:ext uri="{FF2B5EF4-FFF2-40B4-BE49-F238E27FC236}">
                <a16:creationId xmlns:a16="http://schemas.microsoft.com/office/drawing/2014/main" id="{613808B9-E37A-AA11-8F26-D6BAF819A9FF}"/>
              </a:ext>
            </a:extLst>
          </p:cNvPr>
          <p:cNvSpPr/>
          <p:nvPr/>
        </p:nvSpPr>
        <p:spPr>
          <a:xfrm>
            <a:off x="548640" y="1005840"/>
            <a:ext cx="548640" cy="73152"/>
          </a:xfrm>
          <a:prstGeom prst="rect">
            <a:avLst/>
          </a:prstGeom>
          <a:solidFill>
            <a:srgbClr val="F96167"/>
          </a:solidFill>
          <a:ln w="12700">
            <a:solidFill>
              <a:srgbClr val="F96167"/>
            </a:solidFill>
            <a:prstDash val="solid"/>
          </a:ln>
        </p:spPr>
      </p:sp>
      <p:sp>
        <p:nvSpPr>
          <p:cNvPr id="29" name="Shape 27">
            <a:extLst>
              <a:ext uri="{FF2B5EF4-FFF2-40B4-BE49-F238E27FC236}">
                <a16:creationId xmlns:a16="http://schemas.microsoft.com/office/drawing/2014/main" id="{D729BE7C-3E51-70BD-258F-9A814006DCC2}"/>
              </a:ext>
            </a:extLst>
          </p:cNvPr>
          <p:cNvSpPr/>
          <p:nvPr/>
        </p:nvSpPr>
        <p:spPr>
          <a:xfrm>
            <a:off x="0" y="6583680"/>
            <a:ext cx="12191695" cy="274320"/>
          </a:xfrm>
          <a:prstGeom prst="rect">
            <a:avLst/>
          </a:prstGeom>
          <a:solidFill>
            <a:srgbClr val="0B1F3A"/>
          </a:solidFill>
          <a:ln w="12700">
            <a:solidFill>
              <a:srgbClr val="0B1F3A"/>
            </a:solidFill>
            <a:prstDash val="solid"/>
          </a:ln>
        </p:spPr>
      </p:sp>
      <p:sp>
        <p:nvSpPr>
          <p:cNvPr id="30" name="Text 28">
            <a:extLst>
              <a:ext uri="{FF2B5EF4-FFF2-40B4-BE49-F238E27FC236}">
                <a16:creationId xmlns:a16="http://schemas.microsoft.com/office/drawing/2014/main" id="{1201050D-C468-746F-370E-1E7BCC69EE9E}"/>
              </a:ext>
            </a:extLst>
          </p:cNvPr>
          <p:cNvSpPr/>
          <p:nvPr/>
        </p:nvSpPr>
        <p:spPr>
          <a:xfrm>
            <a:off x="365760" y="6601968"/>
            <a:ext cx="822960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Session 1  Comprendre les DCR</a:t>
            </a:r>
            <a:endParaRPr lang="en-US" sz="1000" dirty="0"/>
          </a:p>
        </p:txBody>
      </p:sp>
      <p:sp>
        <p:nvSpPr>
          <p:cNvPr id="31" name="Text 29">
            <a:extLst>
              <a:ext uri="{FF2B5EF4-FFF2-40B4-BE49-F238E27FC236}">
                <a16:creationId xmlns:a16="http://schemas.microsoft.com/office/drawing/2014/main" id="{1B008364-6369-4BCC-BE40-A9C7705018D8}"/>
              </a:ext>
            </a:extLst>
          </p:cNvPr>
          <p:cNvSpPr/>
          <p:nvPr/>
        </p:nvSpPr>
        <p:spPr>
          <a:xfrm>
            <a:off x="11551615" y="6601968"/>
            <a:ext cx="365760" cy="237744"/>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13</a:t>
            </a:r>
            <a:endParaRPr lang="en-US" sz="1000" dirty="0"/>
          </a:p>
        </p:txBody>
      </p:sp>
      <p:sp>
        <p:nvSpPr>
          <p:cNvPr id="32" name="Shape 3">
            <a:extLst>
              <a:ext uri="{FF2B5EF4-FFF2-40B4-BE49-F238E27FC236}">
                <a16:creationId xmlns:a16="http://schemas.microsoft.com/office/drawing/2014/main" id="{265B7FF2-52A1-9CBE-CFA4-692EACA7E9EB}"/>
              </a:ext>
            </a:extLst>
          </p:cNvPr>
          <p:cNvSpPr/>
          <p:nvPr/>
        </p:nvSpPr>
        <p:spPr>
          <a:xfrm>
            <a:off x="640080" y="1737359"/>
            <a:ext cx="11064240" cy="2377441"/>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33" name="Shape 4">
            <a:extLst>
              <a:ext uri="{FF2B5EF4-FFF2-40B4-BE49-F238E27FC236}">
                <a16:creationId xmlns:a16="http://schemas.microsoft.com/office/drawing/2014/main" id="{287DCDD8-F3D2-B9BC-18C8-18B1DAFB6F08}"/>
              </a:ext>
            </a:extLst>
          </p:cNvPr>
          <p:cNvSpPr/>
          <p:nvPr/>
        </p:nvSpPr>
        <p:spPr>
          <a:xfrm>
            <a:off x="640080" y="1737359"/>
            <a:ext cx="109728" cy="2386585"/>
          </a:xfrm>
          <a:prstGeom prst="rect">
            <a:avLst/>
          </a:prstGeom>
          <a:solidFill>
            <a:srgbClr val="F96167"/>
          </a:solidFill>
          <a:ln w="12700">
            <a:solidFill>
              <a:srgbClr val="F96167"/>
            </a:solidFill>
            <a:prstDash val="solid"/>
          </a:ln>
        </p:spPr>
      </p:sp>
      <p:sp>
        <p:nvSpPr>
          <p:cNvPr id="34" name="Text 6">
            <a:extLst>
              <a:ext uri="{FF2B5EF4-FFF2-40B4-BE49-F238E27FC236}">
                <a16:creationId xmlns:a16="http://schemas.microsoft.com/office/drawing/2014/main" id="{BEB803EC-7F63-0B1E-FA01-EB74445FF315}"/>
              </a:ext>
            </a:extLst>
          </p:cNvPr>
          <p:cNvSpPr/>
          <p:nvPr/>
        </p:nvSpPr>
        <p:spPr>
          <a:xfrm>
            <a:off x="868680" y="201168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35" name="Text 8">
            <a:extLst>
              <a:ext uri="{FF2B5EF4-FFF2-40B4-BE49-F238E27FC236}">
                <a16:creationId xmlns:a16="http://schemas.microsoft.com/office/drawing/2014/main" id="{16ABD9E0-3FED-8789-7297-76F93D901B0E}"/>
              </a:ext>
            </a:extLst>
          </p:cNvPr>
          <p:cNvSpPr/>
          <p:nvPr/>
        </p:nvSpPr>
        <p:spPr>
          <a:xfrm>
            <a:off x="1554480" y="2240280"/>
            <a:ext cx="9966960" cy="502920"/>
          </a:xfrm>
          <a:prstGeom prst="rect">
            <a:avLst/>
          </a:prstGeom>
          <a:noFill/>
          <a:ln/>
        </p:spPr>
        <p:txBody>
          <a:bodyPr wrap="square" lIns="0" tIns="0" rIns="0" bIns="0" rtlCol="0" anchor="t"/>
          <a:lstStyle/>
          <a:p>
            <a:r>
              <a:rPr lang="fr-FR" sz="1600" dirty="0"/>
              <a:t>Comparer un groupe exposé vs contrôle en croisant les logs d’exposition (</a:t>
            </a:r>
            <a:r>
              <a:rPr lang="fr-FR" sz="1600" dirty="0" err="1"/>
              <a:t>walled</a:t>
            </a:r>
            <a:r>
              <a:rPr lang="fr-FR" sz="1600" dirty="0"/>
              <a:t> </a:t>
            </a:r>
            <a:r>
              <a:rPr lang="fr-FR" sz="1600" dirty="0" err="1"/>
              <a:t>garden</a:t>
            </a:r>
            <a:r>
              <a:rPr lang="fr-FR" sz="1600" dirty="0"/>
              <a:t>) avec les ventes (CRM). Résultat : un « lift » qui prouve (ou non) que la campagne génère de vraies ventes additionnelles. </a:t>
            </a:r>
            <a:endParaRPr lang="en-US" sz="1600" dirty="0"/>
          </a:p>
        </p:txBody>
      </p:sp>
    </p:spTree>
    <p:extLst>
      <p:ext uri="{BB962C8B-B14F-4D97-AF65-F5344CB8AC3E}">
        <p14:creationId xmlns:p14="http://schemas.microsoft.com/office/powerpoint/2010/main" val="4761390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88F58-FFFA-7C8F-3C1B-9C6263BB15B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C0EA23E-6B39-9F1E-5C9B-526A8A1B5D9A}"/>
              </a:ext>
            </a:extLst>
          </p:cNvPr>
          <p:cNvSpPr/>
          <p:nvPr/>
        </p:nvSpPr>
        <p:spPr>
          <a:xfrm>
            <a:off x="548640" y="411480"/>
            <a:ext cx="11064240" cy="731520"/>
          </a:xfrm>
          <a:prstGeom prst="rect">
            <a:avLst/>
          </a:prstGeom>
          <a:noFill/>
          <a:ln/>
        </p:spPr>
        <p:txBody>
          <a:bodyPr wrap="square" lIns="0" tIns="0" rIns="0" bIns="0" rtlCol="0" anchor="ctr"/>
          <a:lstStyle/>
          <a:p>
            <a:r>
              <a:rPr lang="en-US" sz="3200" b="1" dirty="0" err="1">
                <a:solidFill>
                  <a:srgbClr val="0B1F3A"/>
                </a:solidFill>
                <a:latin typeface="Calibri" pitchFamily="34" charset="0"/>
                <a:ea typeface="Calibri" pitchFamily="34" charset="-122"/>
                <a:cs typeface="Calibri" pitchFamily="34" charset="-120"/>
              </a:rPr>
              <a:t>Stratégies</a:t>
            </a:r>
            <a:r>
              <a:rPr lang="en-US" sz="3200" b="1" dirty="0">
                <a:solidFill>
                  <a:srgbClr val="0B1F3A"/>
                </a:solidFill>
                <a:latin typeface="Calibri" pitchFamily="34" charset="0"/>
                <a:ea typeface="Calibri" pitchFamily="34" charset="-122"/>
                <a:cs typeface="Calibri" pitchFamily="34" charset="-120"/>
              </a:rPr>
              <a:t> </a:t>
            </a:r>
            <a:r>
              <a:rPr lang="en-US" sz="3200" b="1" dirty="0" err="1">
                <a:solidFill>
                  <a:srgbClr val="0B1F3A"/>
                </a:solidFill>
                <a:latin typeface="Calibri" pitchFamily="34" charset="0"/>
                <a:ea typeface="Calibri" pitchFamily="34" charset="-122"/>
                <a:cs typeface="Calibri" pitchFamily="34" charset="-120"/>
              </a:rPr>
              <a:t>d’activation</a:t>
            </a:r>
            <a:r>
              <a:rPr lang="en-US" sz="3200" b="1" dirty="0">
                <a:solidFill>
                  <a:srgbClr val="0B1F3A"/>
                </a:solidFill>
                <a:latin typeface="Calibri" pitchFamily="34" charset="0"/>
                <a:ea typeface="Calibri" pitchFamily="34" charset="-122"/>
                <a:cs typeface="Calibri" pitchFamily="34" charset="-120"/>
              </a:rPr>
              <a:t> : </a:t>
            </a:r>
            <a:r>
              <a:rPr lang="fr-FR" sz="3200" dirty="0"/>
              <a:t>Enrichissement de profils </a:t>
            </a:r>
            <a:r>
              <a:rPr lang="en-US" sz="3200" b="1" dirty="0">
                <a:solidFill>
                  <a:srgbClr val="0B1F3A"/>
                </a:solidFill>
                <a:latin typeface="Calibri" pitchFamily="34" charset="0"/>
                <a:ea typeface="Calibri" pitchFamily="34" charset="-122"/>
                <a:cs typeface="Calibri" pitchFamily="34" charset="-120"/>
              </a:rPr>
              <a:t> </a:t>
            </a:r>
          </a:p>
          <a:p>
            <a:pPr marL="0" indent="0" algn="l">
              <a:buNone/>
            </a:pPr>
            <a:endParaRPr lang="en-US" sz="3200" dirty="0"/>
          </a:p>
        </p:txBody>
      </p:sp>
      <p:sp>
        <p:nvSpPr>
          <p:cNvPr id="3" name="Shape 1">
            <a:extLst>
              <a:ext uri="{FF2B5EF4-FFF2-40B4-BE49-F238E27FC236}">
                <a16:creationId xmlns:a16="http://schemas.microsoft.com/office/drawing/2014/main" id="{1DB740CF-E205-8021-E11E-7518FECEA4BB}"/>
              </a:ext>
            </a:extLst>
          </p:cNvPr>
          <p:cNvSpPr/>
          <p:nvPr/>
        </p:nvSpPr>
        <p:spPr>
          <a:xfrm>
            <a:off x="548640" y="1005840"/>
            <a:ext cx="548640" cy="73152"/>
          </a:xfrm>
          <a:prstGeom prst="rect">
            <a:avLst/>
          </a:prstGeom>
          <a:solidFill>
            <a:srgbClr val="F96167"/>
          </a:solidFill>
          <a:ln w="12700">
            <a:solidFill>
              <a:srgbClr val="F96167"/>
            </a:solidFill>
            <a:prstDash val="solid"/>
          </a:ln>
        </p:spPr>
      </p:sp>
      <p:sp>
        <p:nvSpPr>
          <p:cNvPr id="29" name="Shape 27">
            <a:extLst>
              <a:ext uri="{FF2B5EF4-FFF2-40B4-BE49-F238E27FC236}">
                <a16:creationId xmlns:a16="http://schemas.microsoft.com/office/drawing/2014/main" id="{2DD0347A-52FB-CB62-BF28-A4E648186A6F}"/>
              </a:ext>
            </a:extLst>
          </p:cNvPr>
          <p:cNvSpPr/>
          <p:nvPr/>
        </p:nvSpPr>
        <p:spPr>
          <a:xfrm>
            <a:off x="0" y="6583680"/>
            <a:ext cx="12191695" cy="274320"/>
          </a:xfrm>
          <a:prstGeom prst="rect">
            <a:avLst/>
          </a:prstGeom>
          <a:solidFill>
            <a:srgbClr val="0B1F3A"/>
          </a:solidFill>
          <a:ln w="12700">
            <a:solidFill>
              <a:srgbClr val="0B1F3A"/>
            </a:solidFill>
            <a:prstDash val="solid"/>
          </a:ln>
        </p:spPr>
      </p:sp>
      <p:sp>
        <p:nvSpPr>
          <p:cNvPr id="30" name="Text 28">
            <a:extLst>
              <a:ext uri="{FF2B5EF4-FFF2-40B4-BE49-F238E27FC236}">
                <a16:creationId xmlns:a16="http://schemas.microsoft.com/office/drawing/2014/main" id="{A5B94B10-2619-EACA-F423-7614C625DA41}"/>
              </a:ext>
            </a:extLst>
          </p:cNvPr>
          <p:cNvSpPr/>
          <p:nvPr/>
        </p:nvSpPr>
        <p:spPr>
          <a:xfrm>
            <a:off x="365760" y="6601968"/>
            <a:ext cx="822960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Session 1  Comprendre les DCR</a:t>
            </a:r>
            <a:endParaRPr lang="en-US" sz="1000" dirty="0"/>
          </a:p>
        </p:txBody>
      </p:sp>
      <p:sp>
        <p:nvSpPr>
          <p:cNvPr id="31" name="Text 29">
            <a:extLst>
              <a:ext uri="{FF2B5EF4-FFF2-40B4-BE49-F238E27FC236}">
                <a16:creationId xmlns:a16="http://schemas.microsoft.com/office/drawing/2014/main" id="{84B61FFA-8C50-99C5-60B1-1DBF49E64DE9}"/>
              </a:ext>
            </a:extLst>
          </p:cNvPr>
          <p:cNvSpPr/>
          <p:nvPr/>
        </p:nvSpPr>
        <p:spPr>
          <a:xfrm>
            <a:off x="11551615" y="6601968"/>
            <a:ext cx="365760" cy="237744"/>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13</a:t>
            </a:r>
            <a:endParaRPr lang="en-US" sz="1000" dirty="0"/>
          </a:p>
        </p:txBody>
      </p:sp>
      <p:sp>
        <p:nvSpPr>
          <p:cNvPr id="32" name="Shape 3">
            <a:extLst>
              <a:ext uri="{FF2B5EF4-FFF2-40B4-BE49-F238E27FC236}">
                <a16:creationId xmlns:a16="http://schemas.microsoft.com/office/drawing/2014/main" id="{E8F61FE2-AB73-E240-9A82-33FF43E685B9}"/>
              </a:ext>
            </a:extLst>
          </p:cNvPr>
          <p:cNvSpPr/>
          <p:nvPr/>
        </p:nvSpPr>
        <p:spPr>
          <a:xfrm>
            <a:off x="640080" y="1737359"/>
            <a:ext cx="11064240" cy="2377441"/>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33" name="Shape 4">
            <a:extLst>
              <a:ext uri="{FF2B5EF4-FFF2-40B4-BE49-F238E27FC236}">
                <a16:creationId xmlns:a16="http://schemas.microsoft.com/office/drawing/2014/main" id="{FAC577BB-4322-A01D-4806-456499AA5DE0}"/>
              </a:ext>
            </a:extLst>
          </p:cNvPr>
          <p:cNvSpPr/>
          <p:nvPr/>
        </p:nvSpPr>
        <p:spPr>
          <a:xfrm>
            <a:off x="640080" y="1737359"/>
            <a:ext cx="109728" cy="2386585"/>
          </a:xfrm>
          <a:prstGeom prst="rect">
            <a:avLst/>
          </a:prstGeom>
          <a:solidFill>
            <a:srgbClr val="F96167"/>
          </a:solidFill>
          <a:ln w="12700">
            <a:solidFill>
              <a:srgbClr val="F96167"/>
            </a:solidFill>
            <a:prstDash val="solid"/>
          </a:ln>
        </p:spPr>
      </p:sp>
      <p:sp>
        <p:nvSpPr>
          <p:cNvPr id="34" name="Text 6">
            <a:extLst>
              <a:ext uri="{FF2B5EF4-FFF2-40B4-BE49-F238E27FC236}">
                <a16:creationId xmlns:a16="http://schemas.microsoft.com/office/drawing/2014/main" id="{95AB6A2D-0BEE-3CA9-5B8E-7BAAC676DE9E}"/>
              </a:ext>
            </a:extLst>
          </p:cNvPr>
          <p:cNvSpPr/>
          <p:nvPr/>
        </p:nvSpPr>
        <p:spPr>
          <a:xfrm>
            <a:off x="868680" y="201168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35" name="Text 8">
            <a:extLst>
              <a:ext uri="{FF2B5EF4-FFF2-40B4-BE49-F238E27FC236}">
                <a16:creationId xmlns:a16="http://schemas.microsoft.com/office/drawing/2014/main" id="{4D4708D4-DF5E-AFED-B717-42FA07D1C4EB}"/>
              </a:ext>
            </a:extLst>
          </p:cNvPr>
          <p:cNvSpPr/>
          <p:nvPr/>
        </p:nvSpPr>
        <p:spPr>
          <a:xfrm>
            <a:off x="1554480" y="1874520"/>
            <a:ext cx="9966960" cy="502920"/>
          </a:xfrm>
          <a:prstGeom prst="rect">
            <a:avLst/>
          </a:prstGeom>
          <a:noFill/>
          <a:ln/>
        </p:spPr>
        <p:txBody>
          <a:bodyPr wrap="square" lIns="0" tIns="0" rIns="0" bIns="0" rtlCol="0" anchor="t"/>
          <a:lstStyle/>
          <a:p>
            <a:r>
              <a:rPr lang="fr-FR" sz="2000" dirty="0"/>
              <a:t>Enrichir votre CRM avec des insights agrégés du partenaire (catégories d’achat fréquentes, affinités) sans récupérer les données individuelles. La DCR renvoie des segments et scores, pas des lignes. </a:t>
            </a:r>
            <a:endParaRPr lang="en-US" sz="2000" dirty="0"/>
          </a:p>
        </p:txBody>
      </p:sp>
      <p:sp>
        <p:nvSpPr>
          <p:cNvPr id="5" name="ZoneTexte 4">
            <a:extLst>
              <a:ext uri="{FF2B5EF4-FFF2-40B4-BE49-F238E27FC236}">
                <a16:creationId xmlns:a16="http://schemas.microsoft.com/office/drawing/2014/main" id="{AB3A51E4-66BF-D06F-F556-B094ECB16169}"/>
              </a:ext>
            </a:extLst>
          </p:cNvPr>
          <p:cNvSpPr txBox="1"/>
          <p:nvPr/>
        </p:nvSpPr>
        <p:spPr>
          <a:xfrm>
            <a:off x="1488919" y="2967335"/>
            <a:ext cx="9366562" cy="923330"/>
          </a:xfrm>
          <a:prstGeom prst="rect">
            <a:avLst/>
          </a:prstGeom>
          <a:noFill/>
        </p:spPr>
        <p:txBody>
          <a:bodyPr wrap="square">
            <a:spAutoFit/>
          </a:bodyPr>
          <a:lstStyle/>
          <a:p>
            <a:r>
              <a:rPr lang="fr-FR" dirty="0"/>
              <a:t>Croiser les </a:t>
            </a:r>
            <a:r>
              <a:rPr lang="fr-FR" dirty="0" err="1"/>
              <a:t>touchpoints</a:t>
            </a:r>
            <a:r>
              <a:rPr lang="fr-FR" dirty="0"/>
              <a:t> de plusieurs canaux (YouTube, Meta, Amazon, CTV) avec les conversions CRM dans une DCR neutre (</a:t>
            </a:r>
            <a:r>
              <a:rPr lang="fr-FR" dirty="0" err="1"/>
              <a:t>Snowflake</a:t>
            </a:r>
            <a:r>
              <a:rPr lang="fr-FR" dirty="0"/>
              <a:t>, </a:t>
            </a:r>
            <a:r>
              <a:rPr lang="fr-FR" dirty="0" err="1"/>
              <a:t>LiveRamp</a:t>
            </a:r>
            <a:r>
              <a:rPr lang="fr-FR" dirty="0"/>
              <a:t>) pour obtenir un modèle d’attribution complet, sans dépendre de l’attribution d’un seul </a:t>
            </a:r>
            <a:r>
              <a:rPr lang="fr-FR" dirty="0" err="1"/>
              <a:t>walled</a:t>
            </a:r>
            <a:r>
              <a:rPr lang="fr-FR" dirty="0"/>
              <a:t> </a:t>
            </a:r>
            <a:r>
              <a:rPr lang="fr-FR" dirty="0" err="1"/>
              <a:t>garden</a:t>
            </a:r>
            <a:r>
              <a:rPr lang="fr-FR" dirty="0"/>
              <a:t>.</a:t>
            </a:r>
          </a:p>
        </p:txBody>
      </p:sp>
    </p:spTree>
    <p:extLst>
      <p:ext uri="{BB962C8B-B14F-4D97-AF65-F5344CB8AC3E}">
        <p14:creationId xmlns:p14="http://schemas.microsoft.com/office/powerpoint/2010/main" val="39576597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65628F-2406-B554-3003-58F08A4DF0D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EE474F1-8088-3901-8FDE-122F5A553453}"/>
              </a:ext>
            </a:extLst>
          </p:cNvPr>
          <p:cNvSpPr/>
          <p:nvPr/>
        </p:nvSpPr>
        <p:spPr>
          <a:xfrm>
            <a:off x="548640" y="411480"/>
            <a:ext cx="11064240" cy="731520"/>
          </a:xfrm>
          <a:prstGeom prst="rect">
            <a:avLst/>
          </a:prstGeom>
          <a:noFill/>
          <a:ln/>
        </p:spPr>
        <p:txBody>
          <a:bodyPr wrap="square" lIns="0" tIns="0" rIns="0" bIns="0" rtlCol="0" anchor="ctr"/>
          <a:lstStyle/>
          <a:p>
            <a:r>
              <a:rPr lang="en-US" sz="3200" b="1" dirty="0" err="1">
                <a:solidFill>
                  <a:srgbClr val="0B1F3A"/>
                </a:solidFill>
                <a:latin typeface="Calibri" pitchFamily="34" charset="0"/>
                <a:ea typeface="Calibri" pitchFamily="34" charset="-122"/>
                <a:cs typeface="Calibri" pitchFamily="34" charset="-120"/>
              </a:rPr>
              <a:t>Stratégies</a:t>
            </a:r>
            <a:r>
              <a:rPr lang="en-US" sz="3200" b="1" dirty="0">
                <a:solidFill>
                  <a:srgbClr val="0B1F3A"/>
                </a:solidFill>
                <a:latin typeface="Calibri" pitchFamily="34" charset="0"/>
                <a:ea typeface="Calibri" pitchFamily="34" charset="-122"/>
                <a:cs typeface="Calibri" pitchFamily="34" charset="-120"/>
              </a:rPr>
              <a:t> </a:t>
            </a:r>
            <a:r>
              <a:rPr lang="en-US" sz="3200" b="1" dirty="0" err="1">
                <a:solidFill>
                  <a:srgbClr val="0B1F3A"/>
                </a:solidFill>
                <a:latin typeface="Calibri" pitchFamily="34" charset="0"/>
                <a:ea typeface="Calibri" pitchFamily="34" charset="-122"/>
                <a:cs typeface="Calibri" pitchFamily="34" charset="-120"/>
              </a:rPr>
              <a:t>d’activation</a:t>
            </a:r>
            <a:r>
              <a:rPr lang="en-US" sz="3200" b="1" dirty="0">
                <a:solidFill>
                  <a:srgbClr val="0B1F3A"/>
                </a:solidFill>
                <a:latin typeface="Calibri" pitchFamily="34" charset="0"/>
                <a:ea typeface="Calibri" pitchFamily="34" charset="-122"/>
                <a:cs typeface="Calibri" pitchFamily="34" charset="-120"/>
              </a:rPr>
              <a:t> : </a:t>
            </a:r>
            <a:r>
              <a:rPr lang="fr-FR" sz="3200" dirty="0"/>
              <a:t>marketing data </a:t>
            </a:r>
            <a:r>
              <a:rPr lang="en-US" sz="3200" b="1" dirty="0">
                <a:solidFill>
                  <a:srgbClr val="0B1F3A"/>
                </a:solidFill>
                <a:latin typeface="Calibri" pitchFamily="34" charset="0"/>
                <a:ea typeface="Calibri" pitchFamily="34" charset="-122"/>
                <a:cs typeface="Calibri" pitchFamily="34" charset="-120"/>
              </a:rPr>
              <a:t> </a:t>
            </a:r>
          </a:p>
          <a:p>
            <a:pPr marL="0" indent="0" algn="l">
              <a:buNone/>
            </a:pPr>
            <a:endParaRPr lang="en-US" sz="3200" dirty="0"/>
          </a:p>
        </p:txBody>
      </p:sp>
      <p:sp>
        <p:nvSpPr>
          <p:cNvPr id="3" name="Shape 1">
            <a:extLst>
              <a:ext uri="{FF2B5EF4-FFF2-40B4-BE49-F238E27FC236}">
                <a16:creationId xmlns:a16="http://schemas.microsoft.com/office/drawing/2014/main" id="{A1F2C6D9-6D3D-2EDA-99A4-066AE7A0EB49}"/>
              </a:ext>
            </a:extLst>
          </p:cNvPr>
          <p:cNvSpPr/>
          <p:nvPr/>
        </p:nvSpPr>
        <p:spPr>
          <a:xfrm>
            <a:off x="548640" y="1005840"/>
            <a:ext cx="548640" cy="73152"/>
          </a:xfrm>
          <a:prstGeom prst="rect">
            <a:avLst/>
          </a:prstGeom>
          <a:solidFill>
            <a:srgbClr val="F96167"/>
          </a:solidFill>
          <a:ln w="12700">
            <a:solidFill>
              <a:srgbClr val="F96167"/>
            </a:solidFill>
            <a:prstDash val="solid"/>
          </a:ln>
        </p:spPr>
      </p:sp>
      <p:sp>
        <p:nvSpPr>
          <p:cNvPr id="29" name="Shape 27">
            <a:extLst>
              <a:ext uri="{FF2B5EF4-FFF2-40B4-BE49-F238E27FC236}">
                <a16:creationId xmlns:a16="http://schemas.microsoft.com/office/drawing/2014/main" id="{5D3B4F3C-50EA-4BBC-1609-B6505086AC68}"/>
              </a:ext>
            </a:extLst>
          </p:cNvPr>
          <p:cNvSpPr/>
          <p:nvPr/>
        </p:nvSpPr>
        <p:spPr>
          <a:xfrm>
            <a:off x="0" y="6583680"/>
            <a:ext cx="12191695" cy="274320"/>
          </a:xfrm>
          <a:prstGeom prst="rect">
            <a:avLst/>
          </a:prstGeom>
          <a:solidFill>
            <a:srgbClr val="0B1F3A"/>
          </a:solidFill>
          <a:ln w="12700">
            <a:solidFill>
              <a:srgbClr val="0B1F3A"/>
            </a:solidFill>
            <a:prstDash val="solid"/>
          </a:ln>
        </p:spPr>
      </p:sp>
      <p:sp>
        <p:nvSpPr>
          <p:cNvPr id="30" name="Text 28">
            <a:extLst>
              <a:ext uri="{FF2B5EF4-FFF2-40B4-BE49-F238E27FC236}">
                <a16:creationId xmlns:a16="http://schemas.microsoft.com/office/drawing/2014/main" id="{D206E390-D865-A3D1-C605-51AE8437A3C9}"/>
              </a:ext>
            </a:extLst>
          </p:cNvPr>
          <p:cNvSpPr/>
          <p:nvPr/>
        </p:nvSpPr>
        <p:spPr>
          <a:xfrm>
            <a:off x="365760" y="6601968"/>
            <a:ext cx="822960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Session 1  Comprendre les DCR</a:t>
            </a:r>
            <a:endParaRPr lang="en-US" sz="1000" dirty="0"/>
          </a:p>
        </p:txBody>
      </p:sp>
      <p:sp>
        <p:nvSpPr>
          <p:cNvPr id="31" name="Text 29">
            <a:extLst>
              <a:ext uri="{FF2B5EF4-FFF2-40B4-BE49-F238E27FC236}">
                <a16:creationId xmlns:a16="http://schemas.microsoft.com/office/drawing/2014/main" id="{DD49872E-1965-66A9-3C98-2C096BFACC23}"/>
              </a:ext>
            </a:extLst>
          </p:cNvPr>
          <p:cNvSpPr/>
          <p:nvPr/>
        </p:nvSpPr>
        <p:spPr>
          <a:xfrm>
            <a:off x="11551615" y="6601968"/>
            <a:ext cx="365760" cy="237744"/>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13</a:t>
            </a:r>
            <a:endParaRPr lang="en-US" sz="1000" dirty="0"/>
          </a:p>
        </p:txBody>
      </p:sp>
      <p:sp>
        <p:nvSpPr>
          <p:cNvPr id="32" name="Shape 3">
            <a:extLst>
              <a:ext uri="{FF2B5EF4-FFF2-40B4-BE49-F238E27FC236}">
                <a16:creationId xmlns:a16="http://schemas.microsoft.com/office/drawing/2014/main" id="{A97179CD-8BB1-F6F3-0727-B05541AE3C34}"/>
              </a:ext>
            </a:extLst>
          </p:cNvPr>
          <p:cNvSpPr/>
          <p:nvPr/>
        </p:nvSpPr>
        <p:spPr>
          <a:xfrm>
            <a:off x="640080" y="1737359"/>
            <a:ext cx="11064240" cy="4534045"/>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33" name="Shape 4">
            <a:extLst>
              <a:ext uri="{FF2B5EF4-FFF2-40B4-BE49-F238E27FC236}">
                <a16:creationId xmlns:a16="http://schemas.microsoft.com/office/drawing/2014/main" id="{7EFF3E9A-E268-B5BA-020C-D146E7466330}"/>
              </a:ext>
            </a:extLst>
          </p:cNvPr>
          <p:cNvSpPr/>
          <p:nvPr/>
        </p:nvSpPr>
        <p:spPr>
          <a:xfrm>
            <a:off x="640080" y="1737359"/>
            <a:ext cx="96041" cy="4534045"/>
          </a:xfrm>
          <a:prstGeom prst="rect">
            <a:avLst/>
          </a:prstGeom>
          <a:solidFill>
            <a:srgbClr val="F96167"/>
          </a:solidFill>
          <a:ln w="12700">
            <a:solidFill>
              <a:srgbClr val="F96167"/>
            </a:solidFill>
            <a:prstDash val="solid"/>
          </a:ln>
        </p:spPr>
      </p:sp>
      <p:sp>
        <p:nvSpPr>
          <p:cNvPr id="34" name="Text 6">
            <a:extLst>
              <a:ext uri="{FF2B5EF4-FFF2-40B4-BE49-F238E27FC236}">
                <a16:creationId xmlns:a16="http://schemas.microsoft.com/office/drawing/2014/main" id="{C9657AF7-FDF9-768D-0F68-19E86C803D1B}"/>
              </a:ext>
            </a:extLst>
          </p:cNvPr>
          <p:cNvSpPr/>
          <p:nvPr/>
        </p:nvSpPr>
        <p:spPr>
          <a:xfrm>
            <a:off x="868680" y="201168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35" name="Text 8">
            <a:extLst>
              <a:ext uri="{FF2B5EF4-FFF2-40B4-BE49-F238E27FC236}">
                <a16:creationId xmlns:a16="http://schemas.microsoft.com/office/drawing/2014/main" id="{E557720E-7127-9508-9C30-66F0C3AFE76F}"/>
              </a:ext>
            </a:extLst>
          </p:cNvPr>
          <p:cNvSpPr/>
          <p:nvPr/>
        </p:nvSpPr>
        <p:spPr>
          <a:xfrm>
            <a:off x="1488919" y="1904848"/>
            <a:ext cx="9966960" cy="502920"/>
          </a:xfrm>
          <a:prstGeom prst="rect">
            <a:avLst/>
          </a:prstGeom>
          <a:noFill/>
          <a:ln/>
        </p:spPr>
        <p:txBody>
          <a:bodyPr wrap="square" lIns="0" tIns="0" rIns="0" bIns="0" rtlCol="0" anchor="t"/>
          <a:lstStyle/>
          <a:p>
            <a:r>
              <a:rPr lang="fr-FR" sz="2000" dirty="0"/>
              <a:t>First-party first : Prioriser la collecte et l’activation de vos propres données (CRM, </a:t>
            </a:r>
            <a:r>
              <a:rPr lang="fr-FR" sz="2000" dirty="0" err="1"/>
              <a:t>loyalty</a:t>
            </a:r>
            <a:r>
              <a:rPr lang="fr-FR" sz="2000" dirty="0"/>
              <a:t>, navigation site) avant d’acheter de la </a:t>
            </a:r>
            <a:r>
              <a:rPr lang="fr-FR" sz="2000" dirty="0" err="1"/>
              <a:t>third</a:t>
            </a:r>
            <a:r>
              <a:rPr lang="fr-FR" sz="2000" dirty="0"/>
              <a:t>-party data. Les DCR amplifient la valeur de votre first-party data en la croisant avec celle de partenaires. </a:t>
            </a:r>
            <a:endParaRPr lang="en-US" sz="2000" dirty="0"/>
          </a:p>
        </p:txBody>
      </p:sp>
      <p:sp>
        <p:nvSpPr>
          <p:cNvPr id="5" name="ZoneTexte 4">
            <a:extLst>
              <a:ext uri="{FF2B5EF4-FFF2-40B4-BE49-F238E27FC236}">
                <a16:creationId xmlns:a16="http://schemas.microsoft.com/office/drawing/2014/main" id="{F2BDB21D-9DEA-3E8B-C4C8-638857159E18}"/>
              </a:ext>
            </a:extLst>
          </p:cNvPr>
          <p:cNvSpPr txBox="1"/>
          <p:nvPr/>
        </p:nvSpPr>
        <p:spPr>
          <a:xfrm>
            <a:off x="1412566" y="2967335"/>
            <a:ext cx="9366562" cy="923330"/>
          </a:xfrm>
          <a:prstGeom prst="rect">
            <a:avLst/>
          </a:prstGeom>
          <a:noFill/>
        </p:spPr>
        <p:txBody>
          <a:bodyPr wrap="square">
            <a:spAutoFit/>
          </a:bodyPr>
          <a:lstStyle/>
          <a:p>
            <a:r>
              <a:rPr lang="fr-FR" dirty="0"/>
              <a:t>Data partnership / Second-party deals : Négocier des accords directs de partage de données avec des </a:t>
            </a:r>
            <a:r>
              <a:rPr lang="fr-FR" dirty="0" err="1"/>
              <a:t>retailers</a:t>
            </a:r>
            <a:r>
              <a:rPr lang="fr-FR" dirty="0"/>
              <a:t>, </a:t>
            </a:r>
            <a:r>
              <a:rPr lang="fr-FR" dirty="0" err="1"/>
              <a:t>publishers</a:t>
            </a:r>
            <a:r>
              <a:rPr lang="fr-FR" dirty="0"/>
              <a:t> ou data </a:t>
            </a:r>
            <a:r>
              <a:rPr lang="fr-FR" dirty="0" err="1"/>
              <a:t>owners</a:t>
            </a:r>
            <a:r>
              <a:rPr lang="fr-FR" dirty="0"/>
              <a:t> complémentaires. La DCR est le cadre technique et juridique de ces partenariats</a:t>
            </a:r>
          </a:p>
        </p:txBody>
      </p:sp>
      <p:sp>
        <p:nvSpPr>
          <p:cNvPr id="4" name="Text 8">
            <a:extLst>
              <a:ext uri="{FF2B5EF4-FFF2-40B4-BE49-F238E27FC236}">
                <a16:creationId xmlns:a16="http://schemas.microsoft.com/office/drawing/2014/main" id="{28567A1B-685A-019A-E33C-EF164EA4DC17}"/>
              </a:ext>
            </a:extLst>
          </p:cNvPr>
          <p:cNvSpPr/>
          <p:nvPr/>
        </p:nvSpPr>
        <p:spPr>
          <a:xfrm>
            <a:off x="1488919" y="3996770"/>
            <a:ext cx="9966960" cy="502920"/>
          </a:xfrm>
          <a:prstGeom prst="rect">
            <a:avLst/>
          </a:prstGeom>
          <a:noFill/>
          <a:ln/>
        </p:spPr>
        <p:txBody>
          <a:bodyPr wrap="square" lIns="0" tIns="0" rIns="0" bIns="0" rtlCol="0" anchor="t"/>
          <a:lstStyle/>
          <a:p>
            <a:r>
              <a:rPr lang="fr-FR" sz="2000" dirty="0" err="1"/>
              <a:t>Privacy</a:t>
            </a:r>
            <a:r>
              <a:rPr lang="fr-FR" sz="2000" dirty="0"/>
              <a:t>-by-design : Intégrer la protection des données dès la conception : hachage des identifiants (SHA-256), k-anonymat (≥ 50 ou 100), agrégation obligatoire, durée de rétention limitée, LIA documenté, DPA signé. C’est ce qui permet de lancer un projet DCR sans blocage DPO.</a:t>
            </a:r>
            <a:endParaRPr lang="en-US" sz="2000" dirty="0"/>
          </a:p>
        </p:txBody>
      </p:sp>
      <p:sp>
        <p:nvSpPr>
          <p:cNvPr id="6" name="Text 8">
            <a:extLst>
              <a:ext uri="{FF2B5EF4-FFF2-40B4-BE49-F238E27FC236}">
                <a16:creationId xmlns:a16="http://schemas.microsoft.com/office/drawing/2014/main" id="{AD275F2D-682B-2C59-DFAA-3296B1DD244B}"/>
              </a:ext>
            </a:extLst>
          </p:cNvPr>
          <p:cNvSpPr/>
          <p:nvPr/>
        </p:nvSpPr>
        <p:spPr>
          <a:xfrm>
            <a:off x="1488919" y="5267576"/>
            <a:ext cx="9966960" cy="502920"/>
          </a:xfrm>
          <a:prstGeom prst="rect">
            <a:avLst/>
          </a:prstGeom>
          <a:noFill/>
          <a:ln/>
        </p:spPr>
        <p:txBody>
          <a:bodyPr wrap="square" lIns="0" tIns="0" rIns="0" bIns="0" rtlCol="0" anchor="t"/>
          <a:lstStyle/>
          <a:p>
            <a:r>
              <a:rPr lang="fr-FR" sz="2000" dirty="0"/>
              <a:t>Identity </a:t>
            </a:r>
            <a:r>
              <a:rPr lang="fr-FR" sz="2000" dirty="0" err="1"/>
              <a:t>resolution</a:t>
            </a:r>
            <a:r>
              <a:rPr lang="fr-FR" sz="2000" dirty="0"/>
              <a:t> : Consolider les identifiants dispersés (email, téléphone, MAID, cookies) en un profil unifié via un </a:t>
            </a:r>
            <a:r>
              <a:rPr lang="fr-FR" sz="2000" dirty="0" err="1"/>
              <a:t>identity</a:t>
            </a:r>
            <a:r>
              <a:rPr lang="fr-FR" sz="2000" dirty="0"/>
              <a:t> graph (</a:t>
            </a:r>
            <a:r>
              <a:rPr lang="fr-FR" sz="2000" dirty="0" err="1"/>
              <a:t>LiveRamp</a:t>
            </a:r>
            <a:r>
              <a:rPr lang="fr-FR" sz="2000" dirty="0"/>
              <a:t> </a:t>
            </a:r>
            <a:r>
              <a:rPr lang="fr-FR" sz="2000" dirty="0" err="1"/>
              <a:t>RampID</a:t>
            </a:r>
            <a:r>
              <a:rPr lang="fr-FR" sz="2000" dirty="0"/>
              <a:t>, UID 2.0). La DCR travaille sur ces identifiants résolus pour maximiser le match rate. </a:t>
            </a:r>
            <a:endParaRPr lang="en-US" sz="2000" dirty="0"/>
          </a:p>
        </p:txBody>
      </p:sp>
    </p:spTree>
    <p:extLst>
      <p:ext uri="{BB962C8B-B14F-4D97-AF65-F5344CB8AC3E}">
        <p14:creationId xmlns:p14="http://schemas.microsoft.com/office/powerpoint/2010/main" val="719194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1">
    <p:bg>
      <p:bgPr>
        <a:solidFill>
          <a:srgbClr val="F5F8FC"/>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731520"/>
          </a:xfrm>
          <a:prstGeom prst="rect">
            <a:avLst/>
          </a:prstGeom>
          <a:noFill/>
          <a:ln/>
        </p:spPr>
        <p:txBody>
          <a:bodyPr wrap="square" lIns="0" tIns="0" rIns="0" bIns="0" rtlCol="0" anchor="ctr"/>
          <a:lstStyle/>
          <a:p>
            <a:pPr marL="0" indent="0" algn="l">
              <a:buNone/>
            </a:pPr>
            <a:r>
              <a:rPr lang="en-US" sz="3200" b="1" dirty="0">
                <a:solidFill>
                  <a:srgbClr val="0B1F3A"/>
                </a:solidFill>
                <a:latin typeface="Calibri" pitchFamily="34" charset="0"/>
                <a:ea typeface="Calibri" pitchFamily="34" charset="-122"/>
                <a:cs typeface="Calibri" pitchFamily="34" charset="-120"/>
              </a:rPr>
              <a:t>Les 4 familles de cas d'usage marketing</a:t>
            </a:r>
            <a:endParaRPr lang="en-US" sz="3200" dirty="0"/>
          </a:p>
        </p:txBody>
      </p:sp>
      <p:sp>
        <p:nvSpPr>
          <p:cNvPr id="3" name="Shape 1"/>
          <p:cNvSpPr/>
          <p:nvPr/>
        </p:nvSpPr>
        <p:spPr>
          <a:xfrm>
            <a:off x="548640" y="1005840"/>
            <a:ext cx="548640" cy="73152"/>
          </a:xfrm>
          <a:prstGeom prst="rect">
            <a:avLst/>
          </a:prstGeom>
          <a:solidFill>
            <a:srgbClr val="F96167"/>
          </a:solidFill>
          <a:ln w="12700">
            <a:solidFill>
              <a:srgbClr val="F96167"/>
            </a:solidFill>
            <a:prstDash val="solid"/>
          </a:ln>
        </p:spPr>
      </p:sp>
      <p:sp>
        <p:nvSpPr>
          <p:cNvPr id="4" name="Text 2"/>
          <p:cNvSpPr/>
          <p:nvPr/>
        </p:nvSpPr>
        <p:spPr>
          <a:xfrm>
            <a:off x="548640" y="1143000"/>
            <a:ext cx="11064240" cy="411480"/>
          </a:xfrm>
          <a:prstGeom prst="rect">
            <a:avLst/>
          </a:prstGeom>
          <a:noFill/>
          <a:ln/>
        </p:spPr>
        <p:txBody>
          <a:bodyPr wrap="square" lIns="0" tIns="0" rIns="0" bIns="0" rtlCol="0" anchor="ctr"/>
          <a:lstStyle/>
          <a:p>
            <a:pPr marL="0" indent="0" algn="l">
              <a:buNone/>
            </a:pPr>
            <a:r>
              <a:rPr lang="en-US" sz="1600" i="1" dirty="0">
                <a:solidFill>
                  <a:srgbClr val="1C7293"/>
                </a:solidFill>
                <a:latin typeface="Calibri" pitchFamily="34" charset="0"/>
                <a:ea typeface="Calibri" pitchFamily="34" charset="-122"/>
                <a:cs typeface="Calibri" pitchFamily="34" charset="-120"/>
              </a:rPr>
              <a:t>À chaque famille son cas, à chaque cas son DCR (on verra lequel en S2/S3).</a:t>
            </a:r>
            <a:endParaRPr lang="en-US" sz="1600" dirty="0"/>
          </a:p>
        </p:txBody>
      </p:sp>
      <p:sp>
        <p:nvSpPr>
          <p:cNvPr id="5" name="Shape 3"/>
          <p:cNvSpPr/>
          <p:nvPr/>
        </p:nvSpPr>
        <p:spPr>
          <a:xfrm>
            <a:off x="640080" y="1691640"/>
            <a:ext cx="5440680" cy="219456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6" name="Shape 4"/>
          <p:cNvSpPr/>
          <p:nvPr/>
        </p:nvSpPr>
        <p:spPr>
          <a:xfrm>
            <a:off x="640080" y="1691640"/>
            <a:ext cx="109728" cy="2194560"/>
          </a:xfrm>
          <a:prstGeom prst="rect">
            <a:avLst/>
          </a:prstGeom>
          <a:solidFill>
            <a:srgbClr val="065A82"/>
          </a:solidFill>
          <a:ln w="12700">
            <a:solidFill>
              <a:srgbClr val="065A82"/>
            </a:solidFill>
            <a:prstDash val="solid"/>
          </a:ln>
        </p:spPr>
      </p:sp>
      <p:sp>
        <p:nvSpPr>
          <p:cNvPr id="7" name="Text 5"/>
          <p:cNvSpPr/>
          <p:nvPr/>
        </p:nvSpPr>
        <p:spPr>
          <a:xfrm>
            <a:off x="914400" y="1874520"/>
            <a:ext cx="640080" cy="320040"/>
          </a:xfrm>
          <a:prstGeom prst="rect">
            <a:avLst/>
          </a:prstGeom>
          <a:noFill/>
          <a:ln/>
        </p:spPr>
        <p:txBody>
          <a:bodyPr wrap="square" lIns="0" tIns="0" rIns="0" bIns="0" rtlCol="0" anchor="ctr"/>
          <a:lstStyle/>
          <a:p>
            <a:pPr marL="0" indent="0">
              <a:buNone/>
            </a:pPr>
            <a:r>
              <a:rPr lang="en-US" sz="1300" b="1" dirty="0">
                <a:solidFill>
                  <a:srgbClr val="065A82"/>
                </a:solidFill>
                <a:latin typeface="Calibri" pitchFamily="34" charset="0"/>
                <a:ea typeface="Calibri" pitchFamily="34" charset="-122"/>
                <a:cs typeface="Calibri" pitchFamily="34" charset="-120"/>
              </a:rPr>
              <a:t>01</a:t>
            </a:r>
            <a:endParaRPr lang="en-US" sz="1300" dirty="0"/>
          </a:p>
        </p:txBody>
      </p:sp>
      <p:sp>
        <p:nvSpPr>
          <p:cNvPr id="8" name="Text 6"/>
          <p:cNvSpPr/>
          <p:nvPr/>
        </p:nvSpPr>
        <p:spPr>
          <a:xfrm>
            <a:off x="1417320" y="1874520"/>
            <a:ext cx="4572000" cy="320040"/>
          </a:xfrm>
          <a:prstGeom prst="rect">
            <a:avLst/>
          </a:prstGeom>
          <a:noFill/>
          <a:ln/>
        </p:spPr>
        <p:txBody>
          <a:bodyPr wrap="square" lIns="0" tIns="0" rIns="0" bIns="0" rtlCol="0" anchor="ctr"/>
          <a:lstStyle/>
          <a:p>
            <a:pPr marL="0" indent="0">
              <a:buNone/>
            </a:pPr>
            <a:r>
              <a:rPr lang="en-US" sz="1500" b="1" kern="0" spc="100" dirty="0">
                <a:solidFill>
                  <a:srgbClr val="0B1F3A"/>
                </a:solidFill>
                <a:latin typeface="Calibri" pitchFamily="34" charset="0"/>
                <a:ea typeface="Calibri" pitchFamily="34" charset="-122"/>
                <a:cs typeface="Calibri" pitchFamily="34" charset="-120"/>
              </a:rPr>
              <a:t>AUDIENCE &amp; TARGETING</a:t>
            </a:r>
            <a:endParaRPr lang="en-US" sz="1500" dirty="0"/>
          </a:p>
        </p:txBody>
      </p:sp>
      <p:sp>
        <p:nvSpPr>
          <p:cNvPr id="9" name="Text 7"/>
          <p:cNvSpPr/>
          <p:nvPr/>
        </p:nvSpPr>
        <p:spPr>
          <a:xfrm>
            <a:off x="914400" y="2286000"/>
            <a:ext cx="5029200" cy="777240"/>
          </a:xfrm>
          <a:prstGeom prst="rect">
            <a:avLst/>
          </a:prstGeom>
          <a:noFill/>
          <a:ln/>
        </p:spPr>
        <p:txBody>
          <a:bodyPr wrap="square" lIns="0" tIns="0" rIns="0" bIns="0" rtlCol="0" anchor="t"/>
          <a:lstStyle/>
          <a:p>
            <a:pPr marL="0" indent="0">
              <a:buNone/>
            </a:pPr>
            <a:r>
              <a:rPr lang="en-US" sz="1200" dirty="0">
                <a:solidFill>
                  <a:srgbClr val="1E293B"/>
                </a:solidFill>
                <a:latin typeface="Calibri" pitchFamily="34" charset="0"/>
                <a:ea typeface="Calibri" pitchFamily="34" charset="-122"/>
                <a:cs typeface="Calibri" pitchFamily="34" charset="-120"/>
              </a:rPr>
              <a:t>Trouver des clients communs, étendre une audience (lookalike), activer chez un média partenaire.</a:t>
            </a:r>
            <a:endParaRPr lang="en-US" sz="1200" dirty="0"/>
          </a:p>
        </p:txBody>
      </p:sp>
      <p:sp>
        <p:nvSpPr>
          <p:cNvPr id="10" name="Text 8"/>
          <p:cNvSpPr/>
          <p:nvPr/>
        </p:nvSpPr>
        <p:spPr>
          <a:xfrm>
            <a:off x="914400" y="3108960"/>
            <a:ext cx="5029200" cy="685800"/>
          </a:xfrm>
          <a:prstGeom prst="rect">
            <a:avLst/>
          </a:prstGeom>
          <a:noFill/>
          <a:ln/>
        </p:spPr>
        <p:txBody>
          <a:bodyPr wrap="square" lIns="0" tIns="0" rIns="0" bIns="0" rtlCol="0" anchor="t"/>
          <a:lstStyle/>
          <a:p>
            <a:pPr marL="0" indent="0">
              <a:buNone/>
            </a:pPr>
            <a:r>
              <a:rPr lang="en-US" sz="1100" i="1" dirty="0">
                <a:solidFill>
                  <a:srgbClr val="1C7293"/>
                </a:solidFill>
                <a:latin typeface="Calibri" pitchFamily="34" charset="0"/>
                <a:ea typeface="Calibri" pitchFamily="34" charset="-122"/>
                <a:cs typeface="Calibri" pitchFamily="34" charset="-120"/>
              </a:rPr>
              <a:t>Ex : Nike active une audience "runners urbains" sur les écrans DOOH de JCDecaux sans partager son CRM.</a:t>
            </a:r>
            <a:endParaRPr lang="en-US" sz="1100" dirty="0"/>
          </a:p>
        </p:txBody>
      </p:sp>
      <p:sp>
        <p:nvSpPr>
          <p:cNvPr id="11" name="Shape 9"/>
          <p:cNvSpPr/>
          <p:nvPr/>
        </p:nvSpPr>
        <p:spPr>
          <a:xfrm>
            <a:off x="6263640" y="1691640"/>
            <a:ext cx="5440680" cy="219456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12" name="Shape 10"/>
          <p:cNvSpPr/>
          <p:nvPr/>
        </p:nvSpPr>
        <p:spPr>
          <a:xfrm>
            <a:off x="6263640" y="1691640"/>
            <a:ext cx="109728" cy="2194560"/>
          </a:xfrm>
          <a:prstGeom prst="rect">
            <a:avLst/>
          </a:prstGeom>
          <a:solidFill>
            <a:srgbClr val="1C7293"/>
          </a:solidFill>
          <a:ln w="12700">
            <a:solidFill>
              <a:srgbClr val="1C7293"/>
            </a:solidFill>
            <a:prstDash val="solid"/>
          </a:ln>
        </p:spPr>
      </p:sp>
      <p:sp>
        <p:nvSpPr>
          <p:cNvPr id="13" name="Text 11"/>
          <p:cNvSpPr/>
          <p:nvPr/>
        </p:nvSpPr>
        <p:spPr>
          <a:xfrm>
            <a:off x="6537960" y="1874520"/>
            <a:ext cx="640080" cy="320040"/>
          </a:xfrm>
          <a:prstGeom prst="rect">
            <a:avLst/>
          </a:prstGeom>
          <a:noFill/>
          <a:ln/>
        </p:spPr>
        <p:txBody>
          <a:bodyPr wrap="square" lIns="0" tIns="0" rIns="0" bIns="0" rtlCol="0" anchor="ctr"/>
          <a:lstStyle/>
          <a:p>
            <a:pPr marL="0" indent="0">
              <a:buNone/>
            </a:pPr>
            <a:r>
              <a:rPr lang="en-US" sz="1300" b="1" dirty="0">
                <a:solidFill>
                  <a:srgbClr val="1C7293"/>
                </a:solidFill>
                <a:latin typeface="Calibri" pitchFamily="34" charset="0"/>
                <a:ea typeface="Calibri" pitchFamily="34" charset="-122"/>
                <a:cs typeface="Calibri" pitchFamily="34" charset="-120"/>
              </a:rPr>
              <a:t>02</a:t>
            </a:r>
            <a:endParaRPr lang="en-US" sz="1300" dirty="0"/>
          </a:p>
        </p:txBody>
      </p:sp>
      <p:sp>
        <p:nvSpPr>
          <p:cNvPr id="14" name="Text 12"/>
          <p:cNvSpPr/>
          <p:nvPr/>
        </p:nvSpPr>
        <p:spPr>
          <a:xfrm>
            <a:off x="7040880" y="1874520"/>
            <a:ext cx="4572000" cy="320040"/>
          </a:xfrm>
          <a:prstGeom prst="rect">
            <a:avLst/>
          </a:prstGeom>
          <a:noFill/>
          <a:ln/>
        </p:spPr>
        <p:txBody>
          <a:bodyPr wrap="square" lIns="0" tIns="0" rIns="0" bIns="0" rtlCol="0" anchor="ctr"/>
          <a:lstStyle/>
          <a:p>
            <a:pPr marL="0" indent="0">
              <a:buNone/>
            </a:pPr>
            <a:r>
              <a:rPr lang="en-US" sz="1500" b="1" kern="0" spc="100" dirty="0">
                <a:solidFill>
                  <a:srgbClr val="0B1F3A"/>
                </a:solidFill>
                <a:latin typeface="Calibri" pitchFamily="34" charset="0"/>
                <a:ea typeface="Calibri" pitchFamily="34" charset="-122"/>
                <a:cs typeface="Calibri" pitchFamily="34" charset="-120"/>
              </a:rPr>
              <a:t>ATTRIBUTION &amp; MESURE</a:t>
            </a:r>
            <a:endParaRPr lang="en-US" sz="1500" dirty="0"/>
          </a:p>
        </p:txBody>
      </p:sp>
      <p:sp>
        <p:nvSpPr>
          <p:cNvPr id="15" name="Text 13"/>
          <p:cNvSpPr/>
          <p:nvPr/>
        </p:nvSpPr>
        <p:spPr>
          <a:xfrm>
            <a:off x="6537960" y="2286000"/>
            <a:ext cx="5029200" cy="777240"/>
          </a:xfrm>
          <a:prstGeom prst="rect">
            <a:avLst/>
          </a:prstGeom>
          <a:noFill/>
          <a:ln/>
        </p:spPr>
        <p:txBody>
          <a:bodyPr wrap="square" lIns="0" tIns="0" rIns="0" bIns="0" rtlCol="0" anchor="t"/>
          <a:lstStyle/>
          <a:p>
            <a:pPr marL="0" indent="0">
              <a:buNone/>
            </a:pPr>
            <a:r>
              <a:rPr lang="en-US" sz="1200" dirty="0">
                <a:solidFill>
                  <a:srgbClr val="1E293B"/>
                </a:solidFill>
                <a:latin typeface="Calibri" pitchFamily="34" charset="0"/>
                <a:ea typeface="Calibri" pitchFamily="34" charset="-122"/>
                <a:cs typeface="Calibri" pitchFamily="34" charset="-120"/>
              </a:rPr>
              <a:t>Mesurer combien de ventes ont réellement été générées par une campagne, en croisant exposition et achat.</a:t>
            </a:r>
            <a:endParaRPr lang="en-US" sz="1200" dirty="0"/>
          </a:p>
        </p:txBody>
      </p:sp>
      <p:sp>
        <p:nvSpPr>
          <p:cNvPr id="16" name="Text 14"/>
          <p:cNvSpPr/>
          <p:nvPr/>
        </p:nvSpPr>
        <p:spPr>
          <a:xfrm>
            <a:off x="6537960" y="3108960"/>
            <a:ext cx="5029200" cy="685800"/>
          </a:xfrm>
          <a:prstGeom prst="rect">
            <a:avLst/>
          </a:prstGeom>
          <a:noFill/>
          <a:ln/>
        </p:spPr>
        <p:txBody>
          <a:bodyPr wrap="square" lIns="0" tIns="0" rIns="0" bIns="0" rtlCol="0" anchor="t"/>
          <a:lstStyle/>
          <a:p>
            <a:pPr marL="0" indent="0">
              <a:buNone/>
            </a:pPr>
            <a:r>
              <a:rPr lang="en-US" sz="1100" i="1" dirty="0">
                <a:solidFill>
                  <a:srgbClr val="1C7293"/>
                </a:solidFill>
                <a:latin typeface="Calibri" pitchFamily="34" charset="0"/>
                <a:ea typeface="Calibri" pitchFamily="34" charset="-122"/>
                <a:cs typeface="Calibri" pitchFamily="34" charset="-120"/>
              </a:rPr>
              <a:t>Ex : L'Oréal mesure l'impact de ses campagnes TF1 sur ses ventes Carrefour avec une DCR retail media.</a:t>
            </a:r>
            <a:endParaRPr lang="en-US" sz="1100" dirty="0"/>
          </a:p>
        </p:txBody>
      </p:sp>
      <p:sp>
        <p:nvSpPr>
          <p:cNvPr id="17" name="Shape 15"/>
          <p:cNvSpPr/>
          <p:nvPr/>
        </p:nvSpPr>
        <p:spPr>
          <a:xfrm>
            <a:off x="640080" y="4069080"/>
            <a:ext cx="5440680" cy="219456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18" name="Shape 16"/>
          <p:cNvSpPr/>
          <p:nvPr/>
        </p:nvSpPr>
        <p:spPr>
          <a:xfrm>
            <a:off x="640080" y="4069080"/>
            <a:ext cx="109728" cy="2194560"/>
          </a:xfrm>
          <a:prstGeom prst="rect">
            <a:avLst/>
          </a:prstGeom>
          <a:solidFill>
            <a:srgbClr val="21295C"/>
          </a:solidFill>
          <a:ln w="12700">
            <a:solidFill>
              <a:srgbClr val="21295C"/>
            </a:solidFill>
            <a:prstDash val="solid"/>
          </a:ln>
        </p:spPr>
      </p:sp>
      <p:sp>
        <p:nvSpPr>
          <p:cNvPr id="19" name="Text 17"/>
          <p:cNvSpPr/>
          <p:nvPr/>
        </p:nvSpPr>
        <p:spPr>
          <a:xfrm>
            <a:off x="914400" y="4251960"/>
            <a:ext cx="640080" cy="320040"/>
          </a:xfrm>
          <a:prstGeom prst="rect">
            <a:avLst/>
          </a:prstGeom>
          <a:noFill/>
          <a:ln/>
        </p:spPr>
        <p:txBody>
          <a:bodyPr wrap="square" lIns="0" tIns="0" rIns="0" bIns="0" rtlCol="0" anchor="ctr"/>
          <a:lstStyle/>
          <a:p>
            <a:pPr marL="0" indent="0">
              <a:buNone/>
            </a:pPr>
            <a:r>
              <a:rPr lang="en-US" sz="1300" b="1" dirty="0">
                <a:solidFill>
                  <a:srgbClr val="21295C"/>
                </a:solidFill>
                <a:latin typeface="Calibri" pitchFamily="34" charset="0"/>
                <a:ea typeface="Calibri" pitchFamily="34" charset="-122"/>
                <a:cs typeface="Calibri" pitchFamily="34" charset="-120"/>
              </a:rPr>
              <a:t>03</a:t>
            </a:r>
            <a:endParaRPr lang="en-US" sz="1300" dirty="0"/>
          </a:p>
        </p:txBody>
      </p:sp>
      <p:sp>
        <p:nvSpPr>
          <p:cNvPr id="20" name="Text 18"/>
          <p:cNvSpPr/>
          <p:nvPr/>
        </p:nvSpPr>
        <p:spPr>
          <a:xfrm>
            <a:off x="1417320" y="4251960"/>
            <a:ext cx="4572000" cy="320040"/>
          </a:xfrm>
          <a:prstGeom prst="rect">
            <a:avLst/>
          </a:prstGeom>
          <a:noFill/>
          <a:ln/>
        </p:spPr>
        <p:txBody>
          <a:bodyPr wrap="square" lIns="0" tIns="0" rIns="0" bIns="0" rtlCol="0" anchor="ctr"/>
          <a:lstStyle/>
          <a:p>
            <a:pPr marL="0" indent="0">
              <a:buNone/>
            </a:pPr>
            <a:r>
              <a:rPr lang="en-US" sz="1500" b="1" kern="0" spc="100" dirty="0">
                <a:solidFill>
                  <a:srgbClr val="0B1F3A"/>
                </a:solidFill>
                <a:latin typeface="Calibri" pitchFamily="34" charset="0"/>
                <a:ea typeface="Calibri" pitchFamily="34" charset="-122"/>
                <a:cs typeface="Calibri" pitchFamily="34" charset="-120"/>
              </a:rPr>
              <a:t>INCREMENTALITÉ &amp; TEST</a:t>
            </a:r>
            <a:endParaRPr lang="en-US" sz="1500" dirty="0"/>
          </a:p>
        </p:txBody>
      </p:sp>
      <p:sp>
        <p:nvSpPr>
          <p:cNvPr id="21" name="Text 19"/>
          <p:cNvSpPr/>
          <p:nvPr/>
        </p:nvSpPr>
        <p:spPr>
          <a:xfrm>
            <a:off x="914400" y="4663440"/>
            <a:ext cx="5029200" cy="777240"/>
          </a:xfrm>
          <a:prstGeom prst="rect">
            <a:avLst/>
          </a:prstGeom>
          <a:noFill/>
          <a:ln/>
        </p:spPr>
        <p:txBody>
          <a:bodyPr wrap="square" lIns="0" tIns="0" rIns="0" bIns="0" rtlCol="0" anchor="t"/>
          <a:lstStyle/>
          <a:p>
            <a:pPr marL="0" indent="0">
              <a:buNone/>
            </a:pPr>
            <a:r>
              <a:rPr lang="en-US" sz="1200" dirty="0">
                <a:solidFill>
                  <a:srgbClr val="1E293B"/>
                </a:solidFill>
                <a:latin typeface="Calibri" pitchFamily="34" charset="0"/>
                <a:ea typeface="Calibri" pitchFamily="34" charset="-122"/>
                <a:cs typeface="Calibri" pitchFamily="34" charset="-120"/>
              </a:rPr>
              <a:t>Comparer un groupe exposé vs un groupe témoin pour isoler la vraie contribution média.</a:t>
            </a:r>
            <a:endParaRPr lang="en-US" sz="1200" dirty="0"/>
          </a:p>
        </p:txBody>
      </p:sp>
      <p:sp>
        <p:nvSpPr>
          <p:cNvPr id="22" name="Text 20"/>
          <p:cNvSpPr/>
          <p:nvPr/>
        </p:nvSpPr>
        <p:spPr>
          <a:xfrm>
            <a:off x="914400" y="5486400"/>
            <a:ext cx="5029200" cy="685800"/>
          </a:xfrm>
          <a:prstGeom prst="rect">
            <a:avLst/>
          </a:prstGeom>
          <a:noFill/>
          <a:ln/>
        </p:spPr>
        <p:txBody>
          <a:bodyPr wrap="square" lIns="0" tIns="0" rIns="0" bIns="0" rtlCol="0" anchor="t"/>
          <a:lstStyle/>
          <a:p>
            <a:pPr marL="0" indent="0">
              <a:buNone/>
            </a:pPr>
            <a:r>
              <a:rPr lang="en-US" sz="1100" i="1" dirty="0">
                <a:solidFill>
                  <a:srgbClr val="1C7293"/>
                </a:solidFill>
                <a:latin typeface="Calibri" pitchFamily="34" charset="0"/>
                <a:ea typeface="Calibri" pitchFamily="34" charset="-122"/>
                <a:cs typeface="Calibri" pitchFamily="34" charset="-120"/>
              </a:rPr>
              <a:t>Ex : Uber teste l'incrémentalité d'une campagne Meta en croisant avec sa base de courses.</a:t>
            </a:r>
            <a:endParaRPr lang="en-US" sz="1100" dirty="0"/>
          </a:p>
        </p:txBody>
      </p:sp>
      <p:sp>
        <p:nvSpPr>
          <p:cNvPr id="23" name="Shape 21"/>
          <p:cNvSpPr/>
          <p:nvPr/>
        </p:nvSpPr>
        <p:spPr>
          <a:xfrm>
            <a:off x="6263640" y="4069080"/>
            <a:ext cx="5440680" cy="219456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24" name="Shape 22"/>
          <p:cNvSpPr/>
          <p:nvPr/>
        </p:nvSpPr>
        <p:spPr>
          <a:xfrm>
            <a:off x="6263640" y="4069080"/>
            <a:ext cx="109728" cy="2194560"/>
          </a:xfrm>
          <a:prstGeom prst="rect">
            <a:avLst/>
          </a:prstGeom>
          <a:solidFill>
            <a:srgbClr val="F96167"/>
          </a:solidFill>
          <a:ln w="12700">
            <a:solidFill>
              <a:srgbClr val="F96167"/>
            </a:solidFill>
            <a:prstDash val="solid"/>
          </a:ln>
        </p:spPr>
      </p:sp>
      <p:sp>
        <p:nvSpPr>
          <p:cNvPr id="25" name="Text 23"/>
          <p:cNvSpPr/>
          <p:nvPr/>
        </p:nvSpPr>
        <p:spPr>
          <a:xfrm>
            <a:off x="6537960" y="4251960"/>
            <a:ext cx="640080" cy="320040"/>
          </a:xfrm>
          <a:prstGeom prst="rect">
            <a:avLst/>
          </a:prstGeom>
          <a:noFill/>
          <a:ln/>
        </p:spPr>
        <p:txBody>
          <a:bodyPr wrap="square" lIns="0" tIns="0" rIns="0" bIns="0" rtlCol="0" anchor="ctr"/>
          <a:lstStyle/>
          <a:p>
            <a:pPr marL="0" indent="0">
              <a:buNone/>
            </a:pPr>
            <a:r>
              <a:rPr lang="en-US" sz="1300" b="1" dirty="0">
                <a:solidFill>
                  <a:srgbClr val="F96167"/>
                </a:solidFill>
                <a:latin typeface="Calibri" pitchFamily="34" charset="0"/>
                <a:ea typeface="Calibri" pitchFamily="34" charset="-122"/>
                <a:cs typeface="Calibri" pitchFamily="34" charset="-120"/>
              </a:rPr>
              <a:t>04</a:t>
            </a:r>
            <a:endParaRPr lang="en-US" sz="1300" dirty="0"/>
          </a:p>
        </p:txBody>
      </p:sp>
      <p:sp>
        <p:nvSpPr>
          <p:cNvPr id="26" name="Text 24"/>
          <p:cNvSpPr/>
          <p:nvPr/>
        </p:nvSpPr>
        <p:spPr>
          <a:xfrm>
            <a:off x="7040880" y="4251960"/>
            <a:ext cx="4572000" cy="320040"/>
          </a:xfrm>
          <a:prstGeom prst="rect">
            <a:avLst/>
          </a:prstGeom>
          <a:noFill/>
          <a:ln/>
        </p:spPr>
        <p:txBody>
          <a:bodyPr wrap="square" lIns="0" tIns="0" rIns="0" bIns="0" rtlCol="0" anchor="ctr"/>
          <a:lstStyle/>
          <a:p>
            <a:pPr marL="0" indent="0">
              <a:buNone/>
            </a:pPr>
            <a:r>
              <a:rPr lang="en-US" sz="1500" b="1" kern="0" spc="100" dirty="0">
                <a:solidFill>
                  <a:srgbClr val="0B1F3A"/>
                </a:solidFill>
                <a:latin typeface="Calibri" pitchFamily="34" charset="0"/>
                <a:ea typeface="Calibri" pitchFamily="34" charset="-122"/>
                <a:cs typeface="Calibri" pitchFamily="34" charset="-120"/>
              </a:rPr>
              <a:t>INSIGHTS &amp; PLANNING</a:t>
            </a:r>
            <a:endParaRPr lang="en-US" sz="1500" dirty="0"/>
          </a:p>
        </p:txBody>
      </p:sp>
      <p:sp>
        <p:nvSpPr>
          <p:cNvPr id="27" name="Text 25"/>
          <p:cNvSpPr/>
          <p:nvPr/>
        </p:nvSpPr>
        <p:spPr>
          <a:xfrm>
            <a:off x="6537960" y="4663440"/>
            <a:ext cx="5029200" cy="777240"/>
          </a:xfrm>
          <a:prstGeom prst="rect">
            <a:avLst/>
          </a:prstGeom>
          <a:noFill/>
          <a:ln/>
        </p:spPr>
        <p:txBody>
          <a:bodyPr wrap="square" lIns="0" tIns="0" rIns="0" bIns="0" rtlCol="0" anchor="t"/>
          <a:lstStyle/>
          <a:p>
            <a:pPr marL="0" indent="0">
              <a:buNone/>
            </a:pPr>
            <a:r>
              <a:rPr lang="en-US" sz="1200" dirty="0">
                <a:solidFill>
                  <a:srgbClr val="1E293B"/>
                </a:solidFill>
                <a:latin typeface="Calibri" pitchFamily="34" charset="0"/>
                <a:ea typeface="Calibri" pitchFamily="34" charset="-122"/>
                <a:cs typeface="Calibri" pitchFamily="34" charset="-120"/>
              </a:rPr>
              <a:t>Comprendre les comportements croisés client/partenaire pour mieux planifier mix produit, prix, média.</a:t>
            </a:r>
            <a:endParaRPr lang="en-US" sz="1200" dirty="0"/>
          </a:p>
        </p:txBody>
      </p:sp>
      <p:sp>
        <p:nvSpPr>
          <p:cNvPr id="28" name="Text 26"/>
          <p:cNvSpPr/>
          <p:nvPr/>
        </p:nvSpPr>
        <p:spPr>
          <a:xfrm>
            <a:off x="6537960" y="5486400"/>
            <a:ext cx="5029200" cy="685800"/>
          </a:xfrm>
          <a:prstGeom prst="rect">
            <a:avLst/>
          </a:prstGeom>
          <a:noFill/>
          <a:ln/>
        </p:spPr>
        <p:txBody>
          <a:bodyPr wrap="square" lIns="0" tIns="0" rIns="0" bIns="0" rtlCol="0" anchor="t"/>
          <a:lstStyle/>
          <a:p>
            <a:pPr marL="0" indent="0">
              <a:buNone/>
            </a:pPr>
            <a:r>
              <a:rPr lang="en-US" sz="1100" i="1" dirty="0">
                <a:solidFill>
                  <a:srgbClr val="1C7293"/>
                </a:solidFill>
                <a:latin typeface="Calibri" pitchFamily="34" charset="0"/>
                <a:ea typeface="Calibri" pitchFamily="34" charset="-122"/>
                <a:cs typeface="Calibri" pitchFamily="34" charset="-120"/>
              </a:rPr>
              <a:t>Ex : Un parfumeur croise sa base CRM avec celle d'un grand magasin pour bâtir son plan 2026.</a:t>
            </a:r>
            <a:endParaRPr lang="en-US" sz="1100" dirty="0"/>
          </a:p>
        </p:txBody>
      </p:sp>
      <p:sp>
        <p:nvSpPr>
          <p:cNvPr id="29" name="Shape 27"/>
          <p:cNvSpPr/>
          <p:nvPr/>
        </p:nvSpPr>
        <p:spPr>
          <a:xfrm>
            <a:off x="0" y="6583680"/>
            <a:ext cx="12191695" cy="274320"/>
          </a:xfrm>
          <a:prstGeom prst="rect">
            <a:avLst/>
          </a:prstGeom>
          <a:solidFill>
            <a:srgbClr val="0B1F3A"/>
          </a:solidFill>
          <a:ln w="12700">
            <a:solidFill>
              <a:srgbClr val="0B1F3A"/>
            </a:solidFill>
            <a:prstDash val="solid"/>
          </a:ln>
        </p:spPr>
      </p:sp>
      <p:sp>
        <p:nvSpPr>
          <p:cNvPr id="30" name="Text 28"/>
          <p:cNvSpPr/>
          <p:nvPr/>
        </p:nvSpPr>
        <p:spPr>
          <a:xfrm>
            <a:off x="365760" y="6601968"/>
            <a:ext cx="822960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Session 1  Comprendre les DCR</a:t>
            </a:r>
            <a:endParaRPr lang="en-US" sz="1000" dirty="0"/>
          </a:p>
        </p:txBody>
      </p:sp>
      <p:sp>
        <p:nvSpPr>
          <p:cNvPr id="31" name="Text 29"/>
          <p:cNvSpPr/>
          <p:nvPr/>
        </p:nvSpPr>
        <p:spPr>
          <a:xfrm>
            <a:off x="11551615" y="6601968"/>
            <a:ext cx="365760" cy="237744"/>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88119-6855-B1C9-EBA1-FAD2FA7E22F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42619D3-EBDD-018F-BC23-DFCF6E207F12}"/>
              </a:ext>
            </a:extLst>
          </p:cNvPr>
          <p:cNvSpPr/>
          <p:nvPr/>
        </p:nvSpPr>
        <p:spPr>
          <a:xfrm>
            <a:off x="548640" y="411480"/>
            <a:ext cx="11064240" cy="731520"/>
          </a:xfrm>
          <a:prstGeom prst="rect">
            <a:avLst/>
          </a:prstGeom>
          <a:noFill/>
          <a:ln/>
        </p:spPr>
        <p:txBody>
          <a:bodyPr wrap="square" lIns="0" tIns="0" rIns="0" bIns="0" rtlCol="0" anchor="ctr"/>
          <a:lstStyle/>
          <a:p>
            <a:pPr marL="0" indent="0" algn="l">
              <a:buNone/>
            </a:pPr>
            <a:r>
              <a:rPr lang="en-US" sz="3200" b="1" dirty="0">
                <a:solidFill>
                  <a:srgbClr val="0B1F3A"/>
                </a:solidFill>
                <a:latin typeface="Calibri" pitchFamily="34" charset="0"/>
                <a:ea typeface="Calibri" pitchFamily="34" charset="-122"/>
                <a:cs typeface="Calibri" pitchFamily="34" charset="-120"/>
              </a:rPr>
              <a:t>Les 4 familles de cas d'usage marketing</a:t>
            </a:r>
            <a:endParaRPr lang="en-US" sz="3200" dirty="0"/>
          </a:p>
        </p:txBody>
      </p:sp>
      <p:sp>
        <p:nvSpPr>
          <p:cNvPr id="3" name="Shape 1">
            <a:extLst>
              <a:ext uri="{FF2B5EF4-FFF2-40B4-BE49-F238E27FC236}">
                <a16:creationId xmlns:a16="http://schemas.microsoft.com/office/drawing/2014/main" id="{3B82D55F-BCC6-F97A-CB99-2DDCF198C14E}"/>
              </a:ext>
            </a:extLst>
          </p:cNvPr>
          <p:cNvSpPr/>
          <p:nvPr/>
        </p:nvSpPr>
        <p:spPr>
          <a:xfrm>
            <a:off x="548640" y="1005840"/>
            <a:ext cx="548640" cy="73152"/>
          </a:xfrm>
          <a:prstGeom prst="rect">
            <a:avLst/>
          </a:prstGeom>
          <a:solidFill>
            <a:srgbClr val="F96167"/>
          </a:solidFill>
          <a:ln w="12700">
            <a:solidFill>
              <a:srgbClr val="F96167"/>
            </a:solidFill>
            <a:prstDash val="solid"/>
          </a:ln>
        </p:spPr>
      </p:sp>
      <p:sp>
        <p:nvSpPr>
          <p:cNvPr id="4" name="Text 2">
            <a:extLst>
              <a:ext uri="{FF2B5EF4-FFF2-40B4-BE49-F238E27FC236}">
                <a16:creationId xmlns:a16="http://schemas.microsoft.com/office/drawing/2014/main" id="{EA12AC5D-3475-37F6-EC8A-B797DDB8437E}"/>
              </a:ext>
            </a:extLst>
          </p:cNvPr>
          <p:cNvSpPr/>
          <p:nvPr/>
        </p:nvSpPr>
        <p:spPr>
          <a:xfrm>
            <a:off x="548640" y="1143000"/>
            <a:ext cx="11064240" cy="411480"/>
          </a:xfrm>
          <a:prstGeom prst="rect">
            <a:avLst/>
          </a:prstGeom>
          <a:noFill/>
          <a:ln/>
        </p:spPr>
        <p:txBody>
          <a:bodyPr wrap="square" lIns="0" tIns="0" rIns="0" bIns="0" rtlCol="0" anchor="ctr"/>
          <a:lstStyle/>
          <a:p>
            <a:pPr marL="0" indent="0" algn="l">
              <a:buNone/>
            </a:pPr>
            <a:r>
              <a:rPr lang="en-US" sz="1600" i="1" dirty="0">
                <a:solidFill>
                  <a:srgbClr val="1C7293"/>
                </a:solidFill>
                <a:latin typeface="Calibri" pitchFamily="34" charset="0"/>
                <a:ea typeface="Calibri" pitchFamily="34" charset="-122"/>
                <a:cs typeface="Calibri" pitchFamily="34" charset="-120"/>
              </a:rPr>
              <a:t>À chaque famille son cas, à chaque cas son DCR (on verra lequel en S2/S3).</a:t>
            </a:r>
            <a:endParaRPr lang="en-US" sz="1600" dirty="0"/>
          </a:p>
        </p:txBody>
      </p:sp>
      <p:sp>
        <p:nvSpPr>
          <p:cNvPr id="5" name="Shape 3">
            <a:extLst>
              <a:ext uri="{FF2B5EF4-FFF2-40B4-BE49-F238E27FC236}">
                <a16:creationId xmlns:a16="http://schemas.microsoft.com/office/drawing/2014/main" id="{8E97917E-4881-2D5D-7B93-003AD1C112E1}"/>
              </a:ext>
            </a:extLst>
          </p:cNvPr>
          <p:cNvSpPr/>
          <p:nvPr/>
        </p:nvSpPr>
        <p:spPr>
          <a:xfrm>
            <a:off x="640080" y="1691640"/>
            <a:ext cx="5440680" cy="219456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6" name="Shape 4">
            <a:extLst>
              <a:ext uri="{FF2B5EF4-FFF2-40B4-BE49-F238E27FC236}">
                <a16:creationId xmlns:a16="http://schemas.microsoft.com/office/drawing/2014/main" id="{14143DDD-E915-0A5E-B298-5AABF5A9CE9B}"/>
              </a:ext>
            </a:extLst>
          </p:cNvPr>
          <p:cNvSpPr/>
          <p:nvPr/>
        </p:nvSpPr>
        <p:spPr>
          <a:xfrm>
            <a:off x="640080" y="1691640"/>
            <a:ext cx="109728" cy="2194560"/>
          </a:xfrm>
          <a:prstGeom prst="rect">
            <a:avLst/>
          </a:prstGeom>
          <a:solidFill>
            <a:srgbClr val="065A82"/>
          </a:solidFill>
          <a:ln w="12700">
            <a:solidFill>
              <a:srgbClr val="065A82"/>
            </a:solidFill>
            <a:prstDash val="solid"/>
          </a:ln>
        </p:spPr>
      </p:sp>
      <p:sp>
        <p:nvSpPr>
          <p:cNvPr id="7" name="Text 5">
            <a:extLst>
              <a:ext uri="{FF2B5EF4-FFF2-40B4-BE49-F238E27FC236}">
                <a16:creationId xmlns:a16="http://schemas.microsoft.com/office/drawing/2014/main" id="{2509C1CD-C3C2-0F9B-A67F-171F954B6892}"/>
              </a:ext>
            </a:extLst>
          </p:cNvPr>
          <p:cNvSpPr/>
          <p:nvPr/>
        </p:nvSpPr>
        <p:spPr>
          <a:xfrm>
            <a:off x="914400" y="1874520"/>
            <a:ext cx="640080" cy="320040"/>
          </a:xfrm>
          <a:prstGeom prst="rect">
            <a:avLst/>
          </a:prstGeom>
          <a:noFill/>
          <a:ln/>
        </p:spPr>
        <p:txBody>
          <a:bodyPr wrap="square" lIns="0" tIns="0" rIns="0" bIns="0" rtlCol="0" anchor="ctr"/>
          <a:lstStyle/>
          <a:p>
            <a:pPr marL="0" indent="0">
              <a:buNone/>
            </a:pPr>
            <a:r>
              <a:rPr lang="en-US" sz="1300" b="1" dirty="0">
                <a:solidFill>
                  <a:srgbClr val="065A82"/>
                </a:solidFill>
                <a:latin typeface="Calibri" pitchFamily="34" charset="0"/>
                <a:ea typeface="Calibri" pitchFamily="34" charset="-122"/>
                <a:cs typeface="Calibri" pitchFamily="34" charset="-120"/>
              </a:rPr>
              <a:t>01</a:t>
            </a:r>
            <a:endParaRPr lang="en-US" sz="1300" dirty="0"/>
          </a:p>
        </p:txBody>
      </p:sp>
      <p:sp>
        <p:nvSpPr>
          <p:cNvPr id="8" name="Text 6">
            <a:extLst>
              <a:ext uri="{FF2B5EF4-FFF2-40B4-BE49-F238E27FC236}">
                <a16:creationId xmlns:a16="http://schemas.microsoft.com/office/drawing/2014/main" id="{E2A0F0ED-687A-6D24-D72A-BD120A1324F2}"/>
              </a:ext>
            </a:extLst>
          </p:cNvPr>
          <p:cNvSpPr/>
          <p:nvPr/>
        </p:nvSpPr>
        <p:spPr>
          <a:xfrm>
            <a:off x="1417320" y="1874520"/>
            <a:ext cx="4572000" cy="320040"/>
          </a:xfrm>
          <a:prstGeom prst="rect">
            <a:avLst/>
          </a:prstGeom>
          <a:noFill/>
          <a:ln/>
        </p:spPr>
        <p:txBody>
          <a:bodyPr wrap="square" lIns="0" tIns="0" rIns="0" bIns="0" rtlCol="0" anchor="ctr"/>
          <a:lstStyle/>
          <a:p>
            <a:pPr marL="0" indent="0">
              <a:buNone/>
            </a:pPr>
            <a:r>
              <a:rPr lang="en-US" sz="1500" b="1" kern="0" spc="100" dirty="0">
                <a:solidFill>
                  <a:srgbClr val="0B1F3A"/>
                </a:solidFill>
                <a:latin typeface="Calibri" pitchFamily="34" charset="0"/>
                <a:ea typeface="Calibri" pitchFamily="34" charset="-122"/>
                <a:cs typeface="Calibri" pitchFamily="34" charset="-120"/>
              </a:rPr>
              <a:t>AUDIENCE &amp; TARGETING</a:t>
            </a:r>
            <a:endParaRPr lang="en-US" sz="1500" dirty="0"/>
          </a:p>
        </p:txBody>
      </p:sp>
      <p:sp>
        <p:nvSpPr>
          <p:cNvPr id="9" name="Text 7">
            <a:extLst>
              <a:ext uri="{FF2B5EF4-FFF2-40B4-BE49-F238E27FC236}">
                <a16:creationId xmlns:a16="http://schemas.microsoft.com/office/drawing/2014/main" id="{F21C2D25-217C-EA8E-A70C-7B5C1BA42534}"/>
              </a:ext>
            </a:extLst>
          </p:cNvPr>
          <p:cNvSpPr/>
          <p:nvPr/>
        </p:nvSpPr>
        <p:spPr>
          <a:xfrm>
            <a:off x="914400" y="2286000"/>
            <a:ext cx="5029200" cy="777240"/>
          </a:xfrm>
          <a:prstGeom prst="rect">
            <a:avLst/>
          </a:prstGeom>
          <a:noFill/>
          <a:ln/>
        </p:spPr>
        <p:txBody>
          <a:bodyPr wrap="square" lIns="0" tIns="0" rIns="0" bIns="0" rtlCol="0" anchor="t"/>
          <a:lstStyle/>
          <a:p>
            <a:pPr marL="0" indent="0">
              <a:buNone/>
            </a:pPr>
            <a:r>
              <a:rPr lang="en-US" sz="1200" dirty="0">
                <a:solidFill>
                  <a:srgbClr val="1E293B"/>
                </a:solidFill>
                <a:latin typeface="Calibri" pitchFamily="34" charset="0"/>
                <a:ea typeface="Calibri" pitchFamily="34" charset="-122"/>
                <a:cs typeface="Calibri" pitchFamily="34" charset="-120"/>
              </a:rPr>
              <a:t>Trouver des clients communs, étendre une audience (lookalike), activer chez un média partenaire.</a:t>
            </a:r>
            <a:endParaRPr lang="en-US" sz="1200" dirty="0"/>
          </a:p>
        </p:txBody>
      </p:sp>
      <p:sp>
        <p:nvSpPr>
          <p:cNvPr id="10" name="Text 8">
            <a:extLst>
              <a:ext uri="{FF2B5EF4-FFF2-40B4-BE49-F238E27FC236}">
                <a16:creationId xmlns:a16="http://schemas.microsoft.com/office/drawing/2014/main" id="{A87727E0-31F8-A533-AB67-CBC540FE1BD3}"/>
              </a:ext>
            </a:extLst>
          </p:cNvPr>
          <p:cNvSpPr/>
          <p:nvPr/>
        </p:nvSpPr>
        <p:spPr>
          <a:xfrm>
            <a:off x="914400" y="3108960"/>
            <a:ext cx="5029200" cy="685800"/>
          </a:xfrm>
          <a:prstGeom prst="rect">
            <a:avLst/>
          </a:prstGeom>
          <a:noFill/>
          <a:ln/>
        </p:spPr>
        <p:txBody>
          <a:bodyPr wrap="square" lIns="0" tIns="0" rIns="0" bIns="0" rtlCol="0" anchor="t"/>
          <a:lstStyle/>
          <a:p>
            <a:pPr marL="0" indent="0">
              <a:buNone/>
            </a:pPr>
            <a:r>
              <a:rPr lang="en-US" sz="1100" i="1" dirty="0">
                <a:solidFill>
                  <a:srgbClr val="1C7293"/>
                </a:solidFill>
                <a:latin typeface="Calibri" pitchFamily="34" charset="0"/>
                <a:ea typeface="Calibri" pitchFamily="34" charset="-122"/>
                <a:cs typeface="Calibri" pitchFamily="34" charset="-120"/>
              </a:rPr>
              <a:t>Ex : Nike active une audience "runners urbains" sur les écrans DOOH de JCDecaux sans partager son CRM.</a:t>
            </a:r>
            <a:endParaRPr lang="en-US" sz="1100" dirty="0"/>
          </a:p>
        </p:txBody>
      </p:sp>
      <p:sp>
        <p:nvSpPr>
          <p:cNvPr id="29" name="Shape 27">
            <a:extLst>
              <a:ext uri="{FF2B5EF4-FFF2-40B4-BE49-F238E27FC236}">
                <a16:creationId xmlns:a16="http://schemas.microsoft.com/office/drawing/2014/main" id="{3EF59CF1-141C-0DAC-F0C3-6D0B7560476E}"/>
              </a:ext>
            </a:extLst>
          </p:cNvPr>
          <p:cNvSpPr/>
          <p:nvPr/>
        </p:nvSpPr>
        <p:spPr>
          <a:xfrm>
            <a:off x="0" y="6583680"/>
            <a:ext cx="12191695" cy="274320"/>
          </a:xfrm>
          <a:prstGeom prst="rect">
            <a:avLst/>
          </a:prstGeom>
          <a:solidFill>
            <a:srgbClr val="0B1F3A"/>
          </a:solidFill>
          <a:ln w="12700">
            <a:solidFill>
              <a:srgbClr val="0B1F3A"/>
            </a:solidFill>
            <a:prstDash val="solid"/>
          </a:ln>
        </p:spPr>
      </p:sp>
      <p:sp>
        <p:nvSpPr>
          <p:cNvPr id="30" name="Text 28">
            <a:extLst>
              <a:ext uri="{FF2B5EF4-FFF2-40B4-BE49-F238E27FC236}">
                <a16:creationId xmlns:a16="http://schemas.microsoft.com/office/drawing/2014/main" id="{A4345656-D08E-F807-A522-FC09F0E53FF5}"/>
              </a:ext>
            </a:extLst>
          </p:cNvPr>
          <p:cNvSpPr/>
          <p:nvPr/>
        </p:nvSpPr>
        <p:spPr>
          <a:xfrm>
            <a:off x="365760" y="6601968"/>
            <a:ext cx="822960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Session 1  Comprendre les DCR</a:t>
            </a:r>
            <a:endParaRPr lang="en-US" sz="1000" dirty="0"/>
          </a:p>
        </p:txBody>
      </p:sp>
      <p:sp>
        <p:nvSpPr>
          <p:cNvPr id="31" name="Text 29">
            <a:extLst>
              <a:ext uri="{FF2B5EF4-FFF2-40B4-BE49-F238E27FC236}">
                <a16:creationId xmlns:a16="http://schemas.microsoft.com/office/drawing/2014/main" id="{C38D01BF-8FD8-79D3-01B1-A8467D9F3949}"/>
              </a:ext>
            </a:extLst>
          </p:cNvPr>
          <p:cNvSpPr/>
          <p:nvPr/>
        </p:nvSpPr>
        <p:spPr>
          <a:xfrm>
            <a:off x="11551615" y="6601968"/>
            <a:ext cx="365760" cy="237744"/>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11</a:t>
            </a:r>
            <a:endParaRPr lang="en-US" sz="1000" dirty="0"/>
          </a:p>
        </p:txBody>
      </p:sp>
      <p:sp>
        <p:nvSpPr>
          <p:cNvPr id="37" name="ZoneTexte 36">
            <a:extLst>
              <a:ext uri="{FF2B5EF4-FFF2-40B4-BE49-F238E27FC236}">
                <a16:creationId xmlns:a16="http://schemas.microsoft.com/office/drawing/2014/main" id="{AD674045-9FC9-A595-A452-3A066538911F}"/>
              </a:ext>
            </a:extLst>
          </p:cNvPr>
          <p:cNvSpPr txBox="1"/>
          <p:nvPr/>
        </p:nvSpPr>
        <p:spPr>
          <a:xfrm>
            <a:off x="548640" y="4035716"/>
            <a:ext cx="10104564" cy="1477328"/>
          </a:xfrm>
          <a:prstGeom prst="rect">
            <a:avLst/>
          </a:prstGeom>
          <a:noFill/>
        </p:spPr>
        <p:txBody>
          <a:bodyPr wrap="square">
            <a:spAutoFit/>
          </a:bodyPr>
          <a:lstStyle/>
          <a:p>
            <a:r>
              <a:rPr lang="fr-FR" dirty="0"/>
              <a:t>Scénario Nike × Décathlon (</a:t>
            </a:r>
            <a:r>
              <a:rPr lang="fr-FR" dirty="0" err="1"/>
              <a:t>retargeting</a:t>
            </a:r>
            <a:r>
              <a:rPr lang="fr-FR" dirty="0"/>
              <a:t> trail segment) : Nike veut faire campagne trail </a:t>
            </a:r>
            <a:r>
              <a:rPr lang="fr-FR" dirty="0" err="1"/>
              <a:t>shoes</a:t>
            </a:r>
            <a:r>
              <a:rPr lang="fr-FR" dirty="0"/>
              <a:t>. DCR répond « </a:t>
            </a:r>
            <a:r>
              <a:rPr lang="fr-FR" dirty="0" err="1"/>
              <a:t>overlap</a:t>
            </a:r>
            <a:r>
              <a:rPr lang="fr-FR" dirty="0"/>
              <a:t> = 87k ». Nike récupère (pas les emails, mais) une liste de </a:t>
            </a:r>
            <a:r>
              <a:rPr lang="fr-FR" dirty="0" err="1"/>
              <a:t>hashed</a:t>
            </a:r>
            <a:r>
              <a:rPr lang="fr-FR" dirty="0"/>
              <a:t> </a:t>
            </a:r>
            <a:r>
              <a:rPr lang="fr-FR" dirty="0" err="1"/>
              <a:t>identifiers</a:t>
            </a:r>
            <a:r>
              <a:rPr lang="fr-FR" dirty="0"/>
              <a:t> pour ces 87k. Nike fournit ce hash </a:t>
            </a:r>
            <a:r>
              <a:rPr lang="fr-FR" dirty="0" err="1"/>
              <a:t>list</a:t>
            </a:r>
            <a:r>
              <a:rPr lang="fr-FR" dirty="0"/>
              <a:t> à Meta/Google (via Conversions API). Meta/Google reconnaît les </a:t>
            </a:r>
            <a:r>
              <a:rPr lang="fr-FR" dirty="0" err="1"/>
              <a:t>users</a:t>
            </a:r>
            <a:r>
              <a:rPr lang="fr-FR" dirty="0"/>
              <a:t> correspondant. Nike lance annonce trail </a:t>
            </a:r>
            <a:r>
              <a:rPr lang="fr-FR" dirty="0" err="1"/>
              <a:t>shoes</a:t>
            </a:r>
            <a:r>
              <a:rPr lang="fr-FR" dirty="0"/>
              <a:t> (20% off) vers ces 87k sur Instagram. Résultat : 4.2% conversion (vs 2.1% mass audience). Revenue +1.8M€ sur </a:t>
            </a:r>
            <a:r>
              <a:rPr lang="fr-FR" dirty="0" err="1"/>
              <a:t>season</a:t>
            </a:r>
            <a:r>
              <a:rPr lang="fr-FR" dirty="0"/>
              <a:t>. Budget trail : 150k€. ROI = 12x</a:t>
            </a:r>
          </a:p>
        </p:txBody>
      </p:sp>
    </p:spTree>
    <p:extLst>
      <p:ext uri="{BB962C8B-B14F-4D97-AF65-F5344CB8AC3E}">
        <p14:creationId xmlns:p14="http://schemas.microsoft.com/office/powerpoint/2010/main" val="13210634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D3AE8-531D-A5A4-1501-7984A14BA9F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D86A498-5F00-301E-2667-157A594A3571}"/>
              </a:ext>
            </a:extLst>
          </p:cNvPr>
          <p:cNvSpPr/>
          <p:nvPr/>
        </p:nvSpPr>
        <p:spPr>
          <a:xfrm>
            <a:off x="548640" y="411480"/>
            <a:ext cx="11064240" cy="731520"/>
          </a:xfrm>
          <a:prstGeom prst="rect">
            <a:avLst/>
          </a:prstGeom>
          <a:noFill/>
          <a:ln/>
        </p:spPr>
        <p:txBody>
          <a:bodyPr wrap="square" lIns="0" tIns="0" rIns="0" bIns="0" rtlCol="0" anchor="ctr"/>
          <a:lstStyle/>
          <a:p>
            <a:pPr marL="0" indent="0" algn="l">
              <a:buNone/>
            </a:pPr>
            <a:r>
              <a:rPr lang="en-US" sz="3200" b="1" dirty="0">
                <a:solidFill>
                  <a:srgbClr val="0B1F3A"/>
                </a:solidFill>
                <a:latin typeface="Calibri" pitchFamily="34" charset="0"/>
                <a:ea typeface="Calibri" pitchFamily="34" charset="-122"/>
                <a:cs typeface="Calibri" pitchFamily="34" charset="-120"/>
              </a:rPr>
              <a:t>Les 4 familles de cas d'usage marketing</a:t>
            </a:r>
            <a:endParaRPr lang="en-US" sz="3200" dirty="0"/>
          </a:p>
        </p:txBody>
      </p:sp>
      <p:sp>
        <p:nvSpPr>
          <p:cNvPr id="3" name="Shape 1">
            <a:extLst>
              <a:ext uri="{FF2B5EF4-FFF2-40B4-BE49-F238E27FC236}">
                <a16:creationId xmlns:a16="http://schemas.microsoft.com/office/drawing/2014/main" id="{5C253EDB-E735-1E63-85EB-38BA7FAC1FBE}"/>
              </a:ext>
            </a:extLst>
          </p:cNvPr>
          <p:cNvSpPr/>
          <p:nvPr/>
        </p:nvSpPr>
        <p:spPr>
          <a:xfrm>
            <a:off x="548640" y="1005840"/>
            <a:ext cx="548640" cy="73152"/>
          </a:xfrm>
          <a:prstGeom prst="rect">
            <a:avLst/>
          </a:prstGeom>
          <a:solidFill>
            <a:srgbClr val="F96167"/>
          </a:solidFill>
          <a:ln w="12700">
            <a:solidFill>
              <a:srgbClr val="F96167"/>
            </a:solidFill>
            <a:prstDash val="solid"/>
          </a:ln>
        </p:spPr>
      </p:sp>
      <p:sp>
        <p:nvSpPr>
          <p:cNvPr id="4" name="Text 2">
            <a:extLst>
              <a:ext uri="{FF2B5EF4-FFF2-40B4-BE49-F238E27FC236}">
                <a16:creationId xmlns:a16="http://schemas.microsoft.com/office/drawing/2014/main" id="{6D7A37F2-B289-39BB-29A5-02B05D1B3DA3}"/>
              </a:ext>
            </a:extLst>
          </p:cNvPr>
          <p:cNvSpPr/>
          <p:nvPr/>
        </p:nvSpPr>
        <p:spPr>
          <a:xfrm>
            <a:off x="548640" y="1143000"/>
            <a:ext cx="11064240" cy="411480"/>
          </a:xfrm>
          <a:prstGeom prst="rect">
            <a:avLst/>
          </a:prstGeom>
          <a:noFill/>
          <a:ln/>
        </p:spPr>
        <p:txBody>
          <a:bodyPr wrap="square" lIns="0" tIns="0" rIns="0" bIns="0" rtlCol="0" anchor="ctr"/>
          <a:lstStyle/>
          <a:p>
            <a:pPr marL="0" indent="0" algn="l">
              <a:buNone/>
            </a:pPr>
            <a:r>
              <a:rPr lang="en-US" sz="1600" i="1" dirty="0">
                <a:solidFill>
                  <a:srgbClr val="1C7293"/>
                </a:solidFill>
                <a:latin typeface="Calibri" pitchFamily="34" charset="0"/>
                <a:ea typeface="Calibri" pitchFamily="34" charset="-122"/>
                <a:cs typeface="Calibri" pitchFamily="34" charset="-120"/>
              </a:rPr>
              <a:t>À chaque famille son cas, à chaque cas son DCR (on verra lequel en S2/S3).</a:t>
            </a:r>
            <a:endParaRPr lang="en-US" sz="1600" dirty="0"/>
          </a:p>
        </p:txBody>
      </p:sp>
      <p:sp>
        <p:nvSpPr>
          <p:cNvPr id="11" name="Shape 9">
            <a:extLst>
              <a:ext uri="{FF2B5EF4-FFF2-40B4-BE49-F238E27FC236}">
                <a16:creationId xmlns:a16="http://schemas.microsoft.com/office/drawing/2014/main" id="{3C361193-5612-D27F-BD56-98794EBD44DF}"/>
              </a:ext>
            </a:extLst>
          </p:cNvPr>
          <p:cNvSpPr/>
          <p:nvPr/>
        </p:nvSpPr>
        <p:spPr>
          <a:xfrm>
            <a:off x="655320" y="1737360"/>
            <a:ext cx="5440680" cy="219456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12" name="Shape 10">
            <a:extLst>
              <a:ext uri="{FF2B5EF4-FFF2-40B4-BE49-F238E27FC236}">
                <a16:creationId xmlns:a16="http://schemas.microsoft.com/office/drawing/2014/main" id="{8C0D4656-793C-738B-351C-79D77E22E199}"/>
              </a:ext>
            </a:extLst>
          </p:cNvPr>
          <p:cNvSpPr/>
          <p:nvPr/>
        </p:nvSpPr>
        <p:spPr>
          <a:xfrm>
            <a:off x="655320" y="1737360"/>
            <a:ext cx="109728" cy="2194560"/>
          </a:xfrm>
          <a:prstGeom prst="rect">
            <a:avLst/>
          </a:prstGeom>
          <a:solidFill>
            <a:srgbClr val="1C7293"/>
          </a:solidFill>
          <a:ln w="12700">
            <a:solidFill>
              <a:srgbClr val="1C7293"/>
            </a:solidFill>
            <a:prstDash val="solid"/>
          </a:ln>
        </p:spPr>
      </p:sp>
      <p:sp>
        <p:nvSpPr>
          <p:cNvPr id="13" name="Text 11">
            <a:extLst>
              <a:ext uri="{FF2B5EF4-FFF2-40B4-BE49-F238E27FC236}">
                <a16:creationId xmlns:a16="http://schemas.microsoft.com/office/drawing/2014/main" id="{0FC1CA74-F367-C9D7-A233-EAEB0B8E6DA5}"/>
              </a:ext>
            </a:extLst>
          </p:cNvPr>
          <p:cNvSpPr/>
          <p:nvPr/>
        </p:nvSpPr>
        <p:spPr>
          <a:xfrm>
            <a:off x="929640" y="1920240"/>
            <a:ext cx="640080" cy="320040"/>
          </a:xfrm>
          <a:prstGeom prst="rect">
            <a:avLst/>
          </a:prstGeom>
          <a:noFill/>
          <a:ln/>
        </p:spPr>
        <p:txBody>
          <a:bodyPr wrap="square" lIns="0" tIns="0" rIns="0" bIns="0" rtlCol="0" anchor="ctr"/>
          <a:lstStyle/>
          <a:p>
            <a:pPr marL="0" indent="0">
              <a:buNone/>
            </a:pPr>
            <a:r>
              <a:rPr lang="en-US" sz="1300" b="1" dirty="0">
                <a:solidFill>
                  <a:srgbClr val="1C7293"/>
                </a:solidFill>
                <a:latin typeface="Calibri" pitchFamily="34" charset="0"/>
                <a:ea typeface="Calibri" pitchFamily="34" charset="-122"/>
                <a:cs typeface="Calibri" pitchFamily="34" charset="-120"/>
              </a:rPr>
              <a:t>02</a:t>
            </a:r>
            <a:endParaRPr lang="en-US" sz="1300" dirty="0"/>
          </a:p>
        </p:txBody>
      </p:sp>
      <p:sp>
        <p:nvSpPr>
          <p:cNvPr id="14" name="Text 12">
            <a:extLst>
              <a:ext uri="{FF2B5EF4-FFF2-40B4-BE49-F238E27FC236}">
                <a16:creationId xmlns:a16="http://schemas.microsoft.com/office/drawing/2014/main" id="{3E783161-1E47-C217-A359-FD4F5643ACDF}"/>
              </a:ext>
            </a:extLst>
          </p:cNvPr>
          <p:cNvSpPr/>
          <p:nvPr/>
        </p:nvSpPr>
        <p:spPr>
          <a:xfrm>
            <a:off x="1432560" y="1920240"/>
            <a:ext cx="4572000" cy="320040"/>
          </a:xfrm>
          <a:prstGeom prst="rect">
            <a:avLst/>
          </a:prstGeom>
          <a:noFill/>
          <a:ln/>
        </p:spPr>
        <p:txBody>
          <a:bodyPr wrap="square" lIns="0" tIns="0" rIns="0" bIns="0" rtlCol="0" anchor="ctr"/>
          <a:lstStyle/>
          <a:p>
            <a:pPr marL="0" indent="0">
              <a:buNone/>
            </a:pPr>
            <a:r>
              <a:rPr lang="en-US" sz="1500" b="1" kern="0" spc="100" dirty="0">
                <a:solidFill>
                  <a:srgbClr val="0B1F3A"/>
                </a:solidFill>
                <a:latin typeface="Calibri" pitchFamily="34" charset="0"/>
                <a:ea typeface="Calibri" pitchFamily="34" charset="-122"/>
                <a:cs typeface="Calibri" pitchFamily="34" charset="-120"/>
              </a:rPr>
              <a:t>ATTRIBUTION &amp; MESURE</a:t>
            </a:r>
            <a:endParaRPr lang="en-US" sz="1500" dirty="0"/>
          </a:p>
        </p:txBody>
      </p:sp>
      <p:sp>
        <p:nvSpPr>
          <p:cNvPr id="15" name="Text 13">
            <a:extLst>
              <a:ext uri="{FF2B5EF4-FFF2-40B4-BE49-F238E27FC236}">
                <a16:creationId xmlns:a16="http://schemas.microsoft.com/office/drawing/2014/main" id="{9E3EF42D-DA72-08F4-1BDA-031D355651AF}"/>
              </a:ext>
            </a:extLst>
          </p:cNvPr>
          <p:cNvSpPr/>
          <p:nvPr/>
        </p:nvSpPr>
        <p:spPr>
          <a:xfrm>
            <a:off x="929640" y="2331720"/>
            <a:ext cx="5029200" cy="777240"/>
          </a:xfrm>
          <a:prstGeom prst="rect">
            <a:avLst/>
          </a:prstGeom>
          <a:noFill/>
          <a:ln/>
        </p:spPr>
        <p:txBody>
          <a:bodyPr wrap="square" lIns="0" tIns="0" rIns="0" bIns="0" rtlCol="0" anchor="t"/>
          <a:lstStyle/>
          <a:p>
            <a:pPr marL="0" indent="0">
              <a:buNone/>
            </a:pPr>
            <a:r>
              <a:rPr lang="en-US" sz="1200" dirty="0">
                <a:solidFill>
                  <a:srgbClr val="1E293B"/>
                </a:solidFill>
                <a:latin typeface="Calibri" pitchFamily="34" charset="0"/>
                <a:ea typeface="Calibri" pitchFamily="34" charset="-122"/>
                <a:cs typeface="Calibri" pitchFamily="34" charset="-120"/>
              </a:rPr>
              <a:t>Mesurer combien de ventes ont réellement été générées par une campagne, en croisant exposition et achat.</a:t>
            </a:r>
            <a:endParaRPr lang="en-US" sz="1200" dirty="0"/>
          </a:p>
        </p:txBody>
      </p:sp>
      <p:sp>
        <p:nvSpPr>
          <p:cNvPr id="16" name="Text 14">
            <a:extLst>
              <a:ext uri="{FF2B5EF4-FFF2-40B4-BE49-F238E27FC236}">
                <a16:creationId xmlns:a16="http://schemas.microsoft.com/office/drawing/2014/main" id="{79328911-AC78-3D3C-9002-6D62295BB154}"/>
              </a:ext>
            </a:extLst>
          </p:cNvPr>
          <p:cNvSpPr/>
          <p:nvPr/>
        </p:nvSpPr>
        <p:spPr>
          <a:xfrm>
            <a:off x="929640" y="3154680"/>
            <a:ext cx="5029200" cy="685800"/>
          </a:xfrm>
          <a:prstGeom prst="rect">
            <a:avLst/>
          </a:prstGeom>
          <a:noFill/>
          <a:ln/>
        </p:spPr>
        <p:txBody>
          <a:bodyPr wrap="square" lIns="0" tIns="0" rIns="0" bIns="0" rtlCol="0" anchor="t"/>
          <a:lstStyle/>
          <a:p>
            <a:pPr marL="0" indent="0">
              <a:buNone/>
            </a:pPr>
            <a:r>
              <a:rPr lang="en-US" sz="1100" i="1" dirty="0">
                <a:solidFill>
                  <a:srgbClr val="1C7293"/>
                </a:solidFill>
                <a:latin typeface="Calibri" pitchFamily="34" charset="0"/>
                <a:ea typeface="Calibri" pitchFamily="34" charset="-122"/>
                <a:cs typeface="Calibri" pitchFamily="34" charset="-120"/>
              </a:rPr>
              <a:t>Ex : L'Oréal mesure l'impact de ses campagnes TF1 sur ses ventes Carrefour avec une DCR retail media.</a:t>
            </a:r>
            <a:endParaRPr lang="en-US" sz="1100" dirty="0"/>
          </a:p>
        </p:txBody>
      </p:sp>
      <p:sp>
        <p:nvSpPr>
          <p:cNvPr id="29" name="Shape 27">
            <a:extLst>
              <a:ext uri="{FF2B5EF4-FFF2-40B4-BE49-F238E27FC236}">
                <a16:creationId xmlns:a16="http://schemas.microsoft.com/office/drawing/2014/main" id="{D0B245C6-2D2B-5964-7D8D-9DF976C19757}"/>
              </a:ext>
            </a:extLst>
          </p:cNvPr>
          <p:cNvSpPr/>
          <p:nvPr/>
        </p:nvSpPr>
        <p:spPr>
          <a:xfrm>
            <a:off x="0" y="6583680"/>
            <a:ext cx="12191695" cy="274320"/>
          </a:xfrm>
          <a:prstGeom prst="rect">
            <a:avLst/>
          </a:prstGeom>
          <a:solidFill>
            <a:srgbClr val="0B1F3A"/>
          </a:solidFill>
          <a:ln w="12700">
            <a:solidFill>
              <a:srgbClr val="0B1F3A"/>
            </a:solidFill>
            <a:prstDash val="solid"/>
          </a:ln>
        </p:spPr>
      </p:sp>
      <p:sp>
        <p:nvSpPr>
          <p:cNvPr id="30" name="Text 28">
            <a:extLst>
              <a:ext uri="{FF2B5EF4-FFF2-40B4-BE49-F238E27FC236}">
                <a16:creationId xmlns:a16="http://schemas.microsoft.com/office/drawing/2014/main" id="{EB483F83-CA22-CF44-5297-415FD6979BE1}"/>
              </a:ext>
            </a:extLst>
          </p:cNvPr>
          <p:cNvSpPr/>
          <p:nvPr/>
        </p:nvSpPr>
        <p:spPr>
          <a:xfrm>
            <a:off x="365760" y="6601968"/>
            <a:ext cx="822960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Session 1  Comprendre les DCR</a:t>
            </a:r>
            <a:endParaRPr lang="en-US" sz="1000" dirty="0"/>
          </a:p>
        </p:txBody>
      </p:sp>
      <p:sp>
        <p:nvSpPr>
          <p:cNvPr id="31" name="Text 29">
            <a:extLst>
              <a:ext uri="{FF2B5EF4-FFF2-40B4-BE49-F238E27FC236}">
                <a16:creationId xmlns:a16="http://schemas.microsoft.com/office/drawing/2014/main" id="{8C710CA9-E8F4-21AC-1891-6F8EA0AD6503}"/>
              </a:ext>
            </a:extLst>
          </p:cNvPr>
          <p:cNvSpPr/>
          <p:nvPr/>
        </p:nvSpPr>
        <p:spPr>
          <a:xfrm>
            <a:off x="11551615" y="6601968"/>
            <a:ext cx="365760" cy="237744"/>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11</a:t>
            </a:r>
            <a:endParaRPr lang="en-US" sz="1000" dirty="0"/>
          </a:p>
        </p:txBody>
      </p:sp>
      <p:sp>
        <p:nvSpPr>
          <p:cNvPr id="35" name="ZoneTexte 34">
            <a:extLst>
              <a:ext uri="{FF2B5EF4-FFF2-40B4-BE49-F238E27FC236}">
                <a16:creationId xmlns:a16="http://schemas.microsoft.com/office/drawing/2014/main" id="{ECA1744D-3B43-B44A-76D2-401F1DA6BFB9}"/>
              </a:ext>
            </a:extLst>
          </p:cNvPr>
          <p:cNvSpPr txBox="1"/>
          <p:nvPr/>
        </p:nvSpPr>
        <p:spPr>
          <a:xfrm>
            <a:off x="548639" y="4289197"/>
            <a:ext cx="10728655" cy="1754326"/>
          </a:xfrm>
          <a:prstGeom prst="rect">
            <a:avLst/>
          </a:prstGeom>
          <a:noFill/>
        </p:spPr>
        <p:txBody>
          <a:bodyPr wrap="square">
            <a:spAutoFit/>
          </a:bodyPr>
          <a:lstStyle/>
          <a:p>
            <a:r>
              <a:rPr lang="fr-FR" dirty="0"/>
              <a:t>Brand lift </a:t>
            </a:r>
            <a:r>
              <a:rPr lang="fr-FR" dirty="0" err="1"/>
              <a:t>incrementality</a:t>
            </a:r>
            <a:r>
              <a:rPr lang="fr-FR" dirty="0"/>
              <a:t> test. Marque large (L'Oréal) teste spot TV. DCR cross-data : TV monitoring (GFK </a:t>
            </a:r>
            <a:r>
              <a:rPr lang="fr-FR" dirty="0" err="1"/>
              <a:t>Mediawatch</a:t>
            </a:r>
            <a:r>
              <a:rPr lang="fr-FR" dirty="0"/>
              <a:t>, qui a logs quand spot </a:t>
            </a:r>
            <a:r>
              <a:rPr lang="fr-FR" dirty="0" err="1"/>
              <a:t>ran</a:t>
            </a:r>
            <a:r>
              <a:rPr lang="fr-FR" dirty="0"/>
              <a:t>) + online (browser </a:t>
            </a:r>
            <a:r>
              <a:rPr lang="fr-FR" dirty="0" err="1"/>
              <a:t>fingerprint</a:t>
            </a:r>
            <a:r>
              <a:rPr lang="fr-FR" dirty="0"/>
              <a:t>, IP </a:t>
            </a:r>
            <a:r>
              <a:rPr lang="fr-FR" dirty="0" err="1"/>
              <a:t>geolocation</a:t>
            </a:r>
            <a:r>
              <a:rPr lang="fr-FR" dirty="0"/>
              <a:t> </a:t>
            </a:r>
            <a:r>
              <a:rPr lang="fr-FR" dirty="0" err="1"/>
              <a:t>matching</a:t>
            </a:r>
            <a:r>
              <a:rPr lang="fr-FR" dirty="0"/>
              <a:t> CRM emails) + in-store (Décathlon app, location </a:t>
            </a:r>
            <a:r>
              <a:rPr lang="fr-FR" dirty="0" err="1"/>
              <a:t>purchase</a:t>
            </a:r>
            <a:r>
              <a:rPr lang="fr-FR" dirty="0"/>
              <a:t>). Can </a:t>
            </a:r>
            <a:r>
              <a:rPr lang="fr-FR" dirty="0" err="1"/>
              <a:t>answer</a:t>
            </a:r>
            <a:r>
              <a:rPr lang="fr-FR" dirty="0"/>
              <a:t> « </a:t>
            </a:r>
            <a:r>
              <a:rPr lang="fr-FR" dirty="0" err="1"/>
              <a:t>did</a:t>
            </a:r>
            <a:r>
              <a:rPr lang="fr-FR" dirty="0"/>
              <a:t> seeing ad on TV </a:t>
            </a:r>
            <a:r>
              <a:rPr lang="fr-FR" dirty="0" err="1"/>
              <a:t>increase</a:t>
            </a:r>
            <a:r>
              <a:rPr lang="fr-FR" dirty="0"/>
              <a:t> </a:t>
            </a:r>
            <a:r>
              <a:rPr lang="fr-FR" dirty="0" err="1"/>
              <a:t>purchase</a:t>
            </a:r>
            <a:r>
              <a:rPr lang="fr-FR" dirty="0"/>
              <a:t> ? ». </a:t>
            </a:r>
            <a:r>
              <a:rPr lang="fr-FR" dirty="0" err="1"/>
              <a:t>Incremental</a:t>
            </a:r>
            <a:r>
              <a:rPr lang="fr-FR" dirty="0"/>
              <a:t> lift 18%. Budget TV </a:t>
            </a:r>
            <a:r>
              <a:rPr lang="fr-FR" dirty="0" err="1"/>
              <a:t>campaign</a:t>
            </a:r>
            <a:r>
              <a:rPr lang="fr-FR" dirty="0"/>
              <a:t> 5M€, lift value 15M€ (</a:t>
            </a:r>
            <a:r>
              <a:rPr lang="fr-FR" dirty="0" err="1"/>
              <a:t>customer</a:t>
            </a:r>
            <a:r>
              <a:rPr lang="fr-FR" dirty="0"/>
              <a:t> </a:t>
            </a:r>
            <a:r>
              <a:rPr lang="fr-FR" dirty="0" err="1"/>
              <a:t>lifetime</a:t>
            </a:r>
            <a:r>
              <a:rPr lang="fr-FR" dirty="0"/>
              <a:t> value × </a:t>
            </a:r>
            <a:r>
              <a:rPr lang="fr-FR" dirty="0" err="1"/>
              <a:t>incremental</a:t>
            </a:r>
            <a:r>
              <a:rPr lang="fr-FR" dirty="0"/>
              <a:t> </a:t>
            </a:r>
            <a:r>
              <a:rPr lang="fr-FR" dirty="0" err="1"/>
              <a:t>buyers</a:t>
            </a:r>
            <a:r>
              <a:rPr lang="fr-FR" dirty="0"/>
              <a:t>). </a:t>
            </a:r>
            <a:r>
              <a:rPr lang="fr-FR" dirty="0" err="1"/>
              <a:t>Decision</a:t>
            </a:r>
            <a:r>
              <a:rPr lang="fr-FR" dirty="0"/>
              <a:t> : </a:t>
            </a:r>
            <a:r>
              <a:rPr lang="fr-FR" dirty="0" err="1"/>
              <a:t>scale</a:t>
            </a:r>
            <a:r>
              <a:rPr lang="fr-FR" dirty="0"/>
              <a:t> TV. </a:t>
            </a:r>
            <a:r>
              <a:rPr lang="fr-FR" dirty="0" err="1"/>
              <a:t>Without</a:t>
            </a:r>
            <a:r>
              <a:rPr lang="fr-FR" dirty="0"/>
              <a:t> DCR, marque </a:t>
            </a:r>
            <a:r>
              <a:rPr lang="fr-FR" dirty="0" err="1"/>
              <a:t>would</a:t>
            </a:r>
            <a:r>
              <a:rPr lang="fr-FR" dirty="0"/>
              <a:t> assume </a:t>
            </a:r>
            <a:r>
              <a:rPr lang="fr-FR" dirty="0" err="1"/>
              <a:t>correlation</a:t>
            </a:r>
            <a:r>
              <a:rPr lang="fr-FR" dirty="0"/>
              <a:t> (spot </a:t>
            </a:r>
            <a:r>
              <a:rPr lang="fr-FR" dirty="0" err="1"/>
              <a:t>ran</a:t>
            </a:r>
            <a:r>
              <a:rPr lang="fr-FR" dirty="0"/>
              <a:t>, sales up) = causation. Marque </a:t>
            </a:r>
            <a:r>
              <a:rPr lang="fr-FR" dirty="0" err="1"/>
              <a:t>would</a:t>
            </a:r>
            <a:r>
              <a:rPr lang="fr-FR" dirty="0"/>
              <a:t> over-</a:t>
            </a:r>
            <a:r>
              <a:rPr lang="fr-FR" dirty="0" err="1"/>
              <a:t>allocate</a:t>
            </a:r>
            <a:r>
              <a:rPr lang="fr-FR" dirty="0"/>
              <a:t> à TV. DCR </a:t>
            </a:r>
            <a:r>
              <a:rPr lang="fr-FR" dirty="0" err="1"/>
              <a:t>reveals</a:t>
            </a:r>
            <a:r>
              <a:rPr lang="fr-FR" dirty="0"/>
              <a:t> </a:t>
            </a:r>
            <a:r>
              <a:rPr lang="fr-FR" dirty="0" err="1"/>
              <a:t>true</a:t>
            </a:r>
            <a:r>
              <a:rPr lang="fr-FR" dirty="0"/>
              <a:t> causation</a:t>
            </a:r>
          </a:p>
        </p:txBody>
      </p:sp>
    </p:spTree>
    <p:extLst>
      <p:ext uri="{BB962C8B-B14F-4D97-AF65-F5344CB8AC3E}">
        <p14:creationId xmlns:p14="http://schemas.microsoft.com/office/powerpoint/2010/main" val="10612494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19353-C6BE-4E11-544A-BCB9556B655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225B559-65D7-3D81-A20B-BE91CB7EC4C1}"/>
              </a:ext>
            </a:extLst>
          </p:cNvPr>
          <p:cNvSpPr/>
          <p:nvPr/>
        </p:nvSpPr>
        <p:spPr>
          <a:xfrm>
            <a:off x="548640" y="411480"/>
            <a:ext cx="11064240" cy="731520"/>
          </a:xfrm>
          <a:prstGeom prst="rect">
            <a:avLst/>
          </a:prstGeom>
          <a:noFill/>
          <a:ln/>
        </p:spPr>
        <p:txBody>
          <a:bodyPr wrap="square" lIns="0" tIns="0" rIns="0" bIns="0" rtlCol="0" anchor="ctr"/>
          <a:lstStyle/>
          <a:p>
            <a:pPr marL="0" indent="0" algn="l">
              <a:buNone/>
            </a:pPr>
            <a:r>
              <a:rPr lang="en-US" sz="3200" b="1" dirty="0">
                <a:solidFill>
                  <a:srgbClr val="0B1F3A"/>
                </a:solidFill>
                <a:latin typeface="Calibri" pitchFamily="34" charset="0"/>
                <a:ea typeface="Calibri" pitchFamily="34" charset="-122"/>
                <a:cs typeface="Calibri" pitchFamily="34" charset="-120"/>
              </a:rPr>
              <a:t>Les 4 familles de cas d'usage marketing</a:t>
            </a:r>
            <a:endParaRPr lang="en-US" sz="3200" dirty="0"/>
          </a:p>
        </p:txBody>
      </p:sp>
      <p:sp>
        <p:nvSpPr>
          <p:cNvPr id="3" name="Shape 1">
            <a:extLst>
              <a:ext uri="{FF2B5EF4-FFF2-40B4-BE49-F238E27FC236}">
                <a16:creationId xmlns:a16="http://schemas.microsoft.com/office/drawing/2014/main" id="{B5593024-0CAB-134C-B1F3-50812CB74D4A}"/>
              </a:ext>
            </a:extLst>
          </p:cNvPr>
          <p:cNvSpPr/>
          <p:nvPr/>
        </p:nvSpPr>
        <p:spPr>
          <a:xfrm>
            <a:off x="548640" y="1005840"/>
            <a:ext cx="548640" cy="73152"/>
          </a:xfrm>
          <a:prstGeom prst="rect">
            <a:avLst/>
          </a:prstGeom>
          <a:solidFill>
            <a:srgbClr val="F96167"/>
          </a:solidFill>
          <a:ln w="12700">
            <a:solidFill>
              <a:srgbClr val="F96167"/>
            </a:solidFill>
            <a:prstDash val="solid"/>
          </a:ln>
        </p:spPr>
      </p:sp>
      <p:sp>
        <p:nvSpPr>
          <p:cNvPr id="4" name="Text 2">
            <a:extLst>
              <a:ext uri="{FF2B5EF4-FFF2-40B4-BE49-F238E27FC236}">
                <a16:creationId xmlns:a16="http://schemas.microsoft.com/office/drawing/2014/main" id="{1EB811E9-78EA-F674-CB3D-38F0BFA31F97}"/>
              </a:ext>
            </a:extLst>
          </p:cNvPr>
          <p:cNvSpPr/>
          <p:nvPr/>
        </p:nvSpPr>
        <p:spPr>
          <a:xfrm>
            <a:off x="548640" y="1143000"/>
            <a:ext cx="11064240" cy="411480"/>
          </a:xfrm>
          <a:prstGeom prst="rect">
            <a:avLst/>
          </a:prstGeom>
          <a:noFill/>
          <a:ln/>
        </p:spPr>
        <p:txBody>
          <a:bodyPr wrap="square" lIns="0" tIns="0" rIns="0" bIns="0" rtlCol="0" anchor="ctr"/>
          <a:lstStyle/>
          <a:p>
            <a:pPr marL="0" indent="0" algn="l">
              <a:buNone/>
            </a:pPr>
            <a:r>
              <a:rPr lang="en-US" sz="1600" i="1" dirty="0">
                <a:solidFill>
                  <a:srgbClr val="1C7293"/>
                </a:solidFill>
                <a:latin typeface="Calibri" pitchFamily="34" charset="0"/>
                <a:ea typeface="Calibri" pitchFamily="34" charset="-122"/>
                <a:cs typeface="Calibri" pitchFamily="34" charset="-120"/>
              </a:rPr>
              <a:t>À chaque famille son cas, à chaque cas son DCR (on verra lequel en S2/S3).</a:t>
            </a:r>
            <a:endParaRPr lang="en-US" sz="1600" dirty="0"/>
          </a:p>
        </p:txBody>
      </p:sp>
      <p:sp>
        <p:nvSpPr>
          <p:cNvPr id="23" name="Shape 21">
            <a:extLst>
              <a:ext uri="{FF2B5EF4-FFF2-40B4-BE49-F238E27FC236}">
                <a16:creationId xmlns:a16="http://schemas.microsoft.com/office/drawing/2014/main" id="{EBAB2517-8628-A037-3269-EAAB17A441D4}"/>
              </a:ext>
            </a:extLst>
          </p:cNvPr>
          <p:cNvSpPr/>
          <p:nvPr/>
        </p:nvSpPr>
        <p:spPr>
          <a:xfrm>
            <a:off x="548640" y="1938439"/>
            <a:ext cx="5440680" cy="219456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24" name="Shape 22">
            <a:extLst>
              <a:ext uri="{FF2B5EF4-FFF2-40B4-BE49-F238E27FC236}">
                <a16:creationId xmlns:a16="http://schemas.microsoft.com/office/drawing/2014/main" id="{D946EE8B-C9B0-6FCF-3D80-E53F0C5F73B1}"/>
              </a:ext>
            </a:extLst>
          </p:cNvPr>
          <p:cNvSpPr/>
          <p:nvPr/>
        </p:nvSpPr>
        <p:spPr>
          <a:xfrm>
            <a:off x="548640" y="1938439"/>
            <a:ext cx="109728" cy="2194560"/>
          </a:xfrm>
          <a:prstGeom prst="rect">
            <a:avLst/>
          </a:prstGeom>
          <a:solidFill>
            <a:srgbClr val="F96167"/>
          </a:solidFill>
          <a:ln w="12700">
            <a:solidFill>
              <a:srgbClr val="F96167"/>
            </a:solidFill>
            <a:prstDash val="solid"/>
          </a:ln>
        </p:spPr>
      </p:sp>
      <p:sp>
        <p:nvSpPr>
          <p:cNvPr id="25" name="Text 23">
            <a:extLst>
              <a:ext uri="{FF2B5EF4-FFF2-40B4-BE49-F238E27FC236}">
                <a16:creationId xmlns:a16="http://schemas.microsoft.com/office/drawing/2014/main" id="{EF4518BB-79BA-01E0-7D24-63F30FF44272}"/>
              </a:ext>
            </a:extLst>
          </p:cNvPr>
          <p:cNvSpPr/>
          <p:nvPr/>
        </p:nvSpPr>
        <p:spPr>
          <a:xfrm>
            <a:off x="822960" y="2121319"/>
            <a:ext cx="640080" cy="320040"/>
          </a:xfrm>
          <a:prstGeom prst="rect">
            <a:avLst/>
          </a:prstGeom>
          <a:noFill/>
          <a:ln/>
        </p:spPr>
        <p:txBody>
          <a:bodyPr wrap="square" lIns="0" tIns="0" rIns="0" bIns="0" rtlCol="0" anchor="ctr"/>
          <a:lstStyle/>
          <a:p>
            <a:pPr marL="0" indent="0">
              <a:buNone/>
            </a:pPr>
            <a:r>
              <a:rPr lang="en-US" sz="1300" b="1" dirty="0">
                <a:solidFill>
                  <a:srgbClr val="F96167"/>
                </a:solidFill>
                <a:latin typeface="Calibri" pitchFamily="34" charset="0"/>
                <a:ea typeface="Calibri" pitchFamily="34" charset="-122"/>
                <a:cs typeface="Calibri" pitchFamily="34" charset="-120"/>
              </a:rPr>
              <a:t>04</a:t>
            </a:r>
            <a:endParaRPr lang="en-US" sz="1300" dirty="0"/>
          </a:p>
        </p:txBody>
      </p:sp>
      <p:sp>
        <p:nvSpPr>
          <p:cNvPr id="26" name="Text 24">
            <a:extLst>
              <a:ext uri="{FF2B5EF4-FFF2-40B4-BE49-F238E27FC236}">
                <a16:creationId xmlns:a16="http://schemas.microsoft.com/office/drawing/2014/main" id="{6C548028-1B16-9B5C-A5D8-62EE170620B4}"/>
              </a:ext>
            </a:extLst>
          </p:cNvPr>
          <p:cNvSpPr/>
          <p:nvPr/>
        </p:nvSpPr>
        <p:spPr>
          <a:xfrm>
            <a:off x="1325880" y="2121319"/>
            <a:ext cx="4572000" cy="320040"/>
          </a:xfrm>
          <a:prstGeom prst="rect">
            <a:avLst/>
          </a:prstGeom>
          <a:noFill/>
          <a:ln/>
        </p:spPr>
        <p:txBody>
          <a:bodyPr wrap="square" lIns="0" tIns="0" rIns="0" bIns="0" rtlCol="0" anchor="ctr"/>
          <a:lstStyle/>
          <a:p>
            <a:pPr marL="0" indent="0">
              <a:buNone/>
            </a:pPr>
            <a:r>
              <a:rPr lang="en-US" sz="1500" b="1" kern="0" spc="100" dirty="0">
                <a:solidFill>
                  <a:srgbClr val="0B1F3A"/>
                </a:solidFill>
                <a:latin typeface="Calibri" pitchFamily="34" charset="0"/>
                <a:ea typeface="Calibri" pitchFamily="34" charset="-122"/>
                <a:cs typeface="Calibri" pitchFamily="34" charset="-120"/>
              </a:rPr>
              <a:t>INSIGHTS &amp; PLANNING</a:t>
            </a:r>
            <a:endParaRPr lang="en-US" sz="1500" dirty="0"/>
          </a:p>
        </p:txBody>
      </p:sp>
      <p:sp>
        <p:nvSpPr>
          <p:cNvPr id="27" name="Text 25">
            <a:extLst>
              <a:ext uri="{FF2B5EF4-FFF2-40B4-BE49-F238E27FC236}">
                <a16:creationId xmlns:a16="http://schemas.microsoft.com/office/drawing/2014/main" id="{301A6392-689A-277E-4711-DC6887DBAEB7}"/>
              </a:ext>
            </a:extLst>
          </p:cNvPr>
          <p:cNvSpPr/>
          <p:nvPr/>
        </p:nvSpPr>
        <p:spPr>
          <a:xfrm>
            <a:off x="822960" y="2532799"/>
            <a:ext cx="5029200" cy="777240"/>
          </a:xfrm>
          <a:prstGeom prst="rect">
            <a:avLst/>
          </a:prstGeom>
          <a:noFill/>
          <a:ln/>
        </p:spPr>
        <p:txBody>
          <a:bodyPr wrap="square" lIns="0" tIns="0" rIns="0" bIns="0" rtlCol="0" anchor="t"/>
          <a:lstStyle/>
          <a:p>
            <a:pPr marL="0" indent="0">
              <a:buNone/>
            </a:pPr>
            <a:r>
              <a:rPr lang="en-US" sz="1200" dirty="0">
                <a:solidFill>
                  <a:srgbClr val="1E293B"/>
                </a:solidFill>
                <a:latin typeface="Calibri" pitchFamily="34" charset="0"/>
                <a:ea typeface="Calibri" pitchFamily="34" charset="-122"/>
                <a:cs typeface="Calibri" pitchFamily="34" charset="-120"/>
              </a:rPr>
              <a:t>Comprendre les comportements croisés client/partenaire pour mieux planifier mix produit, prix, média.</a:t>
            </a:r>
            <a:endParaRPr lang="en-US" sz="1200" dirty="0"/>
          </a:p>
        </p:txBody>
      </p:sp>
      <p:sp>
        <p:nvSpPr>
          <p:cNvPr id="28" name="Text 26">
            <a:extLst>
              <a:ext uri="{FF2B5EF4-FFF2-40B4-BE49-F238E27FC236}">
                <a16:creationId xmlns:a16="http://schemas.microsoft.com/office/drawing/2014/main" id="{FA8351A1-6D74-E6C3-0039-82FA8A456BD3}"/>
              </a:ext>
            </a:extLst>
          </p:cNvPr>
          <p:cNvSpPr/>
          <p:nvPr/>
        </p:nvSpPr>
        <p:spPr>
          <a:xfrm>
            <a:off x="822960" y="3355759"/>
            <a:ext cx="5029200" cy="685800"/>
          </a:xfrm>
          <a:prstGeom prst="rect">
            <a:avLst/>
          </a:prstGeom>
          <a:noFill/>
          <a:ln/>
        </p:spPr>
        <p:txBody>
          <a:bodyPr wrap="square" lIns="0" tIns="0" rIns="0" bIns="0" rtlCol="0" anchor="t"/>
          <a:lstStyle/>
          <a:p>
            <a:pPr marL="0" indent="0">
              <a:buNone/>
            </a:pPr>
            <a:r>
              <a:rPr lang="en-US" sz="1100" i="1" dirty="0">
                <a:solidFill>
                  <a:srgbClr val="1C7293"/>
                </a:solidFill>
                <a:latin typeface="Calibri" pitchFamily="34" charset="0"/>
                <a:ea typeface="Calibri" pitchFamily="34" charset="-122"/>
                <a:cs typeface="Calibri" pitchFamily="34" charset="-120"/>
              </a:rPr>
              <a:t>Ex : Un parfumeur croise sa base CRM avec celle d'un grand magasin pour bâtir son plan 2026.</a:t>
            </a:r>
            <a:endParaRPr lang="en-US" sz="1100" dirty="0"/>
          </a:p>
        </p:txBody>
      </p:sp>
      <p:sp>
        <p:nvSpPr>
          <p:cNvPr id="29" name="Shape 27">
            <a:extLst>
              <a:ext uri="{FF2B5EF4-FFF2-40B4-BE49-F238E27FC236}">
                <a16:creationId xmlns:a16="http://schemas.microsoft.com/office/drawing/2014/main" id="{86F8CBFF-C514-0682-9DB7-ACFD114D110D}"/>
              </a:ext>
            </a:extLst>
          </p:cNvPr>
          <p:cNvSpPr/>
          <p:nvPr/>
        </p:nvSpPr>
        <p:spPr>
          <a:xfrm>
            <a:off x="0" y="6583680"/>
            <a:ext cx="12191695" cy="274320"/>
          </a:xfrm>
          <a:prstGeom prst="rect">
            <a:avLst/>
          </a:prstGeom>
          <a:solidFill>
            <a:srgbClr val="0B1F3A"/>
          </a:solidFill>
          <a:ln w="12700">
            <a:solidFill>
              <a:srgbClr val="0B1F3A"/>
            </a:solidFill>
            <a:prstDash val="solid"/>
          </a:ln>
        </p:spPr>
      </p:sp>
      <p:sp>
        <p:nvSpPr>
          <p:cNvPr id="30" name="Text 28">
            <a:extLst>
              <a:ext uri="{FF2B5EF4-FFF2-40B4-BE49-F238E27FC236}">
                <a16:creationId xmlns:a16="http://schemas.microsoft.com/office/drawing/2014/main" id="{98399380-E99F-4B53-5F13-15E81C3E2D6B}"/>
              </a:ext>
            </a:extLst>
          </p:cNvPr>
          <p:cNvSpPr/>
          <p:nvPr/>
        </p:nvSpPr>
        <p:spPr>
          <a:xfrm>
            <a:off x="365760" y="6601968"/>
            <a:ext cx="822960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Session 1  Comprendre les DCR</a:t>
            </a:r>
            <a:endParaRPr lang="en-US" sz="1000" dirty="0"/>
          </a:p>
        </p:txBody>
      </p:sp>
      <p:sp>
        <p:nvSpPr>
          <p:cNvPr id="31" name="Text 29">
            <a:extLst>
              <a:ext uri="{FF2B5EF4-FFF2-40B4-BE49-F238E27FC236}">
                <a16:creationId xmlns:a16="http://schemas.microsoft.com/office/drawing/2014/main" id="{562AC00B-8A45-F909-6DCC-0E767B39E199}"/>
              </a:ext>
            </a:extLst>
          </p:cNvPr>
          <p:cNvSpPr/>
          <p:nvPr/>
        </p:nvSpPr>
        <p:spPr>
          <a:xfrm>
            <a:off x="11551615" y="6601968"/>
            <a:ext cx="365760" cy="237744"/>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11</a:t>
            </a:r>
            <a:endParaRPr lang="en-US" sz="1000" dirty="0"/>
          </a:p>
        </p:txBody>
      </p:sp>
      <p:sp>
        <p:nvSpPr>
          <p:cNvPr id="35" name="ZoneTexte 34">
            <a:extLst>
              <a:ext uri="{FF2B5EF4-FFF2-40B4-BE49-F238E27FC236}">
                <a16:creationId xmlns:a16="http://schemas.microsoft.com/office/drawing/2014/main" id="{64A73CAB-F9BE-62CA-0F27-9799BDC52664}"/>
              </a:ext>
            </a:extLst>
          </p:cNvPr>
          <p:cNvSpPr txBox="1"/>
          <p:nvPr/>
        </p:nvSpPr>
        <p:spPr>
          <a:xfrm>
            <a:off x="434118" y="4234388"/>
            <a:ext cx="11178762" cy="2031325"/>
          </a:xfrm>
          <a:prstGeom prst="rect">
            <a:avLst/>
          </a:prstGeom>
          <a:noFill/>
        </p:spPr>
        <p:txBody>
          <a:bodyPr wrap="square">
            <a:spAutoFit/>
          </a:bodyPr>
          <a:lstStyle/>
          <a:p>
            <a:r>
              <a:rPr lang="fr-FR" dirty="0"/>
              <a:t>Le besoin : « Qui sont mes clients cible ? Y a-t-il des clients qui achètent aussi ailleurs ? Comment sont-ils différents ? » Scénario PepsiCo × Chaînes de pizza (</a:t>
            </a:r>
            <a:r>
              <a:rPr lang="fr-FR" dirty="0" err="1"/>
              <a:t>pouring</a:t>
            </a:r>
            <a:r>
              <a:rPr lang="fr-FR" dirty="0"/>
              <a:t> </a:t>
            </a:r>
            <a:r>
              <a:rPr lang="fr-FR" dirty="0" err="1"/>
              <a:t>rights</a:t>
            </a:r>
            <a:r>
              <a:rPr lang="fr-FR" dirty="0"/>
              <a:t>) : PepsiCo vend à Pizza Hut et </a:t>
            </a:r>
            <a:r>
              <a:rPr lang="fr-FR" dirty="0" err="1"/>
              <a:t>Domino's</a:t>
            </a:r>
            <a:r>
              <a:rPr lang="fr-FR" dirty="0"/>
              <a:t>. PepsiCo a 3M clients (promotions, </a:t>
            </a:r>
            <a:r>
              <a:rPr lang="fr-FR" dirty="0" err="1"/>
              <a:t>events</a:t>
            </a:r>
            <a:r>
              <a:rPr lang="fr-FR" dirty="0"/>
              <a:t>, </a:t>
            </a:r>
            <a:r>
              <a:rPr lang="fr-FR" dirty="0" err="1"/>
              <a:t>sponsorship</a:t>
            </a:r>
            <a:r>
              <a:rPr lang="fr-FR" dirty="0"/>
              <a:t>). Pizza Hut a 8M clients (livraison, in-store). Question : « </a:t>
            </a:r>
            <a:r>
              <a:rPr lang="fr-FR" dirty="0" err="1"/>
              <a:t>Overlap</a:t>
            </a:r>
            <a:r>
              <a:rPr lang="fr-FR" dirty="0"/>
              <a:t> ? Combien de clients PepsiCo sponsorisés achètent aussi pizza en livraison ? » Via DCR : 12% </a:t>
            </a:r>
            <a:r>
              <a:rPr lang="fr-FR" dirty="0" err="1"/>
              <a:t>overlap</a:t>
            </a:r>
            <a:r>
              <a:rPr lang="fr-FR" dirty="0"/>
              <a:t> (360k clients). Cet insight est très précieux pour négocier les contrats de </a:t>
            </a:r>
            <a:r>
              <a:rPr lang="fr-FR" dirty="0" err="1"/>
              <a:t>pouring</a:t>
            </a:r>
            <a:r>
              <a:rPr lang="fr-FR" dirty="0"/>
              <a:t> </a:t>
            </a:r>
            <a:r>
              <a:rPr lang="fr-FR" dirty="0" err="1"/>
              <a:t>rights</a:t>
            </a:r>
            <a:r>
              <a:rPr lang="fr-FR" dirty="0"/>
              <a:t> l'année suivante. Bénéfice pour marques : 1) Mesure la vraie taille du segment stratégique. 2) Permet justifier budgets marketing vers le segment (ad </a:t>
            </a:r>
            <a:r>
              <a:rPr lang="fr-FR" dirty="0" err="1"/>
              <a:t>spend</a:t>
            </a:r>
            <a:r>
              <a:rPr lang="fr-FR" dirty="0"/>
              <a:t> ROI meilleur si </a:t>
            </a:r>
            <a:r>
              <a:rPr lang="fr-FR" dirty="0" err="1"/>
              <a:t>targeting</a:t>
            </a:r>
            <a:r>
              <a:rPr lang="fr-FR" dirty="0"/>
              <a:t> précis). 3) Aide négociation partenaires (« on sait qu'on a du value »)</a:t>
            </a:r>
          </a:p>
        </p:txBody>
      </p:sp>
    </p:spTree>
    <p:extLst>
      <p:ext uri="{BB962C8B-B14F-4D97-AF65-F5344CB8AC3E}">
        <p14:creationId xmlns:p14="http://schemas.microsoft.com/office/powerpoint/2010/main" val="38347407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42C55-69F5-9985-7BE4-C8A4E216E8B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B710587-03C5-FEC2-1D8F-972242D16B53}"/>
              </a:ext>
            </a:extLst>
          </p:cNvPr>
          <p:cNvSpPr/>
          <p:nvPr/>
        </p:nvSpPr>
        <p:spPr>
          <a:xfrm>
            <a:off x="548640" y="411480"/>
            <a:ext cx="11064240" cy="731520"/>
          </a:xfrm>
          <a:prstGeom prst="rect">
            <a:avLst/>
          </a:prstGeom>
          <a:noFill/>
          <a:ln/>
        </p:spPr>
        <p:txBody>
          <a:bodyPr wrap="square" lIns="0" tIns="0" rIns="0" bIns="0" rtlCol="0" anchor="ctr"/>
          <a:lstStyle/>
          <a:p>
            <a:pPr marL="0" indent="0" algn="l">
              <a:buNone/>
            </a:pPr>
            <a:r>
              <a:rPr lang="en-US" sz="3200" b="1" dirty="0">
                <a:solidFill>
                  <a:srgbClr val="0B1F3A"/>
                </a:solidFill>
                <a:latin typeface="Calibri" pitchFamily="34" charset="0"/>
                <a:ea typeface="Calibri" pitchFamily="34" charset="-122"/>
                <a:cs typeface="Calibri" pitchFamily="34" charset="-120"/>
              </a:rPr>
              <a:t>Les 4 familles de cas d'usage marketing</a:t>
            </a:r>
            <a:endParaRPr lang="en-US" sz="3200" dirty="0"/>
          </a:p>
        </p:txBody>
      </p:sp>
      <p:sp>
        <p:nvSpPr>
          <p:cNvPr id="3" name="Shape 1">
            <a:extLst>
              <a:ext uri="{FF2B5EF4-FFF2-40B4-BE49-F238E27FC236}">
                <a16:creationId xmlns:a16="http://schemas.microsoft.com/office/drawing/2014/main" id="{A412281B-9785-903F-9AF6-AF818A90988F}"/>
              </a:ext>
            </a:extLst>
          </p:cNvPr>
          <p:cNvSpPr/>
          <p:nvPr/>
        </p:nvSpPr>
        <p:spPr>
          <a:xfrm>
            <a:off x="548640" y="1005840"/>
            <a:ext cx="548640" cy="73152"/>
          </a:xfrm>
          <a:prstGeom prst="rect">
            <a:avLst/>
          </a:prstGeom>
          <a:solidFill>
            <a:srgbClr val="F96167"/>
          </a:solidFill>
          <a:ln w="12700">
            <a:solidFill>
              <a:srgbClr val="F96167"/>
            </a:solidFill>
            <a:prstDash val="solid"/>
          </a:ln>
        </p:spPr>
      </p:sp>
      <p:sp>
        <p:nvSpPr>
          <p:cNvPr id="4" name="Text 2">
            <a:extLst>
              <a:ext uri="{FF2B5EF4-FFF2-40B4-BE49-F238E27FC236}">
                <a16:creationId xmlns:a16="http://schemas.microsoft.com/office/drawing/2014/main" id="{AE104B72-4D21-C7FD-4B77-9499ACA23770}"/>
              </a:ext>
            </a:extLst>
          </p:cNvPr>
          <p:cNvSpPr/>
          <p:nvPr/>
        </p:nvSpPr>
        <p:spPr>
          <a:xfrm>
            <a:off x="548640" y="1143000"/>
            <a:ext cx="11064240" cy="411480"/>
          </a:xfrm>
          <a:prstGeom prst="rect">
            <a:avLst/>
          </a:prstGeom>
          <a:noFill/>
          <a:ln/>
        </p:spPr>
        <p:txBody>
          <a:bodyPr wrap="square" lIns="0" tIns="0" rIns="0" bIns="0" rtlCol="0" anchor="ctr"/>
          <a:lstStyle/>
          <a:p>
            <a:pPr marL="0" indent="0" algn="l">
              <a:buNone/>
            </a:pPr>
            <a:r>
              <a:rPr lang="en-US" sz="1600" i="1" dirty="0">
                <a:solidFill>
                  <a:srgbClr val="1C7293"/>
                </a:solidFill>
                <a:latin typeface="Calibri" pitchFamily="34" charset="0"/>
                <a:ea typeface="Calibri" pitchFamily="34" charset="-122"/>
                <a:cs typeface="Calibri" pitchFamily="34" charset="-120"/>
              </a:rPr>
              <a:t>À chaque famille son cas, à chaque cas son DCR (on verra lequel en S2/S3).</a:t>
            </a:r>
            <a:endParaRPr lang="en-US" sz="1600" dirty="0"/>
          </a:p>
        </p:txBody>
      </p:sp>
      <p:sp>
        <p:nvSpPr>
          <p:cNvPr id="17" name="Shape 15">
            <a:extLst>
              <a:ext uri="{FF2B5EF4-FFF2-40B4-BE49-F238E27FC236}">
                <a16:creationId xmlns:a16="http://schemas.microsoft.com/office/drawing/2014/main" id="{1263D280-1624-201E-FC2E-CB6D7E3B5253}"/>
              </a:ext>
            </a:extLst>
          </p:cNvPr>
          <p:cNvSpPr/>
          <p:nvPr/>
        </p:nvSpPr>
        <p:spPr>
          <a:xfrm>
            <a:off x="579564" y="1906396"/>
            <a:ext cx="5440680" cy="219456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18" name="Shape 16">
            <a:extLst>
              <a:ext uri="{FF2B5EF4-FFF2-40B4-BE49-F238E27FC236}">
                <a16:creationId xmlns:a16="http://schemas.microsoft.com/office/drawing/2014/main" id="{C21AD9BB-7FAB-F099-6390-1724FD4116D7}"/>
              </a:ext>
            </a:extLst>
          </p:cNvPr>
          <p:cNvSpPr/>
          <p:nvPr/>
        </p:nvSpPr>
        <p:spPr>
          <a:xfrm>
            <a:off x="579564" y="1906396"/>
            <a:ext cx="109728" cy="2194560"/>
          </a:xfrm>
          <a:prstGeom prst="rect">
            <a:avLst/>
          </a:prstGeom>
          <a:solidFill>
            <a:srgbClr val="21295C"/>
          </a:solidFill>
          <a:ln w="12700">
            <a:solidFill>
              <a:srgbClr val="21295C"/>
            </a:solidFill>
            <a:prstDash val="solid"/>
          </a:ln>
        </p:spPr>
      </p:sp>
      <p:sp>
        <p:nvSpPr>
          <p:cNvPr id="19" name="Text 17">
            <a:extLst>
              <a:ext uri="{FF2B5EF4-FFF2-40B4-BE49-F238E27FC236}">
                <a16:creationId xmlns:a16="http://schemas.microsoft.com/office/drawing/2014/main" id="{33C2801F-1F93-12B4-428F-8BFDD6612D4D}"/>
              </a:ext>
            </a:extLst>
          </p:cNvPr>
          <p:cNvSpPr/>
          <p:nvPr/>
        </p:nvSpPr>
        <p:spPr>
          <a:xfrm>
            <a:off x="853884" y="2089276"/>
            <a:ext cx="640080" cy="320040"/>
          </a:xfrm>
          <a:prstGeom prst="rect">
            <a:avLst/>
          </a:prstGeom>
          <a:noFill/>
          <a:ln/>
        </p:spPr>
        <p:txBody>
          <a:bodyPr wrap="square" lIns="0" tIns="0" rIns="0" bIns="0" rtlCol="0" anchor="ctr"/>
          <a:lstStyle/>
          <a:p>
            <a:pPr marL="0" indent="0">
              <a:buNone/>
            </a:pPr>
            <a:r>
              <a:rPr lang="en-US" sz="1300" b="1" dirty="0">
                <a:solidFill>
                  <a:srgbClr val="21295C"/>
                </a:solidFill>
                <a:latin typeface="Calibri" pitchFamily="34" charset="0"/>
                <a:ea typeface="Calibri" pitchFamily="34" charset="-122"/>
                <a:cs typeface="Calibri" pitchFamily="34" charset="-120"/>
              </a:rPr>
              <a:t>03</a:t>
            </a:r>
            <a:endParaRPr lang="en-US" sz="1300" dirty="0"/>
          </a:p>
        </p:txBody>
      </p:sp>
      <p:sp>
        <p:nvSpPr>
          <p:cNvPr id="20" name="Text 18">
            <a:extLst>
              <a:ext uri="{FF2B5EF4-FFF2-40B4-BE49-F238E27FC236}">
                <a16:creationId xmlns:a16="http://schemas.microsoft.com/office/drawing/2014/main" id="{A429F9F4-1561-3E31-5358-8D78A314C8A8}"/>
              </a:ext>
            </a:extLst>
          </p:cNvPr>
          <p:cNvSpPr/>
          <p:nvPr/>
        </p:nvSpPr>
        <p:spPr>
          <a:xfrm>
            <a:off x="1356804" y="2089276"/>
            <a:ext cx="4572000" cy="320040"/>
          </a:xfrm>
          <a:prstGeom prst="rect">
            <a:avLst/>
          </a:prstGeom>
          <a:noFill/>
          <a:ln/>
        </p:spPr>
        <p:txBody>
          <a:bodyPr wrap="square" lIns="0" tIns="0" rIns="0" bIns="0" rtlCol="0" anchor="ctr"/>
          <a:lstStyle/>
          <a:p>
            <a:pPr marL="0" indent="0">
              <a:buNone/>
            </a:pPr>
            <a:r>
              <a:rPr lang="en-US" sz="1500" b="1" kern="0" spc="100" dirty="0">
                <a:solidFill>
                  <a:srgbClr val="0B1F3A"/>
                </a:solidFill>
                <a:latin typeface="Calibri" pitchFamily="34" charset="0"/>
                <a:ea typeface="Calibri" pitchFamily="34" charset="-122"/>
                <a:cs typeface="Calibri" pitchFamily="34" charset="-120"/>
              </a:rPr>
              <a:t>INCREMENTALITÉ &amp; TEST</a:t>
            </a:r>
            <a:endParaRPr lang="en-US" sz="1500" dirty="0"/>
          </a:p>
        </p:txBody>
      </p:sp>
      <p:sp>
        <p:nvSpPr>
          <p:cNvPr id="21" name="Text 19">
            <a:extLst>
              <a:ext uri="{FF2B5EF4-FFF2-40B4-BE49-F238E27FC236}">
                <a16:creationId xmlns:a16="http://schemas.microsoft.com/office/drawing/2014/main" id="{B43D13AF-0045-CD13-9B6B-031A9296CD64}"/>
              </a:ext>
            </a:extLst>
          </p:cNvPr>
          <p:cNvSpPr/>
          <p:nvPr/>
        </p:nvSpPr>
        <p:spPr>
          <a:xfrm>
            <a:off x="853884" y="2500756"/>
            <a:ext cx="5029200" cy="777240"/>
          </a:xfrm>
          <a:prstGeom prst="rect">
            <a:avLst/>
          </a:prstGeom>
          <a:noFill/>
          <a:ln/>
        </p:spPr>
        <p:txBody>
          <a:bodyPr wrap="square" lIns="0" tIns="0" rIns="0" bIns="0" rtlCol="0" anchor="t"/>
          <a:lstStyle/>
          <a:p>
            <a:pPr marL="0" indent="0">
              <a:buNone/>
            </a:pPr>
            <a:r>
              <a:rPr lang="en-US" sz="1200" dirty="0">
                <a:solidFill>
                  <a:srgbClr val="1E293B"/>
                </a:solidFill>
                <a:latin typeface="Calibri" pitchFamily="34" charset="0"/>
                <a:ea typeface="Calibri" pitchFamily="34" charset="-122"/>
                <a:cs typeface="Calibri" pitchFamily="34" charset="-120"/>
              </a:rPr>
              <a:t>Comparer un groupe exposé vs un groupe témoin pour isoler la vraie contribution média.</a:t>
            </a:r>
            <a:endParaRPr lang="en-US" sz="1200" dirty="0"/>
          </a:p>
        </p:txBody>
      </p:sp>
      <p:sp>
        <p:nvSpPr>
          <p:cNvPr id="22" name="Text 20">
            <a:extLst>
              <a:ext uri="{FF2B5EF4-FFF2-40B4-BE49-F238E27FC236}">
                <a16:creationId xmlns:a16="http://schemas.microsoft.com/office/drawing/2014/main" id="{FBAE2628-72C3-E41F-6B9E-441DA0C5DE66}"/>
              </a:ext>
            </a:extLst>
          </p:cNvPr>
          <p:cNvSpPr/>
          <p:nvPr/>
        </p:nvSpPr>
        <p:spPr>
          <a:xfrm>
            <a:off x="853884" y="3323716"/>
            <a:ext cx="5029200" cy="685800"/>
          </a:xfrm>
          <a:prstGeom prst="rect">
            <a:avLst/>
          </a:prstGeom>
          <a:noFill/>
          <a:ln/>
        </p:spPr>
        <p:txBody>
          <a:bodyPr wrap="square" lIns="0" tIns="0" rIns="0" bIns="0" rtlCol="0" anchor="t"/>
          <a:lstStyle/>
          <a:p>
            <a:pPr marL="0" indent="0">
              <a:buNone/>
            </a:pPr>
            <a:r>
              <a:rPr lang="en-US" sz="1100" i="1" dirty="0">
                <a:solidFill>
                  <a:srgbClr val="1C7293"/>
                </a:solidFill>
                <a:latin typeface="Calibri" pitchFamily="34" charset="0"/>
                <a:ea typeface="Calibri" pitchFamily="34" charset="-122"/>
                <a:cs typeface="Calibri" pitchFamily="34" charset="-120"/>
              </a:rPr>
              <a:t>Ex : Uber teste l'incrémentalité d'une campagne Meta en croisant avec sa base de courses.</a:t>
            </a:r>
            <a:endParaRPr lang="en-US" sz="1100" dirty="0"/>
          </a:p>
        </p:txBody>
      </p:sp>
      <p:sp>
        <p:nvSpPr>
          <p:cNvPr id="29" name="Shape 27">
            <a:extLst>
              <a:ext uri="{FF2B5EF4-FFF2-40B4-BE49-F238E27FC236}">
                <a16:creationId xmlns:a16="http://schemas.microsoft.com/office/drawing/2014/main" id="{EAC931C8-42F9-7536-5888-62F10D25D8AA}"/>
              </a:ext>
            </a:extLst>
          </p:cNvPr>
          <p:cNvSpPr/>
          <p:nvPr/>
        </p:nvSpPr>
        <p:spPr>
          <a:xfrm>
            <a:off x="0" y="6583680"/>
            <a:ext cx="12191695" cy="274320"/>
          </a:xfrm>
          <a:prstGeom prst="rect">
            <a:avLst/>
          </a:prstGeom>
          <a:solidFill>
            <a:srgbClr val="0B1F3A"/>
          </a:solidFill>
          <a:ln w="12700">
            <a:solidFill>
              <a:srgbClr val="0B1F3A"/>
            </a:solidFill>
            <a:prstDash val="solid"/>
          </a:ln>
        </p:spPr>
      </p:sp>
      <p:sp>
        <p:nvSpPr>
          <p:cNvPr id="30" name="Text 28">
            <a:extLst>
              <a:ext uri="{FF2B5EF4-FFF2-40B4-BE49-F238E27FC236}">
                <a16:creationId xmlns:a16="http://schemas.microsoft.com/office/drawing/2014/main" id="{DFA9566B-C763-4BFA-A158-F7ABD22776FF}"/>
              </a:ext>
            </a:extLst>
          </p:cNvPr>
          <p:cNvSpPr/>
          <p:nvPr/>
        </p:nvSpPr>
        <p:spPr>
          <a:xfrm>
            <a:off x="365760" y="6601968"/>
            <a:ext cx="822960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Session 1  Comprendre les DCR</a:t>
            </a:r>
            <a:endParaRPr lang="en-US" sz="1000" dirty="0"/>
          </a:p>
        </p:txBody>
      </p:sp>
      <p:sp>
        <p:nvSpPr>
          <p:cNvPr id="31" name="Text 29">
            <a:extLst>
              <a:ext uri="{FF2B5EF4-FFF2-40B4-BE49-F238E27FC236}">
                <a16:creationId xmlns:a16="http://schemas.microsoft.com/office/drawing/2014/main" id="{D2DF9A10-2604-44D6-2A04-D7D6DD7807FB}"/>
              </a:ext>
            </a:extLst>
          </p:cNvPr>
          <p:cNvSpPr/>
          <p:nvPr/>
        </p:nvSpPr>
        <p:spPr>
          <a:xfrm>
            <a:off x="11551615" y="6601968"/>
            <a:ext cx="365760" cy="237744"/>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11</a:t>
            </a:r>
            <a:endParaRPr lang="en-US" sz="1000" dirty="0"/>
          </a:p>
        </p:txBody>
      </p:sp>
      <p:sp>
        <p:nvSpPr>
          <p:cNvPr id="33" name="ZoneTexte 32">
            <a:extLst>
              <a:ext uri="{FF2B5EF4-FFF2-40B4-BE49-F238E27FC236}">
                <a16:creationId xmlns:a16="http://schemas.microsoft.com/office/drawing/2014/main" id="{5805E9CC-EAC2-DEE0-8C13-C701B651209B}"/>
              </a:ext>
            </a:extLst>
          </p:cNvPr>
          <p:cNvSpPr txBox="1"/>
          <p:nvPr/>
        </p:nvSpPr>
        <p:spPr>
          <a:xfrm>
            <a:off x="579564" y="4702115"/>
            <a:ext cx="10559987" cy="1477328"/>
          </a:xfrm>
          <a:prstGeom prst="rect">
            <a:avLst/>
          </a:prstGeom>
          <a:noFill/>
        </p:spPr>
        <p:txBody>
          <a:bodyPr wrap="square">
            <a:spAutoFit/>
          </a:bodyPr>
          <a:lstStyle/>
          <a:p>
            <a:r>
              <a:rPr lang="fr-FR" dirty="0" err="1"/>
              <a:t>Retail</a:t>
            </a:r>
            <a:r>
              <a:rPr lang="fr-FR" dirty="0"/>
              <a:t> media. Carrefour vend accès aux données de caisse (millions de tickets journaliers). Marque yaourt Danone veut mesure ROI de sa promo « Yaourt sucré » chez Carrefour. DCR cross-data : Danone CRM (qui achète normalement yaourt) + Carrefour caisse (qui achète yaourt Danone en période promo). </a:t>
            </a:r>
            <a:r>
              <a:rPr lang="fr-FR" dirty="0" err="1"/>
              <a:t>Incrementality</a:t>
            </a:r>
            <a:r>
              <a:rPr lang="fr-FR" dirty="0"/>
              <a:t> calcul : 40% des acheteurs auraient acheté sans promo (</a:t>
            </a:r>
            <a:r>
              <a:rPr lang="fr-FR" dirty="0" err="1"/>
              <a:t>baseline</a:t>
            </a:r>
            <a:r>
              <a:rPr lang="fr-FR" dirty="0"/>
              <a:t>). 60% nouveaux (lift). Lift = 60% × ticket size 12€ × volume mensuel 50k = 360k€ lift/mois. Danone avait alloué 15k€ budget promo. ROI = 24x</a:t>
            </a:r>
          </a:p>
        </p:txBody>
      </p:sp>
    </p:spTree>
    <p:extLst>
      <p:ext uri="{BB962C8B-B14F-4D97-AF65-F5344CB8AC3E}">
        <p14:creationId xmlns:p14="http://schemas.microsoft.com/office/powerpoint/2010/main" val="34098142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2">
    <p:bg>
      <p:bgPr>
        <a:solidFill>
          <a:srgbClr val="F5F8FC"/>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731520"/>
          </a:xfrm>
          <a:prstGeom prst="rect">
            <a:avLst/>
          </a:prstGeom>
          <a:noFill/>
          <a:ln/>
        </p:spPr>
        <p:txBody>
          <a:bodyPr wrap="square" lIns="0" tIns="0" rIns="0" bIns="0" rtlCol="0" anchor="ctr"/>
          <a:lstStyle/>
          <a:p>
            <a:pPr marL="0" indent="0" algn="l">
              <a:buNone/>
            </a:pPr>
            <a:r>
              <a:rPr lang="en-US" sz="3200" b="1" dirty="0">
                <a:solidFill>
                  <a:srgbClr val="0B1F3A"/>
                </a:solidFill>
                <a:latin typeface="Calibri" pitchFamily="34" charset="0"/>
                <a:ea typeface="Calibri" pitchFamily="34" charset="-122"/>
                <a:cs typeface="Calibri" pitchFamily="34" charset="-120"/>
              </a:rPr>
              <a:t>Le marché DCR : ordres de grandeur 2026</a:t>
            </a:r>
            <a:endParaRPr lang="en-US" sz="3200" dirty="0"/>
          </a:p>
        </p:txBody>
      </p:sp>
      <p:sp>
        <p:nvSpPr>
          <p:cNvPr id="3" name="Shape 1"/>
          <p:cNvSpPr/>
          <p:nvPr/>
        </p:nvSpPr>
        <p:spPr>
          <a:xfrm>
            <a:off x="548640" y="1005840"/>
            <a:ext cx="548640" cy="73152"/>
          </a:xfrm>
          <a:prstGeom prst="rect">
            <a:avLst/>
          </a:prstGeom>
          <a:solidFill>
            <a:srgbClr val="F96167"/>
          </a:solidFill>
          <a:ln w="12700">
            <a:solidFill>
              <a:srgbClr val="F96167"/>
            </a:solidFill>
            <a:prstDash val="solid"/>
          </a:ln>
        </p:spPr>
      </p:sp>
      <p:sp>
        <p:nvSpPr>
          <p:cNvPr id="4" name="Text 2"/>
          <p:cNvSpPr/>
          <p:nvPr/>
        </p:nvSpPr>
        <p:spPr>
          <a:xfrm>
            <a:off x="548640" y="1143000"/>
            <a:ext cx="11064240" cy="411480"/>
          </a:xfrm>
          <a:prstGeom prst="rect">
            <a:avLst/>
          </a:prstGeom>
          <a:noFill/>
          <a:ln/>
        </p:spPr>
        <p:txBody>
          <a:bodyPr wrap="square" lIns="0" tIns="0" rIns="0" bIns="0" rtlCol="0" anchor="ctr"/>
          <a:lstStyle/>
          <a:p>
            <a:pPr marL="0" indent="0" algn="l">
              <a:buNone/>
            </a:pPr>
            <a:r>
              <a:rPr lang="en-US" sz="1600" i="1" dirty="0">
                <a:solidFill>
                  <a:srgbClr val="1C7293"/>
                </a:solidFill>
                <a:latin typeface="Calibri" pitchFamily="34" charset="0"/>
                <a:ea typeface="Calibri" pitchFamily="34" charset="-122"/>
                <a:cs typeface="Calibri" pitchFamily="34" charset="-120"/>
              </a:rPr>
              <a:t>Pourquoi vos futurs employeurs vont vous demander d'en parler.</a:t>
            </a:r>
            <a:endParaRPr lang="en-US" sz="1600" dirty="0"/>
          </a:p>
        </p:txBody>
      </p:sp>
      <p:sp>
        <p:nvSpPr>
          <p:cNvPr id="5" name="Shape 3"/>
          <p:cNvSpPr/>
          <p:nvPr/>
        </p:nvSpPr>
        <p:spPr>
          <a:xfrm>
            <a:off x="640080" y="1828800"/>
            <a:ext cx="2651760" cy="210312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6" name="Shape 4"/>
          <p:cNvSpPr/>
          <p:nvPr/>
        </p:nvSpPr>
        <p:spPr>
          <a:xfrm>
            <a:off x="640080" y="1828800"/>
            <a:ext cx="2651760" cy="109728"/>
          </a:xfrm>
          <a:prstGeom prst="rect">
            <a:avLst/>
          </a:prstGeom>
          <a:solidFill>
            <a:srgbClr val="065A82"/>
          </a:solidFill>
          <a:ln w="12700">
            <a:solidFill>
              <a:srgbClr val="065A82"/>
            </a:solidFill>
            <a:prstDash val="solid"/>
          </a:ln>
        </p:spPr>
      </p:sp>
      <p:sp>
        <p:nvSpPr>
          <p:cNvPr id="7" name="Text 5"/>
          <p:cNvSpPr/>
          <p:nvPr/>
        </p:nvSpPr>
        <p:spPr>
          <a:xfrm>
            <a:off x="640080" y="2011680"/>
            <a:ext cx="2651760" cy="914400"/>
          </a:xfrm>
          <a:prstGeom prst="rect">
            <a:avLst/>
          </a:prstGeom>
          <a:noFill/>
          <a:ln/>
        </p:spPr>
        <p:txBody>
          <a:bodyPr wrap="square" lIns="0" tIns="0" rIns="0" bIns="0" rtlCol="0" anchor="ctr"/>
          <a:lstStyle/>
          <a:p>
            <a:pPr marL="0" indent="0" algn="ctr">
              <a:buNone/>
            </a:pPr>
            <a:r>
              <a:rPr lang="en-US" sz="3600" b="1" dirty="0">
                <a:solidFill>
                  <a:srgbClr val="065A82"/>
                </a:solidFill>
                <a:latin typeface="Calibri" pitchFamily="34" charset="0"/>
                <a:ea typeface="Calibri" pitchFamily="34" charset="-122"/>
                <a:cs typeface="Calibri" pitchFamily="34" charset="-120"/>
              </a:rPr>
              <a:t>4,8 Md $</a:t>
            </a:r>
            <a:endParaRPr lang="en-US" sz="3600" dirty="0"/>
          </a:p>
        </p:txBody>
      </p:sp>
      <p:sp>
        <p:nvSpPr>
          <p:cNvPr id="8" name="Text 6"/>
          <p:cNvSpPr/>
          <p:nvPr/>
        </p:nvSpPr>
        <p:spPr>
          <a:xfrm>
            <a:off x="777240" y="2926080"/>
            <a:ext cx="2377440" cy="365760"/>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marché DCR mondial 2026</a:t>
            </a:r>
            <a:endParaRPr lang="en-US" sz="1200" dirty="0"/>
          </a:p>
        </p:txBody>
      </p:sp>
      <p:sp>
        <p:nvSpPr>
          <p:cNvPr id="9" name="Text 7"/>
          <p:cNvSpPr/>
          <p:nvPr/>
        </p:nvSpPr>
        <p:spPr>
          <a:xfrm>
            <a:off x="777240" y="3291840"/>
            <a:ext cx="2377440" cy="365760"/>
          </a:xfrm>
          <a:prstGeom prst="rect">
            <a:avLst/>
          </a:prstGeom>
          <a:noFill/>
          <a:ln/>
        </p:spPr>
        <p:txBody>
          <a:bodyPr wrap="square" lIns="0" tIns="0" rIns="0" bIns="0" rtlCol="0" anchor="ctr"/>
          <a:lstStyle/>
          <a:p>
            <a:pPr marL="0" indent="0" algn="ctr">
              <a:buNone/>
            </a:pPr>
            <a:r>
              <a:rPr lang="en-US" sz="1100" i="1" dirty="0">
                <a:solidFill>
                  <a:srgbClr val="64748B"/>
                </a:solidFill>
                <a:latin typeface="Calibri" pitchFamily="34" charset="0"/>
                <a:ea typeface="Calibri" pitchFamily="34" charset="-122"/>
                <a:cs typeface="Calibri" pitchFamily="34" charset="-120"/>
              </a:rPr>
              <a:t>x3 vs 2023</a:t>
            </a:r>
            <a:endParaRPr lang="en-US" sz="1100" dirty="0"/>
          </a:p>
        </p:txBody>
      </p:sp>
      <p:sp>
        <p:nvSpPr>
          <p:cNvPr id="10" name="Shape 8"/>
          <p:cNvSpPr/>
          <p:nvPr/>
        </p:nvSpPr>
        <p:spPr>
          <a:xfrm>
            <a:off x="3456432" y="1828800"/>
            <a:ext cx="2651760" cy="210312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11" name="Shape 9"/>
          <p:cNvSpPr/>
          <p:nvPr/>
        </p:nvSpPr>
        <p:spPr>
          <a:xfrm>
            <a:off x="3456432" y="1828800"/>
            <a:ext cx="2651760" cy="109728"/>
          </a:xfrm>
          <a:prstGeom prst="rect">
            <a:avLst/>
          </a:prstGeom>
          <a:solidFill>
            <a:srgbClr val="1C7293"/>
          </a:solidFill>
          <a:ln w="12700">
            <a:solidFill>
              <a:srgbClr val="1C7293"/>
            </a:solidFill>
            <a:prstDash val="solid"/>
          </a:ln>
        </p:spPr>
      </p:sp>
      <p:sp>
        <p:nvSpPr>
          <p:cNvPr id="12" name="Text 10"/>
          <p:cNvSpPr/>
          <p:nvPr/>
        </p:nvSpPr>
        <p:spPr>
          <a:xfrm>
            <a:off x="3456432" y="2011680"/>
            <a:ext cx="2651760" cy="914400"/>
          </a:xfrm>
          <a:prstGeom prst="rect">
            <a:avLst/>
          </a:prstGeom>
          <a:noFill/>
          <a:ln/>
        </p:spPr>
        <p:txBody>
          <a:bodyPr wrap="square" lIns="0" tIns="0" rIns="0" bIns="0" rtlCol="0" anchor="ctr"/>
          <a:lstStyle/>
          <a:p>
            <a:pPr marL="0" indent="0" algn="ctr">
              <a:buNone/>
            </a:pPr>
            <a:r>
              <a:rPr lang="en-US" sz="3600" b="1" dirty="0">
                <a:solidFill>
                  <a:srgbClr val="1C7293"/>
                </a:solidFill>
                <a:latin typeface="Calibri" pitchFamily="34" charset="0"/>
                <a:ea typeface="Calibri" pitchFamily="34" charset="-122"/>
                <a:cs typeface="Calibri" pitchFamily="34" charset="-120"/>
              </a:rPr>
              <a:t>62 %</a:t>
            </a:r>
            <a:endParaRPr lang="en-US" sz="3600" dirty="0"/>
          </a:p>
        </p:txBody>
      </p:sp>
      <p:sp>
        <p:nvSpPr>
          <p:cNvPr id="13" name="Text 11"/>
          <p:cNvSpPr/>
          <p:nvPr/>
        </p:nvSpPr>
        <p:spPr>
          <a:xfrm>
            <a:off x="3593592" y="2926080"/>
            <a:ext cx="2377440" cy="365760"/>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des annonceurs européens</a:t>
            </a:r>
            <a:endParaRPr lang="en-US" sz="1200" dirty="0"/>
          </a:p>
        </p:txBody>
      </p:sp>
      <p:sp>
        <p:nvSpPr>
          <p:cNvPr id="14" name="Text 12"/>
          <p:cNvSpPr/>
          <p:nvPr/>
        </p:nvSpPr>
        <p:spPr>
          <a:xfrm>
            <a:off x="3593592" y="3291840"/>
            <a:ext cx="2377440" cy="365760"/>
          </a:xfrm>
          <a:prstGeom prst="rect">
            <a:avLst/>
          </a:prstGeom>
          <a:noFill/>
          <a:ln/>
        </p:spPr>
        <p:txBody>
          <a:bodyPr wrap="square" lIns="0" tIns="0" rIns="0" bIns="0" rtlCol="0" anchor="ctr"/>
          <a:lstStyle/>
          <a:p>
            <a:pPr marL="0" indent="0" algn="ctr">
              <a:buNone/>
            </a:pPr>
            <a:r>
              <a:rPr lang="en-US" sz="1100" i="1" dirty="0">
                <a:solidFill>
                  <a:srgbClr val="64748B"/>
                </a:solidFill>
                <a:latin typeface="Calibri" pitchFamily="34" charset="0"/>
                <a:ea typeface="Calibri" pitchFamily="34" charset="-122"/>
                <a:cs typeface="Calibri" pitchFamily="34" charset="-120"/>
              </a:rPr>
              <a:t>ont un projet DCR actif</a:t>
            </a:r>
            <a:endParaRPr lang="en-US" sz="1100" dirty="0"/>
          </a:p>
        </p:txBody>
      </p:sp>
      <p:sp>
        <p:nvSpPr>
          <p:cNvPr id="15" name="Shape 13"/>
          <p:cNvSpPr/>
          <p:nvPr/>
        </p:nvSpPr>
        <p:spPr>
          <a:xfrm>
            <a:off x="6272784" y="1828800"/>
            <a:ext cx="2651760" cy="210312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16" name="Shape 14"/>
          <p:cNvSpPr/>
          <p:nvPr/>
        </p:nvSpPr>
        <p:spPr>
          <a:xfrm>
            <a:off x="6272784" y="1828800"/>
            <a:ext cx="2651760" cy="109728"/>
          </a:xfrm>
          <a:prstGeom prst="rect">
            <a:avLst/>
          </a:prstGeom>
          <a:solidFill>
            <a:srgbClr val="F96167"/>
          </a:solidFill>
          <a:ln w="12700">
            <a:solidFill>
              <a:srgbClr val="F96167"/>
            </a:solidFill>
            <a:prstDash val="solid"/>
          </a:ln>
        </p:spPr>
      </p:sp>
      <p:sp>
        <p:nvSpPr>
          <p:cNvPr id="17" name="Text 15"/>
          <p:cNvSpPr/>
          <p:nvPr/>
        </p:nvSpPr>
        <p:spPr>
          <a:xfrm>
            <a:off x="6272784" y="2011680"/>
            <a:ext cx="2651760" cy="914400"/>
          </a:xfrm>
          <a:prstGeom prst="rect">
            <a:avLst/>
          </a:prstGeom>
          <a:noFill/>
          <a:ln/>
        </p:spPr>
        <p:txBody>
          <a:bodyPr wrap="square" lIns="0" tIns="0" rIns="0" bIns="0" rtlCol="0" anchor="ctr"/>
          <a:lstStyle/>
          <a:p>
            <a:pPr marL="0" indent="0" algn="ctr">
              <a:buNone/>
            </a:pPr>
            <a:r>
              <a:rPr lang="en-US" sz="3600" b="1" dirty="0">
                <a:solidFill>
                  <a:srgbClr val="F96167"/>
                </a:solidFill>
                <a:latin typeface="Calibri" pitchFamily="34" charset="0"/>
                <a:ea typeface="Calibri" pitchFamily="34" charset="-122"/>
                <a:cs typeface="Calibri" pitchFamily="34" charset="-120"/>
              </a:rPr>
              <a:t>1,3 Md €</a:t>
            </a:r>
            <a:endParaRPr lang="en-US" sz="3600" dirty="0"/>
          </a:p>
        </p:txBody>
      </p:sp>
      <p:sp>
        <p:nvSpPr>
          <p:cNvPr id="18" name="Text 16"/>
          <p:cNvSpPr/>
          <p:nvPr/>
        </p:nvSpPr>
        <p:spPr>
          <a:xfrm>
            <a:off x="6409944" y="2926080"/>
            <a:ext cx="2377440" cy="365760"/>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retail media France 2026</a:t>
            </a:r>
            <a:endParaRPr lang="en-US" sz="1200" dirty="0"/>
          </a:p>
        </p:txBody>
      </p:sp>
      <p:sp>
        <p:nvSpPr>
          <p:cNvPr id="19" name="Text 17"/>
          <p:cNvSpPr/>
          <p:nvPr/>
        </p:nvSpPr>
        <p:spPr>
          <a:xfrm>
            <a:off x="6409944" y="3291840"/>
            <a:ext cx="2377440" cy="365760"/>
          </a:xfrm>
          <a:prstGeom prst="rect">
            <a:avLst/>
          </a:prstGeom>
          <a:noFill/>
          <a:ln/>
        </p:spPr>
        <p:txBody>
          <a:bodyPr wrap="square" lIns="0" tIns="0" rIns="0" bIns="0" rtlCol="0" anchor="ctr"/>
          <a:lstStyle/>
          <a:p>
            <a:pPr marL="0" indent="0" algn="ctr">
              <a:buNone/>
            </a:pPr>
            <a:r>
              <a:rPr lang="en-US" sz="1100" i="1" dirty="0">
                <a:solidFill>
                  <a:srgbClr val="64748B"/>
                </a:solidFill>
                <a:latin typeface="Calibri" pitchFamily="34" charset="0"/>
                <a:ea typeface="Calibri" pitchFamily="34" charset="-122"/>
                <a:cs typeface="Calibri" pitchFamily="34" charset="-120"/>
              </a:rPr>
              <a:t>adossé aux DCR</a:t>
            </a:r>
            <a:endParaRPr lang="en-US" sz="1100" dirty="0"/>
          </a:p>
        </p:txBody>
      </p:sp>
      <p:sp>
        <p:nvSpPr>
          <p:cNvPr id="20" name="Shape 18"/>
          <p:cNvSpPr/>
          <p:nvPr/>
        </p:nvSpPr>
        <p:spPr>
          <a:xfrm>
            <a:off x="9089136" y="1828800"/>
            <a:ext cx="2651760" cy="210312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21" name="Shape 19"/>
          <p:cNvSpPr/>
          <p:nvPr/>
        </p:nvSpPr>
        <p:spPr>
          <a:xfrm>
            <a:off x="9089136" y="1828800"/>
            <a:ext cx="2651760" cy="109728"/>
          </a:xfrm>
          <a:prstGeom prst="rect">
            <a:avLst/>
          </a:prstGeom>
          <a:solidFill>
            <a:srgbClr val="21295C"/>
          </a:solidFill>
          <a:ln w="12700">
            <a:solidFill>
              <a:srgbClr val="21295C"/>
            </a:solidFill>
            <a:prstDash val="solid"/>
          </a:ln>
        </p:spPr>
      </p:sp>
      <p:sp>
        <p:nvSpPr>
          <p:cNvPr id="22" name="Text 20"/>
          <p:cNvSpPr/>
          <p:nvPr/>
        </p:nvSpPr>
        <p:spPr>
          <a:xfrm>
            <a:off x="9089136" y="2011680"/>
            <a:ext cx="2651760" cy="914400"/>
          </a:xfrm>
          <a:prstGeom prst="rect">
            <a:avLst/>
          </a:prstGeom>
          <a:noFill/>
          <a:ln/>
        </p:spPr>
        <p:txBody>
          <a:bodyPr wrap="square" lIns="0" tIns="0" rIns="0" bIns="0" rtlCol="0" anchor="ctr"/>
          <a:lstStyle/>
          <a:p>
            <a:pPr marL="0" indent="0" algn="ctr">
              <a:buNone/>
            </a:pPr>
            <a:r>
              <a:rPr lang="en-US" sz="3600" b="1" dirty="0">
                <a:solidFill>
                  <a:srgbClr val="21295C"/>
                </a:solidFill>
                <a:latin typeface="Calibri" pitchFamily="34" charset="0"/>
                <a:ea typeface="Calibri" pitchFamily="34" charset="-122"/>
                <a:cs typeface="Calibri" pitchFamily="34" charset="-120"/>
              </a:rPr>
              <a:t>10+</a:t>
            </a:r>
            <a:endParaRPr lang="en-US" sz="3600" dirty="0"/>
          </a:p>
        </p:txBody>
      </p:sp>
      <p:sp>
        <p:nvSpPr>
          <p:cNvPr id="23" name="Text 21"/>
          <p:cNvSpPr/>
          <p:nvPr/>
        </p:nvSpPr>
        <p:spPr>
          <a:xfrm>
            <a:off x="9226296" y="2926080"/>
            <a:ext cx="2377440" cy="365760"/>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providers sérieux</a:t>
            </a:r>
            <a:endParaRPr lang="en-US" sz="1200" dirty="0"/>
          </a:p>
        </p:txBody>
      </p:sp>
      <p:sp>
        <p:nvSpPr>
          <p:cNvPr id="24" name="Text 22"/>
          <p:cNvSpPr/>
          <p:nvPr/>
        </p:nvSpPr>
        <p:spPr>
          <a:xfrm>
            <a:off x="9226296" y="3291840"/>
            <a:ext cx="2377440" cy="365760"/>
          </a:xfrm>
          <a:prstGeom prst="rect">
            <a:avLst/>
          </a:prstGeom>
          <a:noFill/>
          <a:ln/>
        </p:spPr>
        <p:txBody>
          <a:bodyPr wrap="square" lIns="0" tIns="0" rIns="0" bIns="0" rtlCol="0" anchor="ctr"/>
          <a:lstStyle/>
          <a:p>
            <a:pPr marL="0" indent="0" algn="ctr">
              <a:buNone/>
            </a:pPr>
            <a:r>
              <a:rPr lang="en-US" sz="1100" i="1" dirty="0">
                <a:solidFill>
                  <a:srgbClr val="64748B"/>
                </a:solidFill>
                <a:latin typeface="Calibri" pitchFamily="34" charset="0"/>
                <a:ea typeface="Calibri" pitchFamily="34" charset="-122"/>
                <a:cs typeface="Calibri" pitchFamily="34" charset="-120"/>
              </a:rPr>
              <a:t>dans l'écosystème ads/data</a:t>
            </a:r>
            <a:endParaRPr lang="en-US" sz="1100" dirty="0"/>
          </a:p>
        </p:txBody>
      </p:sp>
      <p:graphicFrame>
        <p:nvGraphicFramePr>
          <p:cNvPr id="25" name="Chart 0"/>
          <p:cNvGraphicFramePr/>
          <p:nvPr/>
        </p:nvGraphicFramePr>
        <p:xfrm>
          <a:off x="640080" y="4114800"/>
          <a:ext cx="11064240" cy="2240280"/>
        </p:xfrm>
        <a:graphic>
          <a:graphicData uri="http://schemas.openxmlformats.org/drawingml/2006/chart">
            <c:chart xmlns:c="http://schemas.openxmlformats.org/drawingml/2006/chart" xmlns:r="http://schemas.openxmlformats.org/officeDocument/2006/relationships" r:id="rId3"/>
          </a:graphicData>
        </a:graphic>
      </p:graphicFrame>
      <p:sp>
        <p:nvSpPr>
          <p:cNvPr id="26" name="Shape 23"/>
          <p:cNvSpPr/>
          <p:nvPr/>
        </p:nvSpPr>
        <p:spPr>
          <a:xfrm>
            <a:off x="0" y="6583680"/>
            <a:ext cx="12191695" cy="274320"/>
          </a:xfrm>
          <a:prstGeom prst="rect">
            <a:avLst/>
          </a:prstGeom>
          <a:solidFill>
            <a:srgbClr val="0B1F3A"/>
          </a:solidFill>
          <a:ln w="12700">
            <a:solidFill>
              <a:srgbClr val="0B1F3A"/>
            </a:solidFill>
            <a:prstDash val="solid"/>
          </a:ln>
        </p:spPr>
      </p:sp>
      <p:sp>
        <p:nvSpPr>
          <p:cNvPr id="27" name="Text 24"/>
          <p:cNvSpPr/>
          <p:nvPr/>
        </p:nvSpPr>
        <p:spPr>
          <a:xfrm>
            <a:off x="365760" y="6601968"/>
            <a:ext cx="822960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Session 1  Comprendre les DCR</a:t>
            </a:r>
            <a:endParaRPr lang="en-US" sz="1000" dirty="0"/>
          </a:p>
        </p:txBody>
      </p:sp>
      <p:sp>
        <p:nvSpPr>
          <p:cNvPr id="28" name="Text 25"/>
          <p:cNvSpPr/>
          <p:nvPr/>
        </p:nvSpPr>
        <p:spPr>
          <a:xfrm>
            <a:off x="11551615" y="6601968"/>
            <a:ext cx="365760" cy="237744"/>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13">
    <p:bg>
      <p:bgPr>
        <a:solidFill>
          <a:srgbClr val="F5F8FC"/>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731520"/>
          </a:xfrm>
          <a:prstGeom prst="rect">
            <a:avLst/>
          </a:prstGeom>
          <a:noFill/>
          <a:ln/>
        </p:spPr>
        <p:txBody>
          <a:bodyPr wrap="square" lIns="0" tIns="0" rIns="0" bIns="0" rtlCol="0" anchor="ctr"/>
          <a:lstStyle/>
          <a:p>
            <a:pPr marL="0" indent="0" algn="l">
              <a:buNone/>
            </a:pPr>
            <a:r>
              <a:rPr lang="en-US" sz="3200" b="1" dirty="0">
                <a:solidFill>
                  <a:srgbClr val="0B1F3A"/>
                </a:solidFill>
                <a:latin typeface="Calibri" pitchFamily="34" charset="0"/>
                <a:ea typeface="Calibri" pitchFamily="34" charset="-122"/>
                <a:cs typeface="Calibri" pitchFamily="34" charset="-120"/>
              </a:rPr>
              <a:t>Pourquoi c'est urgent  pour NOUS</a:t>
            </a:r>
            <a:endParaRPr lang="en-US" sz="3200" dirty="0"/>
          </a:p>
        </p:txBody>
      </p:sp>
      <p:sp>
        <p:nvSpPr>
          <p:cNvPr id="3" name="Shape 1"/>
          <p:cNvSpPr/>
          <p:nvPr/>
        </p:nvSpPr>
        <p:spPr>
          <a:xfrm>
            <a:off x="548640" y="1005840"/>
            <a:ext cx="548640" cy="73152"/>
          </a:xfrm>
          <a:prstGeom prst="rect">
            <a:avLst/>
          </a:prstGeom>
          <a:solidFill>
            <a:srgbClr val="F96167"/>
          </a:solidFill>
          <a:ln w="12700">
            <a:solidFill>
              <a:srgbClr val="F96167"/>
            </a:solidFill>
            <a:prstDash val="solid"/>
          </a:ln>
        </p:spPr>
      </p:sp>
      <p:sp>
        <p:nvSpPr>
          <p:cNvPr id="4" name="Text 2"/>
          <p:cNvSpPr/>
          <p:nvPr/>
        </p:nvSpPr>
        <p:spPr>
          <a:xfrm>
            <a:off x="548640" y="1143000"/>
            <a:ext cx="11064240" cy="411480"/>
          </a:xfrm>
          <a:prstGeom prst="rect">
            <a:avLst/>
          </a:prstGeom>
          <a:noFill/>
          <a:ln/>
        </p:spPr>
        <p:txBody>
          <a:bodyPr wrap="square" lIns="0" tIns="0" rIns="0" bIns="0" rtlCol="0" anchor="ctr"/>
          <a:lstStyle/>
          <a:p>
            <a:pPr marL="0" indent="0" algn="l">
              <a:buNone/>
            </a:pPr>
            <a:r>
              <a:rPr lang="en-US" sz="1600" i="1" dirty="0">
                <a:solidFill>
                  <a:srgbClr val="1C7293"/>
                </a:solidFill>
                <a:latin typeface="Calibri" pitchFamily="34" charset="0"/>
                <a:ea typeface="Calibri" pitchFamily="34" charset="-122"/>
                <a:cs typeface="Calibri" pitchFamily="34" charset="-120"/>
              </a:rPr>
              <a:t>Ne pas </a:t>
            </a:r>
            <a:r>
              <a:rPr lang="en-US" sz="1600" i="1" dirty="0" err="1">
                <a:solidFill>
                  <a:srgbClr val="1C7293"/>
                </a:solidFill>
                <a:latin typeface="Calibri" pitchFamily="34" charset="0"/>
                <a:ea typeface="Calibri" pitchFamily="34" charset="-122"/>
                <a:cs typeface="Calibri" pitchFamily="34" charset="-120"/>
              </a:rPr>
              <a:t>comprendre</a:t>
            </a:r>
            <a:r>
              <a:rPr lang="en-US" sz="1600" i="1" dirty="0">
                <a:solidFill>
                  <a:srgbClr val="1C7293"/>
                </a:solidFill>
                <a:latin typeface="Calibri" pitchFamily="34" charset="0"/>
                <a:ea typeface="Calibri" pitchFamily="34" charset="-122"/>
                <a:cs typeface="Calibri" pitchFamily="34" charset="-120"/>
              </a:rPr>
              <a:t> pas les DCR en 2026 = Ne plus </a:t>
            </a:r>
            <a:r>
              <a:rPr lang="en-US" sz="1600" i="1" dirty="0" err="1">
                <a:solidFill>
                  <a:srgbClr val="1C7293"/>
                </a:solidFill>
                <a:latin typeface="Calibri" pitchFamily="34" charset="0"/>
                <a:ea typeface="Calibri" pitchFamily="34" charset="-122"/>
                <a:cs typeface="Calibri" pitchFamily="34" charset="-120"/>
              </a:rPr>
              <a:t>piloter</a:t>
            </a:r>
            <a:r>
              <a:rPr lang="en-US" sz="1600" i="1" dirty="0">
                <a:solidFill>
                  <a:srgbClr val="1C7293"/>
                </a:solidFill>
                <a:latin typeface="Calibri" pitchFamily="34" charset="0"/>
                <a:ea typeface="Calibri" pitchFamily="34" charset="-122"/>
                <a:cs typeface="Calibri" pitchFamily="34" charset="-120"/>
              </a:rPr>
              <a:t> son acquisition.</a:t>
            </a:r>
            <a:endParaRPr lang="en-US" sz="1600" dirty="0"/>
          </a:p>
        </p:txBody>
      </p:sp>
      <p:sp>
        <p:nvSpPr>
          <p:cNvPr id="5" name="Shape 3"/>
          <p:cNvSpPr/>
          <p:nvPr/>
        </p:nvSpPr>
        <p:spPr>
          <a:xfrm>
            <a:off x="640080" y="1737360"/>
            <a:ext cx="11064240" cy="100584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6" name="Shape 4"/>
          <p:cNvSpPr/>
          <p:nvPr/>
        </p:nvSpPr>
        <p:spPr>
          <a:xfrm>
            <a:off x="640080" y="1737360"/>
            <a:ext cx="109728" cy="1005840"/>
          </a:xfrm>
          <a:prstGeom prst="rect">
            <a:avLst/>
          </a:prstGeom>
          <a:solidFill>
            <a:srgbClr val="F96167"/>
          </a:solidFill>
          <a:ln w="12700">
            <a:solidFill>
              <a:srgbClr val="F96167"/>
            </a:solidFill>
            <a:prstDash val="solid"/>
          </a:ln>
        </p:spPr>
      </p:sp>
      <p:sp>
        <p:nvSpPr>
          <p:cNvPr id="7" name="Shape 5"/>
          <p:cNvSpPr/>
          <p:nvPr/>
        </p:nvSpPr>
        <p:spPr>
          <a:xfrm>
            <a:off x="868680" y="2011680"/>
            <a:ext cx="502920" cy="502920"/>
          </a:xfrm>
          <a:prstGeom prst="ellipse">
            <a:avLst/>
          </a:prstGeom>
          <a:solidFill>
            <a:srgbClr val="065A82"/>
          </a:solidFill>
          <a:ln w="12700">
            <a:solidFill>
              <a:srgbClr val="065A82"/>
            </a:solidFill>
            <a:prstDash val="solid"/>
          </a:ln>
        </p:spPr>
      </p:sp>
      <p:sp>
        <p:nvSpPr>
          <p:cNvPr id="8" name="Text 6"/>
          <p:cNvSpPr/>
          <p:nvPr/>
        </p:nvSpPr>
        <p:spPr>
          <a:xfrm>
            <a:off x="868680" y="201168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9" name="Text 7"/>
          <p:cNvSpPr/>
          <p:nvPr/>
        </p:nvSpPr>
        <p:spPr>
          <a:xfrm>
            <a:off x="1554480" y="1920240"/>
            <a:ext cx="9601200" cy="365760"/>
          </a:xfrm>
          <a:prstGeom prst="rect">
            <a:avLst/>
          </a:prstGeom>
          <a:noFill/>
          <a:ln/>
        </p:spPr>
        <p:txBody>
          <a:bodyPr wrap="square" lIns="0" tIns="0" rIns="0" bIns="0" rtlCol="0" anchor="ctr"/>
          <a:lstStyle/>
          <a:p>
            <a:pPr marL="0" indent="0">
              <a:buNone/>
            </a:pPr>
            <a:r>
              <a:rPr lang="en-US" sz="1600" b="1" dirty="0">
                <a:solidFill>
                  <a:srgbClr val="0B1F3A"/>
                </a:solidFill>
                <a:latin typeface="Calibri" pitchFamily="34" charset="0"/>
                <a:ea typeface="Calibri" pitchFamily="34" charset="-122"/>
                <a:cs typeface="Calibri" pitchFamily="34" charset="-120"/>
              </a:rPr>
              <a:t>Le retail media pèse 1,3 Md€</a:t>
            </a:r>
            <a:endParaRPr lang="en-US" sz="1600" dirty="0"/>
          </a:p>
        </p:txBody>
      </p:sp>
      <p:sp>
        <p:nvSpPr>
          <p:cNvPr id="10" name="Text 8"/>
          <p:cNvSpPr/>
          <p:nvPr/>
        </p:nvSpPr>
        <p:spPr>
          <a:xfrm>
            <a:off x="1554480" y="2240280"/>
            <a:ext cx="9966960" cy="502920"/>
          </a:xfrm>
          <a:prstGeom prst="rect">
            <a:avLst/>
          </a:prstGeom>
          <a:noFill/>
          <a:ln/>
        </p:spPr>
        <p:txBody>
          <a:bodyPr wrap="square" lIns="0" tIns="0" rIns="0" bIns="0" rtlCol="0" anchor="t"/>
          <a:lstStyle/>
          <a:p>
            <a:pPr marL="0" indent="0">
              <a:buNone/>
            </a:pPr>
            <a:r>
              <a:rPr lang="en-US" sz="1200" dirty="0">
                <a:solidFill>
                  <a:srgbClr val="1E293B"/>
                </a:solidFill>
                <a:latin typeface="Calibri" pitchFamily="34" charset="0"/>
                <a:ea typeface="Calibri" pitchFamily="34" charset="-122"/>
                <a:cs typeface="Calibri" pitchFamily="34" charset="-120"/>
              </a:rPr>
              <a:t>Et TOUT le retail media passe par des DCR (Carrefour Links, Unlimitail, Casino...). Si vous ne savez pas les briefer, vous ne pilotez pas ces budgets.</a:t>
            </a:r>
            <a:endParaRPr lang="en-US" sz="1200" dirty="0"/>
          </a:p>
        </p:txBody>
      </p:sp>
      <p:sp>
        <p:nvSpPr>
          <p:cNvPr id="11" name="Shape 9"/>
          <p:cNvSpPr/>
          <p:nvPr/>
        </p:nvSpPr>
        <p:spPr>
          <a:xfrm>
            <a:off x="640080" y="2880360"/>
            <a:ext cx="11064240" cy="100584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12" name="Shape 10"/>
          <p:cNvSpPr/>
          <p:nvPr/>
        </p:nvSpPr>
        <p:spPr>
          <a:xfrm>
            <a:off x="640080" y="2880360"/>
            <a:ext cx="109728" cy="1005840"/>
          </a:xfrm>
          <a:prstGeom prst="rect">
            <a:avLst/>
          </a:prstGeom>
          <a:solidFill>
            <a:srgbClr val="F96167"/>
          </a:solidFill>
          <a:ln w="12700">
            <a:solidFill>
              <a:srgbClr val="F96167"/>
            </a:solidFill>
            <a:prstDash val="solid"/>
          </a:ln>
        </p:spPr>
      </p:sp>
      <p:sp>
        <p:nvSpPr>
          <p:cNvPr id="13" name="Shape 11"/>
          <p:cNvSpPr/>
          <p:nvPr/>
        </p:nvSpPr>
        <p:spPr>
          <a:xfrm>
            <a:off x="868680" y="3154680"/>
            <a:ext cx="502920" cy="502920"/>
          </a:xfrm>
          <a:prstGeom prst="ellipse">
            <a:avLst/>
          </a:prstGeom>
          <a:solidFill>
            <a:srgbClr val="065A82"/>
          </a:solidFill>
          <a:ln w="12700">
            <a:solidFill>
              <a:srgbClr val="065A82"/>
            </a:solidFill>
            <a:prstDash val="solid"/>
          </a:ln>
        </p:spPr>
      </p:sp>
      <p:sp>
        <p:nvSpPr>
          <p:cNvPr id="14" name="Text 12"/>
          <p:cNvSpPr/>
          <p:nvPr/>
        </p:nvSpPr>
        <p:spPr>
          <a:xfrm>
            <a:off x="868680" y="315468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5" name="Text 13"/>
          <p:cNvSpPr/>
          <p:nvPr/>
        </p:nvSpPr>
        <p:spPr>
          <a:xfrm>
            <a:off x="1554480" y="3063240"/>
            <a:ext cx="9601200" cy="365760"/>
          </a:xfrm>
          <a:prstGeom prst="rect">
            <a:avLst/>
          </a:prstGeom>
          <a:noFill/>
          <a:ln/>
        </p:spPr>
        <p:txBody>
          <a:bodyPr wrap="square" lIns="0" tIns="0" rIns="0" bIns="0" rtlCol="0" anchor="ctr"/>
          <a:lstStyle/>
          <a:p>
            <a:pPr marL="0" indent="0">
              <a:buNone/>
            </a:pPr>
            <a:r>
              <a:rPr lang="en-US" sz="1600" b="1" dirty="0">
                <a:solidFill>
                  <a:srgbClr val="0B1F3A"/>
                </a:solidFill>
                <a:latin typeface="Calibri" pitchFamily="34" charset="0"/>
                <a:ea typeface="Calibri" pitchFamily="34" charset="-122"/>
                <a:cs typeface="Calibri" pitchFamily="34" charset="-120"/>
              </a:rPr>
              <a:t>L'attribution moderne s'y joue</a:t>
            </a:r>
            <a:endParaRPr lang="en-US" sz="1600" dirty="0"/>
          </a:p>
        </p:txBody>
      </p:sp>
      <p:sp>
        <p:nvSpPr>
          <p:cNvPr id="16" name="Text 14"/>
          <p:cNvSpPr/>
          <p:nvPr/>
        </p:nvSpPr>
        <p:spPr>
          <a:xfrm>
            <a:off x="1554480" y="3383280"/>
            <a:ext cx="9966960" cy="502920"/>
          </a:xfrm>
          <a:prstGeom prst="rect">
            <a:avLst/>
          </a:prstGeom>
          <a:noFill/>
          <a:ln/>
        </p:spPr>
        <p:txBody>
          <a:bodyPr wrap="square" lIns="0" tIns="0" rIns="0" bIns="0" rtlCol="0" anchor="t"/>
          <a:lstStyle/>
          <a:p>
            <a:pPr marL="0" indent="0">
              <a:buNone/>
            </a:pPr>
            <a:r>
              <a:rPr lang="en-US" sz="1200" dirty="0">
                <a:solidFill>
                  <a:srgbClr val="1E293B"/>
                </a:solidFill>
                <a:latin typeface="Calibri" pitchFamily="34" charset="0"/>
                <a:ea typeface="Calibri" pitchFamily="34" charset="-122"/>
                <a:cs typeface="Calibri" pitchFamily="34" charset="-120"/>
              </a:rPr>
              <a:t>Avec la mort du cookie, les DCR sont devenues le seul moyen de mesurer sérieusement ROAS et incrémentalité cross-canal.</a:t>
            </a:r>
            <a:endParaRPr lang="en-US" sz="1200" dirty="0"/>
          </a:p>
        </p:txBody>
      </p:sp>
      <p:sp>
        <p:nvSpPr>
          <p:cNvPr id="17" name="Shape 15"/>
          <p:cNvSpPr/>
          <p:nvPr/>
        </p:nvSpPr>
        <p:spPr>
          <a:xfrm>
            <a:off x="640080" y="4023360"/>
            <a:ext cx="11064240" cy="100584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18" name="Shape 16"/>
          <p:cNvSpPr/>
          <p:nvPr/>
        </p:nvSpPr>
        <p:spPr>
          <a:xfrm>
            <a:off x="640080" y="4023360"/>
            <a:ext cx="109728" cy="1005840"/>
          </a:xfrm>
          <a:prstGeom prst="rect">
            <a:avLst/>
          </a:prstGeom>
          <a:solidFill>
            <a:srgbClr val="F96167"/>
          </a:solidFill>
          <a:ln w="12700">
            <a:solidFill>
              <a:srgbClr val="F96167"/>
            </a:solidFill>
            <a:prstDash val="solid"/>
          </a:ln>
        </p:spPr>
      </p:sp>
      <p:sp>
        <p:nvSpPr>
          <p:cNvPr id="19" name="Shape 17"/>
          <p:cNvSpPr/>
          <p:nvPr/>
        </p:nvSpPr>
        <p:spPr>
          <a:xfrm>
            <a:off x="868680" y="4297680"/>
            <a:ext cx="502920" cy="502920"/>
          </a:xfrm>
          <a:prstGeom prst="ellipse">
            <a:avLst/>
          </a:prstGeom>
          <a:solidFill>
            <a:srgbClr val="065A82"/>
          </a:solidFill>
          <a:ln w="12700">
            <a:solidFill>
              <a:srgbClr val="065A82"/>
            </a:solidFill>
            <a:prstDash val="solid"/>
          </a:ln>
        </p:spPr>
      </p:sp>
      <p:sp>
        <p:nvSpPr>
          <p:cNvPr id="20" name="Text 18"/>
          <p:cNvSpPr/>
          <p:nvPr/>
        </p:nvSpPr>
        <p:spPr>
          <a:xfrm>
            <a:off x="868680" y="429768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1" name="Text 19"/>
          <p:cNvSpPr/>
          <p:nvPr/>
        </p:nvSpPr>
        <p:spPr>
          <a:xfrm>
            <a:off x="1554480" y="4206240"/>
            <a:ext cx="9601200" cy="365760"/>
          </a:xfrm>
          <a:prstGeom prst="rect">
            <a:avLst/>
          </a:prstGeom>
          <a:noFill/>
          <a:ln/>
        </p:spPr>
        <p:txBody>
          <a:bodyPr wrap="square" lIns="0" tIns="0" rIns="0" bIns="0" rtlCol="0" anchor="ctr"/>
          <a:lstStyle/>
          <a:p>
            <a:pPr marL="0" indent="0">
              <a:buNone/>
            </a:pPr>
            <a:r>
              <a:rPr lang="en-US" sz="1600" b="1" dirty="0">
                <a:solidFill>
                  <a:srgbClr val="0B1F3A"/>
                </a:solidFill>
                <a:latin typeface="Calibri" pitchFamily="34" charset="0"/>
                <a:ea typeface="Calibri" pitchFamily="34" charset="-122"/>
                <a:cs typeface="Calibri" pitchFamily="34" charset="-120"/>
              </a:rPr>
              <a:t>Les directions en parlent</a:t>
            </a:r>
            <a:endParaRPr lang="en-US" sz="1600" dirty="0"/>
          </a:p>
        </p:txBody>
      </p:sp>
      <p:sp>
        <p:nvSpPr>
          <p:cNvPr id="22" name="Text 20"/>
          <p:cNvSpPr/>
          <p:nvPr/>
        </p:nvSpPr>
        <p:spPr>
          <a:xfrm>
            <a:off x="1554480" y="4526280"/>
            <a:ext cx="9966960" cy="502920"/>
          </a:xfrm>
          <a:prstGeom prst="rect">
            <a:avLst/>
          </a:prstGeom>
          <a:noFill/>
          <a:ln/>
        </p:spPr>
        <p:txBody>
          <a:bodyPr wrap="square" lIns="0" tIns="0" rIns="0" bIns="0" rtlCol="0" anchor="t"/>
          <a:lstStyle/>
          <a:p>
            <a:pPr marL="0" indent="0">
              <a:buNone/>
            </a:pPr>
            <a:r>
              <a:rPr lang="en-US" sz="1200" dirty="0">
                <a:solidFill>
                  <a:srgbClr val="1E293B"/>
                </a:solidFill>
                <a:latin typeface="Calibri" pitchFamily="34" charset="0"/>
                <a:ea typeface="Calibri" pitchFamily="34" charset="-122"/>
                <a:cs typeface="Calibri" pitchFamily="34" charset="-120"/>
              </a:rPr>
              <a:t>Votre DG, votre CMO, vos clients : tous entendent « data clean room ». Si vous ne savez pas expliquer, vous perdez en crédibilité.</a:t>
            </a:r>
            <a:endParaRPr lang="en-US" sz="1200" dirty="0"/>
          </a:p>
        </p:txBody>
      </p:sp>
      <p:sp>
        <p:nvSpPr>
          <p:cNvPr id="23" name="Shape 21"/>
          <p:cNvSpPr/>
          <p:nvPr/>
        </p:nvSpPr>
        <p:spPr>
          <a:xfrm>
            <a:off x="640080" y="5166360"/>
            <a:ext cx="11064240" cy="100584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24" name="Shape 22"/>
          <p:cNvSpPr/>
          <p:nvPr/>
        </p:nvSpPr>
        <p:spPr>
          <a:xfrm>
            <a:off x="640080" y="5166360"/>
            <a:ext cx="109728" cy="1005840"/>
          </a:xfrm>
          <a:prstGeom prst="rect">
            <a:avLst/>
          </a:prstGeom>
          <a:solidFill>
            <a:srgbClr val="F96167"/>
          </a:solidFill>
          <a:ln w="12700">
            <a:solidFill>
              <a:srgbClr val="F96167"/>
            </a:solidFill>
            <a:prstDash val="solid"/>
          </a:ln>
        </p:spPr>
      </p:sp>
      <p:sp>
        <p:nvSpPr>
          <p:cNvPr id="25" name="Shape 23"/>
          <p:cNvSpPr/>
          <p:nvPr/>
        </p:nvSpPr>
        <p:spPr>
          <a:xfrm>
            <a:off x="868680" y="5440680"/>
            <a:ext cx="502920" cy="502920"/>
          </a:xfrm>
          <a:prstGeom prst="ellipse">
            <a:avLst/>
          </a:prstGeom>
          <a:solidFill>
            <a:srgbClr val="065A82"/>
          </a:solidFill>
          <a:ln w="12700">
            <a:solidFill>
              <a:srgbClr val="065A82"/>
            </a:solidFill>
            <a:prstDash val="solid"/>
          </a:ln>
        </p:spPr>
      </p:sp>
      <p:sp>
        <p:nvSpPr>
          <p:cNvPr id="26" name="Text 24"/>
          <p:cNvSpPr/>
          <p:nvPr/>
        </p:nvSpPr>
        <p:spPr>
          <a:xfrm>
            <a:off x="868680" y="544068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Text 25"/>
          <p:cNvSpPr/>
          <p:nvPr/>
        </p:nvSpPr>
        <p:spPr>
          <a:xfrm>
            <a:off x="1554480" y="5349240"/>
            <a:ext cx="9601200" cy="365760"/>
          </a:xfrm>
          <a:prstGeom prst="rect">
            <a:avLst/>
          </a:prstGeom>
          <a:noFill/>
          <a:ln/>
        </p:spPr>
        <p:txBody>
          <a:bodyPr wrap="square" lIns="0" tIns="0" rIns="0" bIns="0" rtlCol="0" anchor="ctr"/>
          <a:lstStyle/>
          <a:p>
            <a:pPr marL="0" indent="0">
              <a:buNone/>
            </a:pPr>
            <a:r>
              <a:rPr lang="en-US" sz="1600" b="1" dirty="0">
                <a:solidFill>
                  <a:srgbClr val="0B1F3A"/>
                </a:solidFill>
                <a:latin typeface="Calibri" pitchFamily="34" charset="0"/>
                <a:ea typeface="Calibri" pitchFamily="34" charset="-122"/>
                <a:cs typeface="Calibri" pitchFamily="34" charset="-120"/>
              </a:rPr>
              <a:t>C'est un accélérateur de carrière</a:t>
            </a:r>
            <a:endParaRPr lang="en-US" sz="1600" dirty="0"/>
          </a:p>
        </p:txBody>
      </p:sp>
      <p:sp>
        <p:nvSpPr>
          <p:cNvPr id="28" name="Text 26"/>
          <p:cNvSpPr/>
          <p:nvPr/>
        </p:nvSpPr>
        <p:spPr>
          <a:xfrm>
            <a:off x="1554480" y="5669280"/>
            <a:ext cx="9966960" cy="502920"/>
          </a:xfrm>
          <a:prstGeom prst="rect">
            <a:avLst/>
          </a:prstGeom>
          <a:noFill/>
          <a:ln/>
        </p:spPr>
        <p:txBody>
          <a:bodyPr wrap="square" lIns="0" tIns="0" rIns="0" bIns="0" rtlCol="0" anchor="t"/>
          <a:lstStyle/>
          <a:p>
            <a:pPr marL="0" indent="0">
              <a:buNone/>
            </a:pPr>
            <a:r>
              <a:rPr lang="en-US" sz="1200" dirty="0">
                <a:solidFill>
                  <a:srgbClr val="1E293B"/>
                </a:solidFill>
                <a:latin typeface="Calibri" pitchFamily="34" charset="0"/>
                <a:ea typeface="Calibri" pitchFamily="34" charset="-122"/>
                <a:cs typeface="Calibri" pitchFamily="34" charset="-120"/>
              </a:rPr>
              <a:t>Les profils "growth + data privacy" sont payés 15-25% au-dessus de la moyenne (source : Michael Page 2025).</a:t>
            </a:r>
            <a:endParaRPr lang="en-US" sz="1200" dirty="0"/>
          </a:p>
        </p:txBody>
      </p:sp>
      <p:sp>
        <p:nvSpPr>
          <p:cNvPr id="29" name="Shape 27"/>
          <p:cNvSpPr/>
          <p:nvPr/>
        </p:nvSpPr>
        <p:spPr>
          <a:xfrm>
            <a:off x="0" y="6583680"/>
            <a:ext cx="12191695" cy="274320"/>
          </a:xfrm>
          <a:prstGeom prst="rect">
            <a:avLst/>
          </a:prstGeom>
          <a:solidFill>
            <a:srgbClr val="0B1F3A"/>
          </a:solidFill>
          <a:ln w="12700">
            <a:solidFill>
              <a:srgbClr val="0B1F3A"/>
            </a:solidFill>
            <a:prstDash val="solid"/>
          </a:ln>
        </p:spPr>
      </p:sp>
      <p:sp>
        <p:nvSpPr>
          <p:cNvPr id="30" name="Text 28"/>
          <p:cNvSpPr/>
          <p:nvPr/>
        </p:nvSpPr>
        <p:spPr>
          <a:xfrm>
            <a:off x="365760" y="6601968"/>
            <a:ext cx="822960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Session 1  Comprendre les DCR</a:t>
            </a:r>
            <a:endParaRPr lang="en-US" sz="1000" dirty="0"/>
          </a:p>
        </p:txBody>
      </p:sp>
      <p:sp>
        <p:nvSpPr>
          <p:cNvPr id="31" name="Text 29"/>
          <p:cNvSpPr/>
          <p:nvPr/>
        </p:nvSpPr>
        <p:spPr>
          <a:xfrm>
            <a:off x="11551615" y="6601968"/>
            <a:ext cx="365760" cy="237744"/>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14">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8229600" y="-2743200"/>
            <a:ext cx="7315200" cy="7315200"/>
          </a:xfrm>
          <a:prstGeom prst="ellipse">
            <a:avLst/>
          </a:prstGeom>
          <a:solidFill>
            <a:srgbClr val="065A82">
              <a:alpha val="20000"/>
            </a:srgbClr>
          </a:solidFill>
          <a:ln w="12700">
            <a:solidFill>
              <a:srgbClr val="065A82">
                <a:alpha val="20000"/>
              </a:srgbClr>
            </a:solidFill>
            <a:prstDash val="solid"/>
          </a:ln>
        </p:spPr>
      </p:sp>
      <p:sp>
        <p:nvSpPr>
          <p:cNvPr id="3" name="Shape 1"/>
          <p:cNvSpPr/>
          <p:nvPr/>
        </p:nvSpPr>
        <p:spPr>
          <a:xfrm>
            <a:off x="548640" y="822960"/>
            <a:ext cx="137160" cy="914400"/>
          </a:xfrm>
          <a:prstGeom prst="rect">
            <a:avLst/>
          </a:prstGeom>
          <a:solidFill>
            <a:srgbClr val="F96167"/>
          </a:solidFill>
          <a:ln w="12700">
            <a:solidFill>
              <a:srgbClr val="F96167"/>
            </a:solidFill>
            <a:prstDash val="solid"/>
          </a:ln>
        </p:spPr>
      </p:sp>
      <p:sp>
        <p:nvSpPr>
          <p:cNvPr id="4" name="Text 2"/>
          <p:cNvSpPr/>
          <p:nvPr/>
        </p:nvSpPr>
        <p:spPr>
          <a:xfrm>
            <a:off x="548640" y="457200"/>
            <a:ext cx="9144000" cy="365760"/>
          </a:xfrm>
          <a:prstGeom prst="rect">
            <a:avLst/>
          </a:prstGeom>
          <a:noFill/>
          <a:ln/>
        </p:spPr>
        <p:txBody>
          <a:bodyPr wrap="square" lIns="0" tIns="0" rIns="0" bIns="0" rtlCol="0" anchor="ctr"/>
          <a:lstStyle/>
          <a:p>
            <a:pPr marL="0" indent="0">
              <a:buNone/>
            </a:pPr>
            <a:r>
              <a:rPr lang="en-US" sz="1400" b="1" kern="0" spc="300" dirty="0">
                <a:solidFill>
                  <a:srgbClr val="F9B233"/>
                </a:solidFill>
                <a:latin typeface="Calibri" pitchFamily="34" charset="0"/>
                <a:ea typeface="Calibri" pitchFamily="34" charset="-122"/>
                <a:cs typeface="Calibri" pitchFamily="34" charset="-120"/>
              </a:rPr>
              <a:t>RÉCAP SESSION 1</a:t>
            </a:r>
            <a:endParaRPr lang="en-US" sz="1400" dirty="0"/>
          </a:p>
        </p:txBody>
      </p:sp>
      <p:sp>
        <p:nvSpPr>
          <p:cNvPr id="5" name="Text 3"/>
          <p:cNvSpPr/>
          <p:nvPr/>
        </p:nvSpPr>
        <p:spPr>
          <a:xfrm>
            <a:off x="548640" y="914400"/>
            <a:ext cx="10972800" cy="73152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Ce que vous retenez</a:t>
            </a:r>
            <a:endParaRPr lang="en-US" sz="4000" dirty="0"/>
          </a:p>
        </p:txBody>
      </p:sp>
      <p:sp>
        <p:nvSpPr>
          <p:cNvPr id="6" name="Shape 4"/>
          <p:cNvSpPr/>
          <p:nvPr/>
        </p:nvSpPr>
        <p:spPr>
          <a:xfrm>
            <a:off x="548640" y="2011680"/>
            <a:ext cx="11064240" cy="685800"/>
          </a:xfrm>
          <a:prstGeom prst="rect">
            <a:avLst/>
          </a:prstGeom>
          <a:solidFill>
            <a:srgbClr val="FFFFFF">
              <a:alpha val="10000"/>
            </a:srgbClr>
          </a:solidFill>
          <a:ln w="6350">
            <a:solidFill>
              <a:srgbClr val="1C7293"/>
            </a:solidFill>
            <a:prstDash val="solid"/>
          </a:ln>
        </p:spPr>
      </p:sp>
      <p:sp>
        <p:nvSpPr>
          <p:cNvPr id="7" name="Text 5"/>
          <p:cNvSpPr/>
          <p:nvPr/>
        </p:nvSpPr>
        <p:spPr>
          <a:xfrm>
            <a:off x="731520" y="2194560"/>
            <a:ext cx="2011680" cy="365760"/>
          </a:xfrm>
          <a:prstGeom prst="rect">
            <a:avLst/>
          </a:prstGeom>
          <a:noFill/>
          <a:ln/>
        </p:spPr>
        <p:txBody>
          <a:bodyPr wrap="square" lIns="0" tIns="0" rIns="0" bIns="0" rtlCol="0" anchor="ctr"/>
          <a:lstStyle/>
          <a:p>
            <a:pPr marL="0" indent="0">
              <a:buNone/>
            </a:pPr>
            <a:r>
              <a:rPr lang="en-US" sz="1200" b="1" kern="0" spc="150" dirty="0">
                <a:solidFill>
                  <a:srgbClr val="F96167"/>
                </a:solidFill>
                <a:latin typeface="Calibri" pitchFamily="34" charset="0"/>
                <a:ea typeface="Calibri" pitchFamily="34" charset="-122"/>
                <a:cs typeface="Calibri" pitchFamily="34" charset="-120"/>
              </a:rPr>
              <a:t>POURQUOI</a:t>
            </a:r>
            <a:endParaRPr lang="en-US" sz="1200" dirty="0"/>
          </a:p>
        </p:txBody>
      </p:sp>
      <p:sp>
        <p:nvSpPr>
          <p:cNvPr id="8" name="Text 6"/>
          <p:cNvSpPr/>
          <p:nvPr/>
        </p:nvSpPr>
        <p:spPr>
          <a:xfrm>
            <a:off x="2743200" y="2194560"/>
            <a:ext cx="8778240" cy="36576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Le cookie tiers est mort. Les DCR sont la nouvelle infrastructure de collaboration data.</a:t>
            </a:r>
            <a:endParaRPr lang="en-US" sz="1400" dirty="0"/>
          </a:p>
        </p:txBody>
      </p:sp>
      <p:sp>
        <p:nvSpPr>
          <p:cNvPr id="9" name="Shape 7"/>
          <p:cNvSpPr/>
          <p:nvPr/>
        </p:nvSpPr>
        <p:spPr>
          <a:xfrm>
            <a:off x="548640" y="2834640"/>
            <a:ext cx="11064240" cy="685800"/>
          </a:xfrm>
          <a:prstGeom prst="rect">
            <a:avLst/>
          </a:prstGeom>
          <a:solidFill>
            <a:srgbClr val="FFFFFF">
              <a:alpha val="10000"/>
            </a:srgbClr>
          </a:solidFill>
          <a:ln w="6350">
            <a:solidFill>
              <a:srgbClr val="1C7293"/>
            </a:solidFill>
            <a:prstDash val="solid"/>
          </a:ln>
        </p:spPr>
      </p:sp>
      <p:sp>
        <p:nvSpPr>
          <p:cNvPr id="10" name="Text 8"/>
          <p:cNvSpPr/>
          <p:nvPr/>
        </p:nvSpPr>
        <p:spPr>
          <a:xfrm>
            <a:off x="731520" y="3017520"/>
            <a:ext cx="2011680" cy="365760"/>
          </a:xfrm>
          <a:prstGeom prst="rect">
            <a:avLst/>
          </a:prstGeom>
          <a:noFill/>
          <a:ln/>
        </p:spPr>
        <p:txBody>
          <a:bodyPr wrap="square" lIns="0" tIns="0" rIns="0" bIns="0" rtlCol="0" anchor="ctr"/>
          <a:lstStyle/>
          <a:p>
            <a:pPr marL="0" indent="0">
              <a:buNone/>
            </a:pPr>
            <a:r>
              <a:rPr lang="en-US" sz="1200" b="1" kern="0" spc="150" dirty="0">
                <a:solidFill>
                  <a:srgbClr val="F96167"/>
                </a:solidFill>
                <a:latin typeface="Calibri" pitchFamily="34" charset="0"/>
                <a:ea typeface="Calibri" pitchFamily="34" charset="-122"/>
                <a:cs typeface="Calibri" pitchFamily="34" charset="-120"/>
              </a:rPr>
              <a:t>QUOI</a:t>
            </a:r>
            <a:endParaRPr lang="en-US" sz="1200" dirty="0"/>
          </a:p>
        </p:txBody>
      </p:sp>
      <p:sp>
        <p:nvSpPr>
          <p:cNvPr id="11" name="Text 9"/>
          <p:cNvSpPr/>
          <p:nvPr/>
        </p:nvSpPr>
        <p:spPr>
          <a:xfrm>
            <a:off x="2743200" y="3017520"/>
            <a:ext cx="8778240" cy="36576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Un espace sécurisé où deux parties font travailler leurs données ensemble sans se les montrer.</a:t>
            </a:r>
            <a:endParaRPr lang="en-US" sz="1400" dirty="0"/>
          </a:p>
        </p:txBody>
      </p:sp>
      <p:sp>
        <p:nvSpPr>
          <p:cNvPr id="12" name="Shape 10"/>
          <p:cNvSpPr/>
          <p:nvPr/>
        </p:nvSpPr>
        <p:spPr>
          <a:xfrm>
            <a:off x="548640" y="3657600"/>
            <a:ext cx="11064240" cy="685800"/>
          </a:xfrm>
          <a:prstGeom prst="rect">
            <a:avLst/>
          </a:prstGeom>
          <a:solidFill>
            <a:srgbClr val="FFFFFF">
              <a:alpha val="10000"/>
            </a:srgbClr>
          </a:solidFill>
          <a:ln w="6350">
            <a:solidFill>
              <a:srgbClr val="1C7293"/>
            </a:solidFill>
            <a:prstDash val="solid"/>
          </a:ln>
        </p:spPr>
      </p:sp>
      <p:sp>
        <p:nvSpPr>
          <p:cNvPr id="13" name="Text 11"/>
          <p:cNvSpPr/>
          <p:nvPr/>
        </p:nvSpPr>
        <p:spPr>
          <a:xfrm>
            <a:off x="731520" y="3840480"/>
            <a:ext cx="2011680" cy="365760"/>
          </a:xfrm>
          <a:prstGeom prst="rect">
            <a:avLst/>
          </a:prstGeom>
          <a:noFill/>
          <a:ln/>
        </p:spPr>
        <p:txBody>
          <a:bodyPr wrap="square" lIns="0" tIns="0" rIns="0" bIns="0" rtlCol="0" anchor="ctr"/>
          <a:lstStyle/>
          <a:p>
            <a:pPr marL="0" indent="0">
              <a:buNone/>
            </a:pPr>
            <a:r>
              <a:rPr lang="en-US" sz="1200" b="1" kern="0" spc="150" dirty="0">
                <a:solidFill>
                  <a:srgbClr val="F96167"/>
                </a:solidFill>
                <a:latin typeface="Calibri" pitchFamily="34" charset="0"/>
                <a:ea typeface="Calibri" pitchFamily="34" charset="-122"/>
                <a:cs typeface="Calibri" pitchFamily="34" charset="-120"/>
              </a:rPr>
              <a:t>COMMENT</a:t>
            </a:r>
            <a:endParaRPr lang="en-US" sz="1200" dirty="0"/>
          </a:p>
        </p:txBody>
      </p:sp>
      <p:sp>
        <p:nvSpPr>
          <p:cNvPr id="14" name="Text 12"/>
          <p:cNvSpPr/>
          <p:nvPr/>
        </p:nvSpPr>
        <p:spPr>
          <a:xfrm>
            <a:off x="2743200" y="3840480"/>
            <a:ext cx="8778240" cy="36576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Contrat → hash → upload → calcul → sortie agrégée. Vous, vous pilotez, vous ne codez pas.</a:t>
            </a:r>
            <a:endParaRPr lang="en-US" sz="1400" dirty="0"/>
          </a:p>
        </p:txBody>
      </p:sp>
      <p:sp>
        <p:nvSpPr>
          <p:cNvPr id="15" name="Shape 13"/>
          <p:cNvSpPr/>
          <p:nvPr/>
        </p:nvSpPr>
        <p:spPr>
          <a:xfrm>
            <a:off x="548640" y="4480560"/>
            <a:ext cx="11064240" cy="685800"/>
          </a:xfrm>
          <a:prstGeom prst="rect">
            <a:avLst/>
          </a:prstGeom>
          <a:solidFill>
            <a:srgbClr val="FFFFFF">
              <a:alpha val="10000"/>
            </a:srgbClr>
          </a:solidFill>
          <a:ln w="6350">
            <a:solidFill>
              <a:srgbClr val="1C7293"/>
            </a:solidFill>
            <a:prstDash val="solid"/>
          </a:ln>
        </p:spPr>
      </p:sp>
      <p:sp>
        <p:nvSpPr>
          <p:cNvPr id="16" name="Text 14"/>
          <p:cNvSpPr/>
          <p:nvPr/>
        </p:nvSpPr>
        <p:spPr>
          <a:xfrm>
            <a:off x="731520" y="4663440"/>
            <a:ext cx="2011680" cy="365760"/>
          </a:xfrm>
          <a:prstGeom prst="rect">
            <a:avLst/>
          </a:prstGeom>
          <a:noFill/>
          <a:ln/>
        </p:spPr>
        <p:txBody>
          <a:bodyPr wrap="square" lIns="0" tIns="0" rIns="0" bIns="0" rtlCol="0" anchor="ctr"/>
          <a:lstStyle/>
          <a:p>
            <a:pPr marL="0" indent="0">
              <a:buNone/>
            </a:pPr>
            <a:r>
              <a:rPr lang="en-US" sz="1200" b="1" kern="0" spc="150" dirty="0">
                <a:solidFill>
                  <a:srgbClr val="F96167"/>
                </a:solidFill>
                <a:latin typeface="Calibri" pitchFamily="34" charset="0"/>
                <a:ea typeface="Calibri" pitchFamily="34" charset="-122"/>
                <a:cs typeface="Calibri" pitchFamily="34" charset="-120"/>
              </a:rPr>
              <a:t>CAS D'USAGE</a:t>
            </a:r>
            <a:endParaRPr lang="en-US" sz="1200" dirty="0"/>
          </a:p>
        </p:txBody>
      </p:sp>
      <p:sp>
        <p:nvSpPr>
          <p:cNvPr id="17" name="Text 15"/>
          <p:cNvSpPr/>
          <p:nvPr/>
        </p:nvSpPr>
        <p:spPr>
          <a:xfrm>
            <a:off x="2743200" y="4663440"/>
            <a:ext cx="8778240" cy="36576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Audience, Attribution, Incrémentalité, Insights. 4 familles à connaître par cœur.</a:t>
            </a:r>
            <a:endParaRPr lang="en-US" sz="1400" dirty="0"/>
          </a:p>
        </p:txBody>
      </p:sp>
      <p:sp>
        <p:nvSpPr>
          <p:cNvPr id="18" name="Shape 16"/>
          <p:cNvSpPr/>
          <p:nvPr/>
        </p:nvSpPr>
        <p:spPr>
          <a:xfrm>
            <a:off x="548640" y="5303520"/>
            <a:ext cx="11064240" cy="685800"/>
          </a:xfrm>
          <a:prstGeom prst="rect">
            <a:avLst/>
          </a:prstGeom>
          <a:solidFill>
            <a:srgbClr val="FFFFFF">
              <a:alpha val="10000"/>
            </a:srgbClr>
          </a:solidFill>
          <a:ln w="6350">
            <a:solidFill>
              <a:srgbClr val="1C7293"/>
            </a:solidFill>
            <a:prstDash val="solid"/>
          </a:ln>
        </p:spPr>
      </p:sp>
      <p:sp>
        <p:nvSpPr>
          <p:cNvPr id="19" name="Text 17"/>
          <p:cNvSpPr/>
          <p:nvPr/>
        </p:nvSpPr>
        <p:spPr>
          <a:xfrm>
            <a:off x="731520" y="5486400"/>
            <a:ext cx="2011680" cy="365760"/>
          </a:xfrm>
          <a:prstGeom prst="rect">
            <a:avLst/>
          </a:prstGeom>
          <a:noFill/>
          <a:ln/>
        </p:spPr>
        <p:txBody>
          <a:bodyPr wrap="square" lIns="0" tIns="0" rIns="0" bIns="0" rtlCol="0" anchor="ctr"/>
          <a:lstStyle/>
          <a:p>
            <a:pPr marL="0" indent="0">
              <a:buNone/>
            </a:pPr>
            <a:r>
              <a:rPr lang="en-US" sz="1200" b="1" kern="0" spc="150" dirty="0">
                <a:solidFill>
                  <a:srgbClr val="F96167"/>
                </a:solidFill>
                <a:latin typeface="Calibri" pitchFamily="34" charset="0"/>
                <a:ea typeface="Calibri" pitchFamily="34" charset="-122"/>
                <a:cs typeface="Calibri" pitchFamily="34" charset="-120"/>
              </a:rPr>
              <a:t>URGENCE</a:t>
            </a:r>
            <a:endParaRPr lang="en-US" sz="1200" dirty="0"/>
          </a:p>
        </p:txBody>
      </p:sp>
      <p:sp>
        <p:nvSpPr>
          <p:cNvPr id="20" name="Text 18"/>
          <p:cNvSpPr/>
          <p:nvPr/>
        </p:nvSpPr>
        <p:spPr>
          <a:xfrm>
            <a:off x="2743200" y="5486400"/>
            <a:ext cx="8778240" cy="36576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Retail media, attribution post-cookie, pitch direction, salaire : 4 raisons de s'y mettre maintenant.</a:t>
            </a:r>
            <a:endParaRPr lang="en-US" sz="1400" dirty="0"/>
          </a:p>
        </p:txBody>
      </p:sp>
      <p:sp>
        <p:nvSpPr>
          <p:cNvPr id="21" name="Text 19"/>
          <p:cNvSpPr/>
          <p:nvPr/>
        </p:nvSpPr>
        <p:spPr>
          <a:xfrm>
            <a:off x="548640" y="6309360"/>
            <a:ext cx="10972800" cy="320040"/>
          </a:xfrm>
          <a:prstGeom prst="rect">
            <a:avLst/>
          </a:prstGeom>
          <a:noFill/>
          <a:ln/>
        </p:spPr>
        <p:txBody>
          <a:bodyPr wrap="square" lIns="0" tIns="0" rIns="0" bIns="0" rtlCol="0" anchor="ctr"/>
          <a:lstStyle/>
          <a:p>
            <a:pPr marL="0" indent="0">
              <a:buNone/>
            </a:pPr>
            <a:r>
              <a:rPr lang="en-US" sz="1300" i="1" dirty="0">
                <a:solidFill>
                  <a:srgbClr val="F9B233"/>
                </a:solidFill>
                <a:latin typeface="Calibri" pitchFamily="34" charset="0"/>
                <a:ea typeface="Calibri" pitchFamily="34" charset="-122"/>
                <a:cs typeface="Calibri" pitchFamily="34" charset="-120"/>
              </a:rPr>
              <a:t>Prochaine session : le panorama des providers Cloud &amp; Data.</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15">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2743200" y="-2743200"/>
            <a:ext cx="10381488" cy="7565136"/>
          </a:xfrm>
          <a:prstGeom prst="ellipse">
            <a:avLst/>
          </a:prstGeom>
          <a:solidFill>
            <a:srgbClr val="1C7293">
              <a:alpha val="20000"/>
            </a:srgbClr>
          </a:solidFill>
          <a:ln w="12700">
            <a:solidFill>
              <a:srgbClr val="1C7293">
                <a:alpha val="20000"/>
              </a:srgbClr>
            </a:solidFill>
            <a:prstDash val="solid"/>
          </a:ln>
        </p:spPr>
      </p:sp>
      <p:sp>
        <p:nvSpPr>
          <p:cNvPr id="3" name="Shape 1"/>
          <p:cNvSpPr/>
          <p:nvPr/>
        </p:nvSpPr>
        <p:spPr>
          <a:xfrm>
            <a:off x="548640" y="2743200"/>
            <a:ext cx="137160" cy="1188720"/>
          </a:xfrm>
          <a:prstGeom prst="rect">
            <a:avLst/>
          </a:prstGeom>
          <a:solidFill>
            <a:srgbClr val="F96167"/>
          </a:solidFill>
          <a:ln w="12700">
            <a:solidFill>
              <a:srgbClr val="F96167"/>
            </a:solidFill>
            <a:prstDash val="solid"/>
          </a:ln>
        </p:spPr>
      </p:sp>
      <p:sp>
        <p:nvSpPr>
          <p:cNvPr id="4" name="Text 2"/>
          <p:cNvSpPr/>
          <p:nvPr/>
        </p:nvSpPr>
        <p:spPr>
          <a:xfrm>
            <a:off x="548640" y="2103120"/>
            <a:ext cx="7315200" cy="457200"/>
          </a:xfrm>
          <a:prstGeom prst="rect">
            <a:avLst/>
          </a:prstGeom>
          <a:noFill/>
          <a:ln/>
        </p:spPr>
        <p:txBody>
          <a:bodyPr wrap="square" lIns="0" tIns="0" rIns="0" bIns="0" rtlCol="0" anchor="ctr"/>
          <a:lstStyle/>
          <a:p>
            <a:pPr marL="0" indent="0">
              <a:buNone/>
            </a:pPr>
            <a:r>
              <a:rPr lang="en-US" sz="1600" b="1" kern="0" spc="300" dirty="0">
                <a:solidFill>
                  <a:srgbClr val="F9B233"/>
                </a:solidFill>
                <a:latin typeface="Calibri" pitchFamily="34" charset="0"/>
                <a:ea typeface="Calibri" pitchFamily="34" charset="-122"/>
                <a:cs typeface="Calibri" pitchFamily="34" charset="-120"/>
              </a:rPr>
              <a:t>SESSION 2 / 4</a:t>
            </a:r>
            <a:endParaRPr lang="en-US" sz="1600" dirty="0"/>
          </a:p>
        </p:txBody>
      </p:sp>
      <p:sp>
        <p:nvSpPr>
          <p:cNvPr id="5" name="Text 3"/>
          <p:cNvSpPr/>
          <p:nvPr/>
        </p:nvSpPr>
        <p:spPr>
          <a:xfrm>
            <a:off x="548640" y="2651760"/>
            <a:ext cx="10972800" cy="2286000"/>
          </a:xfrm>
          <a:prstGeom prst="rect">
            <a:avLst/>
          </a:prstGeom>
          <a:noFill/>
          <a:ln/>
        </p:spPr>
        <p:txBody>
          <a:bodyPr wrap="square" lIns="0" tIns="0" rIns="0" bIns="0" rtlCol="0" anchor="ctr"/>
          <a:lstStyle/>
          <a:p>
            <a:pPr marL="0" indent="0">
              <a:buNone/>
            </a:pPr>
            <a:r>
              <a:rPr lang="en-US" sz="5400" b="1" dirty="0">
                <a:solidFill>
                  <a:srgbClr val="FFFFFF"/>
                </a:solidFill>
                <a:latin typeface="Calibri" pitchFamily="34" charset="0"/>
                <a:ea typeface="Calibri" pitchFamily="34" charset="-122"/>
                <a:cs typeface="Calibri" pitchFamily="34" charset="-120"/>
              </a:rPr>
              <a:t>Providers</a:t>
            </a:r>
            <a:endParaRPr lang="en-US" sz="5400" dirty="0"/>
          </a:p>
          <a:p>
            <a:pPr marL="0" indent="0">
              <a:buNone/>
            </a:pPr>
            <a:r>
              <a:rPr lang="en-US" sz="5400" b="1" dirty="0">
                <a:solidFill>
                  <a:srgbClr val="FFFFFF"/>
                </a:solidFill>
                <a:latin typeface="Calibri" pitchFamily="34" charset="0"/>
                <a:ea typeface="Calibri" pitchFamily="34" charset="-122"/>
                <a:cs typeface="Calibri" pitchFamily="34" charset="-120"/>
              </a:rPr>
              <a:t>Cloud &amp; Data</a:t>
            </a:r>
            <a:endParaRPr lang="en-US" sz="5400" dirty="0"/>
          </a:p>
        </p:txBody>
      </p:sp>
      <p:sp>
        <p:nvSpPr>
          <p:cNvPr id="6" name="Text 4"/>
          <p:cNvSpPr/>
          <p:nvPr/>
        </p:nvSpPr>
        <p:spPr>
          <a:xfrm>
            <a:off x="548640" y="5029200"/>
            <a:ext cx="10972800" cy="457200"/>
          </a:xfrm>
          <a:prstGeom prst="rect">
            <a:avLst/>
          </a:prstGeom>
          <a:noFill/>
          <a:ln/>
        </p:spPr>
        <p:txBody>
          <a:bodyPr wrap="square" lIns="0" tIns="0" rIns="0" bIns="0" rtlCol="0" anchor="ctr"/>
          <a:lstStyle/>
          <a:p>
            <a:pPr marL="0" indent="0">
              <a:buNone/>
            </a:pPr>
            <a:r>
              <a:rPr lang="en-US" sz="1700" i="1" dirty="0">
                <a:solidFill>
                  <a:srgbClr val="1C7293"/>
                </a:solidFill>
                <a:latin typeface="Calibri" pitchFamily="34" charset="0"/>
                <a:ea typeface="Calibri" pitchFamily="34" charset="-122"/>
                <a:cs typeface="Calibri" pitchFamily="34" charset="-120"/>
              </a:rPr>
              <a:t>AWS, Google, Snowflake, Databricks, </a:t>
            </a:r>
            <a:r>
              <a:rPr lang="en-US" sz="1700" i="1" dirty="0" err="1">
                <a:solidFill>
                  <a:srgbClr val="1C7293"/>
                </a:solidFill>
                <a:latin typeface="Calibri" pitchFamily="34" charset="0"/>
                <a:ea typeface="Calibri" pitchFamily="34" charset="-122"/>
                <a:cs typeface="Calibri" pitchFamily="34" charset="-120"/>
              </a:rPr>
              <a:t>Samooha</a:t>
            </a:r>
            <a:r>
              <a:rPr lang="en-US" sz="1700" i="1" dirty="0">
                <a:solidFill>
                  <a:srgbClr val="1C7293"/>
                </a:solidFill>
                <a:latin typeface="Calibri" pitchFamily="34" charset="0"/>
                <a:ea typeface="Calibri" pitchFamily="34" charset="-122"/>
                <a:cs typeface="Calibri" pitchFamily="34" charset="-120"/>
              </a:rPr>
              <a:t>  les grands acteurs de la data collaboration</a:t>
            </a:r>
            <a:endParaRPr lang="en-US" sz="1700" dirty="0"/>
          </a:p>
        </p:txBody>
      </p:sp>
      <p:sp>
        <p:nvSpPr>
          <p:cNvPr id="7" name="Text 5"/>
          <p:cNvSpPr/>
          <p:nvPr/>
        </p:nvSpPr>
        <p:spPr>
          <a:xfrm>
            <a:off x="548640" y="5760720"/>
            <a:ext cx="5486400" cy="365760"/>
          </a:xfrm>
          <a:prstGeom prst="rect">
            <a:avLst/>
          </a:prstGeom>
          <a:noFill/>
          <a:ln/>
        </p:spPr>
        <p:txBody>
          <a:bodyPr wrap="square" lIns="0" tIns="0" rIns="0" bIns="0" rtlCol="0" anchor="ctr"/>
          <a:lstStyle/>
          <a:p>
            <a:pPr marL="0" indent="0">
              <a:buNone/>
            </a:pPr>
            <a:r>
              <a:rPr lang="en-US" sz="1300" dirty="0">
                <a:solidFill>
                  <a:srgbClr val="E2E8F0"/>
                </a:solidFill>
                <a:latin typeface="Calibri" pitchFamily="34" charset="0"/>
                <a:ea typeface="Calibri" pitchFamily="34" charset="-122"/>
                <a:cs typeface="Calibri" pitchFamily="34" charset="-120"/>
              </a:rPr>
              <a:t>Durée : 3h30</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16">
    <p:bg>
      <p:bgPr>
        <a:solidFill>
          <a:srgbClr val="F5F8FC"/>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731520"/>
          </a:xfrm>
          <a:prstGeom prst="rect">
            <a:avLst/>
          </a:prstGeom>
          <a:noFill/>
          <a:ln/>
        </p:spPr>
        <p:txBody>
          <a:bodyPr wrap="square" lIns="0" tIns="0" rIns="0" bIns="0" rtlCol="0" anchor="ctr"/>
          <a:lstStyle/>
          <a:p>
            <a:pPr marL="0" indent="0" algn="l">
              <a:buNone/>
            </a:pPr>
            <a:r>
              <a:rPr lang="en-US" sz="3200" b="1" dirty="0">
                <a:solidFill>
                  <a:srgbClr val="0B1F3A"/>
                </a:solidFill>
                <a:latin typeface="Calibri" pitchFamily="34" charset="0"/>
                <a:ea typeface="Calibri" pitchFamily="34" charset="-122"/>
                <a:cs typeface="Calibri" pitchFamily="34" charset="-120"/>
              </a:rPr>
              <a:t>Panorama  3 familles de providers</a:t>
            </a:r>
            <a:endParaRPr lang="en-US" sz="3200" dirty="0"/>
          </a:p>
        </p:txBody>
      </p:sp>
      <p:sp>
        <p:nvSpPr>
          <p:cNvPr id="3" name="Shape 1"/>
          <p:cNvSpPr/>
          <p:nvPr/>
        </p:nvSpPr>
        <p:spPr>
          <a:xfrm>
            <a:off x="548640" y="1005840"/>
            <a:ext cx="548640" cy="73152"/>
          </a:xfrm>
          <a:prstGeom prst="rect">
            <a:avLst/>
          </a:prstGeom>
          <a:solidFill>
            <a:srgbClr val="F96167"/>
          </a:solidFill>
          <a:ln w="12700">
            <a:solidFill>
              <a:srgbClr val="F96167"/>
            </a:solidFill>
            <a:prstDash val="solid"/>
          </a:ln>
        </p:spPr>
      </p:sp>
      <p:sp>
        <p:nvSpPr>
          <p:cNvPr id="4" name="Text 2"/>
          <p:cNvSpPr/>
          <p:nvPr/>
        </p:nvSpPr>
        <p:spPr>
          <a:xfrm>
            <a:off x="548640" y="1143000"/>
            <a:ext cx="11064240" cy="411480"/>
          </a:xfrm>
          <a:prstGeom prst="rect">
            <a:avLst/>
          </a:prstGeom>
          <a:noFill/>
          <a:ln/>
        </p:spPr>
        <p:txBody>
          <a:bodyPr wrap="square" lIns="0" tIns="0" rIns="0" bIns="0" rtlCol="0" anchor="ctr"/>
          <a:lstStyle/>
          <a:p>
            <a:pPr marL="0" indent="0" algn="l">
              <a:buNone/>
            </a:pPr>
            <a:r>
              <a:rPr lang="en-US" sz="1600" i="1" dirty="0">
                <a:solidFill>
                  <a:srgbClr val="1C7293"/>
                </a:solidFill>
                <a:latin typeface="Calibri" pitchFamily="34" charset="0"/>
                <a:ea typeface="Calibri" pitchFamily="34" charset="-122"/>
                <a:cs typeface="Calibri" pitchFamily="34" charset="-120"/>
              </a:rPr>
              <a:t>On va en </a:t>
            </a:r>
            <a:r>
              <a:rPr lang="en-US" sz="1600" i="1" dirty="0" err="1">
                <a:solidFill>
                  <a:srgbClr val="1C7293"/>
                </a:solidFill>
                <a:latin typeface="Calibri" pitchFamily="34" charset="0"/>
                <a:ea typeface="Calibri" pitchFamily="34" charset="-122"/>
                <a:cs typeface="Calibri" pitchFamily="34" charset="-120"/>
              </a:rPr>
              <a:t>étudier</a:t>
            </a:r>
            <a:r>
              <a:rPr lang="en-US" sz="1600" i="1" dirty="0">
                <a:solidFill>
                  <a:srgbClr val="1C7293"/>
                </a:solidFill>
                <a:latin typeface="Calibri" pitchFamily="34" charset="0"/>
                <a:ea typeface="Calibri" pitchFamily="34" charset="-122"/>
                <a:cs typeface="Calibri" pitchFamily="34" charset="-120"/>
              </a:rPr>
              <a:t> 12. Savoir à qui on parle, c'est déjà la moitié du job.</a:t>
            </a:r>
            <a:endParaRPr lang="en-US" sz="1600" dirty="0"/>
          </a:p>
        </p:txBody>
      </p:sp>
      <p:sp>
        <p:nvSpPr>
          <p:cNvPr id="5" name="Shape 3"/>
          <p:cNvSpPr/>
          <p:nvPr/>
        </p:nvSpPr>
        <p:spPr>
          <a:xfrm>
            <a:off x="640080" y="1737360"/>
            <a:ext cx="3657600" cy="466344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6" name="Shape 4"/>
          <p:cNvSpPr/>
          <p:nvPr/>
        </p:nvSpPr>
        <p:spPr>
          <a:xfrm>
            <a:off x="640080" y="1737360"/>
            <a:ext cx="3657600" cy="109728"/>
          </a:xfrm>
          <a:prstGeom prst="rect">
            <a:avLst/>
          </a:prstGeom>
          <a:solidFill>
            <a:srgbClr val="065A82"/>
          </a:solidFill>
          <a:ln w="12700">
            <a:solidFill>
              <a:srgbClr val="065A82"/>
            </a:solidFill>
            <a:prstDash val="solid"/>
          </a:ln>
        </p:spPr>
      </p:sp>
      <p:sp>
        <p:nvSpPr>
          <p:cNvPr id="7" name="Text 5"/>
          <p:cNvSpPr/>
          <p:nvPr/>
        </p:nvSpPr>
        <p:spPr>
          <a:xfrm>
            <a:off x="868680" y="1920240"/>
            <a:ext cx="3200400" cy="274320"/>
          </a:xfrm>
          <a:prstGeom prst="rect">
            <a:avLst/>
          </a:prstGeom>
          <a:noFill/>
          <a:ln/>
        </p:spPr>
        <p:txBody>
          <a:bodyPr wrap="square" lIns="0" tIns="0" rIns="0" bIns="0" rtlCol="0" anchor="ctr"/>
          <a:lstStyle/>
          <a:p>
            <a:pPr marL="0" indent="0">
              <a:buNone/>
            </a:pPr>
            <a:r>
              <a:rPr lang="en-US" sz="1100" b="1" kern="0" spc="150" dirty="0">
                <a:solidFill>
                  <a:srgbClr val="065A82"/>
                </a:solidFill>
                <a:latin typeface="Calibri" pitchFamily="34" charset="0"/>
                <a:ea typeface="Calibri" pitchFamily="34" charset="-122"/>
                <a:cs typeface="Calibri" pitchFamily="34" charset="-120"/>
              </a:rPr>
              <a:t>Session 2</a:t>
            </a:r>
            <a:endParaRPr lang="en-US" sz="1100" dirty="0"/>
          </a:p>
        </p:txBody>
      </p:sp>
      <p:sp>
        <p:nvSpPr>
          <p:cNvPr id="8" name="Text 6"/>
          <p:cNvSpPr/>
          <p:nvPr/>
        </p:nvSpPr>
        <p:spPr>
          <a:xfrm>
            <a:off x="868680" y="2194560"/>
            <a:ext cx="3200400" cy="457200"/>
          </a:xfrm>
          <a:prstGeom prst="rect">
            <a:avLst/>
          </a:prstGeom>
          <a:noFill/>
          <a:ln/>
        </p:spPr>
        <p:txBody>
          <a:bodyPr wrap="square" lIns="0" tIns="0" rIns="0" bIns="0" rtlCol="0" anchor="ctr"/>
          <a:lstStyle/>
          <a:p>
            <a:pPr marL="0" indent="0">
              <a:buNone/>
            </a:pPr>
            <a:r>
              <a:rPr lang="en-US" sz="1800" b="1" dirty="0">
                <a:solidFill>
                  <a:srgbClr val="0B1F3A"/>
                </a:solidFill>
                <a:latin typeface="Calibri" pitchFamily="34" charset="0"/>
                <a:ea typeface="Calibri" pitchFamily="34" charset="-122"/>
                <a:cs typeface="Calibri" pitchFamily="34" charset="-120"/>
              </a:rPr>
              <a:t>CLOUD &amp; DATA</a:t>
            </a:r>
            <a:endParaRPr lang="en-US" sz="1800" dirty="0"/>
          </a:p>
        </p:txBody>
      </p:sp>
      <p:sp>
        <p:nvSpPr>
          <p:cNvPr id="9" name="Text 7"/>
          <p:cNvSpPr/>
          <p:nvPr/>
        </p:nvSpPr>
        <p:spPr>
          <a:xfrm>
            <a:off x="868680" y="2743200"/>
            <a:ext cx="3200400" cy="822960"/>
          </a:xfrm>
          <a:prstGeom prst="rect">
            <a:avLst/>
          </a:prstGeom>
          <a:noFill/>
          <a:ln/>
        </p:spPr>
        <p:txBody>
          <a:bodyPr wrap="square" lIns="0" tIns="0" rIns="0" bIns="0" rtlCol="0" anchor="t"/>
          <a:lstStyle/>
          <a:p>
            <a:pPr marL="0" indent="0">
              <a:buNone/>
            </a:pPr>
            <a:r>
              <a:rPr lang="en-US" sz="1100" i="1" dirty="0">
                <a:solidFill>
                  <a:srgbClr val="1E293B"/>
                </a:solidFill>
                <a:latin typeface="Calibri" pitchFamily="34" charset="0"/>
                <a:ea typeface="Calibri" pitchFamily="34" charset="-122"/>
                <a:cs typeface="Calibri" pitchFamily="34" charset="-120"/>
              </a:rPr>
              <a:t>Les hyperscalers et les data warehouses. Force : vous avez souvent déjà leur infra.</a:t>
            </a:r>
            <a:endParaRPr lang="en-US" sz="1100" dirty="0"/>
          </a:p>
        </p:txBody>
      </p:sp>
      <p:sp>
        <p:nvSpPr>
          <p:cNvPr id="10" name="Shape 8"/>
          <p:cNvSpPr/>
          <p:nvPr/>
        </p:nvSpPr>
        <p:spPr>
          <a:xfrm>
            <a:off x="868680" y="3611880"/>
            <a:ext cx="3200400" cy="0"/>
          </a:xfrm>
          <a:prstGeom prst="line">
            <a:avLst/>
          </a:prstGeom>
          <a:noFill/>
          <a:ln w="12700">
            <a:solidFill>
              <a:srgbClr val="E2E8F0"/>
            </a:solidFill>
            <a:prstDash val="solid"/>
          </a:ln>
        </p:spPr>
      </p:sp>
      <p:sp>
        <p:nvSpPr>
          <p:cNvPr id="11" name="Text 9"/>
          <p:cNvSpPr/>
          <p:nvPr/>
        </p:nvSpPr>
        <p:spPr>
          <a:xfrm>
            <a:off x="868680" y="3703320"/>
            <a:ext cx="3200400" cy="274320"/>
          </a:xfrm>
          <a:prstGeom prst="rect">
            <a:avLst/>
          </a:prstGeom>
          <a:noFill/>
          <a:ln/>
        </p:spPr>
        <p:txBody>
          <a:bodyPr wrap="square" lIns="0" tIns="0" rIns="0" bIns="0" rtlCol="0" anchor="ctr"/>
          <a:lstStyle/>
          <a:p>
            <a:pPr marL="0" indent="0">
              <a:buNone/>
            </a:pPr>
            <a:r>
              <a:rPr lang="en-US" sz="1000" b="1" kern="0" spc="150" dirty="0">
                <a:solidFill>
                  <a:srgbClr val="065A82"/>
                </a:solidFill>
                <a:latin typeface="Calibri" pitchFamily="34" charset="0"/>
                <a:ea typeface="Calibri" pitchFamily="34" charset="-122"/>
                <a:cs typeface="Calibri" pitchFamily="34" charset="-120"/>
              </a:rPr>
              <a:t>ACTEURS COUVERTS</a:t>
            </a:r>
            <a:endParaRPr lang="en-US" sz="1000" dirty="0"/>
          </a:p>
        </p:txBody>
      </p:sp>
      <p:sp>
        <p:nvSpPr>
          <p:cNvPr id="12" name="Text 10"/>
          <p:cNvSpPr/>
          <p:nvPr/>
        </p:nvSpPr>
        <p:spPr>
          <a:xfrm>
            <a:off x="914400" y="3977640"/>
            <a:ext cx="3200400" cy="2377440"/>
          </a:xfrm>
          <a:prstGeom prst="rect">
            <a:avLst/>
          </a:prstGeom>
          <a:noFill/>
          <a:ln/>
        </p:spPr>
        <p:txBody>
          <a:bodyPr wrap="square" lIns="0" tIns="0" rIns="0" bIns="0" rtlCol="0" anchor="t"/>
          <a:lstStyle/>
          <a:p>
            <a:pPr marL="342900" indent="-342900">
              <a:spcAft>
                <a:spcPts val="200"/>
              </a:spcAft>
              <a:buSzPct val="100000"/>
              <a:buChar char="●"/>
            </a:pPr>
            <a:r>
              <a:rPr lang="en-US" sz="1200" dirty="0">
                <a:solidFill>
                  <a:srgbClr val="1E293B"/>
                </a:solidFill>
                <a:latin typeface="Calibri" pitchFamily="34" charset="0"/>
                <a:ea typeface="Calibri" pitchFamily="34" charset="-122"/>
                <a:cs typeface="Calibri" pitchFamily="34" charset="-120"/>
              </a:rPr>
              <a:t>AWS Clean Rooms</a:t>
            </a:r>
            <a:endParaRPr lang="en-US" sz="1200" dirty="0"/>
          </a:p>
          <a:p>
            <a:pPr marL="342900" indent="-342900">
              <a:spcAft>
                <a:spcPts val="200"/>
              </a:spcAft>
              <a:buSzPct val="100000"/>
              <a:buChar char="●"/>
            </a:pPr>
            <a:r>
              <a:rPr lang="en-US" sz="1200" dirty="0">
                <a:solidFill>
                  <a:srgbClr val="1E293B"/>
                </a:solidFill>
                <a:latin typeface="Calibri" pitchFamily="34" charset="0"/>
                <a:ea typeface="Calibri" pitchFamily="34" charset="-122"/>
                <a:cs typeface="Calibri" pitchFamily="34" charset="-120"/>
              </a:rPr>
              <a:t>Google BigQuery CR</a:t>
            </a:r>
            <a:endParaRPr lang="en-US" sz="1200" dirty="0"/>
          </a:p>
          <a:p>
            <a:pPr marL="342900" indent="-342900">
              <a:spcAft>
                <a:spcPts val="200"/>
              </a:spcAft>
              <a:buSzPct val="100000"/>
              <a:buChar char="●"/>
            </a:pPr>
            <a:r>
              <a:rPr lang="en-US" sz="1200" dirty="0">
                <a:solidFill>
                  <a:srgbClr val="1E293B"/>
                </a:solidFill>
                <a:latin typeface="Calibri" pitchFamily="34" charset="0"/>
                <a:ea typeface="Calibri" pitchFamily="34" charset="-122"/>
                <a:cs typeface="Calibri" pitchFamily="34" charset="-120"/>
              </a:rPr>
              <a:t>Google Ads Data Hub</a:t>
            </a:r>
            <a:endParaRPr lang="en-US" sz="1200" dirty="0"/>
          </a:p>
          <a:p>
            <a:pPr marL="342900" indent="-342900">
              <a:spcAft>
                <a:spcPts val="200"/>
              </a:spcAft>
              <a:buSzPct val="100000"/>
              <a:buChar char="●"/>
            </a:pPr>
            <a:r>
              <a:rPr lang="en-US" sz="1200" dirty="0">
                <a:solidFill>
                  <a:srgbClr val="1E293B"/>
                </a:solidFill>
                <a:latin typeface="Calibri" pitchFamily="34" charset="0"/>
                <a:ea typeface="Calibri" pitchFamily="34" charset="-122"/>
                <a:cs typeface="Calibri" pitchFamily="34" charset="-120"/>
              </a:rPr>
              <a:t>Snowflake DCR</a:t>
            </a:r>
            <a:endParaRPr lang="en-US" sz="1200" dirty="0"/>
          </a:p>
          <a:p>
            <a:pPr marL="342900" indent="-342900">
              <a:spcAft>
                <a:spcPts val="200"/>
              </a:spcAft>
              <a:buSzPct val="100000"/>
              <a:buChar char="●"/>
            </a:pPr>
            <a:r>
              <a:rPr lang="en-US" sz="1200" dirty="0">
                <a:solidFill>
                  <a:srgbClr val="1E293B"/>
                </a:solidFill>
                <a:latin typeface="Calibri" pitchFamily="34" charset="0"/>
                <a:ea typeface="Calibri" pitchFamily="34" charset="-122"/>
                <a:cs typeface="Calibri" pitchFamily="34" charset="-120"/>
              </a:rPr>
              <a:t>Databricks CR</a:t>
            </a:r>
            <a:endParaRPr lang="en-US" sz="1200" dirty="0"/>
          </a:p>
          <a:p>
            <a:pPr marL="342900" indent="-342900">
              <a:spcAft>
                <a:spcPts val="200"/>
              </a:spcAft>
              <a:buSzPct val="100000"/>
              <a:buChar char="●"/>
            </a:pPr>
            <a:r>
              <a:rPr lang="en-US" sz="1200" dirty="0">
                <a:solidFill>
                  <a:srgbClr val="1E293B"/>
                </a:solidFill>
                <a:latin typeface="Calibri" pitchFamily="34" charset="0"/>
                <a:ea typeface="Calibri" pitchFamily="34" charset="-122"/>
                <a:cs typeface="Calibri" pitchFamily="34" charset="-120"/>
              </a:rPr>
              <a:t>Samooha</a:t>
            </a:r>
            <a:endParaRPr lang="en-US" sz="1200" dirty="0"/>
          </a:p>
        </p:txBody>
      </p:sp>
      <p:sp>
        <p:nvSpPr>
          <p:cNvPr id="13" name="Shape 11"/>
          <p:cNvSpPr/>
          <p:nvPr/>
        </p:nvSpPr>
        <p:spPr>
          <a:xfrm>
            <a:off x="4526280" y="1737360"/>
            <a:ext cx="3657600" cy="466344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14" name="Shape 12"/>
          <p:cNvSpPr/>
          <p:nvPr/>
        </p:nvSpPr>
        <p:spPr>
          <a:xfrm>
            <a:off x="4526280" y="1737360"/>
            <a:ext cx="3657600" cy="109728"/>
          </a:xfrm>
          <a:prstGeom prst="rect">
            <a:avLst/>
          </a:prstGeom>
          <a:solidFill>
            <a:srgbClr val="F96167"/>
          </a:solidFill>
          <a:ln w="12700">
            <a:solidFill>
              <a:srgbClr val="F96167"/>
            </a:solidFill>
            <a:prstDash val="solid"/>
          </a:ln>
        </p:spPr>
      </p:sp>
      <p:sp>
        <p:nvSpPr>
          <p:cNvPr id="15" name="Text 13"/>
          <p:cNvSpPr/>
          <p:nvPr/>
        </p:nvSpPr>
        <p:spPr>
          <a:xfrm>
            <a:off x="4754880" y="1920240"/>
            <a:ext cx="3200400" cy="274320"/>
          </a:xfrm>
          <a:prstGeom prst="rect">
            <a:avLst/>
          </a:prstGeom>
          <a:noFill/>
          <a:ln/>
        </p:spPr>
        <p:txBody>
          <a:bodyPr wrap="square" lIns="0" tIns="0" rIns="0" bIns="0" rtlCol="0" anchor="ctr"/>
          <a:lstStyle/>
          <a:p>
            <a:pPr marL="0" indent="0">
              <a:buNone/>
            </a:pPr>
            <a:r>
              <a:rPr lang="en-US" sz="1100" b="1" kern="0" spc="150" dirty="0">
                <a:solidFill>
                  <a:srgbClr val="F96167"/>
                </a:solidFill>
                <a:latin typeface="Calibri" pitchFamily="34" charset="0"/>
                <a:ea typeface="Calibri" pitchFamily="34" charset="-122"/>
                <a:cs typeface="Calibri" pitchFamily="34" charset="-120"/>
              </a:rPr>
              <a:t>Session 3</a:t>
            </a:r>
            <a:endParaRPr lang="en-US" sz="1100" dirty="0"/>
          </a:p>
        </p:txBody>
      </p:sp>
      <p:sp>
        <p:nvSpPr>
          <p:cNvPr id="16" name="Text 14"/>
          <p:cNvSpPr/>
          <p:nvPr/>
        </p:nvSpPr>
        <p:spPr>
          <a:xfrm>
            <a:off x="4754880" y="2194560"/>
            <a:ext cx="3200400" cy="457200"/>
          </a:xfrm>
          <a:prstGeom prst="rect">
            <a:avLst/>
          </a:prstGeom>
          <a:noFill/>
          <a:ln/>
        </p:spPr>
        <p:txBody>
          <a:bodyPr wrap="square" lIns="0" tIns="0" rIns="0" bIns="0" rtlCol="0" anchor="ctr"/>
          <a:lstStyle/>
          <a:p>
            <a:pPr marL="0" indent="0">
              <a:buNone/>
            </a:pPr>
            <a:r>
              <a:rPr lang="en-US" sz="1800" b="1" dirty="0">
                <a:solidFill>
                  <a:srgbClr val="0B1F3A"/>
                </a:solidFill>
                <a:latin typeface="Calibri" pitchFamily="34" charset="0"/>
                <a:ea typeface="Calibri" pitchFamily="34" charset="-122"/>
                <a:cs typeface="Calibri" pitchFamily="34" charset="-120"/>
              </a:rPr>
              <a:t>ADS &amp; WALLED GARDENS</a:t>
            </a:r>
            <a:endParaRPr lang="en-US" sz="1800" dirty="0"/>
          </a:p>
        </p:txBody>
      </p:sp>
      <p:sp>
        <p:nvSpPr>
          <p:cNvPr id="17" name="Text 15"/>
          <p:cNvSpPr/>
          <p:nvPr/>
        </p:nvSpPr>
        <p:spPr>
          <a:xfrm>
            <a:off x="4754880" y="2743200"/>
            <a:ext cx="3200400" cy="822960"/>
          </a:xfrm>
          <a:prstGeom prst="rect">
            <a:avLst/>
          </a:prstGeom>
          <a:noFill/>
          <a:ln/>
        </p:spPr>
        <p:txBody>
          <a:bodyPr wrap="square" lIns="0" tIns="0" rIns="0" bIns="0" rtlCol="0" anchor="t"/>
          <a:lstStyle/>
          <a:p>
            <a:pPr marL="0" indent="0">
              <a:buNone/>
            </a:pPr>
            <a:r>
              <a:rPr lang="en-US" sz="1100" i="1" dirty="0">
                <a:solidFill>
                  <a:srgbClr val="1E293B"/>
                </a:solidFill>
                <a:latin typeface="Calibri" pitchFamily="34" charset="0"/>
                <a:ea typeface="Calibri" pitchFamily="34" charset="-122"/>
                <a:cs typeface="Calibri" pitchFamily="34" charset="-120"/>
              </a:rPr>
              <a:t>Les médias propriétaires des GAFA. Force : accès direct aux audiences et à la mesure média.</a:t>
            </a:r>
            <a:endParaRPr lang="en-US" sz="1100" dirty="0"/>
          </a:p>
        </p:txBody>
      </p:sp>
      <p:sp>
        <p:nvSpPr>
          <p:cNvPr id="18" name="Shape 16"/>
          <p:cNvSpPr/>
          <p:nvPr/>
        </p:nvSpPr>
        <p:spPr>
          <a:xfrm>
            <a:off x="4754880" y="3611880"/>
            <a:ext cx="3200400" cy="0"/>
          </a:xfrm>
          <a:prstGeom prst="line">
            <a:avLst/>
          </a:prstGeom>
          <a:noFill/>
          <a:ln w="12700">
            <a:solidFill>
              <a:srgbClr val="E2E8F0"/>
            </a:solidFill>
            <a:prstDash val="solid"/>
          </a:ln>
        </p:spPr>
      </p:sp>
      <p:sp>
        <p:nvSpPr>
          <p:cNvPr id="19" name="Text 17"/>
          <p:cNvSpPr/>
          <p:nvPr/>
        </p:nvSpPr>
        <p:spPr>
          <a:xfrm>
            <a:off x="4754880" y="3703320"/>
            <a:ext cx="3200400" cy="274320"/>
          </a:xfrm>
          <a:prstGeom prst="rect">
            <a:avLst/>
          </a:prstGeom>
          <a:noFill/>
          <a:ln/>
        </p:spPr>
        <p:txBody>
          <a:bodyPr wrap="square" lIns="0" tIns="0" rIns="0" bIns="0" rtlCol="0" anchor="ctr"/>
          <a:lstStyle/>
          <a:p>
            <a:pPr marL="0" indent="0">
              <a:buNone/>
            </a:pPr>
            <a:r>
              <a:rPr lang="en-US" sz="1000" b="1" kern="0" spc="150" dirty="0">
                <a:solidFill>
                  <a:srgbClr val="F96167"/>
                </a:solidFill>
                <a:latin typeface="Calibri" pitchFamily="34" charset="0"/>
                <a:ea typeface="Calibri" pitchFamily="34" charset="-122"/>
                <a:cs typeface="Calibri" pitchFamily="34" charset="-120"/>
              </a:rPr>
              <a:t>ACTEURS COUVERTS</a:t>
            </a:r>
            <a:endParaRPr lang="en-US" sz="1000" dirty="0"/>
          </a:p>
        </p:txBody>
      </p:sp>
      <p:sp>
        <p:nvSpPr>
          <p:cNvPr id="20" name="Text 18"/>
          <p:cNvSpPr/>
          <p:nvPr/>
        </p:nvSpPr>
        <p:spPr>
          <a:xfrm>
            <a:off x="4800600" y="3977640"/>
            <a:ext cx="3200400" cy="2377440"/>
          </a:xfrm>
          <a:prstGeom prst="rect">
            <a:avLst/>
          </a:prstGeom>
          <a:noFill/>
          <a:ln/>
        </p:spPr>
        <p:txBody>
          <a:bodyPr wrap="square" lIns="0" tIns="0" rIns="0" bIns="0" rtlCol="0" anchor="t"/>
          <a:lstStyle/>
          <a:p>
            <a:pPr marL="342900" indent="-342900">
              <a:spcAft>
                <a:spcPts val="200"/>
              </a:spcAft>
              <a:buSzPct val="100000"/>
              <a:buChar char="●"/>
            </a:pPr>
            <a:r>
              <a:rPr lang="en-US" sz="1200" dirty="0">
                <a:solidFill>
                  <a:srgbClr val="1E293B"/>
                </a:solidFill>
                <a:latin typeface="Calibri" pitchFamily="34" charset="0"/>
                <a:ea typeface="Calibri" pitchFamily="34" charset="-122"/>
                <a:cs typeface="Calibri" pitchFamily="34" charset="-120"/>
              </a:rPr>
              <a:t>Meta Advanced Analytics</a:t>
            </a:r>
            <a:endParaRPr lang="en-US" sz="1200" dirty="0"/>
          </a:p>
          <a:p>
            <a:pPr marL="342900" indent="-342900">
              <a:spcAft>
                <a:spcPts val="200"/>
              </a:spcAft>
              <a:buSzPct val="100000"/>
              <a:buChar char="●"/>
            </a:pPr>
            <a:r>
              <a:rPr lang="en-US" sz="1200" dirty="0">
                <a:solidFill>
                  <a:srgbClr val="1E293B"/>
                </a:solidFill>
                <a:latin typeface="Calibri" pitchFamily="34" charset="0"/>
                <a:ea typeface="Calibri" pitchFamily="34" charset="-122"/>
                <a:cs typeface="Calibri" pitchFamily="34" charset="-120"/>
              </a:rPr>
              <a:t>Amazon Marketing Cloud</a:t>
            </a:r>
            <a:endParaRPr lang="en-US" sz="1200" dirty="0"/>
          </a:p>
          <a:p>
            <a:pPr marL="342900" indent="-342900">
              <a:spcAft>
                <a:spcPts val="200"/>
              </a:spcAft>
              <a:buSzPct val="100000"/>
              <a:buChar char="●"/>
            </a:pPr>
            <a:r>
              <a:rPr lang="en-US" sz="1200" dirty="0">
                <a:solidFill>
                  <a:srgbClr val="1E293B"/>
                </a:solidFill>
                <a:latin typeface="Calibri" pitchFamily="34" charset="0"/>
                <a:ea typeface="Calibri" pitchFamily="34" charset="-122"/>
                <a:cs typeface="Calibri" pitchFamily="34" charset="-120"/>
              </a:rPr>
              <a:t>The Trade Desk / UID 2.0</a:t>
            </a:r>
            <a:endParaRPr lang="en-US" sz="1200" dirty="0"/>
          </a:p>
        </p:txBody>
      </p:sp>
      <p:sp>
        <p:nvSpPr>
          <p:cNvPr id="21" name="Shape 19"/>
          <p:cNvSpPr/>
          <p:nvPr/>
        </p:nvSpPr>
        <p:spPr>
          <a:xfrm>
            <a:off x="8412480" y="1737360"/>
            <a:ext cx="3657600" cy="466344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22" name="Shape 20"/>
          <p:cNvSpPr/>
          <p:nvPr/>
        </p:nvSpPr>
        <p:spPr>
          <a:xfrm>
            <a:off x="8412480" y="1737360"/>
            <a:ext cx="3657600" cy="109728"/>
          </a:xfrm>
          <a:prstGeom prst="rect">
            <a:avLst/>
          </a:prstGeom>
          <a:solidFill>
            <a:srgbClr val="1C7293"/>
          </a:solidFill>
          <a:ln w="12700">
            <a:solidFill>
              <a:srgbClr val="1C7293"/>
            </a:solidFill>
            <a:prstDash val="solid"/>
          </a:ln>
        </p:spPr>
      </p:sp>
      <p:sp>
        <p:nvSpPr>
          <p:cNvPr id="23" name="Text 21"/>
          <p:cNvSpPr/>
          <p:nvPr/>
        </p:nvSpPr>
        <p:spPr>
          <a:xfrm>
            <a:off x="8641080" y="1920240"/>
            <a:ext cx="3200400" cy="274320"/>
          </a:xfrm>
          <a:prstGeom prst="rect">
            <a:avLst/>
          </a:prstGeom>
          <a:noFill/>
          <a:ln/>
        </p:spPr>
        <p:txBody>
          <a:bodyPr wrap="square" lIns="0" tIns="0" rIns="0" bIns="0" rtlCol="0" anchor="ctr"/>
          <a:lstStyle/>
          <a:p>
            <a:pPr marL="0" indent="0">
              <a:buNone/>
            </a:pPr>
            <a:r>
              <a:rPr lang="en-US" sz="1100" b="1" kern="0" spc="150" dirty="0">
                <a:solidFill>
                  <a:srgbClr val="1C7293"/>
                </a:solidFill>
                <a:latin typeface="Calibri" pitchFamily="34" charset="0"/>
                <a:ea typeface="Calibri" pitchFamily="34" charset="-122"/>
                <a:cs typeface="Calibri" pitchFamily="34" charset="-120"/>
              </a:rPr>
              <a:t>Session 3</a:t>
            </a:r>
            <a:endParaRPr lang="en-US" sz="1100" dirty="0"/>
          </a:p>
        </p:txBody>
      </p:sp>
      <p:sp>
        <p:nvSpPr>
          <p:cNvPr id="24" name="Text 22"/>
          <p:cNvSpPr/>
          <p:nvPr/>
        </p:nvSpPr>
        <p:spPr>
          <a:xfrm>
            <a:off x="8641080" y="2194560"/>
            <a:ext cx="3200400" cy="457200"/>
          </a:xfrm>
          <a:prstGeom prst="rect">
            <a:avLst/>
          </a:prstGeom>
          <a:noFill/>
          <a:ln/>
        </p:spPr>
        <p:txBody>
          <a:bodyPr wrap="square" lIns="0" tIns="0" rIns="0" bIns="0" rtlCol="0" anchor="ctr"/>
          <a:lstStyle/>
          <a:p>
            <a:pPr marL="0" indent="0">
              <a:buNone/>
            </a:pPr>
            <a:r>
              <a:rPr lang="en-US" sz="1800" b="1" dirty="0">
                <a:solidFill>
                  <a:srgbClr val="0B1F3A"/>
                </a:solidFill>
                <a:latin typeface="Calibri" pitchFamily="34" charset="0"/>
                <a:ea typeface="Calibri" pitchFamily="34" charset="-122"/>
                <a:cs typeface="Calibri" pitchFamily="34" charset="-120"/>
              </a:rPr>
              <a:t>NEUTRAL / SPECIALIZED</a:t>
            </a:r>
            <a:endParaRPr lang="en-US" sz="1800" dirty="0"/>
          </a:p>
        </p:txBody>
      </p:sp>
      <p:sp>
        <p:nvSpPr>
          <p:cNvPr id="25" name="Text 23"/>
          <p:cNvSpPr/>
          <p:nvPr/>
        </p:nvSpPr>
        <p:spPr>
          <a:xfrm>
            <a:off x="8641080" y="2743200"/>
            <a:ext cx="3200400" cy="822960"/>
          </a:xfrm>
          <a:prstGeom prst="rect">
            <a:avLst/>
          </a:prstGeom>
          <a:noFill/>
          <a:ln/>
        </p:spPr>
        <p:txBody>
          <a:bodyPr wrap="square" lIns="0" tIns="0" rIns="0" bIns="0" rtlCol="0" anchor="t"/>
          <a:lstStyle/>
          <a:p>
            <a:pPr marL="0" indent="0">
              <a:buNone/>
            </a:pPr>
            <a:r>
              <a:rPr lang="en-US" sz="1100" i="1" dirty="0">
                <a:solidFill>
                  <a:srgbClr val="1E293B"/>
                </a:solidFill>
                <a:latin typeface="Calibri" pitchFamily="34" charset="0"/>
                <a:ea typeface="Calibri" pitchFamily="34" charset="-122"/>
                <a:cs typeface="Calibri" pitchFamily="34" charset="-120"/>
              </a:rPr>
              <a:t>Les acteurs indépendants spécialisés DCR. Force : neutralité, interopérabilité, confidential computing.</a:t>
            </a:r>
            <a:endParaRPr lang="en-US" sz="1100" dirty="0"/>
          </a:p>
        </p:txBody>
      </p:sp>
      <p:sp>
        <p:nvSpPr>
          <p:cNvPr id="26" name="Shape 24"/>
          <p:cNvSpPr/>
          <p:nvPr/>
        </p:nvSpPr>
        <p:spPr>
          <a:xfrm>
            <a:off x="8641080" y="3611880"/>
            <a:ext cx="3200400" cy="0"/>
          </a:xfrm>
          <a:prstGeom prst="line">
            <a:avLst/>
          </a:prstGeom>
          <a:noFill/>
          <a:ln w="12700">
            <a:solidFill>
              <a:srgbClr val="E2E8F0"/>
            </a:solidFill>
            <a:prstDash val="solid"/>
          </a:ln>
        </p:spPr>
      </p:sp>
      <p:sp>
        <p:nvSpPr>
          <p:cNvPr id="27" name="Text 25"/>
          <p:cNvSpPr/>
          <p:nvPr/>
        </p:nvSpPr>
        <p:spPr>
          <a:xfrm>
            <a:off x="8641080" y="3703320"/>
            <a:ext cx="3200400" cy="274320"/>
          </a:xfrm>
          <a:prstGeom prst="rect">
            <a:avLst/>
          </a:prstGeom>
          <a:noFill/>
          <a:ln/>
        </p:spPr>
        <p:txBody>
          <a:bodyPr wrap="square" lIns="0" tIns="0" rIns="0" bIns="0" rtlCol="0" anchor="ctr"/>
          <a:lstStyle/>
          <a:p>
            <a:pPr marL="0" indent="0">
              <a:buNone/>
            </a:pPr>
            <a:r>
              <a:rPr lang="en-US" sz="1000" b="1" kern="0" spc="150" dirty="0">
                <a:solidFill>
                  <a:srgbClr val="1C7293"/>
                </a:solidFill>
                <a:latin typeface="Calibri" pitchFamily="34" charset="0"/>
                <a:ea typeface="Calibri" pitchFamily="34" charset="-122"/>
                <a:cs typeface="Calibri" pitchFamily="34" charset="-120"/>
              </a:rPr>
              <a:t>ACTEURS COUVERTS</a:t>
            </a:r>
            <a:endParaRPr lang="en-US" sz="1000" dirty="0"/>
          </a:p>
        </p:txBody>
      </p:sp>
      <p:sp>
        <p:nvSpPr>
          <p:cNvPr id="28" name="Text 26"/>
          <p:cNvSpPr/>
          <p:nvPr/>
        </p:nvSpPr>
        <p:spPr>
          <a:xfrm>
            <a:off x="8686800" y="3977640"/>
            <a:ext cx="3200400" cy="2377440"/>
          </a:xfrm>
          <a:prstGeom prst="rect">
            <a:avLst/>
          </a:prstGeom>
          <a:noFill/>
          <a:ln/>
        </p:spPr>
        <p:txBody>
          <a:bodyPr wrap="square" lIns="0" tIns="0" rIns="0" bIns="0" rtlCol="0" anchor="t"/>
          <a:lstStyle/>
          <a:p>
            <a:pPr marL="342900" indent="-342900">
              <a:spcAft>
                <a:spcPts val="200"/>
              </a:spcAft>
              <a:buSzPct val="100000"/>
              <a:buChar char="●"/>
            </a:pPr>
            <a:r>
              <a:rPr lang="en-US" sz="1200" dirty="0">
                <a:solidFill>
                  <a:srgbClr val="1E293B"/>
                </a:solidFill>
                <a:latin typeface="Calibri" pitchFamily="34" charset="0"/>
                <a:ea typeface="Calibri" pitchFamily="34" charset="-122"/>
                <a:cs typeface="Calibri" pitchFamily="34" charset="-120"/>
              </a:rPr>
              <a:t>LiveRamp Safe Haven</a:t>
            </a:r>
            <a:endParaRPr lang="en-US" sz="1200" dirty="0"/>
          </a:p>
          <a:p>
            <a:pPr marL="342900" indent="-342900">
              <a:spcAft>
                <a:spcPts val="200"/>
              </a:spcAft>
              <a:buSzPct val="100000"/>
              <a:buChar char="●"/>
            </a:pPr>
            <a:r>
              <a:rPr lang="en-US" sz="1200" dirty="0">
                <a:solidFill>
                  <a:srgbClr val="1E293B"/>
                </a:solidFill>
                <a:latin typeface="Calibri" pitchFamily="34" charset="0"/>
                <a:ea typeface="Calibri" pitchFamily="34" charset="-122"/>
                <a:cs typeface="Calibri" pitchFamily="34" charset="-120"/>
              </a:rPr>
              <a:t>Habu (by LiveRamp)</a:t>
            </a:r>
            <a:endParaRPr lang="en-US" sz="1200" dirty="0"/>
          </a:p>
          <a:p>
            <a:pPr marL="342900" indent="-342900">
              <a:spcAft>
                <a:spcPts val="200"/>
              </a:spcAft>
              <a:buSzPct val="100000"/>
              <a:buChar char="●"/>
            </a:pPr>
            <a:r>
              <a:rPr lang="en-US" sz="1200" dirty="0">
                <a:solidFill>
                  <a:srgbClr val="1E293B"/>
                </a:solidFill>
                <a:latin typeface="Calibri" pitchFamily="34" charset="0"/>
                <a:ea typeface="Calibri" pitchFamily="34" charset="-122"/>
                <a:cs typeface="Calibri" pitchFamily="34" charset="-120"/>
              </a:rPr>
              <a:t>InfoSum</a:t>
            </a:r>
            <a:endParaRPr lang="en-US" sz="1200" dirty="0"/>
          </a:p>
          <a:p>
            <a:pPr marL="342900" indent="-342900">
              <a:spcAft>
                <a:spcPts val="200"/>
              </a:spcAft>
              <a:buSzPct val="100000"/>
              <a:buChar char="●"/>
            </a:pPr>
            <a:r>
              <a:rPr lang="en-US" sz="1200" dirty="0">
                <a:solidFill>
                  <a:srgbClr val="1E293B"/>
                </a:solidFill>
                <a:latin typeface="Calibri" pitchFamily="34" charset="0"/>
                <a:ea typeface="Calibri" pitchFamily="34" charset="-122"/>
                <a:cs typeface="Calibri" pitchFamily="34" charset="-120"/>
              </a:rPr>
              <a:t>Decentriq</a:t>
            </a:r>
            <a:endParaRPr lang="en-US" sz="1200" dirty="0"/>
          </a:p>
        </p:txBody>
      </p:sp>
      <p:sp>
        <p:nvSpPr>
          <p:cNvPr id="29" name="Shape 27"/>
          <p:cNvSpPr/>
          <p:nvPr/>
        </p:nvSpPr>
        <p:spPr>
          <a:xfrm>
            <a:off x="0" y="6583680"/>
            <a:ext cx="12191695" cy="274320"/>
          </a:xfrm>
          <a:prstGeom prst="rect">
            <a:avLst/>
          </a:prstGeom>
          <a:solidFill>
            <a:srgbClr val="0B1F3A"/>
          </a:solidFill>
          <a:ln w="12700">
            <a:solidFill>
              <a:srgbClr val="0B1F3A"/>
            </a:solidFill>
            <a:prstDash val="solid"/>
          </a:ln>
        </p:spPr>
      </p:sp>
      <p:sp>
        <p:nvSpPr>
          <p:cNvPr id="30" name="Text 28"/>
          <p:cNvSpPr/>
          <p:nvPr/>
        </p:nvSpPr>
        <p:spPr>
          <a:xfrm>
            <a:off x="365760" y="6601968"/>
            <a:ext cx="822960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Session 2  Providers Cloud &amp; Data</a:t>
            </a:r>
            <a:endParaRPr lang="en-US" sz="1000" dirty="0"/>
          </a:p>
        </p:txBody>
      </p:sp>
      <p:sp>
        <p:nvSpPr>
          <p:cNvPr id="31" name="Text 29"/>
          <p:cNvSpPr/>
          <p:nvPr/>
        </p:nvSpPr>
        <p:spPr>
          <a:xfrm>
            <a:off x="11551615" y="6601968"/>
            <a:ext cx="365760" cy="237744"/>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17">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B1F3A"/>
          </a:solidFill>
          <a:ln w="12700">
            <a:solidFill>
              <a:srgbClr val="0B1F3A"/>
            </a:solidFill>
            <a:prstDash val="solid"/>
          </a:ln>
        </p:spPr>
      </p:sp>
      <p:sp>
        <p:nvSpPr>
          <p:cNvPr id="3" name="Text 1"/>
          <p:cNvSpPr/>
          <p:nvPr/>
        </p:nvSpPr>
        <p:spPr>
          <a:xfrm>
            <a:off x="548640" y="182880"/>
            <a:ext cx="2743200" cy="274320"/>
          </a:xfrm>
          <a:prstGeom prst="rect">
            <a:avLst/>
          </a:prstGeom>
          <a:noFill/>
          <a:ln/>
        </p:spPr>
        <p:txBody>
          <a:bodyPr wrap="square" lIns="0" tIns="0" rIns="0" bIns="0" rtlCol="0" anchor="ctr"/>
          <a:lstStyle/>
          <a:p>
            <a:pPr marL="0" indent="0">
              <a:buNone/>
            </a:pPr>
            <a:r>
              <a:rPr lang="en-US" sz="1100" b="1" kern="0" spc="200" dirty="0">
                <a:solidFill>
                  <a:srgbClr val="F96167"/>
                </a:solidFill>
                <a:latin typeface="Calibri" pitchFamily="34" charset="0"/>
                <a:ea typeface="Calibri" pitchFamily="34" charset="-122"/>
                <a:cs typeface="Calibri" pitchFamily="34" charset="-120"/>
              </a:rPr>
              <a:t>PROVIDER 1/12</a:t>
            </a:r>
            <a:endParaRPr lang="en-US" sz="1100" dirty="0"/>
          </a:p>
        </p:txBody>
      </p:sp>
      <p:sp>
        <p:nvSpPr>
          <p:cNvPr id="4" name="Text 2"/>
          <p:cNvSpPr/>
          <p:nvPr/>
        </p:nvSpPr>
        <p:spPr>
          <a:xfrm>
            <a:off x="548640" y="411480"/>
            <a:ext cx="10972800" cy="5029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AWS Clean Rooms</a:t>
            </a:r>
            <a:endParaRPr lang="en-US" sz="2800" dirty="0"/>
          </a:p>
        </p:txBody>
      </p:sp>
      <p:sp>
        <p:nvSpPr>
          <p:cNvPr id="5" name="Text 3"/>
          <p:cNvSpPr/>
          <p:nvPr/>
        </p:nvSpPr>
        <p:spPr>
          <a:xfrm>
            <a:off x="548640" y="1051560"/>
            <a:ext cx="10972800" cy="320040"/>
          </a:xfrm>
          <a:prstGeom prst="rect">
            <a:avLst/>
          </a:prstGeom>
          <a:noFill/>
          <a:ln/>
        </p:spPr>
        <p:txBody>
          <a:bodyPr wrap="square" lIns="0" tIns="0" rIns="0" bIns="0" rtlCol="0" anchor="ctr"/>
          <a:lstStyle/>
          <a:p>
            <a:pPr marL="0" indent="0">
              <a:buNone/>
            </a:pPr>
            <a:r>
              <a:rPr lang="en-US" sz="1400" i="1" dirty="0">
                <a:solidFill>
                  <a:srgbClr val="1C7293"/>
                </a:solidFill>
                <a:latin typeface="Calibri" pitchFamily="34" charset="0"/>
                <a:ea typeface="Calibri" pitchFamily="34" charset="-122"/>
                <a:cs typeface="Calibri" pitchFamily="34" charset="-120"/>
              </a:rPr>
              <a:t>Le DCR natif d'Amazon Web Services  lancé en mars 2023.</a:t>
            </a:r>
            <a:endParaRPr lang="en-US" sz="1400" dirty="0"/>
          </a:p>
        </p:txBody>
      </p:sp>
      <p:sp>
        <p:nvSpPr>
          <p:cNvPr id="6" name="Shape 4"/>
          <p:cNvSpPr/>
          <p:nvPr/>
        </p:nvSpPr>
        <p:spPr>
          <a:xfrm>
            <a:off x="548640" y="1600200"/>
            <a:ext cx="4389120" cy="4754880"/>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7" name="Shape 5"/>
          <p:cNvSpPr/>
          <p:nvPr/>
        </p:nvSpPr>
        <p:spPr>
          <a:xfrm>
            <a:off x="548640" y="1600200"/>
            <a:ext cx="91440" cy="4754880"/>
          </a:xfrm>
          <a:prstGeom prst="rect">
            <a:avLst/>
          </a:prstGeom>
          <a:solidFill>
            <a:srgbClr val="065A82"/>
          </a:solidFill>
          <a:ln w="12700">
            <a:solidFill>
              <a:srgbClr val="065A82"/>
            </a:solidFill>
            <a:prstDash val="solid"/>
          </a:ln>
        </p:spPr>
      </p:sp>
      <p:sp>
        <p:nvSpPr>
          <p:cNvPr id="8" name="Text 6"/>
          <p:cNvSpPr/>
          <p:nvPr/>
        </p:nvSpPr>
        <p:spPr>
          <a:xfrm>
            <a:off x="777240" y="1783080"/>
            <a:ext cx="4023360" cy="320040"/>
          </a:xfrm>
          <a:prstGeom prst="rect">
            <a:avLst/>
          </a:prstGeom>
          <a:noFill/>
          <a:ln/>
        </p:spPr>
        <p:txBody>
          <a:bodyPr wrap="square" lIns="0" tIns="0" rIns="0" bIns="0" rtlCol="0" anchor="ctr"/>
          <a:lstStyle/>
          <a:p>
            <a:pPr marL="0" indent="0">
              <a:buNone/>
            </a:pPr>
            <a:r>
              <a:rPr lang="en-US" sz="1100" b="1" kern="0" spc="150" dirty="0">
                <a:solidFill>
                  <a:srgbClr val="F96167"/>
                </a:solidFill>
                <a:latin typeface="Calibri" pitchFamily="34" charset="0"/>
                <a:ea typeface="Calibri" pitchFamily="34" charset="-122"/>
                <a:cs typeface="Calibri" pitchFamily="34" charset="-120"/>
              </a:rPr>
              <a:t>CARTE D'IDENTITÉ</a:t>
            </a:r>
            <a:endParaRPr lang="en-US" sz="1100" dirty="0"/>
          </a:p>
        </p:txBody>
      </p:sp>
      <p:sp>
        <p:nvSpPr>
          <p:cNvPr id="9" name="Text 7"/>
          <p:cNvSpPr/>
          <p:nvPr/>
        </p:nvSpPr>
        <p:spPr>
          <a:xfrm>
            <a:off x="777240" y="2194560"/>
            <a:ext cx="3931920" cy="22860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Éditeur</a:t>
            </a:r>
            <a:endParaRPr lang="en-US" sz="1000" dirty="0"/>
          </a:p>
        </p:txBody>
      </p:sp>
      <p:sp>
        <p:nvSpPr>
          <p:cNvPr id="10" name="Text 8"/>
          <p:cNvSpPr/>
          <p:nvPr/>
        </p:nvSpPr>
        <p:spPr>
          <a:xfrm>
            <a:off x="777240" y="2404872"/>
            <a:ext cx="393192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Amazon Web Services</a:t>
            </a:r>
            <a:endParaRPr lang="en-US" sz="1200" dirty="0"/>
          </a:p>
        </p:txBody>
      </p:sp>
      <p:sp>
        <p:nvSpPr>
          <p:cNvPr id="11" name="Text 9"/>
          <p:cNvSpPr/>
          <p:nvPr/>
        </p:nvSpPr>
        <p:spPr>
          <a:xfrm>
            <a:off x="777240" y="2971800"/>
            <a:ext cx="3931920" cy="22860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Famille</a:t>
            </a:r>
            <a:endParaRPr lang="en-US" sz="1000" dirty="0"/>
          </a:p>
        </p:txBody>
      </p:sp>
      <p:sp>
        <p:nvSpPr>
          <p:cNvPr id="12" name="Text 10"/>
          <p:cNvSpPr/>
          <p:nvPr/>
        </p:nvSpPr>
        <p:spPr>
          <a:xfrm>
            <a:off x="777240" y="3182112"/>
            <a:ext cx="393192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Cloud hyperscaler</a:t>
            </a:r>
            <a:endParaRPr lang="en-US" sz="1200" dirty="0"/>
          </a:p>
        </p:txBody>
      </p:sp>
      <p:sp>
        <p:nvSpPr>
          <p:cNvPr id="13" name="Text 11"/>
          <p:cNvSpPr/>
          <p:nvPr/>
        </p:nvSpPr>
        <p:spPr>
          <a:xfrm>
            <a:off x="777240" y="3749040"/>
            <a:ext cx="3931920" cy="22860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Maturité</a:t>
            </a:r>
            <a:endParaRPr lang="en-US" sz="1000" dirty="0"/>
          </a:p>
        </p:txBody>
      </p:sp>
      <p:sp>
        <p:nvSpPr>
          <p:cNvPr id="14" name="Text 12"/>
          <p:cNvSpPr/>
          <p:nvPr/>
        </p:nvSpPr>
        <p:spPr>
          <a:xfrm>
            <a:off x="777240" y="3959352"/>
            <a:ext cx="393192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GA depuis 2023  en croissance rapide</a:t>
            </a:r>
            <a:endParaRPr lang="en-US" sz="1200" dirty="0"/>
          </a:p>
        </p:txBody>
      </p:sp>
      <p:sp>
        <p:nvSpPr>
          <p:cNvPr id="15" name="Text 13"/>
          <p:cNvSpPr/>
          <p:nvPr/>
        </p:nvSpPr>
        <p:spPr>
          <a:xfrm>
            <a:off x="777240" y="4526280"/>
            <a:ext cx="3931920" cy="22860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Pricing</a:t>
            </a:r>
            <a:endParaRPr lang="en-US" sz="1000" dirty="0"/>
          </a:p>
        </p:txBody>
      </p:sp>
      <p:sp>
        <p:nvSpPr>
          <p:cNvPr id="16" name="Text 14"/>
          <p:cNvSpPr/>
          <p:nvPr/>
        </p:nvSpPr>
        <p:spPr>
          <a:xfrm>
            <a:off x="777240" y="4736592"/>
            <a:ext cx="393192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Pay-per-query (compute-based)</a:t>
            </a:r>
            <a:endParaRPr lang="en-US" sz="1200" dirty="0"/>
          </a:p>
        </p:txBody>
      </p:sp>
      <p:sp>
        <p:nvSpPr>
          <p:cNvPr id="17" name="Text 15"/>
          <p:cNvSpPr/>
          <p:nvPr/>
        </p:nvSpPr>
        <p:spPr>
          <a:xfrm>
            <a:off x="777240" y="5303520"/>
            <a:ext cx="3931920" cy="22860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Force clé</a:t>
            </a:r>
            <a:endParaRPr lang="en-US" sz="1000" dirty="0"/>
          </a:p>
        </p:txBody>
      </p:sp>
      <p:sp>
        <p:nvSpPr>
          <p:cNvPr id="18" name="Text 16"/>
          <p:cNvSpPr/>
          <p:nvPr/>
        </p:nvSpPr>
        <p:spPr>
          <a:xfrm>
            <a:off x="777240" y="5513832"/>
            <a:ext cx="393192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Intégration native avec l'écosystème AWS (S3, Redshift, Athena).</a:t>
            </a:r>
            <a:endParaRPr lang="en-US" sz="1200" dirty="0"/>
          </a:p>
        </p:txBody>
      </p:sp>
      <p:sp>
        <p:nvSpPr>
          <p:cNvPr id="19" name="Shape 17"/>
          <p:cNvSpPr/>
          <p:nvPr/>
        </p:nvSpPr>
        <p:spPr>
          <a:xfrm>
            <a:off x="5212080" y="1600200"/>
            <a:ext cx="6446520" cy="2331720"/>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20" name="Shape 18"/>
          <p:cNvSpPr/>
          <p:nvPr/>
        </p:nvSpPr>
        <p:spPr>
          <a:xfrm>
            <a:off x="5212080" y="1600200"/>
            <a:ext cx="91440" cy="2331720"/>
          </a:xfrm>
          <a:prstGeom prst="rect">
            <a:avLst/>
          </a:prstGeom>
          <a:solidFill>
            <a:srgbClr val="1C7293"/>
          </a:solidFill>
          <a:ln w="12700">
            <a:solidFill>
              <a:srgbClr val="1C7293"/>
            </a:solidFill>
            <a:prstDash val="solid"/>
          </a:ln>
        </p:spPr>
      </p:sp>
      <p:sp>
        <p:nvSpPr>
          <p:cNvPr id="21" name="Text 19"/>
          <p:cNvSpPr/>
          <p:nvPr/>
        </p:nvSpPr>
        <p:spPr>
          <a:xfrm>
            <a:off x="5440680" y="1737360"/>
            <a:ext cx="6080760" cy="274320"/>
          </a:xfrm>
          <a:prstGeom prst="rect">
            <a:avLst/>
          </a:prstGeom>
          <a:noFill/>
          <a:ln/>
        </p:spPr>
        <p:txBody>
          <a:bodyPr wrap="square" lIns="0" tIns="0" rIns="0" bIns="0" rtlCol="0" anchor="ctr"/>
          <a:lstStyle/>
          <a:p>
            <a:pPr marL="0" indent="0">
              <a:buNone/>
            </a:pPr>
            <a:r>
              <a:rPr lang="en-US" sz="1100" b="1" kern="0" spc="150" dirty="0">
                <a:solidFill>
                  <a:srgbClr val="F96167"/>
                </a:solidFill>
                <a:latin typeface="Calibri" pitchFamily="34" charset="0"/>
                <a:ea typeface="Calibri" pitchFamily="34" charset="-122"/>
                <a:cs typeface="Calibri" pitchFamily="34" charset="-120"/>
              </a:rPr>
              <a:t>CE QUE ÇA FAIT BIEN</a:t>
            </a:r>
            <a:endParaRPr lang="en-US" sz="1100" dirty="0"/>
          </a:p>
        </p:txBody>
      </p:sp>
      <p:sp>
        <p:nvSpPr>
          <p:cNvPr id="22" name="Text 20"/>
          <p:cNvSpPr/>
          <p:nvPr/>
        </p:nvSpPr>
        <p:spPr>
          <a:xfrm>
            <a:off x="5486400" y="2057400"/>
            <a:ext cx="5989320" cy="178308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Collaboration multi-parties sans déplacer les données</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Analysis rules paramétrables (colonnes, seuils, agrégations)</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Cryptographic Computing (calcul chiffré optionnel)</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Clean Rooms ML (lookalike modeling intégré)</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Intégration directe avec Amazon Ads &amp; AMC</a:t>
            </a:r>
            <a:endParaRPr lang="en-US" sz="1200" dirty="0"/>
          </a:p>
        </p:txBody>
      </p:sp>
      <p:sp>
        <p:nvSpPr>
          <p:cNvPr id="23" name="Shape 21"/>
          <p:cNvSpPr/>
          <p:nvPr/>
        </p:nvSpPr>
        <p:spPr>
          <a:xfrm>
            <a:off x="5212080" y="4069080"/>
            <a:ext cx="6446520" cy="2286000"/>
          </a:xfrm>
          <a:prstGeom prst="rect">
            <a:avLst/>
          </a:prstGeom>
          <a:solidFill>
            <a:srgbClr val="0B1F3A"/>
          </a:solidFill>
          <a:ln w="12700">
            <a:solidFill>
              <a:srgbClr val="0B1F3A"/>
            </a:solidFill>
            <a:prstDash val="solid"/>
          </a:ln>
          <a:effectLst>
            <a:outerShdw blurRad="76200" dist="25400" dir="8100000" algn="bl" rotWithShape="0">
              <a:srgbClr val="000000">
                <a:alpha val="12000"/>
              </a:srgbClr>
            </a:outerShdw>
          </a:effectLst>
        </p:spPr>
      </p:sp>
      <p:sp>
        <p:nvSpPr>
          <p:cNvPr id="24" name="Shape 22"/>
          <p:cNvSpPr/>
          <p:nvPr/>
        </p:nvSpPr>
        <p:spPr>
          <a:xfrm>
            <a:off x="5212080" y="4069080"/>
            <a:ext cx="91440" cy="2286000"/>
          </a:xfrm>
          <a:prstGeom prst="rect">
            <a:avLst/>
          </a:prstGeom>
          <a:solidFill>
            <a:srgbClr val="F96167"/>
          </a:solidFill>
          <a:ln w="12700">
            <a:solidFill>
              <a:srgbClr val="F96167"/>
            </a:solidFill>
            <a:prstDash val="solid"/>
          </a:ln>
        </p:spPr>
      </p:sp>
      <p:sp>
        <p:nvSpPr>
          <p:cNvPr id="25" name="Text 23"/>
          <p:cNvSpPr/>
          <p:nvPr/>
        </p:nvSpPr>
        <p:spPr>
          <a:xfrm>
            <a:off x="5486400" y="4251960"/>
            <a:ext cx="5989320" cy="274320"/>
          </a:xfrm>
          <a:prstGeom prst="rect">
            <a:avLst/>
          </a:prstGeom>
          <a:noFill/>
          <a:ln/>
        </p:spPr>
        <p:txBody>
          <a:bodyPr wrap="square" lIns="0" tIns="0" rIns="0" bIns="0" rtlCol="0" anchor="ctr"/>
          <a:lstStyle/>
          <a:p>
            <a:pPr marL="0" indent="0">
              <a:buNone/>
            </a:pPr>
            <a:r>
              <a:rPr lang="en-US" sz="1100" b="1" kern="0" spc="150" dirty="0">
                <a:solidFill>
                  <a:srgbClr val="F9B233"/>
                </a:solidFill>
                <a:latin typeface="Calibri" pitchFamily="34" charset="0"/>
                <a:ea typeface="Calibri" pitchFamily="34" charset="-122"/>
                <a:cs typeface="Calibri" pitchFamily="34" charset="-120"/>
              </a:rPr>
              <a:t>CAS MARKETING CONCRET</a:t>
            </a:r>
            <a:endParaRPr lang="en-US" sz="1100" dirty="0"/>
          </a:p>
        </p:txBody>
      </p:sp>
      <p:sp>
        <p:nvSpPr>
          <p:cNvPr id="26" name="Text 24"/>
          <p:cNvSpPr/>
          <p:nvPr/>
        </p:nvSpPr>
        <p:spPr>
          <a:xfrm>
            <a:off x="5486400" y="4572000"/>
            <a:ext cx="5989320" cy="141732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Cas : Uno Media (régie TV) et une marque FMCG croisent leurs audiences dans AWS Clean Rooms. Objectif : mesurer combien d'acheteurs de la marque ont vu le spot TV, sans que Uno Media voie le CRM du FMCG. Résultat : identification d'une audience dormante de 840k foyers exposés mais non convertis, activée en display sequenced.</a:t>
            </a:r>
            <a:endParaRPr lang="en-US" sz="1200" dirty="0"/>
          </a:p>
        </p:txBody>
      </p:sp>
      <p:sp>
        <p:nvSpPr>
          <p:cNvPr id="27" name="Text 25"/>
          <p:cNvSpPr/>
          <p:nvPr/>
        </p:nvSpPr>
        <p:spPr>
          <a:xfrm>
            <a:off x="5486400" y="5943600"/>
            <a:ext cx="5989320" cy="320040"/>
          </a:xfrm>
          <a:prstGeom prst="rect">
            <a:avLst/>
          </a:prstGeom>
          <a:noFill/>
          <a:ln/>
        </p:spPr>
        <p:txBody>
          <a:bodyPr wrap="square" lIns="0" tIns="0" rIns="0" bIns="0" rtlCol="0" anchor="ctr"/>
          <a:lstStyle/>
          <a:p>
            <a:pPr marL="0" indent="0">
              <a:buNone/>
            </a:pPr>
            <a:r>
              <a:rPr lang="en-US" sz="1300" b="1" dirty="0">
                <a:solidFill>
                  <a:srgbClr val="F96167"/>
                </a:solidFill>
                <a:latin typeface="Calibri" pitchFamily="34" charset="0"/>
                <a:ea typeface="Calibri" pitchFamily="34" charset="-122"/>
                <a:cs typeface="Calibri" pitchFamily="34" charset="-120"/>
              </a:rPr>
              <a:t>+34 % de conversion sur l'audience </a:t>
            </a:r>
            <a:r>
              <a:rPr lang="en-US" sz="1300" b="1" dirty="0" err="1">
                <a:solidFill>
                  <a:srgbClr val="F96167"/>
                </a:solidFill>
                <a:latin typeface="Calibri" pitchFamily="34" charset="0"/>
                <a:ea typeface="Calibri" pitchFamily="34" charset="-122"/>
                <a:cs typeface="Calibri" pitchFamily="34" charset="-120"/>
              </a:rPr>
              <a:t>réactivée</a:t>
            </a:r>
            <a:r>
              <a:rPr lang="en-US" sz="1300" b="1" dirty="0">
                <a:solidFill>
                  <a:srgbClr val="F96167"/>
                </a:solidFill>
                <a:latin typeface="Calibri" pitchFamily="34" charset="0"/>
                <a:ea typeface="Calibri" pitchFamily="34" charset="-122"/>
                <a:cs typeface="Calibri" pitchFamily="34" charset="-120"/>
              </a:rPr>
              <a:t>  campagne autofinancée en 6 semaines.</a:t>
            </a:r>
            <a:endParaRPr lang="en-US" sz="1300" dirty="0"/>
          </a:p>
        </p:txBody>
      </p:sp>
      <p:sp>
        <p:nvSpPr>
          <p:cNvPr id="28" name="Shape 26"/>
          <p:cNvSpPr/>
          <p:nvPr/>
        </p:nvSpPr>
        <p:spPr>
          <a:xfrm>
            <a:off x="0" y="6583680"/>
            <a:ext cx="12191695" cy="274320"/>
          </a:xfrm>
          <a:prstGeom prst="rect">
            <a:avLst/>
          </a:prstGeom>
          <a:solidFill>
            <a:srgbClr val="0B1F3A"/>
          </a:solidFill>
          <a:ln w="12700">
            <a:solidFill>
              <a:srgbClr val="0B1F3A"/>
            </a:solidFill>
            <a:prstDash val="solid"/>
          </a:ln>
        </p:spPr>
      </p:sp>
      <p:sp>
        <p:nvSpPr>
          <p:cNvPr id="29" name="Text 27"/>
          <p:cNvSpPr/>
          <p:nvPr/>
        </p:nvSpPr>
        <p:spPr>
          <a:xfrm>
            <a:off x="365760" y="6601968"/>
            <a:ext cx="822960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Session 2  Providers Cloud &amp; Data</a:t>
            </a:r>
            <a:endParaRPr lang="en-US" sz="1000" dirty="0"/>
          </a:p>
        </p:txBody>
      </p:sp>
      <p:sp>
        <p:nvSpPr>
          <p:cNvPr id="30" name="Text 28"/>
          <p:cNvSpPr/>
          <p:nvPr/>
        </p:nvSpPr>
        <p:spPr>
          <a:xfrm>
            <a:off x="11551615" y="6601968"/>
            <a:ext cx="365760" cy="237744"/>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18">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B1F3A"/>
          </a:solidFill>
          <a:ln w="12700">
            <a:solidFill>
              <a:srgbClr val="0B1F3A"/>
            </a:solidFill>
            <a:prstDash val="solid"/>
          </a:ln>
        </p:spPr>
      </p:sp>
      <p:sp>
        <p:nvSpPr>
          <p:cNvPr id="3" name="Text 1"/>
          <p:cNvSpPr/>
          <p:nvPr/>
        </p:nvSpPr>
        <p:spPr>
          <a:xfrm>
            <a:off x="548640" y="182880"/>
            <a:ext cx="2743200" cy="274320"/>
          </a:xfrm>
          <a:prstGeom prst="rect">
            <a:avLst/>
          </a:prstGeom>
          <a:noFill/>
          <a:ln/>
        </p:spPr>
        <p:txBody>
          <a:bodyPr wrap="square" lIns="0" tIns="0" rIns="0" bIns="0" rtlCol="0" anchor="ctr"/>
          <a:lstStyle/>
          <a:p>
            <a:pPr marL="0" indent="0">
              <a:buNone/>
            </a:pPr>
            <a:r>
              <a:rPr lang="en-US" sz="1100" b="1" kern="0" spc="200" dirty="0">
                <a:solidFill>
                  <a:srgbClr val="F96167"/>
                </a:solidFill>
                <a:latin typeface="Calibri" pitchFamily="34" charset="0"/>
                <a:ea typeface="Calibri" pitchFamily="34" charset="-122"/>
                <a:cs typeface="Calibri" pitchFamily="34" charset="-120"/>
              </a:rPr>
              <a:t>PROVIDER 2/12</a:t>
            </a:r>
            <a:endParaRPr lang="en-US" sz="1100" dirty="0"/>
          </a:p>
        </p:txBody>
      </p:sp>
      <p:sp>
        <p:nvSpPr>
          <p:cNvPr id="4" name="Text 2"/>
          <p:cNvSpPr/>
          <p:nvPr/>
        </p:nvSpPr>
        <p:spPr>
          <a:xfrm>
            <a:off x="548640" y="411480"/>
            <a:ext cx="10972800" cy="5029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Google Ads Data Hub (ADH)</a:t>
            </a:r>
            <a:endParaRPr lang="en-US" sz="2800" dirty="0"/>
          </a:p>
        </p:txBody>
      </p:sp>
      <p:sp>
        <p:nvSpPr>
          <p:cNvPr id="5" name="Text 3"/>
          <p:cNvSpPr/>
          <p:nvPr/>
        </p:nvSpPr>
        <p:spPr>
          <a:xfrm>
            <a:off x="548640" y="1051560"/>
            <a:ext cx="10972800" cy="320040"/>
          </a:xfrm>
          <a:prstGeom prst="rect">
            <a:avLst/>
          </a:prstGeom>
          <a:noFill/>
          <a:ln/>
        </p:spPr>
        <p:txBody>
          <a:bodyPr wrap="square" lIns="0" tIns="0" rIns="0" bIns="0" rtlCol="0" anchor="ctr"/>
          <a:lstStyle/>
          <a:p>
            <a:pPr marL="0" indent="0">
              <a:buNone/>
            </a:pPr>
            <a:r>
              <a:rPr lang="en-US" sz="1400" i="1" dirty="0">
                <a:solidFill>
                  <a:srgbClr val="1C7293"/>
                </a:solidFill>
                <a:latin typeface="Calibri" pitchFamily="34" charset="0"/>
                <a:ea typeface="Calibri" pitchFamily="34" charset="-122"/>
                <a:cs typeface="Calibri" pitchFamily="34" charset="-120"/>
              </a:rPr>
              <a:t>La DCR historique de Google  accès privilégié aux données YouTube, Google Ads, DV360.</a:t>
            </a:r>
            <a:endParaRPr lang="en-US" sz="1400" dirty="0"/>
          </a:p>
        </p:txBody>
      </p:sp>
      <p:sp>
        <p:nvSpPr>
          <p:cNvPr id="6" name="Shape 4"/>
          <p:cNvSpPr/>
          <p:nvPr/>
        </p:nvSpPr>
        <p:spPr>
          <a:xfrm>
            <a:off x="548640" y="1600200"/>
            <a:ext cx="4389120" cy="4754880"/>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7" name="Shape 5"/>
          <p:cNvSpPr/>
          <p:nvPr/>
        </p:nvSpPr>
        <p:spPr>
          <a:xfrm>
            <a:off x="548640" y="1600200"/>
            <a:ext cx="91440" cy="4754880"/>
          </a:xfrm>
          <a:prstGeom prst="rect">
            <a:avLst/>
          </a:prstGeom>
          <a:solidFill>
            <a:srgbClr val="065A82"/>
          </a:solidFill>
          <a:ln w="12700">
            <a:solidFill>
              <a:srgbClr val="065A82"/>
            </a:solidFill>
            <a:prstDash val="solid"/>
          </a:ln>
        </p:spPr>
      </p:sp>
      <p:sp>
        <p:nvSpPr>
          <p:cNvPr id="8" name="Text 6"/>
          <p:cNvSpPr/>
          <p:nvPr/>
        </p:nvSpPr>
        <p:spPr>
          <a:xfrm>
            <a:off x="777240" y="1783080"/>
            <a:ext cx="4023360" cy="320040"/>
          </a:xfrm>
          <a:prstGeom prst="rect">
            <a:avLst/>
          </a:prstGeom>
          <a:noFill/>
          <a:ln/>
        </p:spPr>
        <p:txBody>
          <a:bodyPr wrap="square" lIns="0" tIns="0" rIns="0" bIns="0" rtlCol="0" anchor="ctr"/>
          <a:lstStyle/>
          <a:p>
            <a:pPr marL="0" indent="0">
              <a:buNone/>
            </a:pPr>
            <a:r>
              <a:rPr lang="en-US" sz="1100" b="1" kern="0" spc="150" dirty="0">
                <a:solidFill>
                  <a:srgbClr val="F96167"/>
                </a:solidFill>
                <a:latin typeface="Calibri" pitchFamily="34" charset="0"/>
                <a:ea typeface="Calibri" pitchFamily="34" charset="-122"/>
                <a:cs typeface="Calibri" pitchFamily="34" charset="-120"/>
              </a:rPr>
              <a:t>CARTE D'IDENTITÉ</a:t>
            </a:r>
            <a:endParaRPr lang="en-US" sz="1100" dirty="0"/>
          </a:p>
        </p:txBody>
      </p:sp>
      <p:sp>
        <p:nvSpPr>
          <p:cNvPr id="9" name="Text 7"/>
          <p:cNvSpPr/>
          <p:nvPr/>
        </p:nvSpPr>
        <p:spPr>
          <a:xfrm>
            <a:off x="777240" y="2194560"/>
            <a:ext cx="3931920" cy="22860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Éditeur</a:t>
            </a:r>
            <a:endParaRPr lang="en-US" sz="1000" dirty="0"/>
          </a:p>
        </p:txBody>
      </p:sp>
      <p:sp>
        <p:nvSpPr>
          <p:cNvPr id="10" name="Text 8"/>
          <p:cNvSpPr/>
          <p:nvPr/>
        </p:nvSpPr>
        <p:spPr>
          <a:xfrm>
            <a:off x="777240" y="2404872"/>
            <a:ext cx="393192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Google</a:t>
            </a:r>
            <a:endParaRPr lang="en-US" sz="1200" dirty="0"/>
          </a:p>
        </p:txBody>
      </p:sp>
      <p:sp>
        <p:nvSpPr>
          <p:cNvPr id="11" name="Text 9"/>
          <p:cNvSpPr/>
          <p:nvPr/>
        </p:nvSpPr>
        <p:spPr>
          <a:xfrm>
            <a:off x="777240" y="2971800"/>
            <a:ext cx="3931920" cy="22860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Famille</a:t>
            </a:r>
            <a:endParaRPr lang="en-US" sz="1000" dirty="0"/>
          </a:p>
        </p:txBody>
      </p:sp>
      <p:sp>
        <p:nvSpPr>
          <p:cNvPr id="12" name="Text 10"/>
          <p:cNvSpPr/>
          <p:nvPr/>
        </p:nvSpPr>
        <p:spPr>
          <a:xfrm>
            <a:off x="777240" y="3182112"/>
            <a:ext cx="393192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Walled garden Cloud</a:t>
            </a:r>
            <a:endParaRPr lang="en-US" sz="1200" dirty="0"/>
          </a:p>
        </p:txBody>
      </p:sp>
      <p:sp>
        <p:nvSpPr>
          <p:cNvPr id="13" name="Text 11"/>
          <p:cNvSpPr/>
          <p:nvPr/>
        </p:nvSpPr>
        <p:spPr>
          <a:xfrm>
            <a:off x="777240" y="3749040"/>
            <a:ext cx="3931920" cy="22860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Maturité</a:t>
            </a:r>
            <a:endParaRPr lang="en-US" sz="1000" dirty="0"/>
          </a:p>
        </p:txBody>
      </p:sp>
      <p:sp>
        <p:nvSpPr>
          <p:cNvPr id="14" name="Text 12"/>
          <p:cNvSpPr/>
          <p:nvPr/>
        </p:nvSpPr>
        <p:spPr>
          <a:xfrm>
            <a:off x="777240" y="3959352"/>
            <a:ext cx="393192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Production depuis 2017  leader historique</a:t>
            </a:r>
            <a:endParaRPr lang="en-US" sz="1200" dirty="0"/>
          </a:p>
        </p:txBody>
      </p:sp>
      <p:sp>
        <p:nvSpPr>
          <p:cNvPr id="15" name="Text 13"/>
          <p:cNvSpPr/>
          <p:nvPr/>
        </p:nvSpPr>
        <p:spPr>
          <a:xfrm>
            <a:off x="777240" y="4526280"/>
            <a:ext cx="3931920" cy="22860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Pricing</a:t>
            </a:r>
            <a:endParaRPr lang="en-US" sz="1000" dirty="0"/>
          </a:p>
        </p:txBody>
      </p:sp>
      <p:sp>
        <p:nvSpPr>
          <p:cNvPr id="16" name="Text 14"/>
          <p:cNvSpPr/>
          <p:nvPr/>
        </p:nvSpPr>
        <p:spPr>
          <a:xfrm>
            <a:off x="777240" y="4736592"/>
            <a:ext cx="393192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Inclus si vous êtes annonceur Google Ads / DV360</a:t>
            </a:r>
            <a:endParaRPr lang="en-US" sz="1200" dirty="0"/>
          </a:p>
        </p:txBody>
      </p:sp>
      <p:sp>
        <p:nvSpPr>
          <p:cNvPr id="17" name="Text 15"/>
          <p:cNvSpPr/>
          <p:nvPr/>
        </p:nvSpPr>
        <p:spPr>
          <a:xfrm>
            <a:off x="777240" y="5303520"/>
            <a:ext cx="3931920" cy="22860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Force clé</a:t>
            </a:r>
            <a:endParaRPr lang="en-US" sz="1000" dirty="0"/>
          </a:p>
        </p:txBody>
      </p:sp>
      <p:sp>
        <p:nvSpPr>
          <p:cNvPr id="18" name="Text 16"/>
          <p:cNvSpPr/>
          <p:nvPr/>
        </p:nvSpPr>
        <p:spPr>
          <a:xfrm>
            <a:off x="777240" y="5513832"/>
            <a:ext cx="393192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Seul accès (avec AMC) aux données log-level de YouTube et Google Ads.</a:t>
            </a:r>
            <a:endParaRPr lang="en-US" sz="1200" dirty="0"/>
          </a:p>
        </p:txBody>
      </p:sp>
      <p:sp>
        <p:nvSpPr>
          <p:cNvPr id="19" name="Shape 17"/>
          <p:cNvSpPr/>
          <p:nvPr/>
        </p:nvSpPr>
        <p:spPr>
          <a:xfrm>
            <a:off x="5212080" y="1600200"/>
            <a:ext cx="6446520" cy="2331720"/>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20" name="Shape 18"/>
          <p:cNvSpPr/>
          <p:nvPr/>
        </p:nvSpPr>
        <p:spPr>
          <a:xfrm>
            <a:off x="5212080" y="1600200"/>
            <a:ext cx="91440" cy="2331720"/>
          </a:xfrm>
          <a:prstGeom prst="rect">
            <a:avLst/>
          </a:prstGeom>
          <a:solidFill>
            <a:srgbClr val="1C7293"/>
          </a:solidFill>
          <a:ln w="12700">
            <a:solidFill>
              <a:srgbClr val="1C7293"/>
            </a:solidFill>
            <a:prstDash val="solid"/>
          </a:ln>
        </p:spPr>
      </p:sp>
      <p:sp>
        <p:nvSpPr>
          <p:cNvPr id="21" name="Text 19"/>
          <p:cNvSpPr/>
          <p:nvPr/>
        </p:nvSpPr>
        <p:spPr>
          <a:xfrm>
            <a:off x="5440680" y="1737360"/>
            <a:ext cx="6080760" cy="274320"/>
          </a:xfrm>
          <a:prstGeom prst="rect">
            <a:avLst/>
          </a:prstGeom>
          <a:noFill/>
          <a:ln/>
        </p:spPr>
        <p:txBody>
          <a:bodyPr wrap="square" lIns="0" tIns="0" rIns="0" bIns="0" rtlCol="0" anchor="ctr"/>
          <a:lstStyle/>
          <a:p>
            <a:pPr marL="0" indent="0">
              <a:buNone/>
            </a:pPr>
            <a:r>
              <a:rPr lang="en-US" sz="1100" b="1" kern="0" spc="150" dirty="0">
                <a:solidFill>
                  <a:srgbClr val="F96167"/>
                </a:solidFill>
                <a:latin typeface="Calibri" pitchFamily="34" charset="0"/>
                <a:ea typeface="Calibri" pitchFamily="34" charset="-122"/>
                <a:cs typeface="Calibri" pitchFamily="34" charset="-120"/>
              </a:rPr>
              <a:t>CE QUE ÇA FAIT BIEN</a:t>
            </a:r>
            <a:endParaRPr lang="en-US" sz="1100" dirty="0"/>
          </a:p>
        </p:txBody>
      </p:sp>
      <p:sp>
        <p:nvSpPr>
          <p:cNvPr id="22" name="Text 20"/>
          <p:cNvSpPr/>
          <p:nvPr/>
        </p:nvSpPr>
        <p:spPr>
          <a:xfrm>
            <a:off x="5486400" y="2057400"/>
            <a:ext cx="5989320" cy="178308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Requêtes SQL sur données d'exposition YouTube et Google Ads</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Jointure avec vos données first-party (BigQuery)</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Mesure d'incrémentalité et attribution cross-device</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Règles de seuil (50 users minimum) imposées par Google</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Pas d'export individuel : seulement des agrégats</a:t>
            </a:r>
            <a:endParaRPr lang="en-US" sz="1200" dirty="0"/>
          </a:p>
        </p:txBody>
      </p:sp>
      <p:sp>
        <p:nvSpPr>
          <p:cNvPr id="23" name="Shape 21"/>
          <p:cNvSpPr/>
          <p:nvPr/>
        </p:nvSpPr>
        <p:spPr>
          <a:xfrm>
            <a:off x="5212080" y="4069080"/>
            <a:ext cx="6446520" cy="2286000"/>
          </a:xfrm>
          <a:prstGeom prst="rect">
            <a:avLst/>
          </a:prstGeom>
          <a:solidFill>
            <a:srgbClr val="0B1F3A"/>
          </a:solidFill>
          <a:ln w="12700">
            <a:solidFill>
              <a:srgbClr val="0B1F3A"/>
            </a:solidFill>
            <a:prstDash val="solid"/>
          </a:ln>
          <a:effectLst>
            <a:outerShdw blurRad="76200" dist="25400" dir="8100000" algn="bl" rotWithShape="0">
              <a:srgbClr val="000000">
                <a:alpha val="12000"/>
              </a:srgbClr>
            </a:outerShdw>
          </a:effectLst>
        </p:spPr>
      </p:sp>
      <p:sp>
        <p:nvSpPr>
          <p:cNvPr id="24" name="Shape 22"/>
          <p:cNvSpPr/>
          <p:nvPr/>
        </p:nvSpPr>
        <p:spPr>
          <a:xfrm>
            <a:off x="5212080" y="4069080"/>
            <a:ext cx="91440" cy="2286000"/>
          </a:xfrm>
          <a:prstGeom prst="rect">
            <a:avLst/>
          </a:prstGeom>
          <a:solidFill>
            <a:srgbClr val="F96167"/>
          </a:solidFill>
          <a:ln w="12700">
            <a:solidFill>
              <a:srgbClr val="F96167"/>
            </a:solidFill>
            <a:prstDash val="solid"/>
          </a:ln>
        </p:spPr>
      </p:sp>
      <p:sp>
        <p:nvSpPr>
          <p:cNvPr id="25" name="Text 23"/>
          <p:cNvSpPr/>
          <p:nvPr/>
        </p:nvSpPr>
        <p:spPr>
          <a:xfrm>
            <a:off x="5486400" y="4251960"/>
            <a:ext cx="5989320" cy="274320"/>
          </a:xfrm>
          <a:prstGeom prst="rect">
            <a:avLst/>
          </a:prstGeom>
          <a:noFill/>
          <a:ln/>
        </p:spPr>
        <p:txBody>
          <a:bodyPr wrap="square" lIns="0" tIns="0" rIns="0" bIns="0" rtlCol="0" anchor="ctr"/>
          <a:lstStyle/>
          <a:p>
            <a:pPr marL="0" indent="0">
              <a:buNone/>
            </a:pPr>
            <a:r>
              <a:rPr lang="en-US" sz="1100" b="1" kern="0" spc="150" dirty="0">
                <a:solidFill>
                  <a:srgbClr val="F9B233"/>
                </a:solidFill>
                <a:latin typeface="Calibri" pitchFamily="34" charset="0"/>
                <a:ea typeface="Calibri" pitchFamily="34" charset="-122"/>
                <a:cs typeface="Calibri" pitchFamily="34" charset="-120"/>
              </a:rPr>
              <a:t>CAS MARKETING CONCRET</a:t>
            </a:r>
            <a:endParaRPr lang="en-US" sz="1100" dirty="0"/>
          </a:p>
        </p:txBody>
      </p:sp>
      <p:sp>
        <p:nvSpPr>
          <p:cNvPr id="26" name="Text 24"/>
          <p:cNvSpPr/>
          <p:nvPr/>
        </p:nvSpPr>
        <p:spPr>
          <a:xfrm>
            <a:off x="5486400" y="4572000"/>
            <a:ext cx="5989320" cy="141732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Cas : Air France mesure l'incrémentalité réelle d'une campagne YouTube branding sur ses ventes billets. Croisement entre les impressions YouTube (ADH) et la base de réservations (BigQuery). Résultat : la campagne a généré 8,2 % de conversions additionnelles par rapport au groupe témoin, là où le last-click en affichait 1,3 %.</a:t>
            </a:r>
            <a:endParaRPr lang="en-US" sz="1200" dirty="0"/>
          </a:p>
        </p:txBody>
      </p:sp>
      <p:sp>
        <p:nvSpPr>
          <p:cNvPr id="27" name="Text 25"/>
          <p:cNvSpPr/>
          <p:nvPr/>
        </p:nvSpPr>
        <p:spPr>
          <a:xfrm>
            <a:off x="5486400" y="5943600"/>
            <a:ext cx="5989320" cy="320040"/>
          </a:xfrm>
          <a:prstGeom prst="rect">
            <a:avLst/>
          </a:prstGeom>
          <a:noFill/>
          <a:ln/>
        </p:spPr>
        <p:txBody>
          <a:bodyPr wrap="square" lIns="0" tIns="0" rIns="0" bIns="0" rtlCol="0" anchor="ctr"/>
          <a:lstStyle/>
          <a:p>
            <a:pPr marL="0" indent="0">
              <a:buNone/>
            </a:pPr>
            <a:r>
              <a:rPr lang="en-US" sz="1300" b="1" dirty="0">
                <a:solidFill>
                  <a:srgbClr val="F96167"/>
                </a:solidFill>
                <a:latin typeface="Calibri" pitchFamily="34" charset="0"/>
                <a:ea typeface="Calibri" pitchFamily="34" charset="-122"/>
                <a:cs typeface="Calibri" pitchFamily="34" charset="-120"/>
              </a:rPr>
              <a:t>x6 sur le ROAS réel une fois l'incrémentalité prise en compte.</a:t>
            </a:r>
            <a:endParaRPr lang="en-US" sz="1300" dirty="0"/>
          </a:p>
        </p:txBody>
      </p:sp>
      <p:sp>
        <p:nvSpPr>
          <p:cNvPr id="28" name="Shape 26"/>
          <p:cNvSpPr/>
          <p:nvPr/>
        </p:nvSpPr>
        <p:spPr>
          <a:xfrm>
            <a:off x="0" y="6583680"/>
            <a:ext cx="12191695" cy="274320"/>
          </a:xfrm>
          <a:prstGeom prst="rect">
            <a:avLst/>
          </a:prstGeom>
          <a:solidFill>
            <a:srgbClr val="0B1F3A"/>
          </a:solidFill>
          <a:ln w="12700">
            <a:solidFill>
              <a:srgbClr val="0B1F3A"/>
            </a:solidFill>
            <a:prstDash val="solid"/>
          </a:ln>
        </p:spPr>
      </p:sp>
      <p:sp>
        <p:nvSpPr>
          <p:cNvPr id="29" name="Text 27"/>
          <p:cNvSpPr/>
          <p:nvPr/>
        </p:nvSpPr>
        <p:spPr>
          <a:xfrm>
            <a:off x="365760" y="6601968"/>
            <a:ext cx="822960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Session 2  Providers Cloud &amp; Data</a:t>
            </a:r>
            <a:endParaRPr lang="en-US" sz="1000" dirty="0"/>
          </a:p>
        </p:txBody>
      </p:sp>
      <p:sp>
        <p:nvSpPr>
          <p:cNvPr id="30" name="Text 28"/>
          <p:cNvSpPr/>
          <p:nvPr/>
        </p:nvSpPr>
        <p:spPr>
          <a:xfrm>
            <a:off x="11551615" y="6601968"/>
            <a:ext cx="365760" cy="237744"/>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19">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B1F3A"/>
          </a:solidFill>
          <a:ln w="12700">
            <a:solidFill>
              <a:srgbClr val="0B1F3A"/>
            </a:solidFill>
            <a:prstDash val="solid"/>
          </a:ln>
        </p:spPr>
      </p:sp>
      <p:sp>
        <p:nvSpPr>
          <p:cNvPr id="3" name="Text 1"/>
          <p:cNvSpPr/>
          <p:nvPr/>
        </p:nvSpPr>
        <p:spPr>
          <a:xfrm>
            <a:off x="548640" y="182880"/>
            <a:ext cx="2743200" cy="274320"/>
          </a:xfrm>
          <a:prstGeom prst="rect">
            <a:avLst/>
          </a:prstGeom>
          <a:noFill/>
          <a:ln/>
        </p:spPr>
        <p:txBody>
          <a:bodyPr wrap="square" lIns="0" tIns="0" rIns="0" bIns="0" rtlCol="0" anchor="ctr"/>
          <a:lstStyle/>
          <a:p>
            <a:pPr marL="0" indent="0">
              <a:buNone/>
            </a:pPr>
            <a:r>
              <a:rPr lang="en-US" sz="1100" b="1" kern="0" spc="200" dirty="0">
                <a:solidFill>
                  <a:srgbClr val="F96167"/>
                </a:solidFill>
                <a:latin typeface="Calibri" pitchFamily="34" charset="0"/>
                <a:ea typeface="Calibri" pitchFamily="34" charset="-122"/>
                <a:cs typeface="Calibri" pitchFamily="34" charset="-120"/>
              </a:rPr>
              <a:t>PROVIDER 3/12</a:t>
            </a:r>
            <a:endParaRPr lang="en-US" sz="1100" dirty="0"/>
          </a:p>
        </p:txBody>
      </p:sp>
      <p:sp>
        <p:nvSpPr>
          <p:cNvPr id="4" name="Text 2"/>
          <p:cNvSpPr/>
          <p:nvPr/>
        </p:nvSpPr>
        <p:spPr>
          <a:xfrm>
            <a:off x="548640" y="411480"/>
            <a:ext cx="10972800" cy="5029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Google BigQuery Clean Rooms</a:t>
            </a:r>
            <a:endParaRPr lang="en-US" sz="2800" dirty="0"/>
          </a:p>
        </p:txBody>
      </p:sp>
      <p:sp>
        <p:nvSpPr>
          <p:cNvPr id="5" name="Text 3"/>
          <p:cNvSpPr/>
          <p:nvPr/>
        </p:nvSpPr>
        <p:spPr>
          <a:xfrm>
            <a:off x="548640" y="1051560"/>
            <a:ext cx="10972800" cy="320040"/>
          </a:xfrm>
          <a:prstGeom prst="rect">
            <a:avLst/>
          </a:prstGeom>
          <a:noFill/>
          <a:ln/>
        </p:spPr>
        <p:txBody>
          <a:bodyPr wrap="square" lIns="0" tIns="0" rIns="0" bIns="0" rtlCol="0" anchor="ctr"/>
          <a:lstStyle/>
          <a:p>
            <a:pPr marL="0" indent="0">
              <a:buNone/>
            </a:pPr>
            <a:r>
              <a:rPr lang="en-US" sz="1400" i="1" dirty="0">
                <a:solidFill>
                  <a:srgbClr val="1C7293"/>
                </a:solidFill>
                <a:latin typeface="Calibri" pitchFamily="34" charset="0"/>
                <a:ea typeface="Calibri" pitchFamily="34" charset="-122"/>
                <a:cs typeface="Calibri" pitchFamily="34" charset="-120"/>
              </a:rPr>
              <a:t>La DCR généraliste de Google  annoncée en 2023, pensée pour toute collaboration data.</a:t>
            </a:r>
            <a:endParaRPr lang="en-US" sz="1400" dirty="0"/>
          </a:p>
        </p:txBody>
      </p:sp>
      <p:sp>
        <p:nvSpPr>
          <p:cNvPr id="6" name="Shape 4"/>
          <p:cNvSpPr/>
          <p:nvPr/>
        </p:nvSpPr>
        <p:spPr>
          <a:xfrm>
            <a:off x="548640" y="1600200"/>
            <a:ext cx="4389120" cy="4754880"/>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7" name="Shape 5"/>
          <p:cNvSpPr/>
          <p:nvPr/>
        </p:nvSpPr>
        <p:spPr>
          <a:xfrm>
            <a:off x="548640" y="1600200"/>
            <a:ext cx="91440" cy="4754880"/>
          </a:xfrm>
          <a:prstGeom prst="rect">
            <a:avLst/>
          </a:prstGeom>
          <a:solidFill>
            <a:srgbClr val="065A82"/>
          </a:solidFill>
          <a:ln w="12700">
            <a:solidFill>
              <a:srgbClr val="065A82"/>
            </a:solidFill>
            <a:prstDash val="solid"/>
          </a:ln>
        </p:spPr>
      </p:sp>
      <p:sp>
        <p:nvSpPr>
          <p:cNvPr id="8" name="Text 6"/>
          <p:cNvSpPr/>
          <p:nvPr/>
        </p:nvSpPr>
        <p:spPr>
          <a:xfrm>
            <a:off x="777240" y="1783080"/>
            <a:ext cx="4023360" cy="320040"/>
          </a:xfrm>
          <a:prstGeom prst="rect">
            <a:avLst/>
          </a:prstGeom>
          <a:noFill/>
          <a:ln/>
        </p:spPr>
        <p:txBody>
          <a:bodyPr wrap="square" lIns="0" tIns="0" rIns="0" bIns="0" rtlCol="0" anchor="ctr"/>
          <a:lstStyle/>
          <a:p>
            <a:pPr marL="0" indent="0">
              <a:buNone/>
            </a:pPr>
            <a:r>
              <a:rPr lang="en-US" sz="1100" b="1" kern="0" spc="150" dirty="0">
                <a:solidFill>
                  <a:srgbClr val="F96167"/>
                </a:solidFill>
                <a:latin typeface="Calibri" pitchFamily="34" charset="0"/>
                <a:ea typeface="Calibri" pitchFamily="34" charset="-122"/>
                <a:cs typeface="Calibri" pitchFamily="34" charset="-120"/>
              </a:rPr>
              <a:t>CARTE D'IDENTITÉ</a:t>
            </a:r>
            <a:endParaRPr lang="en-US" sz="1100" dirty="0"/>
          </a:p>
        </p:txBody>
      </p:sp>
      <p:sp>
        <p:nvSpPr>
          <p:cNvPr id="9" name="Text 7"/>
          <p:cNvSpPr/>
          <p:nvPr/>
        </p:nvSpPr>
        <p:spPr>
          <a:xfrm>
            <a:off x="777240" y="2194560"/>
            <a:ext cx="3931920" cy="22860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Éditeur</a:t>
            </a:r>
            <a:endParaRPr lang="en-US" sz="1000" dirty="0"/>
          </a:p>
        </p:txBody>
      </p:sp>
      <p:sp>
        <p:nvSpPr>
          <p:cNvPr id="10" name="Text 8"/>
          <p:cNvSpPr/>
          <p:nvPr/>
        </p:nvSpPr>
        <p:spPr>
          <a:xfrm>
            <a:off x="777240" y="2404872"/>
            <a:ext cx="393192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Google Cloud</a:t>
            </a:r>
            <a:endParaRPr lang="en-US" sz="1200" dirty="0"/>
          </a:p>
        </p:txBody>
      </p:sp>
      <p:sp>
        <p:nvSpPr>
          <p:cNvPr id="11" name="Text 9"/>
          <p:cNvSpPr/>
          <p:nvPr/>
        </p:nvSpPr>
        <p:spPr>
          <a:xfrm>
            <a:off x="777240" y="2971800"/>
            <a:ext cx="3931920" cy="22860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Famille</a:t>
            </a:r>
            <a:endParaRPr lang="en-US" sz="1000" dirty="0"/>
          </a:p>
        </p:txBody>
      </p:sp>
      <p:sp>
        <p:nvSpPr>
          <p:cNvPr id="12" name="Text 10"/>
          <p:cNvSpPr/>
          <p:nvPr/>
        </p:nvSpPr>
        <p:spPr>
          <a:xfrm>
            <a:off x="777240" y="3182112"/>
            <a:ext cx="393192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Cloud data warehouse</a:t>
            </a:r>
            <a:endParaRPr lang="en-US" sz="1200" dirty="0"/>
          </a:p>
        </p:txBody>
      </p:sp>
      <p:sp>
        <p:nvSpPr>
          <p:cNvPr id="13" name="Text 11"/>
          <p:cNvSpPr/>
          <p:nvPr/>
        </p:nvSpPr>
        <p:spPr>
          <a:xfrm>
            <a:off x="777240" y="3749040"/>
            <a:ext cx="3931920" cy="22860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Maturité</a:t>
            </a:r>
            <a:endParaRPr lang="en-US" sz="1000" dirty="0"/>
          </a:p>
        </p:txBody>
      </p:sp>
      <p:sp>
        <p:nvSpPr>
          <p:cNvPr id="14" name="Text 12"/>
          <p:cNvSpPr/>
          <p:nvPr/>
        </p:nvSpPr>
        <p:spPr>
          <a:xfrm>
            <a:off x="777240" y="3959352"/>
            <a:ext cx="393192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GA 2024  en expansion</a:t>
            </a:r>
            <a:endParaRPr lang="en-US" sz="1200" dirty="0"/>
          </a:p>
        </p:txBody>
      </p:sp>
      <p:sp>
        <p:nvSpPr>
          <p:cNvPr id="15" name="Text 13"/>
          <p:cNvSpPr/>
          <p:nvPr/>
        </p:nvSpPr>
        <p:spPr>
          <a:xfrm>
            <a:off x="777240" y="4526280"/>
            <a:ext cx="3931920" cy="22860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Pricing</a:t>
            </a:r>
            <a:endParaRPr lang="en-US" sz="1000" dirty="0"/>
          </a:p>
        </p:txBody>
      </p:sp>
      <p:sp>
        <p:nvSpPr>
          <p:cNvPr id="16" name="Text 14"/>
          <p:cNvSpPr/>
          <p:nvPr/>
        </p:nvSpPr>
        <p:spPr>
          <a:xfrm>
            <a:off x="777240" y="4736592"/>
            <a:ext cx="393192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Compute BigQuery standard</a:t>
            </a:r>
            <a:endParaRPr lang="en-US" sz="1200" dirty="0"/>
          </a:p>
        </p:txBody>
      </p:sp>
      <p:sp>
        <p:nvSpPr>
          <p:cNvPr id="17" name="Text 15"/>
          <p:cNvSpPr/>
          <p:nvPr/>
        </p:nvSpPr>
        <p:spPr>
          <a:xfrm>
            <a:off x="777240" y="5303520"/>
            <a:ext cx="3931920" cy="22860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Force clé</a:t>
            </a:r>
            <a:endParaRPr lang="en-US" sz="1000" dirty="0"/>
          </a:p>
        </p:txBody>
      </p:sp>
      <p:sp>
        <p:nvSpPr>
          <p:cNvPr id="18" name="Text 16"/>
          <p:cNvSpPr/>
          <p:nvPr/>
        </p:nvSpPr>
        <p:spPr>
          <a:xfrm>
            <a:off x="777240" y="5513832"/>
            <a:ext cx="393192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Interopérabilité native avec tout l'écosystème Google Cloud + Looker.</a:t>
            </a:r>
            <a:endParaRPr lang="en-US" sz="1200" dirty="0"/>
          </a:p>
        </p:txBody>
      </p:sp>
      <p:sp>
        <p:nvSpPr>
          <p:cNvPr id="19" name="Shape 17"/>
          <p:cNvSpPr/>
          <p:nvPr/>
        </p:nvSpPr>
        <p:spPr>
          <a:xfrm>
            <a:off x="5212080" y="1600200"/>
            <a:ext cx="6446520" cy="2331720"/>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20" name="Shape 18"/>
          <p:cNvSpPr/>
          <p:nvPr/>
        </p:nvSpPr>
        <p:spPr>
          <a:xfrm>
            <a:off x="5212080" y="1600200"/>
            <a:ext cx="91440" cy="2331720"/>
          </a:xfrm>
          <a:prstGeom prst="rect">
            <a:avLst/>
          </a:prstGeom>
          <a:solidFill>
            <a:srgbClr val="1C7293"/>
          </a:solidFill>
          <a:ln w="12700">
            <a:solidFill>
              <a:srgbClr val="1C7293"/>
            </a:solidFill>
            <a:prstDash val="solid"/>
          </a:ln>
        </p:spPr>
      </p:sp>
      <p:sp>
        <p:nvSpPr>
          <p:cNvPr id="21" name="Text 19"/>
          <p:cNvSpPr/>
          <p:nvPr/>
        </p:nvSpPr>
        <p:spPr>
          <a:xfrm>
            <a:off x="5440680" y="1737360"/>
            <a:ext cx="6080760" cy="274320"/>
          </a:xfrm>
          <a:prstGeom prst="rect">
            <a:avLst/>
          </a:prstGeom>
          <a:noFill/>
          <a:ln/>
        </p:spPr>
        <p:txBody>
          <a:bodyPr wrap="square" lIns="0" tIns="0" rIns="0" bIns="0" rtlCol="0" anchor="ctr"/>
          <a:lstStyle/>
          <a:p>
            <a:pPr marL="0" indent="0">
              <a:buNone/>
            </a:pPr>
            <a:r>
              <a:rPr lang="en-US" sz="1100" b="1" kern="0" spc="150" dirty="0">
                <a:solidFill>
                  <a:srgbClr val="F96167"/>
                </a:solidFill>
                <a:latin typeface="Calibri" pitchFamily="34" charset="0"/>
                <a:ea typeface="Calibri" pitchFamily="34" charset="-122"/>
                <a:cs typeface="Calibri" pitchFamily="34" charset="-120"/>
              </a:rPr>
              <a:t>CE QUE ÇA FAIT BIEN</a:t>
            </a:r>
            <a:endParaRPr lang="en-US" sz="1100" dirty="0"/>
          </a:p>
        </p:txBody>
      </p:sp>
      <p:sp>
        <p:nvSpPr>
          <p:cNvPr id="22" name="Text 20"/>
          <p:cNvSpPr/>
          <p:nvPr/>
        </p:nvSpPr>
        <p:spPr>
          <a:xfrm>
            <a:off x="5486400" y="2057400"/>
            <a:ext cx="5989320" cy="178308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Data Sharing sécurisé entre organisations BigQuery</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Analysis rules et row-level security</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Pas besoin de dupliquer ou déplacer les données</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Support de SQL standard + dbt + Looker Studio</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Idéal si vous êtes déjà "BigQuery-native"</a:t>
            </a:r>
            <a:endParaRPr lang="en-US" sz="1200" dirty="0"/>
          </a:p>
        </p:txBody>
      </p:sp>
      <p:sp>
        <p:nvSpPr>
          <p:cNvPr id="23" name="Shape 21"/>
          <p:cNvSpPr/>
          <p:nvPr/>
        </p:nvSpPr>
        <p:spPr>
          <a:xfrm>
            <a:off x="5212080" y="4069080"/>
            <a:ext cx="6446520" cy="2286000"/>
          </a:xfrm>
          <a:prstGeom prst="rect">
            <a:avLst/>
          </a:prstGeom>
          <a:solidFill>
            <a:srgbClr val="0B1F3A"/>
          </a:solidFill>
          <a:ln w="12700">
            <a:solidFill>
              <a:srgbClr val="0B1F3A"/>
            </a:solidFill>
            <a:prstDash val="solid"/>
          </a:ln>
          <a:effectLst>
            <a:outerShdw blurRad="76200" dist="25400" dir="8100000" algn="bl" rotWithShape="0">
              <a:srgbClr val="000000">
                <a:alpha val="12000"/>
              </a:srgbClr>
            </a:outerShdw>
          </a:effectLst>
        </p:spPr>
      </p:sp>
      <p:sp>
        <p:nvSpPr>
          <p:cNvPr id="24" name="Shape 22"/>
          <p:cNvSpPr/>
          <p:nvPr/>
        </p:nvSpPr>
        <p:spPr>
          <a:xfrm>
            <a:off x="5212080" y="4069080"/>
            <a:ext cx="91440" cy="2286000"/>
          </a:xfrm>
          <a:prstGeom prst="rect">
            <a:avLst/>
          </a:prstGeom>
          <a:solidFill>
            <a:srgbClr val="F96167"/>
          </a:solidFill>
          <a:ln w="12700">
            <a:solidFill>
              <a:srgbClr val="F96167"/>
            </a:solidFill>
            <a:prstDash val="solid"/>
          </a:ln>
        </p:spPr>
      </p:sp>
      <p:sp>
        <p:nvSpPr>
          <p:cNvPr id="25" name="Text 23"/>
          <p:cNvSpPr/>
          <p:nvPr/>
        </p:nvSpPr>
        <p:spPr>
          <a:xfrm>
            <a:off x="5486400" y="4251960"/>
            <a:ext cx="5989320" cy="274320"/>
          </a:xfrm>
          <a:prstGeom prst="rect">
            <a:avLst/>
          </a:prstGeom>
          <a:noFill/>
          <a:ln/>
        </p:spPr>
        <p:txBody>
          <a:bodyPr wrap="square" lIns="0" tIns="0" rIns="0" bIns="0" rtlCol="0" anchor="ctr"/>
          <a:lstStyle/>
          <a:p>
            <a:pPr marL="0" indent="0">
              <a:buNone/>
            </a:pPr>
            <a:r>
              <a:rPr lang="en-US" sz="1100" b="1" kern="0" spc="150" dirty="0">
                <a:solidFill>
                  <a:srgbClr val="F9B233"/>
                </a:solidFill>
                <a:latin typeface="Calibri" pitchFamily="34" charset="0"/>
                <a:ea typeface="Calibri" pitchFamily="34" charset="-122"/>
                <a:cs typeface="Calibri" pitchFamily="34" charset="-120"/>
              </a:rPr>
              <a:t>CAS MARKETING CONCRET</a:t>
            </a:r>
            <a:endParaRPr lang="en-US" sz="1100" dirty="0"/>
          </a:p>
        </p:txBody>
      </p:sp>
      <p:sp>
        <p:nvSpPr>
          <p:cNvPr id="26" name="Text 24"/>
          <p:cNvSpPr/>
          <p:nvPr/>
        </p:nvSpPr>
        <p:spPr>
          <a:xfrm>
            <a:off x="5486400" y="4572000"/>
            <a:ext cx="5989320" cy="141732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Cas : Decathlon partage avec ses fournisseurs (Adidas, Puma) des insights de vente agrégés via BigQuery Clean Rooms. Les marques voient les tendances produits par région et par semaine, sans accéder aux transactions individuelles. En retour, elles partagent leurs données marketing pour optimiser les réassorts.</a:t>
            </a:r>
            <a:endParaRPr lang="en-US" sz="1200" dirty="0"/>
          </a:p>
        </p:txBody>
      </p:sp>
      <p:sp>
        <p:nvSpPr>
          <p:cNvPr id="27" name="Text 25"/>
          <p:cNvSpPr/>
          <p:nvPr/>
        </p:nvSpPr>
        <p:spPr>
          <a:xfrm>
            <a:off x="5486400" y="5943600"/>
            <a:ext cx="5989320" cy="320040"/>
          </a:xfrm>
          <a:prstGeom prst="rect">
            <a:avLst/>
          </a:prstGeom>
          <a:noFill/>
          <a:ln/>
        </p:spPr>
        <p:txBody>
          <a:bodyPr wrap="square" lIns="0" tIns="0" rIns="0" bIns="0" rtlCol="0" anchor="ctr"/>
          <a:lstStyle/>
          <a:p>
            <a:pPr marL="0" indent="0">
              <a:buNone/>
            </a:pPr>
            <a:r>
              <a:rPr lang="en-US" sz="1300" b="1" dirty="0">
                <a:solidFill>
                  <a:srgbClr val="F96167"/>
                </a:solidFill>
                <a:latin typeface="Calibri" pitchFamily="34" charset="0"/>
                <a:ea typeface="Calibri" pitchFamily="34" charset="-122"/>
                <a:cs typeface="Calibri" pitchFamily="34" charset="-120"/>
              </a:rPr>
              <a:t>−18 % de rupture de stock sur les top références running.</a:t>
            </a:r>
            <a:endParaRPr lang="en-US" sz="1300" dirty="0"/>
          </a:p>
        </p:txBody>
      </p:sp>
      <p:sp>
        <p:nvSpPr>
          <p:cNvPr id="28" name="Shape 26"/>
          <p:cNvSpPr/>
          <p:nvPr/>
        </p:nvSpPr>
        <p:spPr>
          <a:xfrm>
            <a:off x="0" y="6583680"/>
            <a:ext cx="12191695" cy="274320"/>
          </a:xfrm>
          <a:prstGeom prst="rect">
            <a:avLst/>
          </a:prstGeom>
          <a:solidFill>
            <a:srgbClr val="0B1F3A"/>
          </a:solidFill>
          <a:ln w="12700">
            <a:solidFill>
              <a:srgbClr val="0B1F3A"/>
            </a:solidFill>
            <a:prstDash val="solid"/>
          </a:ln>
        </p:spPr>
      </p:sp>
      <p:sp>
        <p:nvSpPr>
          <p:cNvPr id="29" name="Text 27"/>
          <p:cNvSpPr/>
          <p:nvPr/>
        </p:nvSpPr>
        <p:spPr>
          <a:xfrm>
            <a:off x="365760" y="6601968"/>
            <a:ext cx="822960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Session 2  Providers Cloud &amp; Data</a:t>
            </a:r>
            <a:endParaRPr lang="en-US" sz="1000" dirty="0"/>
          </a:p>
        </p:txBody>
      </p:sp>
      <p:sp>
        <p:nvSpPr>
          <p:cNvPr id="30" name="Text 28"/>
          <p:cNvSpPr/>
          <p:nvPr/>
        </p:nvSpPr>
        <p:spPr>
          <a:xfrm>
            <a:off x="11551615" y="6601968"/>
            <a:ext cx="365760" cy="237744"/>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20">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B1F3A"/>
          </a:solidFill>
          <a:ln w="12700">
            <a:solidFill>
              <a:srgbClr val="0B1F3A"/>
            </a:solidFill>
            <a:prstDash val="solid"/>
          </a:ln>
        </p:spPr>
      </p:sp>
      <p:sp>
        <p:nvSpPr>
          <p:cNvPr id="3" name="Text 1"/>
          <p:cNvSpPr/>
          <p:nvPr/>
        </p:nvSpPr>
        <p:spPr>
          <a:xfrm>
            <a:off x="548640" y="182880"/>
            <a:ext cx="2743200" cy="274320"/>
          </a:xfrm>
          <a:prstGeom prst="rect">
            <a:avLst/>
          </a:prstGeom>
          <a:noFill/>
          <a:ln/>
        </p:spPr>
        <p:txBody>
          <a:bodyPr wrap="square" lIns="0" tIns="0" rIns="0" bIns="0" rtlCol="0" anchor="ctr"/>
          <a:lstStyle/>
          <a:p>
            <a:pPr marL="0" indent="0">
              <a:buNone/>
            </a:pPr>
            <a:r>
              <a:rPr lang="en-US" sz="1100" b="1" kern="0" spc="200" dirty="0">
                <a:solidFill>
                  <a:srgbClr val="F96167"/>
                </a:solidFill>
                <a:latin typeface="Calibri" pitchFamily="34" charset="0"/>
                <a:ea typeface="Calibri" pitchFamily="34" charset="-122"/>
                <a:cs typeface="Calibri" pitchFamily="34" charset="-120"/>
              </a:rPr>
              <a:t>PROVIDER 4/12</a:t>
            </a:r>
            <a:endParaRPr lang="en-US" sz="1100" dirty="0"/>
          </a:p>
        </p:txBody>
      </p:sp>
      <p:sp>
        <p:nvSpPr>
          <p:cNvPr id="4" name="Text 2"/>
          <p:cNvSpPr/>
          <p:nvPr/>
        </p:nvSpPr>
        <p:spPr>
          <a:xfrm>
            <a:off x="548640" y="411480"/>
            <a:ext cx="10972800" cy="5029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Snowflake Data Clean Room</a:t>
            </a:r>
            <a:endParaRPr lang="en-US" sz="2800" dirty="0"/>
          </a:p>
        </p:txBody>
      </p:sp>
      <p:sp>
        <p:nvSpPr>
          <p:cNvPr id="5" name="Text 3"/>
          <p:cNvSpPr/>
          <p:nvPr/>
        </p:nvSpPr>
        <p:spPr>
          <a:xfrm>
            <a:off x="548640" y="1051560"/>
            <a:ext cx="10972800" cy="320040"/>
          </a:xfrm>
          <a:prstGeom prst="rect">
            <a:avLst/>
          </a:prstGeom>
          <a:noFill/>
          <a:ln/>
        </p:spPr>
        <p:txBody>
          <a:bodyPr wrap="square" lIns="0" tIns="0" rIns="0" bIns="0" rtlCol="0" anchor="ctr"/>
          <a:lstStyle/>
          <a:p>
            <a:pPr marL="0" indent="0">
              <a:buNone/>
            </a:pPr>
            <a:r>
              <a:rPr lang="en-US" sz="1400" i="1" dirty="0">
                <a:solidFill>
                  <a:srgbClr val="1C7293"/>
                </a:solidFill>
                <a:latin typeface="Calibri" pitchFamily="34" charset="0"/>
                <a:ea typeface="Calibri" pitchFamily="34" charset="-122"/>
                <a:cs typeface="Calibri" pitchFamily="34" charset="-120"/>
              </a:rPr>
              <a:t>Le leader "neutre multi-cloud" du DCR. Disponible sur AWS, Azure et GCP.</a:t>
            </a:r>
            <a:endParaRPr lang="en-US" sz="1400" dirty="0"/>
          </a:p>
        </p:txBody>
      </p:sp>
      <p:sp>
        <p:nvSpPr>
          <p:cNvPr id="6" name="Shape 4"/>
          <p:cNvSpPr/>
          <p:nvPr/>
        </p:nvSpPr>
        <p:spPr>
          <a:xfrm>
            <a:off x="548640" y="1600200"/>
            <a:ext cx="4389120" cy="4754880"/>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7" name="Shape 5"/>
          <p:cNvSpPr/>
          <p:nvPr/>
        </p:nvSpPr>
        <p:spPr>
          <a:xfrm>
            <a:off x="548640" y="1600200"/>
            <a:ext cx="91440" cy="4754880"/>
          </a:xfrm>
          <a:prstGeom prst="rect">
            <a:avLst/>
          </a:prstGeom>
          <a:solidFill>
            <a:srgbClr val="065A82"/>
          </a:solidFill>
          <a:ln w="12700">
            <a:solidFill>
              <a:srgbClr val="065A82"/>
            </a:solidFill>
            <a:prstDash val="solid"/>
          </a:ln>
        </p:spPr>
      </p:sp>
      <p:sp>
        <p:nvSpPr>
          <p:cNvPr id="8" name="Text 6"/>
          <p:cNvSpPr/>
          <p:nvPr/>
        </p:nvSpPr>
        <p:spPr>
          <a:xfrm>
            <a:off x="777240" y="1783080"/>
            <a:ext cx="4023360" cy="320040"/>
          </a:xfrm>
          <a:prstGeom prst="rect">
            <a:avLst/>
          </a:prstGeom>
          <a:noFill/>
          <a:ln/>
        </p:spPr>
        <p:txBody>
          <a:bodyPr wrap="square" lIns="0" tIns="0" rIns="0" bIns="0" rtlCol="0" anchor="ctr"/>
          <a:lstStyle/>
          <a:p>
            <a:pPr marL="0" indent="0">
              <a:buNone/>
            </a:pPr>
            <a:r>
              <a:rPr lang="en-US" sz="1100" b="1" kern="0" spc="150" dirty="0">
                <a:solidFill>
                  <a:srgbClr val="F96167"/>
                </a:solidFill>
                <a:latin typeface="Calibri" pitchFamily="34" charset="0"/>
                <a:ea typeface="Calibri" pitchFamily="34" charset="-122"/>
                <a:cs typeface="Calibri" pitchFamily="34" charset="-120"/>
              </a:rPr>
              <a:t>CARTE D'IDENTITÉ</a:t>
            </a:r>
            <a:endParaRPr lang="en-US" sz="1100" dirty="0"/>
          </a:p>
        </p:txBody>
      </p:sp>
      <p:sp>
        <p:nvSpPr>
          <p:cNvPr id="9" name="Text 7"/>
          <p:cNvSpPr/>
          <p:nvPr/>
        </p:nvSpPr>
        <p:spPr>
          <a:xfrm>
            <a:off x="777240" y="2194560"/>
            <a:ext cx="3931920" cy="22860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Éditeur</a:t>
            </a:r>
            <a:endParaRPr lang="en-US" sz="1000" dirty="0"/>
          </a:p>
        </p:txBody>
      </p:sp>
      <p:sp>
        <p:nvSpPr>
          <p:cNvPr id="10" name="Text 8"/>
          <p:cNvSpPr/>
          <p:nvPr/>
        </p:nvSpPr>
        <p:spPr>
          <a:xfrm>
            <a:off x="777240" y="2404872"/>
            <a:ext cx="393192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Snowflake Inc.</a:t>
            </a:r>
            <a:endParaRPr lang="en-US" sz="1200" dirty="0"/>
          </a:p>
        </p:txBody>
      </p:sp>
      <p:sp>
        <p:nvSpPr>
          <p:cNvPr id="11" name="Text 9"/>
          <p:cNvSpPr/>
          <p:nvPr/>
        </p:nvSpPr>
        <p:spPr>
          <a:xfrm>
            <a:off x="777240" y="2971800"/>
            <a:ext cx="3931920" cy="22860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Famille</a:t>
            </a:r>
            <a:endParaRPr lang="en-US" sz="1000" dirty="0"/>
          </a:p>
        </p:txBody>
      </p:sp>
      <p:sp>
        <p:nvSpPr>
          <p:cNvPr id="12" name="Text 10"/>
          <p:cNvSpPr/>
          <p:nvPr/>
        </p:nvSpPr>
        <p:spPr>
          <a:xfrm>
            <a:off x="777240" y="3182112"/>
            <a:ext cx="393192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Cloud data warehouse (neutre)</a:t>
            </a:r>
            <a:endParaRPr lang="en-US" sz="1200" dirty="0"/>
          </a:p>
        </p:txBody>
      </p:sp>
      <p:sp>
        <p:nvSpPr>
          <p:cNvPr id="13" name="Text 11"/>
          <p:cNvSpPr/>
          <p:nvPr/>
        </p:nvSpPr>
        <p:spPr>
          <a:xfrm>
            <a:off x="777240" y="3749040"/>
            <a:ext cx="3931920" cy="22860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Maturité</a:t>
            </a:r>
            <a:endParaRPr lang="en-US" sz="1000" dirty="0"/>
          </a:p>
        </p:txBody>
      </p:sp>
      <p:sp>
        <p:nvSpPr>
          <p:cNvPr id="14" name="Text 12"/>
          <p:cNvSpPr/>
          <p:nvPr/>
        </p:nvSpPr>
        <p:spPr>
          <a:xfrm>
            <a:off x="777240" y="3959352"/>
            <a:ext cx="393192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Production depuis 2022  référence du marché</a:t>
            </a:r>
            <a:endParaRPr lang="en-US" sz="1200" dirty="0"/>
          </a:p>
        </p:txBody>
      </p:sp>
      <p:sp>
        <p:nvSpPr>
          <p:cNvPr id="15" name="Text 13"/>
          <p:cNvSpPr/>
          <p:nvPr/>
        </p:nvSpPr>
        <p:spPr>
          <a:xfrm>
            <a:off x="777240" y="4526280"/>
            <a:ext cx="3931920" cy="22860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Pricing</a:t>
            </a:r>
            <a:endParaRPr lang="en-US" sz="1000" dirty="0"/>
          </a:p>
        </p:txBody>
      </p:sp>
      <p:sp>
        <p:nvSpPr>
          <p:cNvPr id="16" name="Text 14"/>
          <p:cNvSpPr/>
          <p:nvPr/>
        </p:nvSpPr>
        <p:spPr>
          <a:xfrm>
            <a:off x="777240" y="4736592"/>
            <a:ext cx="393192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Compute (WAREHOUSE) + stockage standard</a:t>
            </a:r>
            <a:endParaRPr lang="en-US" sz="1200" dirty="0"/>
          </a:p>
        </p:txBody>
      </p:sp>
      <p:sp>
        <p:nvSpPr>
          <p:cNvPr id="17" name="Text 15"/>
          <p:cNvSpPr/>
          <p:nvPr/>
        </p:nvSpPr>
        <p:spPr>
          <a:xfrm>
            <a:off x="777240" y="5303520"/>
            <a:ext cx="3931920" cy="22860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Force clé</a:t>
            </a:r>
            <a:endParaRPr lang="en-US" sz="1000" dirty="0"/>
          </a:p>
        </p:txBody>
      </p:sp>
      <p:sp>
        <p:nvSpPr>
          <p:cNvPr id="18" name="Text 16"/>
          <p:cNvSpPr/>
          <p:nvPr/>
        </p:nvSpPr>
        <p:spPr>
          <a:xfrm>
            <a:off x="777240" y="5513832"/>
            <a:ext cx="393192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Architecture Secure Data Sharing  pas de copie de données, instantané.</a:t>
            </a:r>
            <a:endParaRPr lang="en-US" sz="1200" dirty="0"/>
          </a:p>
        </p:txBody>
      </p:sp>
      <p:sp>
        <p:nvSpPr>
          <p:cNvPr id="19" name="Shape 17"/>
          <p:cNvSpPr/>
          <p:nvPr/>
        </p:nvSpPr>
        <p:spPr>
          <a:xfrm>
            <a:off x="5212080" y="1600200"/>
            <a:ext cx="6446520" cy="2331720"/>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20" name="Shape 18"/>
          <p:cNvSpPr/>
          <p:nvPr/>
        </p:nvSpPr>
        <p:spPr>
          <a:xfrm>
            <a:off x="5212080" y="1600200"/>
            <a:ext cx="91440" cy="2331720"/>
          </a:xfrm>
          <a:prstGeom prst="rect">
            <a:avLst/>
          </a:prstGeom>
          <a:solidFill>
            <a:srgbClr val="1C7293"/>
          </a:solidFill>
          <a:ln w="12700">
            <a:solidFill>
              <a:srgbClr val="1C7293"/>
            </a:solidFill>
            <a:prstDash val="solid"/>
          </a:ln>
        </p:spPr>
      </p:sp>
      <p:sp>
        <p:nvSpPr>
          <p:cNvPr id="21" name="Text 19"/>
          <p:cNvSpPr/>
          <p:nvPr/>
        </p:nvSpPr>
        <p:spPr>
          <a:xfrm>
            <a:off x="5440680" y="1737360"/>
            <a:ext cx="6080760" cy="274320"/>
          </a:xfrm>
          <a:prstGeom prst="rect">
            <a:avLst/>
          </a:prstGeom>
          <a:noFill/>
          <a:ln/>
        </p:spPr>
        <p:txBody>
          <a:bodyPr wrap="square" lIns="0" tIns="0" rIns="0" bIns="0" rtlCol="0" anchor="ctr"/>
          <a:lstStyle/>
          <a:p>
            <a:pPr marL="0" indent="0">
              <a:buNone/>
            </a:pPr>
            <a:r>
              <a:rPr lang="en-US" sz="1100" b="1" kern="0" spc="150" dirty="0">
                <a:solidFill>
                  <a:srgbClr val="F96167"/>
                </a:solidFill>
                <a:latin typeface="Calibri" pitchFamily="34" charset="0"/>
                <a:ea typeface="Calibri" pitchFamily="34" charset="-122"/>
                <a:cs typeface="Calibri" pitchFamily="34" charset="-120"/>
              </a:rPr>
              <a:t>CE QUE ÇA FAIT BIEN</a:t>
            </a:r>
            <a:endParaRPr lang="en-US" sz="1100" dirty="0"/>
          </a:p>
        </p:txBody>
      </p:sp>
      <p:sp>
        <p:nvSpPr>
          <p:cNvPr id="22" name="Text 20"/>
          <p:cNvSpPr/>
          <p:nvPr/>
        </p:nvSpPr>
        <p:spPr>
          <a:xfrm>
            <a:off x="5486400" y="2057400"/>
            <a:ext cx="5989320" cy="178308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Secure Data Sharing : aucun mouvement de données</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Row Access Policies + Masking Dynamique</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Jinja templates pour requêtes paramétrées</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Native Apps via Snowflake Marketplace</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Acquisition de Samooha pour UI no-code</a:t>
            </a:r>
            <a:endParaRPr lang="en-US" sz="1200" dirty="0"/>
          </a:p>
        </p:txBody>
      </p:sp>
      <p:sp>
        <p:nvSpPr>
          <p:cNvPr id="23" name="Shape 21"/>
          <p:cNvSpPr/>
          <p:nvPr/>
        </p:nvSpPr>
        <p:spPr>
          <a:xfrm>
            <a:off x="5212080" y="4069080"/>
            <a:ext cx="6446520" cy="2286000"/>
          </a:xfrm>
          <a:prstGeom prst="rect">
            <a:avLst/>
          </a:prstGeom>
          <a:solidFill>
            <a:srgbClr val="0B1F3A"/>
          </a:solidFill>
          <a:ln w="12700">
            <a:solidFill>
              <a:srgbClr val="0B1F3A"/>
            </a:solidFill>
            <a:prstDash val="solid"/>
          </a:ln>
          <a:effectLst>
            <a:outerShdw blurRad="76200" dist="25400" dir="8100000" algn="bl" rotWithShape="0">
              <a:srgbClr val="000000">
                <a:alpha val="12000"/>
              </a:srgbClr>
            </a:outerShdw>
          </a:effectLst>
        </p:spPr>
      </p:sp>
      <p:sp>
        <p:nvSpPr>
          <p:cNvPr id="24" name="Shape 22"/>
          <p:cNvSpPr/>
          <p:nvPr/>
        </p:nvSpPr>
        <p:spPr>
          <a:xfrm>
            <a:off x="5212080" y="4069080"/>
            <a:ext cx="91440" cy="2286000"/>
          </a:xfrm>
          <a:prstGeom prst="rect">
            <a:avLst/>
          </a:prstGeom>
          <a:solidFill>
            <a:srgbClr val="F96167"/>
          </a:solidFill>
          <a:ln w="12700">
            <a:solidFill>
              <a:srgbClr val="F96167"/>
            </a:solidFill>
            <a:prstDash val="solid"/>
          </a:ln>
        </p:spPr>
      </p:sp>
      <p:sp>
        <p:nvSpPr>
          <p:cNvPr id="25" name="Text 23"/>
          <p:cNvSpPr/>
          <p:nvPr/>
        </p:nvSpPr>
        <p:spPr>
          <a:xfrm>
            <a:off x="5486400" y="4251960"/>
            <a:ext cx="5989320" cy="274320"/>
          </a:xfrm>
          <a:prstGeom prst="rect">
            <a:avLst/>
          </a:prstGeom>
          <a:noFill/>
          <a:ln/>
        </p:spPr>
        <p:txBody>
          <a:bodyPr wrap="square" lIns="0" tIns="0" rIns="0" bIns="0" rtlCol="0" anchor="ctr"/>
          <a:lstStyle/>
          <a:p>
            <a:pPr marL="0" indent="0">
              <a:buNone/>
            </a:pPr>
            <a:r>
              <a:rPr lang="en-US" sz="1100" b="1" kern="0" spc="150" dirty="0">
                <a:solidFill>
                  <a:srgbClr val="F9B233"/>
                </a:solidFill>
                <a:latin typeface="Calibri" pitchFamily="34" charset="0"/>
                <a:ea typeface="Calibri" pitchFamily="34" charset="-122"/>
                <a:cs typeface="Calibri" pitchFamily="34" charset="-120"/>
              </a:rPr>
              <a:t>CAS MARKETING CONCRET</a:t>
            </a:r>
            <a:endParaRPr lang="en-US" sz="1100" dirty="0"/>
          </a:p>
        </p:txBody>
      </p:sp>
      <p:sp>
        <p:nvSpPr>
          <p:cNvPr id="26" name="Text 24"/>
          <p:cNvSpPr/>
          <p:nvPr/>
        </p:nvSpPr>
        <p:spPr>
          <a:xfrm>
            <a:off x="5486400" y="4572000"/>
            <a:ext cx="5989320" cy="141732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Cas : Disney+ et un grand annonceur auto construisent une DCR Snowflake pour mesurer l'overlap abonnés/propriétaires de véhicule. Le constructeur cible ensuite les segments "abonnés Disney+ en fin de LLD" avec une campagne CTV. Aucune donnée personnelle n'a transité.</a:t>
            </a:r>
            <a:endParaRPr lang="en-US" sz="1200" dirty="0"/>
          </a:p>
        </p:txBody>
      </p:sp>
      <p:sp>
        <p:nvSpPr>
          <p:cNvPr id="27" name="Text 25"/>
          <p:cNvSpPr/>
          <p:nvPr/>
        </p:nvSpPr>
        <p:spPr>
          <a:xfrm>
            <a:off x="5486400" y="5943600"/>
            <a:ext cx="5989320" cy="320040"/>
          </a:xfrm>
          <a:prstGeom prst="rect">
            <a:avLst/>
          </a:prstGeom>
          <a:noFill/>
          <a:ln/>
        </p:spPr>
        <p:txBody>
          <a:bodyPr wrap="square" lIns="0" tIns="0" rIns="0" bIns="0" rtlCol="0" anchor="ctr"/>
          <a:lstStyle/>
          <a:p>
            <a:pPr marL="0" indent="0">
              <a:buNone/>
            </a:pPr>
            <a:r>
              <a:rPr lang="en-US" sz="1300" b="1" dirty="0">
                <a:solidFill>
                  <a:srgbClr val="F96167"/>
                </a:solidFill>
                <a:latin typeface="Calibri" pitchFamily="34" charset="0"/>
                <a:ea typeface="Calibri" pitchFamily="34" charset="-122"/>
                <a:cs typeface="Calibri" pitchFamily="34" charset="-120"/>
              </a:rPr>
              <a:t>Taux de renouvellement LLD +11 points sur le segment activé.</a:t>
            </a:r>
            <a:endParaRPr lang="en-US" sz="1300" dirty="0"/>
          </a:p>
        </p:txBody>
      </p:sp>
      <p:sp>
        <p:nvSpPr>
          <p:cNvPr id="28" name="Shape 26"/>
          <p:cNvSpPr/>
          <p:nvPr/>
        </p:nvSpPr>
        <p:spPr>
          <a:xfrm>
            <a:off x="0" y="6583680"/>
            <a:ext cx="12191695" cy="274320"/>
          </a:xfrm>
          <a:prstGeom prst="rect">
            <a:avLst/>
          </a:prstGeom>
          <a:solidFill>
            <a:srgbClr val="0B1F3A"/>
          </a:solidFill>
          <a:ln w="12700">
            <a:solidFill>
              <a:srgbClr val="0B1F3A"/>
            </a:solidFill>
            <a:prstDash val="solid"/>
          </a:ln>
        </p:spPr>
      </p:sp>
      <p:sp>
        <p:nvSpPr>
          <p:cNvPr id="29" name="Text 27"/>
          <p:cNvSpPr/>
          <p:nvPr/>
        </p:nvSpPr>
        <p:spPr>
          <a:xfrm>
            <a:off x="365760" y="6601968"/>
            <a:ext cx="822960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Session 2  Providers Cloud &amp; Data</a:t>
            </a:r>
            <a:endParaRPr lang="en-US" sz="1000" dirty="0"/>
          </a:p>
        </p:txBody>
      </p:sp>
      <p:sp>
        <p:nvSpPr>
          <p:cNvPr id="30" name="Text 28"/>
          <p:cNvSpPr/>
          <p:nvPr/>
        </p:nvSpPr>
        <p:spPr>
          <a:xfrm>
            <a:off x="11551615" y="6601968"/>
            <a:ext cx="365760" cy="237744"/>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21">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B1F3A"/>
          </a:solidFill>
          <a:ln w="12700">
            <a:solidFill>
              <a:srgbClr val="0B1F3A"/>
            </a:solidFill>
            <a:prstDash val="solid"/>
          </a:ln>
        </p:spPr>
      </p:sp>
      <p:sp>
        <p:nvSpPr>
          <p:cNvPr id="3" name="Text 1"/>
          <p:cNvSpPr/>
          <p:nvPr/>
        </p:nvSpPr>
        <p:spPr>
          <a:xfrm>
            <a:off x="548640" y="182880"/>
            <a:ext cx="2743200" cy="274320"/>
          </a:xfrm>
          <a:prstGeom prst="rect">
            <a:avLst/>
          </a:prstGeom>
          <a:noFill/>
          <a:ln/>
        </p:spPr>
        <p:txBody>
          <a:bodyPr wrap="square" lIns="0" tIns="0" rIns="0" bIns="0" rtlCol="0" anchor="ctr"/>
          <a:lstStyle/>
          <a:p>
            <a:pPr marL="0" indent="0">
              <a:buNone/>
            </a:pPr>
            <a:r>
              <a:rPr lang="en-US" sz="1100" b="1" kern="0" spc="200" dirty="0">
                <a:solidFill>
                  <a:srgbClr val="F96167"/>
                </a:solidFill>
                <a:latin typeface="Calibri" pitchFamily="34" charset="0"/>
                <a:ea typeface="Calibri" pitchFamily="34" charset="-122"/>
                <a:cs typeface="Calibri" pitchFamily="34" charset="-120"/>
              </a:rPr>
              <a:t>PROVIDER 5/12</a:t>
            </a:r>
            <a:endParaRPr lang="en-US" sz="1100" dirty="0"/>
          </a:p>
        </p:txBody>
      </p:sp>
      <p:sp>
        <p:nvSpPr>
          <p:cNvPr id="4" name="Text 2"/>
          <p:cNvSpPr/>
          <p:nvPr/>
        </p:nvSpPr>
        <p:spPr>
          <a:xfrm>
            <a:off x="548640" y="411480"/>
            <a:ext cx="10972800" cy="5029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Databricks Clean Rooms</a:t>
            </a:r>
            <a:endParaRPr lang="en-US" sz="2800" dirty="0"/>
          </a:p>
        </p:txBody>
      </p:sp>
      <p:sp>
        <p:nvSpPr>
          <p:cNvPr id="5" name="Text 3"/>
          <p:cNvSpPr/>
          <p:nvPr/>
        </p:nvSpPr>
        <p:spPr>
          <a:xfrm>
            <a:off x="548640" y="1051560"/>
            <a:ext cx="10972800" cy="320040"/>
          </a:xfrm>
          <a:prstGeom prst="rect">
            <a:avLst/>
          </a:prstGeom>
          <a:noFill/>
          <a:ln/>
        </p:spPr>
        <p:txBody>
          <a:bodyPr wrap="square" lIns="0" tIns="0" rIns="0" bIns="0" rtlCol="0" anchor="ctr"/>
          <a:lstStyle/>
          <a:p>
            <a:pPr marL="0" indent="0">
              <a:buNone/>
            </a:pPr>
            <a:r>
              <a:rPr lang="en-US" sz="1400" i="1" dirty="0">
                <a:solidFill>
                  <a:srgbClr val="1C7293"/>
                </a:solidFill>
                <a:latin typeface="Calibri" pitchFamily="34" charset="0"/>
                <a:ea typeface="Calibri" pitchFamily="34" charset="-122"/>
                <a:cs typeface="Calibri" pitchFamily="34" charset="-120"/>
              </a:rPr>
              <a:t>La DCR "data + IA"  Delta Sharing + collaboration ML dans un même espace.</a:t>
            </a:r>
            <a:endParaRPr lang="en-US" sz="1400" dirty="0"/>
          </a:p>
        </p:txBody>
      </p:sp>
      <p:sp>
        <p:nvSpPr>
          <p:cNvPr id="6" name="Shape 4"/>
          <p:cNvSpPr/>
          <p:nvPr/>
        </p:nvSpPr>
        <p:spPr>
          <a:xfrm>
            <a:off x="548640" y="1600200"/>
            <a:ext cx="4389120" cy="4754880"/>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7" name="Shape 5"/>
          <p:cNvSpPr/>
          <p:nvPr/>
        </p:nvSpPr>
        <p:spPr>
          <a:xfrm>
            <a:off x="548640" y="1600200"/>
            <a:ext cx="91440" cy="4754880"/>
          </a:xfrm>
          <a:prstGeom prst="rect">
            <a:avLst/>
          </a:prstGeom>
          <a:solidFill>
            <a:srgbClr val="065A82"/>
          </a:solidFill>
          <a:ln w="12700">
            <a:solidFill>
              <a:srgbClr val="065A82"/>
            </a:solidFill>
            <a:prstDash val="solid"/>
          </a:ln>
        </p:spPr>
      </p:sp>
      <p:sp>
        <p:nvSpPr>
          <p:cNvPr id="8" name="Text 6"/>
          <p:cNvSpPr/>
          <p:nvPr/>
        </p:nvSpPr>
        <p:spPr>
          <a:xfrm>
            <a:off x="777240" y="1783080"/>
            <a:ext cx="4023360" cy="320040"/>
          </a:xfrm>
          <a:prstGeom prst="rect">
            <a:avLst/>
          </a:prstGeom>
          <a:noFill/>
          <a:ln/>
        </p:spPr>
        <p:txBody>
          <a:bodyPr wrap="square" lIns="0" tIns="0" rIns="0" bIns="0" rtlCol="0" anchor="ctr"/>
          <a:lstStyle/>
          <a:p>
            <a:pPr marL="0" indent="0">
              <a:buNone/>
            </a:pPr>
            <a:r>
              <a:rPr lang="en-US" sz="1100" b="1" kern="0" spc="150" dirty="0">
                <a:solidFill>
                  <a:srgbClr val="F96167"/>
                </a:solidFill>
                <a:latin typeface="Calibri" pitchFamily="34" charset="0"/>
                <a:ea typeface="Calibri" pitchFamily="34" charset="-122"/>
                <a:cs typeface="Calibri" pitchFamily="34" charset="-120"/>
              </a:rPr>
              <a:t>CARTE D'IDENTITÉ</a:t>
            </a:r>
            <a:endParaRPr lang="en-US" sz="1100" dirty="0"/>
          </a:p>
        </p:txBody>
      </p:sp>
      <p:sp>
        <p:nvSpPr>
          <p:cNvPr id="9" name="Text 7"/>
          <p:cNvSpPr/>
          <p:nvPr/>
        </p:nvSpPr>
        <p:spPr>
          <a:xfrm>
            <a:off x="777240" y="2194560"/>
            <a:ext cx="3931920" cy="22860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Éditeur</a:t>
            </a:r>
            <a:endParaRPr lang="en-US" sz="1000" dirty="0"/>
          </a:p>
        </p:txBody>
      </p:sp>
      <p:sp>
        <p:nvSpPr>
          <p:cNvPr id="10" name="Text 8"/>
          <p:cNvSpPr/>
          <p:nvPr/>
        </p:nvSpPr>
        <p:spPr>
          <a:xfrm>
            <a:off x="777240" y="2404872"/>
            <a:ext cx="393192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Databricks</a:t>
            </a:r>
            <a:endParaRPr lang="en-US" sz="1200" dirty="0"/>
          </a:p>
        </p:txBody>
      </p:sp>
      <p:sp>
        <p:nvSpPr>
          <p:cNvPr id="11" name="Text 9"/>
          <p:cNvSpPr/>
          <p:nvPr/>
        </p:nvSpPr>
        <p:spPr>
          <a:xfrm>
            <a:off x="777240" y="2971800"/>
            <a:ext cx="3931920" cy="22860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Famille</a:t>
            </a:r>
            <a:endParaRPr lang="en-US" sz="1000" dirty="0"/>
          </a:p>
        </p:txBody>
      </p:sp>
      <p:sp>
        <p:nvSpPr>
          <p:cNvPr id="12" name="Text 10"/>
          <p:cNvSpPr/>
          <p:nvPr/>
        </p:nvSpPr>
        <p:spPr>
          <a:xfrm>
            <a:off x="777240" y="3182112"/>
            <a:ext cx="393192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Data + AI Lakehouse</a:t>
            </a:r>
            <a:endParaRPr lang="en-US" sz="1200" dirty="0"/>
          </a:p>
        </p:txBody>
      </p:sp>
      <p:sp>
        <p:nvSpPr>
          <p:cNvPr id="13" name="Text 11"/>
          <p:cNvSpPr/>
          <p:nvPr/>
        </p:nvSpPr>
        <p:spPr>
          <a:xfrm>
            <a:off x="777240" y="3749040"/>
            <a:ext cx="3931920" cy="22860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Maturité</a:t>
            </a:r>
            <a:endParaRPr lang="en-US" sz="1000" dirty="0"/>
          </a:p>
        </p:txBody>
      </p:sp>
      <p:sp>
        <p:nvSpPr>
          <p:cNvPr id="14" name="Text 12"/>
          <p:cNvSpPr/>
          <p:nvPr/>
        </p:nvSpPr>
        <p:spPr>
          <a:xfrm>
            <a:off x="777240" y="3959352"/>
            <a:ext cx="393192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GA 2024  adoption forte dans les entreprises "data mature"</a:t>
            </a:r>
            <a:endParaRPr lang="en-US" sz="1200" dirty="0"/>
          </a:p>
        </p:txBody>
      </p:sp>
      <p:sp>
        <p:nvSpPr>
          <p:cNvPr id="15" name="Text 13"/>
          <p:cNvSpPr/>
          <p:nvPr/>
        </p:nvSpPr>
        <p:spPr>
          <a:xfrm>
            <a:off x="777240" y="4526280"/>
            <a:ext cx="3931920" cy="22860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Pricing</a:t>
            </a:r>
            <a:endParaRPr lang="en-US" sz="1000" dirty="0"/>
          </a:p>
        </p:txBody>
      </p:sp>
      <p:sp>
        <p:nvSpPr>
          <p:cNvPr id="16" name="Text 14"/>
          <p:cNvSpPr/>
          <p:nvPr/>
        </p:nvSpPr>
        <p:spPr>
          <a:xfrm>
            <a:off x="777240" y="4736592"/>
            <a:ext cx="393192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DBUs (Databricks Units) + storage</a:t>
            </a:r>
            <a:endParaRPr lang="en-US" sz="1200" dirty="0"/>
          </a:p>
        </p:txBody>
      </p:sp>
      <p:sp>
        <p:nvSpPr>
          <p:cNvPr id="17" name="Text 15"/>
          <p:cNvSpPr/>
          <p:nvPr/>
        </p:nvSpPr>
        <p:spPr>
          <a:xfrm>
            <a:off x="777240" y="5303520"/>
            <a:ext cx="3931920" cy="22860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Force clé</a:t>
            </a:r>
            <a:endParaRPr lang="en-US" sz="1000" dirty="0"/>
          </a:p>
        </p:txBody>
      </p:sp>
      <p:sp>
        <p:nvSpPr>
          <p:cNvPr id="18" name="Text 16"/>
          <p:cNvSpPr/>
          <p:nvPr/>
        </p:nvSpPr>
        <p:spPr>
          <a:xfrm>
            <a:off x="777240" y="5513832"/>
            <a:ext cx="393192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Exécution de modèles ML et notebooks dans la DCR, pas seulement du SQL.</a:t>
            </a:r>
            <a:endParaRPr lang="en-US" sz="1200" dirty="0"/>
          </a:p>
        </p:txBody>
      </p:sp>
      <p:sp>
        <p:nvSpPr>
          <p:cNvPr id="19" name="Shape 17"/>
          <p:cNvSpPr/>
          <p:nvPr/>
        </p:nvSpPr>
        <p:spPr>
          <a:xfrm>
            <a:off x="5212080" y="1600200"/>
            <a:ext cx="6446520" cy="2331720"/>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20" name="Shape 18"/>
          <p:cNvSpPr/>
          <p:nvPr/>
        </p:nvSpPr>
        <p:spPr>
          <a:xfrm>
            <a:off x="5212080" y="1600200"/>
            <a:ext cx="91440" cy="2331720"/>
          </a:xfrm>
          <a:prstGeom prst="rect">
            <a:avLst/>
          </a:prstGeom>
          <a:solidFill>
            <a:srgbClr val="1C7293"/>
          </a:solidFill>
          <a:ln w="12700">
            <a:solidFill>
              <a:srgbClr val="1C7293"/>
            </a:solidFill>
            <a:prstDash val="solid"/>
          </a:ln>
        </p:spPr>
      </p:sp>
      <p:sp>
        <p:nvSpPr>
          <p:cNvPr id="21" name="Text 19"/>
          <p:cNvSpPr/>
          <p:nvPr/>
        </p:nvSpPr>
        <p:spPr>
          <a:xfrm>
            <a:off x="5440680" y="1737360"/>
            <a:ext cx="6080760" cy="274320"/>
          </a:xfrm>
          <a:prstGeom prst="rect">
            <a:avLst/>
          </a:prstGeom>
          <a:noFill/>
          <a:ln/>
        </p:spPr>
        <p:txBody>
          <a:bodyPr wrap="square" lIns="0" tIns="0" rIns="0" bIns="0" rtlCol="0" anchor="ctr"/>
          <a:lstStyle/>
          <a:p>
            <a:pPr marL="0" indent="0">
              <a:buNone/>
            </a:pPr>
            <a:r>
              <a:rPr lang="en-US" sz="1100" b="1" kern="0" spc="150" dirty="0">
                <a:solidFill>
                  <a:srgbClr val="F96167"/>
                </a:solidFill>
                <a:latin typeface="Calibri" pitchFamily="34" charset="0"/>
                <a:ea typeface="Calibri" pitchFamily="34" charset="-122"/>
                <a:cs typeface="Calibri" pitchFamily="34" charset="-120"/>
              </a:rPr>
              <a:t>CE QUE ÇA FAIT BIEN</a:t>
            </a:r>
            <a:endParaRPr lang="en-US" sz="1100" dirty="0"/>
          </a:p>
        </p:txBody>
      </p:sp>
      <p:sp>
        <p:nvSpPr>
          <p:cNvPr id="22" name="Text 20"/>
          <p:cNvSpPr/>
          <p:nvPr/>
        </p:nvSpPr>
        <p:spPr>
          <a:xfrm>
            <a:off x="5486400" y="2057400"/>
            <a:ext cx="5989320" cy="178308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Delta Sharing : protocole ouvert multi-cloud</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Collaboration sur code Python, SQL, Spark, R</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Federated learning / modèles partagés</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Unity Catalog pour la gouvernance</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Idéal pour les équipes data science</a:t>
            </a:r>
            <a:endParaRPr lang="en-US" sz="1200" dirty="0"/>
          </a:p>
        </p:txBody>
      </p:sp>
      <p:sp>
        <p:nvSpPr>
          <p:cNvPr id="23" name="Shape 21"/>
          <p:cNvSpPr/>
          <p:nvPr/>
        </p:nvSpPr>
        <p:spPr>
          <a:xfrm>
            <a:off x="5212080" y="4069080"/>
            <a:ext cx="6446520" cy="2286000"/>
          </a:xfrm>
          <a:prstGeom prst="rect">
            <a:avLst/>
          </a:prstGeom>
          <a:solidFill>
            <a:srgbClr val="0B1F3A"/>
          </a:solidFill>
          <a:ln w="12700">
            <a:solidFill>
              <a:srgbClr val="0B1F3A"/>
            </a:solidFill>
            <a:prstDash val="solid"/>
          </a:ln>
          <a:effectLst>
            <a:outerShdw blurRad="76200" dist="25400" dir="8100000" algn="bl" rotWithShape="0">
              <a:srgbClr val="000000">
                <a:alpha val="12000"/>
              </a:srgbClr>
            </a:outerShdw>
          </a:effectLst>
        </p:spPr>
      </p:sp>
      <p:sp>
        <p:nvSpPr>
          <p:cNvPr id="24" name="Shape 22"/>
          <p:cNvSpPr/>
          <p:nvPr/>
        </p:nvSpPr>
        <p:spPr>
          <a:xfrm>
            <a:off x="5212080" y="4069080"/>
            <a:ext cx="91440" cy="2286000"/>
          </a:xfrm>
          <a:prstGeom prst="rect">
            <a:avLst/>
          </a:prstGeom>
          <a:solidFill>
            <a:srgbClr val="F96167"/>
          </a:solidFill>
          <a:ln w="12700">
            <a:solidFill>
              <a:srgbClr val="F96167"/>
            </a:solidFill>
            <a:prstDash val="solid"/>
          </a:ln>
        </p:spPr>
      </p:sp>
      <p:sp>
        <p:nvSpPr>
          <p:cNvPr id="25" name="Text 23"/>
          <p:cNvSpPr/>
          <p:nvPr/>
        </p:nvSpPr>
        <p:spPr>
          <a:xfrm>
            <a:off x="5486400" y="4251960"/>
            <a:ext cx="5989320" cy="274320"/>
          </a:xfrm>
          <a:prstGeom prst="rect">
            <a:avLst/>
          </a:prstGeom>
          <a:noFill/>
          <a:ln/>
        </p:spPr>
        <p:txBody>
          <a:bodyPr wrap="square" lIns="0" tIns="0" rIns="0" bIns="0" rtlCol="0" anchor="ctr"/>
          <a:lstStyle/>
          <a:p>
            <a:pPr marL="0" indent="0">
              <a:buNone/>
            </a:pPr>
            <a:r>
              <a:rPr lang="en-US" sz="1100" b="1" kern="0" spc="150" dirty="0">
                <a:solidFill>
                  <a:srgbClr val="F9B233"/>
                </a:solidFill>
                <a:latin typeface="Calibri" pitchFamily="34" charset="0"/>
                <a:ea typeface="Calibri" pitchFamily="34" charset="-122"/>
                <a:cs typeface="Calibri" pitchFamily="34" charset="-120"/>
              </a:rPr>
              <a:t>CAS MARKETING CONCRET</a:t>
            </a:r>
            <a:endParaRPr lang="en-US" sz="1100" dirty="0"/>
          </a:p>
        </p:txBody>
      </p:sp>
      <p:sp>
        <p:nvSpPr>
          <p:cNvPr id="26" name="Text 24"/>
          <p:cNvSpPr/>
          <p:nvPr/>
        </p:nvSpPr>
        <p:spPr>
          <a:xfrm>
            <a:off x="5486400" y="4572000"/>
            <a:ext cx="5989320" cy="141732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Cas : ING Bank et un retailer collaborent dans une DCR Databricks pour détecter des patterns de fraude cross-entité. Un modèle de scoring est entraîné sur les deux jeux de données sans que l'un voie les transactions de l'autre. Le modèle sort « sans exposer la donnée », chaque partie l'utilise dans son propre système.</a:t>
            </a:r>
            <a:endParaRPr lang="en-US" sz="1200" dirty="0"/>
          </a:p>
        </p:txBody>
      </p:sp>
      <p:sp>
        <p:nvSpPr>
          <p:cNvPr id="27" name="Text 25"/>
          <p:cNvSpPr/>
          <p:nvPr/>
        </p:nvSpPr>
        <p:spPr>
          <a:xfrm>
            <a:off x="5486400" y="5943600"/>
            <a:ext cx="5989320" cy="320040"/>
          </a:xfrm>
          <a:prstGeom prst="rect">
            <a:avLst/>
          </a:prstGeom>
          <a:noFill/>
          <a:ln/>
        </p:spPr>
        <p:txBody>
          <a:bodyPr wrap="square" lIns="0" tIns="0" rIns="0" bIns="0" rtlCol="0" anchor="ctr"/>
          <a:lstStyle/>
          <a:p>
            <a:pPr marL="0" indent="0">
              <a:buNone/>
            </a:pPr>
            <a:r>
              <a:rPr lang="en-US" sz="1300" b="1" dirty="0">
                <a:solidFill>
                  <a:srgbClr val="F96167"/>
                </a:solidFill>
                <a:latin typeface="Calibri" pitchFamily="34" charset="0"/>
                <a:ea typeface="Calibri" pitchFamily="34" charset="-122"/>
                <a:cs typeface="Calibri" pitchFamily="34" charset="-120"/>
              </a:rPr>
              <a:t>−42 % de faux positifs anti-fraude vs modèles isolés.</a:t>
            </a:r>
            <a:endParaRPr lang="en-US" sz="1300" dirty="0"/>
          </a:p>
        </p:txBody>
      </p:sp>
      <p:sp>
        <p:nvSpPr>
          <p:cNvPr id="28" name="Shape 26"/>
          <p:cNvSpPr/>
          <p:nvPr/>
        </p:nvSpPr>
        <p:spPr>
          <a:xfrm>
            <a:off x="0" y="6583680"/>
            <a:ext cx="12191695" cy="274320"/>
          </a:xfrm>
          <a:prstGeom prst="rect">
            <a:avLst/>
          </a:prstGeom>
          <a:solidFill>
            <a:srgbClr val="0B1F3A"/>
          </a:solidFill>
          <a:ln w="12700">
            <a:solidFill>
              <a:srgbClr val="0B1F3A"/>
            </a:solidFill>
            <a:prstDash val="solid"/>
          </a:ln>
        </p:spPr>
      </p:sp>
      <p:sp>
        <p:nvSpPr>
          <p:cNvPr id="29" name="Text 27"/>
          <p:cNvSpPr/>
          <p:nvPr/>
        </p:nvSpPr>
        <p:spPr>
          <a:xfrm>
            <a:off x="365760" y="6601968"/>
            <a:ext cx="822960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Session 2  Providers Cloud &amp; Data</a:t>
            </a:r>
            <a:endParaRPr lang="en-US" sz="1000" dirty="0"/>
          </a:p>
        </p:txBody>
      </p:sp>
      <p:sp>
        <p:nvSpPr>
          <p:cNvPr id="30" name="Text 28"/>
          <p:cNvSpPr/>
          <p:nvPr/>
        </p:nvSpPr>
        <p:spPr>
          <a:xfrm>
            <a:off x="11551615" y="6601968"/>
            <a:ext cx="365760" cy="237744"/>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22">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B1F3A"/>
          </a:solidFill>
          <a:ln w="12700">
            <a:solidFill>
              <a:srgbClr val="0B1F3A"/>
            </a:solidFill>
            <a:prstDash val="solid"/>
          </a:ln>
        </p:spPr>
      </p:sp>
      <p:sp>
        <p:nvSpPr>
          <p:cNvPr id="3" name="Text 1"/>
          <p:cNvSpPr/>
          <p:nvPr/>
        </p:nvSpPr>
        <p:spPr>
          <a:xfrm>
            <a:off x="548640" y="182880"/>
            <a:ext cx="2743200" cy="274320"/>
          </a:xfrm>
          <a:prstGeom prst="rect">
            <a:avLst/>
          </a:prstGeom>
          <a:noFill/>
          <a:ln/>
        </p:spPr>
        <p:txBody>
          <a:bodyPr wrap="square" lIns="0" tIns="0" rIns="0" bIns="0" rtlCol="0" anchor="ctr"/>
          <a:lstStyle/>
          <a:p>
            <a:pPr marL="0" indent="0">
              <a:buNone/>
            </a:pPr>
            <a:r>
              <a:rPr lang="en-US" sz="1100" b="1" kern="0" spc="200" dirty="0">
                <a:solidFill>
                  <a:srgbClr val="F96167"/>
                </a:solidFill>
                <a:latin typeface="Calibri" pitchFamily="34" charset="0"/>
                <a:ea typeface="Calibri" pitchFamily="34" charset="-122"/>
                <a:cs typeface="Calibri" pitchFamily="34" charset="-120"/>
              </a:rPr>
              <a:t>PROVIDER 6/12</a:t>
            </a:r>
            <a:endParaRPr lang="en-US" sz="1100" dirty="0"/>
          </a:p>
        </p:txBody>
      </p:sp>
      <p:sp>
        <p:nvSpPr>
          <p:cNvPr id="4" name="Text 2"/>
          <p:cNvSpPr/>
          <p:nvPr/>
        </p:nvSpPr>
        <p:spPr>
          <a:xfrm>
            <a:off x="548640" y="411480"/>
            <a:ext cx="10972800" cy="5029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Samooha (acquis par Snowflake)</a:t>
            </a:r>
            <a:endParaRPr lang="en-US" sz="2800" dirty="0"/>
          </a:p>
        </p:txBody>
      </p:sp>
      <p:sp>
        <p:nvSpPr>
          <p:cNvPr id="5" name="Text 3"/>
          <p:cNvSpPr/>
          <p:nvPr/>
        </p:nvSpPr>
        <p:spPr>
          <a:xfrm>
            <a:off x="548640" y="1051560"/>
            <a:ext cx="10972800" cy="320040"/>
          </a:xfrm>
          <a:prstGeom prst="rect">
            <a:avLst/>
          </a:prstGeom>
          <a:noFill/>
          <a:ln/>
        </p:spPr>
        <p:txBody>
          <a:bodyPr wrap="square" lIns="0" tIns="0" rIns="0" bIns="0" rtlCol="0" anchor="ctr"/>
          <a:lstStyle/>
          <a:p>
            <a:pPr marL="0" indent="0">
              <a:buNone/>
            </a:pPr>
            <a:r>
              <a:rPr lang="en-US" sz="1400" i="1" dirty="0">
                <a:solidFill>
                  <a:srgbClr val="1C7293"/>
                </a:solidFill>
                <a:latin typeface="Calibri" pitchFamily="34" charset="0"/>
                <a:ea typeface="Calibri" pitchFamily="34" charset="-122"/>
                <a:cs typeface="Calibri" pitchFamily="34" charset="-120"/>
              </a:rPr>
              <a:t>La couche no-code qui rend Snowflake DCR utilisable par des marketeurs.</a:t>
            </a:r>
            <a:endParaRPr lang="en-US" sz="1400" dirty="0"/>
          </a:p>
        </p:txBody>
      </p:sp>
      <p:sp>
        <p:nvSpPr>
          <p:cNvPr id="6" name="Shape 4"/>
          <p:cNvSpPr/>
          <p:nvPr/>
        </p:nvSpPr>
        <p:spPr>
          <a:xfrm>
            <a:off x="548640" y="1600200"/>
            <a:ext cx="4389120" cy="4754880"/>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7" name="Shape 5"/>
          <p:cNvSpPr/>
          <p:nvPr/>
        </p:nvSpPr>
        <p:spPr>
          <a:xfrm>
            <a:off x="548640" y="1600200"/>
            <a:ext cx="91440" cy="4754880"/>
          </a:xfrm>
          <a:prstGeom prst="rect">
            <a:avLst/>
          </a:prstGeom>
          <a:solidFill>
            <a:srgbClr val="065A82"/>
          </a:solidFill>
          <a:ln w="12700">
            <a:solidFill>
              <a:srgbClr val="065A82"/>
            </a:solidFill>
            <a:prstDash val="solid"/>
          </a:ln>
        </p:spPr>
      </p:sp>
      <p:sp>
        <p:nvSpPr>
          <p:cNvPr id="8" name="Text 6"/>
          <p:cNvSpPr/>
          <p:nvPr/>
        </p:nvSpPr>
        <p:spPr>
          <a:xfrm>
            <a:off x="777240" y="1783080"/>
            <a:ext cx="4023360" cy="320040"/>
          </a:xfrm>
          <a:prstGeom prst="rect">
            <a:avLst/>
          </a:prstGeom>
          <a:noFill/>
          <a:ln/>
        </p:spPr>
        <p:txBody>
          <a:bodyPr wrap="square" lIns="0" tIns="0" rIns="0" bIns="0" rtlCol="0" anchor="ctr"/>
          <a:lstStyle/>
          <a:p>
            <a:pPr marL="0" indent="0">
              <a:buNone/>
            </a:pPr>
            <a:r>
              <a:rPr lang="en-US" sz="1100" b="1" kern="0" spc="150" dirty="0">
                <a:solidFill>
                  <a:srgbClr val="F96167"/>
                </a:solidFill>
                <a:latin typeface="Calibri" pitchFamily="34" charset="0"/>
                <a:ea typeface="Calibri" pitchFamily="34" charset="-122"/>
                <a:cs typeface="Calibri" pitchFamily="34" charset="-120"/>
              </a:rPr>
              <a:t>CARTE D'IDENTITÉ</a:t>
            </a:r>
            <a:endParaRPr lang="en-US" sz="1100" dirty="0"/>
          </a:p>
        </p:txBody>
      </p:sp>
      <p:sp>
        <p:nvSpPr>
          <p:cNvPr id="9" name="Text 7"/>
          <p:cNvSpPr/>
          <p:nvPr/>
        </p:nvSpPr>
        <p:spPr>
          <a:xfrm>
            <a:off x="777240" y="2194560"/>
            <a:ext cx="3931920" cy="22860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Éditeur</a:t>
            </a:r>
            <a:endParaRPr lang="en-US" sz="1000" dirty="0"/>
          </a:p>
        </p:txBody>
      </p:sp>
      <p:sp>
        <p:nvSpPr>
          <p:cNvPr id="10" name="Text 8"/>
          <p:cNvSpPr/>
          <p:nvPr/>
        </p:nvSpPr>
        <p:spPr>
          <a:xfrm>
            <a:off x="777240" y="2404872"/>
            <a:ext cx="393192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Snowflake (ex-startup)</a:t>
            </a:r>
            <a:endParaRPr lang="en-US" sz="1200" dirty="0"/>
          </a:p>
        </p:txBody>
      </p:sp>
      <p:sp>
        <p:nvSpPr>
          <p:cNvPr id="11" name="Text 9"/>
          <p:cNvSpPr/>
          <p:nvPr/>
        </p:nvSpPr>
        <p:spPr>
          <a:xfrm>
            <a:off x="777240" y="2971800"/>
            <a:ext cx="3931920" cy="22860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Famille</a:t>
            </a:r>
            <a:endParaRPr lang="en-US" sz="1000" dirty="0"/>
          </a:p>
        </p:txBody>
      </p:sp>
      <p:sp>
        <p:nvSpPr>
          <p:cNvPr id="12" name="Text 10"/>
          <p:cNvSpPr/>
          <p:nvPr/>
        </p:nvSpPr>
        <p:spPr>
          <a:xfrm>
            <a:off x="777240" y="3182112"/>
            <a:ext cx="393192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DCR no-code layer</a:t>
            </a:r>
            <a:endParaRPr lang="en-US" sz="1200" dirty="0"/>
          </a:p>
        </p:txBody>
      </p:sp>
      <p:sp>
        <p:nvSpPr>
          <p:cNvPr id="13" name="Text 11"/>
          <p:cNvSpPr/>
          <p:nvPr/>
        </p:nvSpPr>
        <p:spPr>
          <a:xfrm>
            <a:off x="777240" y="3749040"/>
            <a:ext cx="3931920" cy="22860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Maturité</a:t>
            </a:r>
            <a:endParaRPr lang="en-US" sz="1000" dirty="0"/>
          </a:p>
        </p:txBody>
      </p:sp>
      <p:sp>
        <p:nvSpPr>
          <p:cNvPr id="14" name="Text 12"/>
          <p:cNvSpPr/>
          <p:nvPr/>
        </p:nvSpPr>
        <p:spPr>
          <a:xfrm>
            <a:off x="777240" y="3959352"/>
            <a:ext cx="393192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Acquis par Snowflake en 2023</a:t>
            </a:r>
            <a:endParaRPr lang="en-US" sz="1200" dirty="0"/>
          </a:p>
        </p:txBody>
      </p:sp>
      <p:sp>
        <p:nvSpPr>
          <p:cNvPr id="15" name="Text 13"/>
          <p:cNvSpPr/>
          <p:nvPr/>
        </p:nvSpPr>
        <p:spPr>
          <a:xfrm>
            <a:off x="777240" y="4526280"/>
            <a:ext cx="3931920" cy="22860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Pricing</a:t>
            </a:r>
            <a:endParaRPr lang="en-US" sz="1000" dirty="0"/>
          </a:p>
        </p:txBody>
      </p:sp>
      <p:sp>
        <p:nvSpPr>
          <p:cNvPr id="16" name="Text 14"/>
          <p:cNvSpPr/>
          <p:nvPr/>
        </p:nvSpPr>
        <p:spPr>
          <a:xfrm>
            <a:off x="777240" y="4736592"/>
            <a:ext cx="393192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Inclus dans Snowflake Native Apps</a:t>
            </a:r>
            <a:endParaRPr lang="en-US" sz="1200" dirty="0"/>
          </a:p>
        </p:txBody>
      </p:sp>
      <p:sp>
        <p:nvSpPr>
          <p:cNvPr id="17" name="Text 15"/>
          <p:cNvSpPr/>
          <p:nvPr/>
        </p:nvSpPr>
        <p:spPr>
          <a:xfrm>
            <a:off x="777240" y="5303520"/>
            <a:ext cx="3931920" cy="22860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Force clé</a:t>
            </a:r>
            <a:endParaRPr lang="en-US" sz="1000" dirty="0"/>
          </a:p>
        </p:txBody>
      </p:sp>
      <p:sp>
        <p:nvSpPr>
          <p:cNvPr id="18" name="Text 16"/>
          <p:cNvSpPr/>
          <p:nvPr/>
        </p:nvSpPr>
        <p:spPr>
          <a:xfrm>
            <a:off x="777240" y="5513832"/>
            <a:ext cx="393192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UI visuelle "drag-and-drop" pour construire des collaborations sans écrire de SQL.</a:t>
            </a:r>
            <a:endParaRPr lang="en-US" sz="1200" dirty="0"/>
          </a:p>
        </p:txBody>
      </p:sp>
      <p:sp>
        <p:nvSpPr>
          <p:cNvPr id="19" name="Shape 17"/>
          <p:cNvSpPr/>
          <p:nvPr/>
        </p:nvSpPr>
        <p:spPr>
          <a:xfrm>
            <a:off x="5212080" y="1600200"/>
            <a:ext cx="6446520" cy="2331720"/>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20" name="Shape 18"/>
          <p:cNvSpPr/>
          <p:nvPr/>
        </p:nvSpPr>
        <p:spPr>
          <a:xfrm>
            <a:off x="5212080" y="1600200"/>
            <a:ext cx="91440" cy="2331720"/>
          </a:xfrm>
          <a:prstGeom prst="rect">
            <a:avLst/>
          </a:prstGeom>
          <a:solidFill>
            <a:srgbClr val="1C7293"/>
          </a:solidFill>
          <a:ln w="12700">
            <a:solidFill>
              <a:srgbClr val="1C7293"/>
            </a:solidFill>
            <a:prstDash val="solid"/>
          </a:ln>
        </p:spPr>
      </p:sp>
      <p:sp>
        <p:nvSpPr>
          <p:cNvPr id="21" name="Text 19"/>
          <p:cNvSpPr/>
          <p:nvPr/>
        </p:nvSpPr>
        <p:spPr>
          <a:xfrm>
            <a:off x="5440680" y="1737360"/>
            <a:ext cx="6080760" cy="274320"/>
          </a:xfrm>
          <a:prstGeom prst="rect">
            <a:avLst/>
          </a:prstGeom>
          <a:noFill/>
          <a:ln/>
        </p:spPr>
        <p:txBody>
          <a:bodyPr wrap="square" lIns="0" tIns="0" rIns="0" bIns="0" rtlCol="0" anchor="ctr"/>
          <a:lstStyle/>
          <a:p>
            <a:pPr marL="0" indent="0">
              <a:buNone/>
            </a:pPr>
            <a:r>
              <a:rPr lang="en-US" sz="1100" b="1" kern="0" spc="150" dirty="0">
                <a:solidFill>
                  <a:srgbClr val="F96167"/>
                </a:solidFill>
                <a:latin typeface="Calibri" pitchFamily="34" charset="0"/>
                <a:ea typeface="Calibri" pitchFamily="34" charset="-122"/>
                <a:cs typeface="Calibri" pitchFamily="34" charset="-120"/>
              </a:rPr>
              <a:t>CE QUE ÇA FAIT BIEN</a:t>
            </a:r>
            <a:endParaRPr lang="en-US" sz="1100" dirty="0"/>
          </a:p>
        </p:txBody>
      </p:sp>
      <p:sp>
        <p:nvSpPr>
          <p:cNvPr id="22" name="Text 20"/>
          <p:cNvSpPr/>
          <p:nvPr/>
        </p:nvSpPr>
        <p:spPr>
          <a:xfrm>
            <a:off x="5486400" y="2057400"/>
            <a:ext cx="5989320" cy="178308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Interface no-code pour monter une DCR en quelques heures</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Templates prêts à l'emploi (overlap, attribution, lookalike)</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Gouvernance et audit trail intégrés</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Collaboration inter-entreprise sans DSI</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Spécialement pensé pour les équipes marketing</a:t>
            </a:r>
            <a:endParaRPr lang="en-US" sz="1200" dirty="0"/>
          </a:p>
        </p:txBody>
      </p:sp>
      <p:sp>
        <p:nvSpPr>
          <p:cNvPr id="23" name="Shape 21"/>
          <p:cNvSpPr/>
          <p:nvPr/>
        </p:nvSpPr>
        <p:spPr>
          <a:xfrm>
            <a:off x="5212080" y="4069080"/>
            <a:ext cx="6446520" cy="2286000"/>
          </a:xfrm>
          <a:prstGeom prst="rect">
            <a:avLst/>
          </a:prstGeom>
          <a:solidFill>
            <a:srgbClr val="0B1F3A"/>
          </a:solidFill>
          <a:ln w="12700">
            <a:solidFill>
              <a:srgbClr val="0B1F3A"/>
            </a:solidFill>
            <a:prstDash val="solid"/>
          </a:ln>
          <a:effectLst>
            <a:outerShdw blurRad="76200" dist="25400" dir="8100000" algn="bl" rotWithShape="0">
              <a:srgbClr val="000000">
                <a:alpha val="12000"/>
              </a:srgbClr>
            </a:outerShdw>
          </a:effectLst>
        </p:spPr>
      </p:sp>
      <p:sp>
        <p:nvSpPr>
          <p:cNvPr id="24" name="Shape 22"/>
          <p:cNvSpPr/>
          <p:nvPr/>
        </p:nvSpPr>
        <p:spPr>
          <a:xfrm>
            <a:off x="5212080" y="4069080"/>
            <a:ext cx="91440" cy="2286000"/>
          </a:xfrm>
          <a:prstGeom prst="rect">
            <a:avLst/>
          </a:prstGeom>
          <a:solidFill>
            <a:srgbClr val="F96167"/>
          </a:solidFill>
          <a:ln w="12700">
            <a:solidFill>
              <a:srgbClr val="F96167"/>
            </a:solidFill>
            <a:prstDash val="solid"/>
          </a:ln>
        </p:spPr>
      </p:sp>
      <p:sp>
        <p:nvSpPr>
          <p:cNvPr id="25" name="Text 23"/>
          <p:cNvSpPr/>
          <p:nvPr/>
        </p:nvSpPr>
        <p:spPr>
          <a:xfrm>
            <a:off x="5486400" y="4251960"/>
            <a:ext cx="5989320" cy="274320"/>
          </a:xfrm>
          <a:prstGeom prst="rect">
            <a:avLst/>
          </a:prstGeom>
          <a:noFill/>
          <a:ln/>
        </p:spPr>
        <p:txBody>
          <a:bodyPr wrap="square" lIns="0" tIns="0" rIns="0" bIns="0" rtlCol="0" anchor="ctr"/>
          <a:lstStyle/>
          <a:p>
            <a:pPr marL="0" indent="0">
              <a:buNone/>
            </a:pPr>
            <a:r>
              <a:rPr lang="en-US" sz="1100" b="1" kern="0" spc="150" dirty="0">
                <a:solidFill>
                  <a:srgbClr val="F9B233"/>
                </a:solidFill>
                <a:latin typeface="Calibri" pitchFamily="34" charset="0"/>
                <a:ea typeface="Calibri" pitchFamily="34" charset="-122"/>
                <a:cs typeface="Calibri" pitchFamily="34" charset="-120"/>
              </a:rPr>
              <a:t>CAS MARKETING CONCRET</a:t>
            </a:r>
            <a:endParaRPr lang="en-US" sz="1100" dirty="0"/>
          </a:p>
        </p:txBody>
      </p:sp>
      <p:sp>
        <p:nvSpPr>
          <p:cNvPr id="26" name="Text 24"/>
          <p:cNvSpPr/>
          <p:nvPr/>
        </p:nvSpPr>
        <p:spPr>
          <a:xfrm>
            <a:off x="5486400" y="4572000"/>
            <a:ext cx="5989320" cy="141732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Cas : Une petite marque DTC beauté veut mesurer l'overlap entre ses 120k clients et la base d'un retailer partenaire. Sans équipe data dédiée, elle utilise Samooha : 2 jours pour monter la DCR, 1 requête glissée-déposée, réponse livrée. 18 % d'overlap identifiés, activation en campagne sponsorisée sur le site du retailer.</a:t>
            </a:r>
            <a:endParaRPr lang="en-US" sz="1200" dirty="0"/>
          </a:p>
        </p:txBody>
      </p:sp>
      <p:sp>
        <p:nvSpPr>
          <p:cNvPr id="27" name="Text 25"/>
          <p:cNvSpPr/>
          <p:nvPr/>
        </p:nvSpPr>
        <p:spPr>
          <a:xfrm>
            <a:off x="5486400" y="5943600"/>
            <a:ext cx="5989320" cy="320040"/>
          </a:xfrm>
          <a:prstGeom prst="rect">
            <a:avLst/>
          </a:prstGeom>
          <a:noFill/>
          <a:ln/>
        </p:spPr>
        <p:txBody>
          <a:bodyPr wrap="square" lIns="0" tIns="0" rIns="0" bIns="0" rtlCol="0" anchor="ctr"/>
          <a:lstStyle/>
          <a:p>
            <a:pPr marL="0" indent="0">
              <a:buNone/>
            </a:pPr>
            <a:r>
              <a:rPr lang="en-US" sz="1300" b="1" dirty="0">
                <a:solidFill>
                  <a:srgbClr val="F96167"/>
                </a:solidFill>
                <a:latin typeface="Calibri" pitchFamily="34" charset="0"/>
                <a:ea typeface="Calibri" pitchFamily="34" charset="-122"/>
                <a:cs typeface="Calibri" pitchFamily="34" charset="-120"/>
              </a:rPr>
              <a:t>ROAS de 5,4 sur la campagne co-</a:t>
            </a:r>
            <a:r>
              <a:rPr lang="en-US" sz="1300" b="1" dirty="0" err="1">
                <a:solidFill>
                  <a:srgbClr val="F96167"/>
                </a:solidFill>
                <a:latin typeface="Calibri" pitchFamily="34" charset="0"/>
                <a:ea typeface="Calibri" pitchFamily="34" charset="-122"/>
                <a:cs typeface="Calibri" pitchFamily="34" charset="-120"/>
              </a:rPr>
              <a:t>brandée</a:t>
            </a:r>
            <a:r>
              <a:rPr lang="en-US" sz="1300" b="1" dirty="0">
                <a:solidFill>
                  <a:srgbClr val="F96167"/>
                </a:solidFill>
                <a:latin typeface="Calibri" pitchFamily="34" charset="0"/>
                <a:ea typeface="Calibri" pitchFamily="34" charset="-122"/>
                <a:cs typeface="Calibri" pitchFamily="34" charset="-120"/>
              </a:rPr>
              <a:t>  POC lancé sans DSI.</a:t>
            </a:r>
            <a:endParaRPr lang="en-US" sz="1300" dirty="0"/>
          </a:p>
        </p:txBody>
      </p:sp>
      <p:sp>
        <p:nvSpPr>
          <p:cNvPr id="28" name="Shape 26"/>
          <p:cNvSpPr/>
          <p:nvPr/>
        </p:nvSpPr>
        <p:spPr>
          <a:xfrm>
            <a:off x="0" y="6583680"/>
            <a:ext cx="12191695" cy="274320"/>
          </a:xfrm>
          <a:prstGeom prst="rect">
            <a:avLst/>
          </a:prstGeom>
          <a:solidFill>
            <a:srgbClr val="0B1F3A"/>
          </a:solidFill>
          <a:ln w="12700">
            <a:solidFill>
              <a:srgbClr val="0B1F3A"/>
            </a:solidFill>
            <a:prstDash val="solid"/>
          </a:ln>
        </p:spPr>
      </p:sp>
      <p:sp>
        <p:nvSpPr>
          <p:cNvPr id="29" name="Text 27"/>
          <p:cNvSpPr/>
          <p:nvPr/>
        </p:nvSpPr>
        <p:spPr>
          <a:xfrm>
            <a:off x="365760" y="6601968"/>
            <a:ext cx="822960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Session 2  Providers Cloud &amp; Data</a:t>
            </a:r>
            <a:endParaRPr lang="en-US" sz="1000" dirty="0"/>
          </a:p>
        </p:txBody>
      </p:sp>
      <p:sp>
        <p:nvSpPr>
          <p:cNvPr id="30" name="Text 28"/>
          <p:cNvSpPr/>
          <p:nvPr/>
        </p:nvSpPr>
        <p:spPr>
          <a:xfrm>
            <a:off x="11551615" y="6601968"/>
            <a:ext cx="365760" cy="237744"/>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23">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B1F3A"/>
          </a:solidFill>
          <a:ln w="12700">
            <a:solidFill>
              <a:srgbClr val="0B1F3A"/>
            </a:solidFill>
            <a:prstDash val="solid"/>
          </a:ln>
        </p:spPr>
      </p:sp>
      <p:sp>
        <p:nvSpPr>
          <p:cNvPr id="3" name="Text 1"/>
          <p:cNvSpPr/>
          <p:nvPr/>
        </p:nvSpPr>
        <p:spPr>
          <a:xfrm>
            <a:off x="548640" y="164592"/>
            <a:ext cx="6400800" cy="274320"/>
          </a:xfrm>
          <a:prstGeom prst="rect">
            <a:avLst/>
          </a:prstGeom>
          <a:noFill/>
          <a:ln/>
        </p:spPr>
        <p:txBody>
          <a:bodyPr wrap="square" lIns="0" tIns="0" rIns="0" bIns="0" rtlCol="0" anchor="ctr"/>
          <a:lstStyle/>
          <a:p>
            <a:pPr marL="0" indent="0">
              <a:buNone/>
            </a:pPr>
            <a:r>
              <a:rPr lang="en-US" sz="1100" b="1" kern="0" spc="200" dirty="0">
                <a:solidFill>
                  <a:srgbClr val="F96167"/>
                </a:solidFill>
                <a:latin typeface="Calibri" pitchFamily="34" charset="0"/>
                <a:ea typeface="Calibri" pitchFamily="34" charset="-122"/>
                <a:cs typeface="Calibri" pitchFamily="34" charset="-120"/>
              </a:rPr>
              <a:t>DEMO 1/4  ·  WALKTHROUGH SNOWFLAKE</a:t>
            </a:r>
            <a:endParaRPr lang="en-US" sz="1100" dirty="0"/>
          </a:p>
        </p:txBody>
      </p:sp>
      <p:sp>
        <p:nvSpPr>
          <p:cNvPr id="4" name="Text 2"/>
          <p:cNvSpPr/>
          <p:nvPr/>
        </p:nvSpPr>
        <p:spPr>
          <a:xfrm>
            <a:off x="548640" y="384048"/>
            <a:ext cx="8229600" cy="45720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Snowflake Data Clean Room</a:t>
            </a:r>
            <a:endParaRPr lang="en-US" sz="2600" dirty="0"/>
          </a:p>
        </p:txBody>
      </p:sp>
      <p:sp>
        <p:nvSpPr>
          <p:cNvPr id="5" name="Text 3"/>
          <p:cNvSpPr/>
          <p:nvPr/>
        </p:nvSpPr>
        <p:spPr>
          <a:xfrm>
            <a:off x="548640" y="1051560"/>
            <a:ext cx="11064240" cy="320040"/>
          </a:xfrm>
          <a:prstGeom prst="rect">
            <a:avLst/>
          </a:prstGeom>
          <a:noFill/>
          <a:ln/>
        </p:spPr>
        <p:txBody>
          <a:bodyPr wrap="square" lIns="0" tIns="0" rIns="0" bIns="0" rtlCol="0" anchor="ctr"/>
          <a:lstStyle/>
          <a:p>
            <a:pPr marL="0" indent="0">
              <a:buNone/>
            </a:pPr>
            <a:r>
              <a:rPr lang="en-US" sz="1300" i="1" dirty="0">
                <a:solidFill>
                  <a:srgbClr val="1C7293"/>
                </a:solidFill>
                <a:latin typeface="Calibri" pitchFamily="34" charset="0"/>
                <a:ea typeface="Calibri" pitchFamily="34" charset="-122"/>
                <a:cs typeface="Calibri" pitchFamily="34" charset="-120"/>
              </a:rPr>
              <a:t>Créer une DCR native Snowflake, inviter un partenaire et lancer un overlap  sans copier les données.</a:t>
            </a:r>
            <a:endParaRPr lang="en-US" sz="1300" dirty="0"/>
          </a:p>
        </p:txBody>
      </p:sp>
      <p:sp>
        <p:nvSpPr>
          <p:cNvPr id="6" name="Text 4"/>
          <p:cNvSpPr/>
          <p:nvPr/>
        </p:nvSpPr>
        <p:spPr>
          <a:xfrm>
            <a:off x="548640" y="1554480"/>
            <a:ext cx="6035040" cy="274320"/>
          </a:xfrm>
          <a:prstGeom prst="rect">
            <a:avLst/>
          </a:prstGeom>
          <a:noFill/>
          <a:ln/>
        </p:spPr>
        <p:txBody>
          <a:bodyPr wrap="square" lIns="0" tIns="0" rIns="0" bIns="0" rtlCol="0" anchor="ctr"/>
          <a:lstStyle/>
          <a:p>
            <a:pPr marL="0" indent="0">
              <a:buNone/>
            </a:pPr>
            <a:r>
              <a:rPr lang="en-US" sz="1100" b="1" kern="0" spc="150" dirty="0">
                <a:solidFill>
                  <a:srgbClr val="065A82"/>
                </a:solidFill>
                <a:latin typeface="Calibri" pitchFamily="34" charset="0"/>
                <a:ea typeface="Calibri" pitchFamily="34" charset="-122"/>
                <a:cs typeface="Calibri" pitchFamily="34" charset="-120"/>
              </a:rPr>
              <a:t>WORKFLOW  5 ÉTAPES CLÉS</a:t>
            </a:r>
            <a:endParaRPr lang="en-US" sz="1100" dirty="0"/>
          </a:p>
        </p:txBody>
      </p:sp>
      <p:sp>
        <p:nvSpPr>
          <p:cNvPr id="7" name="Shape 5"/>
          <p:cNvSpPr/>
          <p:nvPr/>
        </p:nvSpPr>
        <p:spPr>
          <a:xfrm>
            <a:off x="548640" y="1965960"/>
            <a:ext cx="6035040" cy="804672"/>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8" name="Shape 6"/>
          <p:cNvSpPr/>
          <p:nvPr/>
        </p:nvSpPr>
        <p:spPr>
          <a:xfrm>
            <a:off x="685800" y="2148840"/>
            <a:ext cx="457200" cy="457200"/>
          </a:xfrm>
          <a:prstGeom prst="ellipse">
            <a:avLst/>
          </a:prstGeom>
          <a:solidFill>
            <a:srgbClr val="F96167"/>
          </a:solidFill>
          <a:ln w="12700">
            <a:solidFill>
              <a:srgbClr val="F96167"/>
            </a:solidFill>
            <a:prstDash val="solid"/>
          </a:ln>
        </p:spPr>
      </p:sp>
      <p:sp>
        <p:nvSpPr>
          <p:cNvPr id="9" name="Text 7"/>
          <p:cNvSpPr/>
          <p:nvPr/>
        </p:nvSpPr>
        <p:spPr>
          <a:xfrm>
            <a:off x="685800" y="21488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0" name="Text 8"/>
          <p:cNvSpPr/>
          <p:nvPr/>
        </p:nvSpPr>
        <p:spPr>
          <a:xfrm>
            <a:off x="1280160" y="2057400"/>
            <a:ext cx="5212080" cy="27432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Créer la clean room</a:t>
            </a:r>
            <a:endParaRPr lang="en-US" sz="1300" dirty="0"/>
          </a:p>
        </p:txBody>
      </p:sp>
      <p:sp>
        <p:nvSpPr>
          <p:cNvPr id="11" name="Text 9"/>
          <p:cNvSpPr/>
          <p:nvPr/>
        </p:nvSpPr>
        <p:spPr>
          <a:xfrm>
            <a:off x="1280160" y="2295144"/>
            <a:ext cx="5212080" cy="45720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Snowsight → Data → Clean Rooms → « + Create » → nommer « modeverte_retail_overlap ».</a:t>
            </a:r>
            <a:endParaRPr lang="en-US" sz="1100" dirty="0"/>
          </a:p>
        </p:txBody>
      </p:sp>
      <p:sp>
        <p:nvSpPr>
          <p:cNvPr id="12" name="Shape 10"/>
          <p:cNvSpPr/>
          <p:nvPr/>
        </p:nvSpPr>
        <p:spPr>
          <a:xfrm>
            <a:off x="548640" y="2862072"/>
            <a:ext cx="6035040" cy="804672"/>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13" name="Shape 11"/>
          <p:cNvSpPr/>
          <p:nvPr/>
        </p:nvSpPr>
        <p:spPr>
          <a:xfrm>
            <a:off x="685800" y="3044952"/>
            <a:ext cx="457200" cy="457200"/>
          </a:xfrm>
          <a:prstGeom prst="ellipse">
            <a:avLst/>
          </a:prstGeom>
          <a:solidFill>
            <a:srgbClr val="F96167"/>
          </a:solidFill>
          <a:ln w="12700">
            <a:solidFill>
              <a:srgbClr val="F96167"/>
            </a:solidFill>
            <a:prstDash val="solid"/>
          </a:ln>
        </p:spPr>
      </p:sp>
      <p:sp>
        <p:nvSpPr>
          <p:cNvPr id="14" name="Text 12"/>
          <p:cNvSpPr/>
          <p:nvPr/>
        </p:nvSpPr>
        <p:spPr>
          <a:xfrm>
            <a:off x="685800" y="304495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5" name="Text 13"/>
          <p:cNvSpPr/>
          <p:nvPr/>
        </p:nvSpPr>
        <p:spPr>
          <a:xfrm>
            <a:off x="1280160" y="2953512"/>
            <a:ext cx="5212080" cy="27432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Inviter le partenaire</a:t>
            </a:r>
            <a:endParaRPr lang="en-US" sz="1300" dirty="0"/>
          </a:p>
        </p:txBody>
      </p:sp>
      <p:sp>
        <p:nvSpPr>
          <p:cNvPr id="16" name="Text 14"/>
          <p:cNvSpPr/>
          <p:nvPr/>
        </p:nvSpPr>
        <p:spPr>
          <a:xfrm>
            <a:off x="1280160" y="3191256"/>
            <a:ext cx="5212080" cy="45720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Ajouter l'account Snowflake du retailer (via ORG_ID)  il reçoit une notification.</a:t>
            </a:r>
            <a:endParaRPr lang="en-US" sz="1100" dirty="0"/>
          </a:p>
        </p:txBody>
      </p:sp>
      <p:sp>
        <p:nvSpPr>
          <p:cNvPr id="17" name="Shape 15"/>
          <p:cNvSpPr/>
          <p:nvPr/>
        </p:nvSpPr>
        <p:spPr>
          <a:xfrm>
            <a:off x="548640" y="3758184"/>
            <a:ext cx="6035040" cy="804672"/>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18" name="Shape 16"/>
          <p:cNvSpPr/>
          <p:nvPr/>
        </p:nvSpPr>
        <p:spPr>
          <a:xfrm>
            <a:off x="685800" y="3941064"/>
            <a:ext cx="457200" cy="457200"/>
          </a:xfrm>
          <a:prstGeom prst="ellipse">
            <a:avLst/>
          </a:prstGeom>
          <a:solidFill>
            <a:srgbClr val="F96167"/>
          </a:solidFill>
          <a:ln w="12700">
            <a:solidFill>
              <a:srgbClr val="F96167"/>
            </a:solidFill>
            <a:prstDash val="solid"/>
          </a:ln>
        </p:spPr>
      </p:sp>
      <p:sp>
        <p:nvSpPr>
          <p:cNvPr id="19" name="Text 17"/>
          <p:cNvSpPr/>
          <p:nvPr/>
        </p:nvSpPr>
        <p:spPr>
          <a:xfrm>
            <a:off x="685800" y="3941064"/>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0" name="Text 18"/>
          <p:cNvSpPr/>
          <p:nvPr/>
        </p:nvSpPr>
        <p:spPr>
          <a:xfrm>
            <a:off x="1280160" y="3849624"/>
            <a:ext cx="5212080" cy="27432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Lier les tables</a:t>
            </a:r>
            <a:endParaRPr lang="en-US" sz="1300" dirty="0"/>
          </a:p>
        </p:txBody>
      </p:sp>
      <p:sp>
        <p:nvSpPr>
          <p:cNvPr id="21" name="Text 19"/>
          <p:cNvSpPr/>
          <p:nvPr/>
        </p:nvSpPr>
        <p:spPr>
          <a:xfrm>
            <a:off x="1280160" y="4087368"/>
            <a:ext cx="5212080" cy="45720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Attacher CUSTOMERS (hash email, segment) avec Row Access Policy k≥50.</a:t>
            </a:r>
            <a:endParaRPr lang="en-US" sz="1100" dirty="0"/>
          </a:p>
        </p:txBody>
      </p:sp>
      <p:sp>
        <p:nvSpPr>
          <p:cNvPr id="22" name="Shape 20"/>
          <p:cNvSpPr/>
          <p:nvPr/>
        </p:nvSpPr>
        <p:spPr>
          <a:xfrm>
            <a:off x="548640" y="4654296"/>
            <a:ext cx="6035040" cy="804672"/>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23" name="Shape 21"/>
          <p:cNvSpPr/>
          <p:nvPr/>
        </p:nvSpPr>
        <p:spPr>
          <a:xfrm>
            <a:off x="685800" y="4837176"/>
            <a:ext cx="457200" cy="457200"/>
          </a:xfrm>
          <a:prstGeom prst="ellipse">
            <a:avLst/>
          </a:prstGeom>
          <a:solidFill>
            <a:srgbClr val="F96167"/>
          </a:solidFill>
          <a:ln w="12700">
            <a:solidFill>
              <a:srgbClr val="F96167"/>
            </a:solidFill>
            <a:prstDash val="solid"/>
          </a:ln>
        </p:spPr>
      </p:sp>
      <p:sp>
        <p:nvSpPr>
          <p:cNvPr id="24" name="Text 22"/>
          <p:cNvSpPr/>
          <p:nvPr/>
        </p:nvSpPr>
        <p:spPr>
          <a:xfrm>
            <a:off x="685800" y="4837176"/>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5" name="Text 23"/>
          <p:cNvSpPr/>
          <p:nvPr/>
        </p:nvSpPr>
        <p:spPr>
          <a:xfrm>
            <a:off x="1280160" y="4745736"/>
            <a:ext cx="5212080" cy="27432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Définir les templates</a:t>
            </a:r>
            <a:endParaRPr lang="en-US" sz="1300" dirty="0"/>
          </a:p>
        </p:txBody>
      </p:sp>
      <p:sp>
        <p:nvSpPr>
          <p:cNvPr id="26" name="Text 24"/>
          <p:cNvSpPr/>
          <p:nvPr/>
        </p:nvSpPr>
        <p:spPr>
          <a:xfrm>
            <a:off x="1280160" y="4983480"/>
            <a:ext cx="5212080" cy="45720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Activer « overlap_count » et « attribution_window_7d » dans la bibliothèque.</a:t>
            </a:r>
            <a:endParaRPr lang="en-US" sz="1100" dirty="0"/>
          </a:p>
        </p:txBody>
      </p:sp>
      <p:sp>
        <p:nvSpPr>
          <p:cNvPr id="27" name="Shape 25"/>
          <p:cNvSpPr/>
          <p:nvPr/>
        </p:nvSpPr>
        <p:spPr>
          <a:xfrm>
            <a:off x="548640" y="5550408"/>
            <a:ext cx="6035040" cy="804672"/>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28" name="Shape 26"/>
          <p:cNvSpPr/>
          <p:nvPr/>
        </p:nvSpPr>
        <p:spPr>
          <a:xfrm>
            <a:off x="685800" y="5733288"/>
            <a:ext cx="457200" cy="457200"/>
          </a:xfrm>
          <a:prstGeom prst="ellipse">
            <a:avLst/>
          </a:prstGeom>
          <a:solidFill>
            <a:srgbClr val="F96167"/>
          </a:solidFill>
          <a:ln w="12700">
            <a:solidFill>
              <a:srgbClr val="F96167"/>
            </a:solidFill>
            <a:prstDash val="solid"/>
          </a:ln>
        </p:spPr>
      </p:sp>
      <p:sp>
        <p:nvSpPr>
          <p:cNvPr id="29" name="Text 27"/>
          <p:cNvSpPr/>
          <p:nvPr/>
        </p:nvSpPr>
        <p:spPr>
          <a:xfrm>
            <a:off x="685800" y="573328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0" name="Text 28"/>
          <p:cNvSpPr/>
          <p:nvPr/>
        </p:nvSpPr>
        <p:spPr>
          <a:xfrm>
            <a:off x="1280160" y="5641848"/>
            <a:ext cx="5212080" cy="27432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Exécuter &amp; récupérer</a:t>
            </a:r>
            <a:endParaRPr lang="en-US" sz="1300" dirty="0"/>
          </a:p>
        </p:txBody>
      </p:sp>
      <p:sp>
        <p:nvSpPr>
          <p:cNvPr id="31" name="Text 29"/>
          <p:cNvSpPr/>
          <p:nvPr/>
        </p:nvSpPr>
        <p:spPr>
          <a:xfrm>
            <a:off x="1280160" y="5879592"/>
            <a:ext cx="5212080" cy="45720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Le partenaire approuve, lance la requête, résultat livré dans SHARED_RESULTS.</a:t>
            </a:r>
            <a:endParaRPr lang="en-US" sz="1100" dirty="0"/>
          </a:p>
        </p:txBody>
      </p:sp>
      <p:sp>
        <p:nvSpPr>
          <p:cNvPr id="32" name="Shape 30"/>
          <p:cNvSpPr/>
          <p:nvPr/>
        </p:nvSpPr>
        <p:spPr>
          <a:xfrm>
            <a:off x="6766560" y="1554480"/>
            <a:ext cx="4846320" cy="3017520"/>
          </a:xfrm>
          <a:prstGeom prst="rect">
            <a:avLst/>
          </a:prstGeom>
          <a:solidFill>
            <a:srgbClr val="0B1F3A"/>
          </a:solidFill>
          <a:ln w="12700">
            <a:solidFill>
              <a:srgbClr val="0B1F3A"/>
            </a:solidFill>
            <a:prstDash val="solid"/>
          </a:ln>
          <a:effectLst>
            <a:outerShdw blurRad="76200" dist="25400" dir="8100000" algn="bl" rotWithShape="0">
              <a:srgbClr val="000000">
                <a:alpha val="12000"/>
              </a:srgbClr>
            </a:outerShdw>
          </a:effectLst>
        </p:spPr>
      </p:sp>
      <p:sp>
        <p:nvSpPr>
          <p:cNvPr id="33" name="Shape 31"/>
          <p:cNvSpPr/>
          <p:nvPr/>
        </p:nvSpPr>
        <p:spPr>
          <a:xfrm>
            <a:off x="6766560" y="1554480"/>
            <a:ext cx="4846320" cy="292608"/>
          </a:xfrm>
          <a:prstGeom prst="rect">
            <a:avLst/>
          </a:prstGeom>
          <a:solidFill>
            <a:srgbClr val="102B52"/>
          </a:solidFill>
          <a:ln w="12700">
            <a:solidFill>
              <a:srgbClr val="102B52"/>
            </a:solidFill>
            <a:prstDash val="solid"/>
          </a:ln>
        </p:spPr>
      </p:sp>
      <p:sp>
        <p:nvSpPr>
          <p:cNvPr id="34" name="Shape 32"/>
          <p:cNvSpPr/>
          <p:nvPr/>
        </p:nvSpPr>
        <p:spPr>
          <a:xfrm>
            <a:off x="6876288" y="1636776"/>
            <a:ext cx="128016" cy="128016"/>
          </a:xfrm>
          <a:prstGeom prst="ellipse">
            <a:avLst/>
          </a:prstGeom>
          <a:solidFill>
            <a:srgbClr val="FF5F57"/>
          </a:solidFill>
          <a:ln w="12700">
            <a:solidFill>
              <a:srgbClr val="FF5F57"/>
            </a:solidFill>
            <a:prstDash val="solid"/>
          </a:ln>
        </p:spPr>
      </p:sp>
      <p:sp>
        <p:nvSpPr>
          <p:cNvPr id="35" name="Shape 33"/>
          <p:cNvSpPr/>
          <p:nvPr/>
        </p:nvSpPr>
        <p:spPr>
          <a:xfrm>
            <a:off x="7059168" y="1636776"/>
            <a:ext cx="128016" cy="128016"/>
          </a:xfrm>
          <a:prstGeom prst="ellipse">
            <a:avLst/>
          </a:prstGeom>
          <a:solidFill>
            <a:srgbClr val="FEBC2E"/>
          </a:solidFill>
          <a:ln w="12700">
            <a:solidFill>
              <a:srgbClr val="FEBC2E"/>
            </a:solidFill>
            <a:prstDash val="solid"/>
          </a:ln>
        </p:spPr>
      </p:sp>
      <p:sp>
        <p:nvSpPr>
          <p:cNvPr id="36" name="Shape 34"/>
          <p:cNvSpPr/>
          <p:nvPr/>
        </p:nvSpPr>
        <p:spPr>
          <a:xfrm>
            <a:off x="7242048" y="1636776"/>
            <a:ext cx="128016" cy="128016"/>
          </a:xfrm>
          <a:prstGeom prst="ellipse">
            <a:avLst/>
          </a:prstGeom>
          <a:solidFill>
            <a:srgbClr val="28C840"/>
          </a:solidFill>
          <a:ln w="12700">
            <a:solidFill>
              <a:srgbClr val="28C840"/>
            </a:solidFill>
            <a:prstDash val="solid"/>
          </a:ln>
        </p:spPr>
      </p:sp>
      <p:sp>
        <p:nvSpPr>
          <p:cNvPr id="37" name="Text 35"/>
          <p:cNvSpPr/>
          <p:nvPr/>
        </p:nvSpPr>
        <p:spPr>
          <a:xfrm>
            <a:off x="7498080" y="1600200"/>
            <a:ext cx="4023360" cy="201168"/>
          </a:xfrm>
          <a:prstGeom prst="rect">
            <a:avLst/>
          </a:prstGeom>
          <a:noFill/>
          <a:ln/>
        </p:spPr>
        <p:txBody>
          <a:bodyPr wrap="square" lIns="0" tIns="0" rIns="0" bIns="0" rtlCol="0" anchor="ctr"/>
          <a:lstStyle/>
          <a:p>
            <a:pPr marL="0" indent="0" algn="l">
              <a:buNone/>
            </a:pPr>
            <a:r>
              <a:rPr lang="en-US" sz="1000" dirty="0" err="1">
                <a:solidFill>
                  <a:srgbClr val="E2E8F0"/>
                </a:solidFill>
                <a:latin typeface="Consolas" pitchFamily="34" charset="0"/>
                <a:ea typeface="Consolas" pitchFamily="34" charset="-122"/>
                <a:cs typeface="Consolas" pitchFamily="34" charset="-120"/>
              </a:rPr>
              <a:t>overlap_query.sql</a:t>
            </a:r>
            <a:r>
              <a:rPr lang="en-US" sz="1000" dirty="0">
                <a:solidFill>
                  <a:srgbClr val="E2E8F0"/>
                </a:solidFill>
                <a:latin typeface="Consolas" pitchFamily="34" charset="0"/>
                <a:ea typeface="Consolas" pitchFamily="34" charset="-122"/>
                <a:cs typeface="Consolas" pitchFamily="34" charset="-120"/>
              </a:rPr>
              <a:t>  Snowflake</a:t>
            </a:r>
            <a:endParaRPr lang="en-US" sz="1000" dirty="0"/>
          </a:p>
        </p:txBody>
      </p:sp>
      <p:sp>
        <p:nvSpPr>
          <p:cNvPr id="38" name="Text 36"/>
          <p:cNvSpPr/>
          <p:nvPr/>
        </p:nvSpPr>
        <p:spPr>
          <a:xfrm>
            <a:off x="6949440" y="1920240"/>
            <a:ext cx="4480560" cy="2560320"/>
          </a:xfrm>
          <a:prstGeom prst="rect">
            <a:avLst/>
          </a:prstGeom>
          <a:noFill/>
          <a:ln/>
        </p:spPr>
        <p:txBody>
          <a:bodyPr wrap="square" lIns="0" tIns="0" rIns="0" bIns="0" rtlCol="0" anchor="t"/>
          <a:lstStyle/>
          <a:p>
            <a:pPr marL="0" indent="0">
              <a:spcAft>
                <a:spcPts val="200"/>
              </a:spcAft>
              <a:buNone/>
            </a:pPr>
            <a:r>
              <a:rPr lang="en-US" sz="1000" dirty="0">
                <a:solidFill>
                  <a:srgbClr val="64748B"/>
                </a:solidFill>
                <a:latin typeface="Consolas" pitchFamily="34" charset="0"/>
                <a:ea typeface="Consolas" pitchFamily="34" charset="-122"/>
                <a:cs typeface="Consolas" pitchFamily="34" charset="-120"/>
              </a:rPr>
              <a:t>-- Executed inside clean room</a:t>
            </a:r>
            <a:endParaRPr lang="en-US" sz="1000" dirty="0"/>
          </a:p>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SELECT segment,</a:t>
            </a:r>
            <a:endParaRPr lang="en-US" sz="1000" dirty="0"/>
          </a:p>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       COUNT(DISTINCT user_hash) AS n</a:t>
            </a:r>
            <a:endParaRPr lang="en-US" sz="1000" dirty="0"/>
          </a:p>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FROM shared.modeverte_x_retail</a:t>
            </a:r>
            <a:endParaRPr lang="en-US" sz="1000" dirty="0"/>
          </a:p>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WHERE consent = TRUE</a:t>
            </a:r>
            <a:endParaRPr lang="en-US" sz="1000" dirty="0"/>
          </a:p>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GROUP BY segment</a:t>
            </a:r>
            <a:endParaRPr lang="en-US" sz="1000" dirty="0"/>
          </a:p>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HAVING n &gt;= 50;  -- k-anonymity</a:t>
            </a:r>
            <a:endParaRPr lang="en-US" sz="1000" dirty="0"/>
          </a:p>
          <a:p>
            <a:pPr marL="0" indent="0">
              <a:spcAft>
                <a:spcPts val="200"/>
              </a:spcAft>
              <a:buNone/>
            </a:pPr>
            <a:endParaRPr lang="en-US" sz="1000" dirty="0"/>
          </a:p>
          <a:p>
            <a:pPr marL="0" indent="0">
              <a:spcAft>
                <a:spcPts val="200"/>
              </a:spcAft>
              <a:buNone/>
            </a:pPr>
            <a:r>
              <a:rPr lang="en-US" sz="1000" dirty="0">
                <a:solidFill>
                  <a:srgbClr val="F9B233"/>
                </a:solidFill>
                <a:latin typeface="Consolas" pitchFamily="34" charset="0"/>
                <a:ea typeface="Consolas" pitchFamily="34" charset="-122"/>
                <a:cs typeface="Consolas" pitchFamily="34" charset="-120"/>
              </a:rPr>
              <a:t>&gt; Query ok  1.2s</a:t>
            </a:r>
            <a:endParaRPr lang="en-US" sz="1000" dirty="0"/>
          </a:p>
          <a:p>
            <a:pPr marL="0" indent="0">
              <a:spcAft>
                <a:spcPts val="200"/>
              </a:spcAft>
              <a:buNone/>
            </a:pPr>
            <a:r>
              <a:rPr lang="en-US" sz="1000" dirty="0">
                <a:solidFill>
                  <a:srgbClr val="F9B233"/>
                </a:solidFill>
                <a:latin typeface="Consolas" pitchFamily="34" charset="0"/>
                <a:ea typeface="Consolas" pitchFamily="34" charset="-122"/>
                <a:cs typeface="Consolas" pitchFamily="34" charset="-120"/>
              </a:rPr>
              <a:t>&gt; Rows returned : 4</a:t>
            </a:r>
            <a:endParaRPr lang="en-US" sz="1000" dirty="0"/>
          </a:p>
        </p:txBody>
      </p:sp>
      <p:sp>
        <p:nvSpPr>
          <p:cNvPr id="39" name="Shape 37"/>
          <p:cNvSpPr/>
          <p:nvPr/>
        </p:nvSpPr>
        <p:spPr>
          <a:xfrm>
            <a:off x="6766560" y="4709160"/>
            <a:ext cx="4846320" cy="1691640"/>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40" name="Shape 38"/>
          <p:cNvSpPr/>
          <p:nvPr/>
        </p:nvSpPr>
        <p:spPr>
          <a:xfrm>
            <a:off x="6766560" y="4709160"/>
            <a:ext cx="91440" cy="1691640"/>
          </a:xfrm>
          <a:prstGeom prst="rect">
            <a:avLst/>
          </a:prstGeom>
          <a:solidFill>
            <a:srgbClr val="F96167"/>
          </a:solidFill>
          <a:ln w="12700">
            <a:solidFill>
              <a:srgbClr val="F96167"/>
            </a:solidFill>
            <a:prstDash val="solid"/>
          </a:ln>
        </p:spPr>
      </p:sp>
      <p:sp>
        <p:nvSpPr>
          <p:cNvPr id="41" name="Text 39"/>
          <p:cNvSpPr/>
          <p:nvPr/>
        </p:nvSpPr>
        <p:spPr>
          <a:xfrm>
            <a:off x="6995160" y="4846320"/>
            <a:ext cx="4480560" cy="274320"/>
          </a:xfrm>
          <a:prstGeom prst="rect">
            <a:avLst/>
          </a:prstGeom>
          <a:noFill/>
          <a:ln/>
        </p:spPr>
        <p:txBody>
          <a:bodyPr wrap="square" lIns="0" tIns="0" rIns="0" bIns="0" rtlCol="0" anchor="ctr"/>
          <a:lstStyle/>
          <a:p>
            <a:pPr marL="0" indent="0">
              <a:buNone/>
            </a:pPr>
            <a:r>
              <a:rPr lang="en-US" sz="1000" b="1" kern="0" spc="150" dirty="0">
                <a:solidFill>
                  <a:srgbClr val="F96167"/>
                </a:solidFill>
                <a:latin typeface="Calibri" pitchFamily="34" charset="0"/>
                <a:ea typeface="Calibri" pitchFamily="34" charset="-122"/>
                <a:cs typeface="Calibri" pitchFamily="34" charset="-120"/>
              </a:rPr>
              <a:t>RÉSULTAT LIVRÉ</a:t>
            </a:r>
            <a:endParaRPr lang="en-US" sz="1000" dirty="0"/>
          </a:p>
        </p:txBody>
      </p:sp>
      <p:sp>
        <p:nvSpPr>
          <p:cNvPr id="42" name="Text 40"/>
          <p:cNvSpPr/>
          <p:nvPr/>
        </p:nvSpPr>
        <p:spPr>
          <a:xfrm>
            <a:off x="6995160" y="5120640"/>
            <a:ext cx="4480560" cy="640080"/>
          </a:xfrm>
          <a:prstGeom prst="rect">
            <a:avLst/>
          </a:prstGeom>
          <a:noFill/>
          <a:ln/>
        </p:spPr>
        <p:txBody>
          <a:bodyPr wrap="square" lIns="0" tIns="0" rIns="0" bIns="0" rtlCol="0" anchor="ctr"/>
          <a:lstStyle/>
          <a:p>
            <a:pPr marL="0" indent="0">
              <a:buNone/>
            </a:pPr>
            <a:r>
              <a:rPr lang="en-US" sz="2200" b="1" dirty="0">
                <a:solidFill>
                  <a:srgbClr val="065A82"/>
                </a:solidFill>
                <a:latin typeface="Calibri" pitchFamily="34" charset="0"/>
                <a:ea typeface="Calibri" pitchFamily="34" charset="-122"/>
                <a:cs typeface="Calibri" pitchFamily="34" charset="-120"/>
              </a:rPr>
              <a:t>1,24 M users en overlap</a:t>
            </a:r>
            <a:endParaRPr lang="en-US" sz="2200" dirty="0"/>
          </a:p>
        </p:txBody>
      </p:sp>
      <p:sp>
        <p:nvSpPr>
          <p:cNvPr id="43" name="Text 41"/>
          <p:cNvSpPr/>
          <p:nvPr/>
        </p:nvSpPr>
        <p:spPr>
          <a:xfrm>
            <a:off x="6995160" y="5760720"/>
            <a:ext cx="4480560" cy="59436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4 segments communs identifiés. Aucune donnée brute n'a quitté l'account Snowflake des deux parties.</a:t>
            </a:r>
            <a:endParaRPr lang="en-US" sz="1100" dirty="0"/>
          </a:p>
        </p:txBody>
      </p:sp>
      <p:sp>
        <p:nvSpPr>
          <p:cNvPr id="44" name="Shape 42"/>
          <p:cNvSpPr/>
          <p:nvPr/>
        </p:nvSpPr>
        <p:spPr>
          <a:xfrm>
            <a:off x="0" y="6583680"/>
            <a:ext cx="12191695" cy="274320"/>
          </a:xfrm>
          <a:prstGeom prst="rect">
            <a:avLst/>
          </a:prstGeom>
          <a:solidFill>
            <a:srgbClr val="0B1F3A"/>
          </a:solidFill>
          <a:ln w="12700">
            <a:solidFill>
              <a:srgbClr val="0B1F3A"/>
            </a:solidFill>
            <a:prstDash val="solid"/>
          </a:ln>
        </p:spPr>
      </p:sp>
      <p:sp>
        <p:nvSpPr>
          <p:cNvPr id="45" name="Text 43"/>
          <p:cNvSpPr/>
          <p:nvPr/>
        </p:nvSpPr>
        <p:spPr>
          <a:xfrm>
            <a:off x="365760" y="6601968"/>
            <a:ext cx="822960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Session 2  Demos providers</a:t>
            </a:r>
            <a:endParaRPr lang="en-US" sz="1000" dirty="0"/>
          </a:p>
        </p:txBody>
      </p:sp>
      <p:sp>
        <p:nvSpPr>
          <p:cNvPr id="46" name="Text 44"/>
          <p:cNvSpPr/>
          <p:nvPr/>
        </p:nvSpPr>
        <p:spPr>
          <a:xfrm>
            <a:off x="11551615" y="6601968"/>
            <a:ext cx="365760" cy="237744"/>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24">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B1F3A"/>
          </a:solidFill>
          <a:ln w="12700">
            <a:solidFill>
              <a:srgbClr val="0B1F3A"/>
            </a:solidFill>
            <a:prstDash val="solid"/>
          </a:ln>
        </p:spPr>
      </p:sp>
      <p:sp>
        <p:nvSpPr>
          <p:cNvPr id="3" name="Text 1"/>
          <p:cNvSpPr/>
          <p:nvPr/>
        </p:nvSpPr>
        <p:spPr>
          <a:xfrm>
            <a:off x="548640" y="164592"/>
            <a:ext cx="6400800" cy="274320"/>
          </a:xfrm>
          <a:prstGeom prst="rect">
            <a:avLst/>
          </a:prstGeom>
          <a:noFill/>
          <a:ln/>
        </p:spPr>
        <p:txBody>
          <a:bodyPr wrap="square" lIns="0" tIns="0" rIns="0" bIns="0" rtlCol="0" anchor="ctr"/>
          <a:lstStyle/>
          <a:p>
            <a:pPr marL="0" indent="0">
              <a:buNone/>
            </a:pPr>
            <a:r>
              <a:rPr lang="en-US" sz="1100" b="1" kern="0" spc="200" dirty="0">
                <a:solidFill>
                  <a:srgbClr val="F96167"/>
                </a:solidFill>
                <a:latin typeface="Calibri" pitchFamily="34" charset="0"/>
                <a:ea typeface="Calibri" pitchFamily="34" charset="-122"/>
                <a:cs typeface="Calibri" pitchFamily="34" charset="-120"/>
              </a:rPr>
              <a:t>DEMO 2/4  ·  WALKTHROUGH DATABRICKS</a:t>
            </a:r>
            <a:endParaRPr lang="en-US" sz="1100" dirty="0"/>
          </a:p>
        </p:txBody>
      </p:sp>
      <p:sp>
        <p:nvSpPr>
          <p:cNvPr id="4" name="Text 2"/>
          <p:cNvSpPr/>
          <p:nvPr/>
        </p:nvSpPr>
        <p:spPr>
          <a:xfrm>
            <a:off x="548640" y="384048"/>
            <a:ext cx="8229600" cy="45720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Databricks Clean Rooms</a:t>
            </a:r>
            <a:endParaRPr lang="en-US" sz="2600" dirty="0"/>
          </a:p>
        </p:txBody>
      </p:sp>
      <p:sp>
        <p:nvSpPr>
          <p:cNvPr id="5" name="Text 3"/>
          <p:cNvSpPr/>
          <p:nvPr/>
        </p:nvSpPr>
        <p:spPr>
          <a:xfrm>
            <a:off x="548640" y="1051560"/>
            <a:ext cx="11064240" cy="320040"/>
          </a:xfrm>
          <a:prstGeom prst="rect">
            <a:avLst/>
          </a:prstGeom>
          <a:noFill/>
          <a:ln/>
        </p:spPr>
        <p:txBody>
          <a:bodyPr wrap="square" lIns="0" tIns="0" rIns="0" bIns="0" rtlCol="0" anchor="ctr"/>
          <a:lstStyle/>
          <a:p>
            <a:pPr marL="0" indent="0">
              <a:buNone/>
            </a:pPr>
            <a:r>
              <a:rPr lang="en-US" sz="1300" i="1" dirty="0">
                <a:solidFill>
                  <a:srgbClr val="1C7293"/>
                </a:solidFill>
                <a:latin typeface="Calibri" pitchFamily="34" charset="0"/>
                <a:ea typeface="Calibri" pitchFamily="34" charset="-122"/>
                <a:cs typeface="Calibri" pitchFamily="34" charset="-120"/>
              </a:rPr>
              <a:t>Aller au-delà du SQL : entraîner un lookalike ML sans exposer les données d'entraînement.</a:t>
            </a:r>
            <a:endParaRPr lang="en-US" sz="1300" dirty="0"/>
          </a:p>
        </p:txBody>
      </p:sp>
      <p:sp>
        <p:nvSpPr>
          <p:cNvPr id="6" name="Text 4"/>
          <p:cNvSpPr/>
          <p:nvPr/>
        </p:nvSpPr>
        <p:spPr>
          <a:xfrm>
            <a:off x="548640" y="1554480"/>
            <a:ext cx="6035040" cy="274320"/>
          </a:xfrm>
          <a:prstGeom prst="rect">
            <a:avLst/>
          </a:prstGeom>
          <a:noFill/>
          <a:ln/>
        </p:spPr>
        <p:txBody>
          <a:bodyPr wrap="square" lIns="0" tIns="0" rIns="0" bIns="0" rtlCol="0" anchor="ctr"/>
          <a:lstStyle/>
          <a:p>
            <a:pPr marL="0" indent="0">
              <a:buNone/>
            </a:pPr>
            <a:r>
              <a:rPr lang="en-US" sz="1100" b="1" kern="0" spc="150" dirty="0">
                <a:solidFill>
                  <a:srgbClr val="065A82"/>
                </a:solidFill>
                <a:latin typeface="Calibri" pitchFamily="34" charset="0"/>
                <a:ea typeface="Calibri" pitchFamily="34" charset="-122"/>
                <a:cs typeface="Calibri" pitchFamily="34" charset="-120"/>
              </a:rPr>
              <a:t>WORKFLOW  5 ÉTAPES CLÉS</a:t>
            </a:r>
            <a:endParaRPr lang="en-US" sz="1100" dirty="0"/>
          </a:p>
        </p:txBody>
      </p:sp>
      <p:sp>
        <p:nvSpPr>
          <p:cNvPr id="7" name="Shape 5"/>
          <p:cNvSpPr/>
          <p:nvPr/>
        </p:nvSpPr>
        <p:spPr>
          <a:xfrm>
            <a:off x="548640" y="1965960"/>
            <a:ext cx="6035040" cy="804672"/>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8" name="Shape 6"/>
          <p:cNvSpPr/>
          <p:nvPr/>
        </p:nvSpPr>
        <p:spPr>
          <a:xfrm>
            <a:off x="685800" y="2148840"/>
            <a:ext cx="457200" cy="457200"/>
          </a:xfrm>
          <a:prstGeom prst="ellipse">
            <a:avLst/>
          </a:prstGeom>
          <a:solidFill>
            <a:srgbClr val="F96167"/>
          </a:solidFill>
          <a:ln w="12700">
            <a:solidFill>
              <a:srgbClr val="F96167"/>
            </a:solidFill>
            <a:prstDash val="solid"/>
          </a:ln>
        </p:spPr>
      </p:sp>
      <p:sp>
        <p:nvSpPr>
          <p:cNvPr id="9" name="Text 7"/>
          <p:cNvSpPr/>
          <p:nvPr/>
        </p:nvSpPr>
        <p:spPr>
          <a:xfrm>
            <a:off x="685800" y="21488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0" name="Text 8"/>
          <p:cNvSpPr/>
          <p:nvPr/>
        </p:nvSpPr>
        <p:spPr>
          <a:xfrm>
            <a:off x="1280160" y="2057400"/>
            <a:ext cx="5212080" cy="27432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Unity Catalog + Delta Sharing</a:t>
            </a:r>
            <a:endParaRPr lang="en-US" sz="1300" dirty="0"/>
          </a:p>
        </p:txBody>
      </p:sp>
      <p:sp>
        <p:nvSpPr>
          <p:cNvPr id="11" name="Text 9"/>
          <p:cNvSpPr/>
          <p:nvPr/>
        </p:nvSpPr>
        <p:spPr>
          <a:xfrm>
            <a:off x="1280160" y="2295144"/>
            <a:ext cx="5212080" cy="45720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Créer le clean room dans Unity Catalog → ajouter le Databricks workspace du partenaire.</a:t>
            </a:r>
            <a:endParaRPr lang="en-US" sz="1100" dirty="0"/>
          </a:p>
        </p:txBody>
      </p:sp>
      <p:sp>
        <p:nvSpPr>
          <p:cNvPr id="12" name="Shape 10"/>
          <p:cNvSpPr/>
          <p:nvPr/>
        </p:nvSpPr>
        <p:spPr>
          <a:xfrm>
            <a:off x="548640" y="2862072"/>
            <a:ext cx="6035040" cy="804672"/>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13" name="Shape 11"/>
          <p:cNvSpPr/>
          <p:nvPr/>
        </p:nvSpPr>
        <p:spPr>
          <a:xfrm>
            <a:off x="685800" y="3044952"/>
            <a:ext cx="457200" cy="457200"/>
          </a:xfrm>
          <a:prstGeom prst="ellipse">
            <a:avLst/>
          </a:prstGeom>
          <a:solidFill>
            <a:srgbClr val="F96167"/>
          </a:solidFill>
          <a:ln w="12700">
            <a:solidFill>
              <a:srgbClr val="F96167"/>
            </a:solidFill>
            <a:prstDash val="solid"/>
          </a:ln>
        </p:spPr>
      </p:sp>
      <p:sp>
        <p:nvSpPr>
          <p:cNvPr id="14" name="Text 12"/>
          <p:cNvSpPr/>
          <p:nvPr/>
        </p:nvSpPr>
        <p:spPr>
          <a:xfrm>
            <a:off x="685800" y="304495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5" name="Text 13"/>
          <p:cNvSpPr/>
          <p:nvPr/>
        </p:nvSpPr>
        <p:spPr>
          <a:xfrm>
            <a:off x="1280160" y="2953512"/>
            <a:ext cx="5212080" cy="27432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Partager un notebook</a:t>
            </a:r>
            <a:endParaRPr lang="en-US" sz="1300" dirty="0"/>
          </a:p>
        </p:txBody>
      </p:sp>
      <p:sp>
        <p:nvSpPr>
          <p:cNvPr id="16" name="Text 14"/>
          <p:cNvSpPr/>
          <p:nvPr/>
        </p:nvSpPr>
        <p:spPr>
          <a:xfrm>
            <a:off x="1280160" y="3191256"/>
            <a:ext cx="5212080" cy="45720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Uploader lookalike_v1.ipynb  cellules approuvées pour exécution (pas de print des raw data).</a:t>
            </a:r>
            <a:endParaRPr lang="en-US" sz="1100" dirty="0"/>
          </a:p>
        </p:txBody>
      </p:sp>
      <p:sp>
        <p:nvSpPr>
          <p:cNvPr id="17" name="Shape 15"/>
          <p:cNvSpPr/>
          <p:nvPr/>
        </p:nvSpPr>
        <p:spPr>
          <a:xfrm>
            <a:off x="548640" y="3758184"/>
            <a:ext cx="6035040" cy="804672"/>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18" name="Shape 16"/>
          <p:cNvSpPr/>
          <p:nvPr/>
        </p:nvSpPr>
        <p:spPr>
          <a:xfrm>
            <a:off x="685800" y="3941064"/>
            <a:ext cx="457200" cy="457200"/>
          </a:xfrm>
          <a:prstGeom prst="ellipse">
            <a:avLst/>
          </a:prstGeom>
          <a:solidFill>
            <a:srgbClr val="F96167"/>
          </a:solidFill>
          <a:ln w="12700">
            <a:solidFill>
              <a:srgbClr val="F96167"/>
            </a:solidFill>
            <a:prstDash val="solid"/>
          </a:ln>
        </p:spPr>
      </p:sp>
      <p:sp>
        <p:nvSpPr>
          <p:cNvPr id="19" name="Text 17"/>
          <p:cNvSpPr/>
          <p:nvPr/>
        </p:nvSpPr>
        <p:spPr>
          <a:xfrm>
            <a:off x="685800" y="3941064"/>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0" name="Text 18"/>
          <p:cNvSpPr/>
          <p:nvPr/>
        </p:nvSpPr>
        <p:spPr>
          <a:xfrm>
            <a:off x="1280160" y="3849624"/>
            <a:ext cx="5212080" cy="27432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Configurer MLflow</a:t>
            </a:r>
            <a:endParaRPr lang="en-US" sz="1300" dirty="0"/>
          </a:p>
        </p:txBody>
      </p:sp>
      <p:sp>
        <p:nvSpPr>
          <p:cNvPr id="21" name="Text 19"/>
          <p:cNvSpPr/>
          <p:nvPr/>
        </p:nvSpPr>
        <p:spPr>
          <a:xfrm>
            <a:off x="1280160" y="4087368"/>
            <a:ext cx="5212080" cy="45720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Le modèle sera tracké dans MLflow ; seuls les artefacts (coefficients) sortent.</a:t>
            </a:r>
            <a:endParaRPr lang="en-US" sz="1100" dirty="0"/>
          </a:p>
        </p:txBody>
      </p:sp>
      <p:sp>
        <p:nvSpPr>
          <p:cNvPr id="22" name="Shape 20"/>
          <p:cNvSpPr/>
          <p:nvPr/>
        </p:nvSpPr>
        <p:spPr>
          <a:xfrm>
            <a:off x="548640" y="4654296"/>
            <a:ext cx="6035040" cy="804672"/>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23" name="Shape 21"/>
          <p:cNvSpPr/>
          <p:nvPr/>
        </p:nvSpPr>
        <p:spPr>
          <a:xfrm>
            <a:off x="685800" y="4837176"/>
            <a:ext cx="457200" cy="457200"/>
          </a:xfrm>
          <a:prstGeom prst="ellipse">
            <a:avLst/>
          </a:prstGeom>
          <a:solidFill>
            <a:srgbClr val="F96167"/>
          </a:solidFill>
          <a:ln w="12700">
            <a:solidFill>
              <a:srgbClr val="F96167"/>
            </a:solidFill>
            <a:prstDash val="solid"/>
          </a:ln>
        </p:spPr>
      </p:sp>
      <p:sp>
        <p:nvSpPr>
          <p:cNvPr id="24" name="Text 22"/>
          <p:cNvSpPr/>
          <p:nvPr/>
        </p:nvSpPr>
        <p:spPr>
          <a:xfrm>
            <a:off x="685800" y="4837176"/>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5" name="Text 23"/>
          <p:cNvSpPr/>
          <p:nvPr/>
        </p:nvSpPr>
        <p:spPr>
          <a:xfrm>
            <a:off x="1280160" y="4745736"/>
            <a:ext cx="5212080" cy="27432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Approbation croisée</a:t>
            </a:r>
            <a:endParaRPr lang="en-US" sz="1300" dirty="0"/>
          </a:p>
        </p:txBody>
      </p:sp>
      <p:sp>
        <p:nvSpPr>
          <p:cNvPr id="26" name="Text 24"/>
          <p:cNvSpPr/>
          <p:nvPr/>
        </p:nvSpPr>
        <p:spPr>
          <a:xfrm>
            <a:off x="1280160" y="4983480"/>
            <a:ext cx="5212080" cy="45720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Les deux parties review le notebook, bloquent les cellules non autorisées.</a:t>
            </a:r>
            <a:endParaRPr lang="en-US" sz="1100" dirty="0"/>
          </a:p>
        </p:txBody>
      </p:sp>
      <p:sp>
        <p:nvSpPr>
          <p:cNvPr id="27" name="Shape 25"/>
          <p:cNvSpPr/>
          <p:nvPr/>
        </p:nvSpPr>
        <p:spPr>
          <a:xfrm>
            <a:off x="548640" y="5550408"/>
            <a:ext cx="6035040" cy="804672"/>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28" name="Shape 26"/>
          <p:cNvSpPr/>
          <p:nvPr/>
        </p:nvSpPr>
        <p:spPr>
          <a:xfrm>
            <a:off x="685800" y="5733288"/>
            <a:ext cx="457200" cy="457200"/>
          </a:xfrm>
          <a:prstGeom prst="ellipse">
            <a:avLst/>
          </a:prstGeom>
          <a:solidFill>
            <a:srgbClr val="F96167"/>
          </a:solidFill>
          <a:ln w="12700">
            <a:solidFill>
              <a:srgbClr val="F96167"/>
            </a:solidFill>
            <a:prstDash val="solid"/>
          </a:ln>
        </p:spPr>
      </p:sp>
      <p:sp>
        <p:nvSpPr>
          <p:cNvPr id="29" name="Text 27"/>
          <p:cNvSpPr/>
          <p:nvPr/>
        </p:nvSpPr>
        <p:spPr>
          <a:xfrm>
            <a:off x="685800" y="573328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0" name="Text 28"/>
          <p:cNvSpPr/>
          <p:nvPr/>
        </p:nvSpPr>
        <p:spPr>
          <a:xfrm>
            <a:off x="1280160" y="5641848"/>
            <a:ext cx="5212080" cy="27432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Exécuter le training</a:t>
            </a:r>
            <a:endParaRPr lang="en-US" sz="1300" dirty="0"/>
          </a:p>
        </p:txBody>
      </p:sp>
      <p:sp>
        <p:nvSpPr>
          <p:cNvPr id="31" name="Text 29"/>
          <p:cNvSpPr/>
          <p:nvPr/>
        </p:nvSpPr>
        <p:spPr>
          <a:xfrm>
            <a:off x="1280160" y="5879592"/>
            <a:ext cx="5212080" cy="45720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Spark cluster dédié lance le job ; le lookalike est scoré sur le catalogue du retailer.</a:t>
            </a:r>
            <a:endParaRPr lang="en-US" sz="1100" dirty="0"/>
          </a:p>
        </p:txBody>
      </p:sp>
      <p:sp>
        <p:nvSpPr>
          <p:cNvPr id="32" name="Shape 30"/>
          <p:cNvSpPr/>
          <p:nvPr/>
        </p:nvSpPr>
        <p:spPr>
          <a:xfrm>
            <a:off x="6766560" y="1554480"/>
            <a:ext cx="4846320" cy="3017520"/>
          </a:xfrm>
          <a:prstGeom prst="rect">
            <a:avLst/>
          </a:prstGeom>
          <a:solidFill>
            <a:srgbClr val="0B1F3A"/>
          </a:solidFill>
          <a:ln w="12700">
            <a:solidFill>
              <a:srgbClr val="0B1F3A"/>
            </a:solidFill>
            <a:prstDash val="solid"/>
          </a:ln>
          <a:effectLst>
            <a:outerShdw blurRad="76200" dist="25400" dir="8100000" algn="bl" rotWithShape="0">
              <a:srgbClr val="000000">
                <a:alpha val="12000"/>
              </a:srgbClr>
            </a:outerShdw>
          </a:effectLst>
        </p:spPr>
      </p:sp>
      <p:sp>
        <p:nvSpPr>
          <p:cNvPr id="33" name="Shape 31"/>
          <p:cNvSpPr/>
          <p:nvPr/>
        </p:nvSpPr>
        <p:spPr>
          <a:xfrm>
            <a:off x="6766560" y="1554480"/>
            <a:ext cx="4846320" cy="292608"/>
          </a:xfrm>
          <a:prstGeom prst="rect">
            <a:avLst/>
          </a:prstGeom>
          <a:solidFill>
            <a:srgbClr val="102B52"/>
          </a:solidFill>
          <a:ln w="12700">
            <a:solidFill>
              <a:srgbClr val="102B52"/>
            </a:solidFill>
            <a:prstDash val="solid"/>
          </a:ln>
        </p:spPr>
      </p:sp>
      <p:sp>
        <p:nvSpPr>
          <p:cNvPr id="34" name="Shape 32"/>
          <p:cNvSpPr/>
          <p:nvPr/>
        </p:nvSpPr>
        <p:spPr>
          <a:xfrm>
            <a:off x="6876288" y="1636776"/>
            <a:ext cx="128016" cy="128016"/>
          </a:xfrm>
          <a:prstGeom prst="ellipse">
            <a:avLst/>
          </a:prstGeom>
          <a:solidFill>
            <a:srgbClr val="FF5F57"/>
          </a:solidFill>
          <a:ln w="12700">
            <a:solidFill>
              <a:srgbClr val="FF5F57"/>
            </a:solidFill>
            <a:prstDash val="solid"/>
          </a:ln>
        </p:spPr>
      </p:sp>
      <p:sp>
        <p:nvSpPr>
          <p:cNvPr id="35" name="Shape 33"/>
          <p:cNvSpPr/>
          <p:nvPr/>
        </p:nvSpPr>
        <p:spPr>
          <a:xfrm>
            <a:off x="7059168" y="1636776"/>
            <a:ext cx="128016" cy="128016"/>
          </a:xfrm>
          <a:prstGeom prst="ellipse">
            <a:avLst/>
          </a:prstGeom>
          <a:solidFill>
            <a:srgbClr val="FEBC2E"/>
          </a:solidFill>
          <a:ln w="12700">
            <a:solidFill>
              <a:srgbClr val="FEBC2E"/>
            </a:solidFill>
            <a:prstDash val="solid"/>
          </a:ln>
        </p:spPr>
      </p:sp>
      <p:sp>
        <p:nvSpPr>
          <p:cNvPr id="36" name="Shape 34"/>
          <p:cNvSpPr/>
          <p:nvPr/>
        </p:nvSpPr>
        <p:spPr>
          <a:xfrm>
            <a:off x="7242048" y="1636776"/>
            <a:ext cx="128016" cy="128016"/>
          </a:xfrm>
          <a:prstGeom prst="ellipse">
            <a:avLst/>
          </a:prstGeom>
          <a:solidFill>
            <a:srgbClr val="28C840"/>
          </a:solidFill>
          <a:ln w="12700">
            <a:solidFill>
              <a:srgbClr val="28C840"/>
            </a:solidFill>
            <a:prstDash val="solid"/>
          </a:ln>
        </p:spPr>
      </p:sp>
      <p:sp>
        <p:nvSpPr>
          <p:cNvPr id="37" name="Text 35"/>
          <p:cNvSpPr/>
          <p:nvPr/>
        </p:nvSpPr>
        <p:spPr>
          <a:xfrm>
            <a:off x="7498080" y="1600200"/>
            <a:ext cx="4023360" cy="201168"/>
          </a:xfrm>
          <a:prstGeom prst="rect">
            <a:avLst/>
          </a:prstGeom>
          <a:noFill/>
          <a:ln/>
        </p:spPr>
        <p:txBody>
          <a:bodyPr wrap="square" lIns="0" tIns="0" rIns="0" bIns="0" rtlCol="0" anchor="ctr"/>
          <a:lstStyle/>
          <a:p>
            <a:pPr marL="0" indent="0" algn="l">
              <a:buNone/>
            </a:pPr>
            <a:r>
              <a:rPr lang="en-US" sz="1000" dirty="0">
                <a:solidFill>
                  <a:srgbClr val="E2E8F0"/>
                </a:solidFill>
                <a:latin typeface="Consolas" pitchFamily="34" charset="0"/>
                <a:ea typeface="Consolas" pitchFamily="34" charset="-122"/>
                <a:cs typeface="Consolas" pitchFamily="34" charset="-120"/>
              </a:rPr>
              <a:t>lookalike_v1.py  Databricks</a:t>
            </a:r>
            <a:endParaRPr lang="en-US" sz="1000" dirty="0"/>
          </a:p>
        </p:txBody>
      </p:sp>
      <p:sp>
        <p:nvSpPr>
          <p:cNvPr id="38" name="Text 36"/>
          <p:cNvSpPr/>
          <p:nvPr/>
        </p:nvSpPr>
        <p:spPr>
          <a:xfrm>
            <a:off x="6949440" y="1920240"/>
            <a:ext cx="4480560" cy="2560320"/>
          </a:xfrm>
          <a:prstGeom prst="rect">
            <a:avLst/>
          </a:prstGeom>
          <a:noFill/>
          <a:ln/>
        </p:spPr>
        <p:txBody>
          <a:bodyPr wrap="square" lIns="0" tIns="0" rIns="0" bIns="0" rtlCol="0" anchor="t"/>
          <a:lstStyle/>
          <a:p>
            <a:pPr marL="0" indent="0">
              <a:spcAft>
                <a:spcPts val="200"/>
              </a:spcAft>
              <a:buNone/>
            </a:pPr>
            <a:r>
              <a:rPr lang="en-US" sz="1000" dirty="0">
                <a:solidFill>
                  <a:srgbClr val="64748B"/>
                </a:solidFill>
                <a:latin typeface="Consolas" pitchFamily="34" charset="0"/>
                <a:ea typeface="Consolas" pitchFamily="34" charset="-122"/>
                <a:cs typeface="Consolas" pitchFamily="34" charset="-120"/>
              </a:rPr>
              <a:t># Clean room cell  reviewed</a:t>
            </a:r>
            <a:endParaRPr lang="en-US" sz="1000" dirty="0"/>
          </a:p>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from sklearn.ensemble import \</a:t>
            </a:r>
            <a:endParaRPr lang="en-US" sz="1000" dirty="0"/>
          </a:p>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  GradientBoostingClassifier</a:t>
            </a:r>
            <a:endParaRPr lang="en-US" sz="1000" dirty="0"/>
          </a:p>
          <a:p>
            <a:pPr marL="0" indent="0">
              <a:spcAft>
                <a:spcPts val="200"/>
              </a:spcAft>
              <a:buNone/>
            </a:pPr>
            <a:endParaRPr lang="en-US" sz="1000" dirty="0"/>
          </a:p>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df = spark.read.table(</a:t>
            </a:r>
            <a:endParaRPr lang="en-US" sz="1000" dirty="0"/>
          </a:p>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  'shared.joined_features')</a:t>
            </a:r>
            <a:endParaRPr lang="en-US" sz="1000" dirty="0"/>
          </a:p>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model = train(df)</a:t>
            </a:r>
            <a:endParaRPr lang="en-US" sz="1000" dirty="0"/>
          </a:p>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mlflow.log_model(model, 'lookalike')</a:t>
            </a:r>
            <a:endParaRPr lang="en-US" sz="1000" dirty="0"/>
          </a:p>
          <a:p>
            <a:pPr marL="0" indent="0">
              <a:spcAft>
                <a:spcPts val="200"/>
              </a:spcAft>
              <a:buNone/>
            </a:pPr>
            <a:endParaRPr lang="en-US" sz="1000" dirty="0"/>
          </a:p>
          <a:p>
            <a:pPr marL="0" indent="0">
              <a:spcAft>
                <a:spcPts val="200"/>
              </a:spcAft>
              <a:buNone/>
            </a:pPr>
            <a:r>
              <a:rPr lang="en-US" sz="1000" dirty="0">
                <a:solidFill>
                  <a:srgbClr val="F9B233"/>
                </a:solidFill>
                <a:latin typeface="Consolas" pitchFamily="34" charset="0"/>
                <a:ea typeface="Consolas" pitchFamily="34" charset="-122"/>
                <a:cs typeface="Consolas" pitchFamily="34" charset="-120"/>
              </a:rPr>
              <a:t>&gt; Trained : AUC 0.82</a:t>
            </a:r>
            <a:endParaRPr lang="en-US" sz="1000" dirty="0"/>
          </a:p>
          <a:p>
            <a:pPr marL="0" indent="0">
              <a:spcAft>
                <a:spcPts val="200"/>
              </a:spcAft>
              <a:buNone/>
            </a:pPr>
            <a:r>
              <a:rPr lang="en-US" sz="1000" dirty="0">
                <a:solidFill>
                  <a:srgbClr val="F9B233"/>
                </a:solidFill>
                <a:latin typeface="Consolas" pitchFamily="34" charset="0"/>
                <a:ea typeface="Consolas" pitchFamily="34" charset="-122"/>
                <a:cs typeface="Consolas" pitchFamily="34" charset="-120"/>
              </a:rPr>
              <a:t>&gt; Artifact ready for scoring</a:t>
            </a:r>
            <a:endParaRPr lang="en-US" sz="1000" dirty="0"/>
          </a:p>
        </p:txBody>
      </p:sp>
      <p:sp>
        <p:nvSpPr>
          <p:cNvPr id="39" name="Shape 37"/>
          <p:cNvSpPr/>
          <p:nvPr/>
        </p:nvSpPr>
        <p:spPr>
          <a:xfrm>
            <a:off x="6766560" y="4709160"/>
            <a:ext cx="4846320" cy="1691640"/>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40" name="Shape 38"/>
          <p:cNvSpPr/>
          <p:nvPr/>
        </p:nvSpPr>
        <p:spPr>
          <a:xfrm>
            <a:off x="6766560" y="4709160"/>
            <a:ext cx="91440" cy="1691640"/>
          </a:xfrm>
          <a:prstGeom prst="rect">
            <a:avLst/>
          </a:prstGeom>
          <a:solidFill>
            <a:srgbClr val="F96167"/>
          </a:solidFill>
          <a:ln w="12700">
            <a:solidFill>
              <a:srgbClr val="F96167"/>
            </a:solidFill>
            <a:prstDash val="solid"/>
          </a:ln>
        </p:spPr>
      </p:sp>
      <p:sp>
        <p:nvSpPr>
          <p:cNvPr id="41" name="Text 39"/>
          <p:cNvSpPr/>
          <p:nvPr/>
        </p:nvSpPr>
        <p:spPr>
          <a:xfrm>
            <a:off x="6995160" y="4846320"/>
            <a:ext cx="4480560" cy="274320"/>
          </a:xfrm>
          <a:prstGeom prst="rect">
            <a:avLst/>
          </a:prstGeom>
          <a:noFill/>
          <a:ln/>
        </p:spPr>
        <p:txBody>
          <a:bodyPr wrap="square" lIns="0" tIns="0" rIns="0" bIns="0" rtlCol="0" anchor="ctr"/>
          <a:lstStyle/>
          <a:p>
            <a:pPr marL="0" indent="0">
              <a:buNone/>
            </a:pPr>
            <a:r>
              <a:rPr lang="en-US" sz="1000" b="1" kern="0" spc="150" dirty="0">
                <a:solidFill>
                  <a:srgbClr val="F96167"/>
                </a:solidFill>
                <a:latin typeface="Calibri" pitchFamily="34" charset="0"/>
                <a:ea typeface="Calibri" pitchFamily="34" charset="-122"/>
                <a:cs typeface="Calibri" pitchFamily="34" charset="-120"/>
              </a:rPr>
              <a:t>RÉSULTAT LIVRÉ</a:t>
            </a:r>
            <a:endParaRPr lang="en-US" sz="1000" dirty="0"/>
          </a:p>
        </p:txBody>
      </p:sp>
      <p:sp>
        <p:nvSpPr>
          <p:cNvPr id="42" name="Text 40"/>
          <p:cNvSpPr/>
          <p:nvPr/>
        </p:nvSpPr>
        <p:spPr>
          <a:xfrm>
            <a:off x="6995160" y="5120640"/>
            <a:ext cx="4480560" cy="640080"/>
          </a:xfrm>
          <a:prstGeom prst="rect">
            <a:avLst/>
          </a:prstGeom>
          <a:noFill/>
          <a:ln/>
        </p:spPr>
        <p:txBody>
          <a:bodyPr wrap="square" lIns="0" tIns="0" rIns="0" bIns="0" rtlCol="0" anchor="ctr"/>
          <a:lstStyle/>
          <a:p>
            <a:pPr marL="0" indent="0">
              <a:buNone/>
            </a:pPr>
            <a:r>
              <a:rPr lang="en-US" sz="2200" b="1" dirty="0">
                <a:solidFill>
                  <a:srgbClr val="065A82"/>
                </a:solidFill>
                <a:latin typeface="Calibri" pitchFamily="34" charset="0"/>
                <a:ea typeface="Calibri" pitchFamily="34" charset="-122"/>
                <a:cs typeface="Calibri" pitchFamily="34" charset="-120"/>
              </a:rPr>
              <a:t>+340 K lookalikes scorés</a:t>
            </a:r>
            <a:endParaRPr lang="en-US" sz="2200" dirty="0"/>
          </a:p>
        </p:txBody>
      </p:sp>
      <p:sp>
        <p:nvSpPr>
          <p:cNvPr id="43" name="Text 41"/>
          <p:cNvSpPr/>
          <p:nvPr/>
        </p:nvSpPr>
        <p:spPr>
          <a:xfrm>
            <a:off x="6995160" y="5760720"/>
            <a:ext cx="4480560" cy="59436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Modèle de scoring entraîné sur données </a:t>
            </a:r>
            <a:r>
              <a:rPr lang="en-US" sz="1100" dirty="0" err="1">
                <a:solidFill>
                  <a:srgbClr val="1E293B"/>
                </a:solidFill>
                <a:latin typeface="Calibri" pitchFamily="34" charset="0"/>
                <a:ea typeface="Calibri" pitchFamily="34" charset="-122"/>
                <a:cs typeface="Calibri" pitchFamily="34" charset="-120"/>
              </a:rPr>
              <a:t>jointes</a:t>
            </a:r>
            <a:r>
              <a:rPr lang="en-US" sz="1100" dirty="0">
                <a:solidFill>
                  <a:srgbClr val="1E293B"/>
                </a:solidFill>
                <a:latin typeface="Calibri" pitchFamily="34" charset="0"/>
                <a:ea typeface="Calibri" pitchFamily="34" charset="-122"/>
                <a:cs typeface="Calibri" pitchFamily="34" charset="-120"/>
              </a:rPr>
              <a:t>  seuls les coefficients et un CSV agrégé sortent du clean room.</a:t>
            </a:r>
            <a:endParaRPr lang="en-US" sz="1100" dirty="0"/>
          </a:p>
        </p:txBody>
      </p:sp>
      <p:sp>
        <p:nvSpPr>
          <p:cNvPr id="44" name="Shape 42"/>
          <p:cNvSpPr/>
          <p:nvPr/>
        </p:nvSpPr>
        <p:spPr>
          <a:xfrm>
            <a:off x="0" y="6583680"/>
            <a:ext cx="12191695" cy="274320"/>
          </a:xfrm>
          <a:prstGeom prst="rect">
            <a:avLst/>
          </a:prstGeom>
          <a:solidFill>
            <a:srgbClr val="0B1F3A"/>
          </a:solidFill>
          <a:ln w="12700">
            <a:solidFill>
              <a:srgbClr val="0B1F3A"/>
            </a:solidFill>
            <a:prstDash val="solid"/>
          </a:ln>
        </p:spPr>
      </p:sp>
      <p:sp>
        <p:nvSpPr>
          <p:cNvPr id="45" name="Text 43"/>
          <p:cNvSpPr/>
          <p:nvPr/>
        </p:nvSpPr>
        <p:spPr>
          <a:xfrm>
            <a:off x="365760" y="6601968"/>
            <a:ext cx="822960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Session 2  Demos providers</a:t>
            </a:r>
            <a:endParaRPr lang="en-US" sz="1000" dirty="0"/>
          </a:p>
        </p:txBody>
      </p:sp>
      <p:sp>
        <p:nvSpPr>
          <p:cNvPr id="46" name="Text 44"/>
          <p:cNvSpPr/>
          <p:nvPr/>
        </p:nvSpPr>
        <p:spPr>
          <a:xfrm>
            <a:off x="11551615" y="6601968"/>
            <a:ext cx="365760" cy="237744"/>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25">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B1F3A"/>
          </a:solidFill>
          <a:ln w="12700">
            <a:solidFill>
              <a:srgbClr val="0B1F3A"/>
            </a:solidFill>
            <a:prstDash val="solid"/>
          </a:ln>
        </p:spPr>
      </p:sp>
      <p:sp>
        <p:nvSpPr>
          <p:cNvPr id="3" name="Text 1"/>
          <p:cNvSpPr/>
          <p:nvPr/>
        </p:nvSpPr>
        <p:spPr>
          <a:xfrm>
            <a:off x="548640" y="164592"/>
            <a:ext cx="6400800" cy="274320"/>
          </a:xfrm>
          <a:prstGeom prst="rect">
            <a:avLst/>
          </a:prstGeom>
          <a:noFill/>
          <a:ln/>
        </p:spPr>
        <p:txBody>
          <a:bodyPr wrap="square" lIns="0" tIns="0" rIns="0" bIns="0" rtlCol="0" anchor="ctr"/>
          <a:lstStyle/>
          <a:p>
            <a:pPr marL="0" indent="0">
              <a:buNone/>
            </a:pPr>
            <a:r>
              <a:rPr lang="en-US" sz="1100" b="1" kern="0" spc="200" dirty="0">
                <a:solidFill>
                  <a:srgbClr val="F96167"/>
                </a:solidFill>
                <a:latin typeface="Calibri" pitchFamily="34" charset="0"/>
                <a:ea typeface="Calibri" pitchFamily="34" charset="-122"/>
                <a:cs typeface="Calibri" pitchFamily="34" charset="-120"/>
              </a:rPr>
              <a:t>DEMO 3/4  ·  WALKTHROUGH AWS</a:t>
            </a:r>
            <a:endParaRPr lang="en-US" sz="1100" dirty="0"/>
          </a:p>
        </p:txBody>
      </p:sp>
      <p:sp>
        <p:nvSpPr>
          <p:cNvPr id="4" name="Text 2"/>
          <p:cNvSpPr/>
          <p:nvPr/>
        </p:nvSpPr>
        <p:spPr>
          <a:xfrm>
            <a:off x="548640" y="384048"/>
            <a:ext cx="8229600" cy="45720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AWS Clean Rooms</a:t>
            </a:r>
            <a:endParaRPr lang="en-US" sz="2600" dirty="0"/>
          </a:p>
        </p:txBody>
      </p:sp>
      <p:sp>
        <p:nvSpPr>
          <p:cNvPr id="5" name="Text 3"/>
          <p:cNvSpPr/>
          <p:nvPr/>
        </p:nvSpPr>
        <p:spPr>
          <a:xfrm>
            <a:off x="548640" y="1051560"/>
            <a:ext cx="11064240" cy="320040"/>
          </a:xfrm>
          <a:prstGeom prst="rect">
            <a:avLst/>
          </a:prstGeom>
          <a:noFill/>
          <a:ln/>
        </p:spPr>
        <p:txBody>
          <a:bodyPr wrap="square" lIns="0" tIns="0" rIns="0" bIns="0" rtlCol="0" anchor="ctr"/>
          <a:lstStyle/>
          <a:p>
            <a:pPr marL="0" indent="0">
              <a:buNone/>
            </a:pPr>
            <a:r>
              <a:rPr lang="en-US" sz="1300" i="1" dirty="0">
                <a:solidFill>
                  <a:srgbClr val="1C7293"/>
                </a:solidFill>
                <a:latin typeface="Calibri" pitchFamily="34" charset="0"/>
                <a:ea typeface="Calibri" pitchFamily="34" charset="-122"/>
                <a:cs typeface="Calibri" pitchFamily="34" charset="-120"/>
              </a:rPr>
              <a:t>Monter une collaboration multi-accounts AWS en passant par la console  puis activer vers AMC.</a:t>
            </a:r>
            <a:endParaRPr lang="en-US" sz="1300" dirty="0"/>
          </a:p>
        </p:txBody>
      </p:sp>
      <p:sp>
        <p:nvSpPr>
          <p:cNvPr id="6" name="Text 4"/>
          <p:cNvSpPr/>
          <p:nvPr/>
        </p:nvSpPr>
        <p:spPr>
          <a:xfrm>
            <a:off x="548640" y="1554480"/>
            <a:ext cx="6035040" cy="274320"/>
          </a:xfrm>
          <a:prstGeom prst="rect">
            <a:avLst/>
          </a:prstGeom>
          <a:noFill/>
          <a:ln/>
        </p:spPr>
        <p:txBody>
          <a:bodyPr wrap="square" lIns="0" tIns="0" rIns="0" bIns="0" rtlCol="0" anchor="ctr"/>
          <a:lstStyle/>
          <a:p>
            <a:pPr marL="0" indent="0">
              <a:buNone/>
            </a:pPr>
            <a:r>
              <a:rPr lang="en-US" sz="1100" b="1" kern="0" spc="150" dirty="0">
                <a:solidFill>
                  <a:srgbClr val="065A82"/>
                </a:solidFill>
                <a:latin typeface="Calibri" pitchFamily="34" charset="0"/>
                <a:ea typeface="Calibri" pitchFamily="34" charset="-122"/>
                <a:cs typeface="Calibri" pitchFamily="34" charset="-120"/>
              </a:rPr>
              <a:t>WORKFLOW  5 ÉTAPES CLÉS</a:t>
            </a:r>
            <a:endParaRPr lang="en-US" sz="1100" dirty="0"/>
          </a:p>
        </p:txBody>
      </p:sp>
      <p:sp>
        <p:nvSpPr>
          <p:cNvPr id="7" name="Shape 5"/>
          <p:cNvSpPr/>
          <p:nvPr/>
        </p:nvSpPr>
        <p:spPr>
          <a:xfrm>
            <a:off x="548640" y="1965960"/>
            <a:ext cx="6035040" cy="804672"/>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8" name="Shape 6"/>
          <p:cNvSpPr/>
          <p:nvPr/>
        </p:nvSpPr>
        <p:spPr>
          <a:xfrm>
            <a:off x="685800" y="2148840"/>
            <a:ext cx="457200" cy="457200"/>
          </a:xfrm>
          <a:prstGeom prst="ellipse">
            <a:avLst/>
          </a:prstGeom>
          <a:solidFill>
            <a:srgbClr val="F96167"/>
          </a:solidFill>
          <a:ln w="12700">
            <a:solidFill>
              <a:srgbClr val="F96167"/>
            </a:solidFill>
            <a:prstDash val="solid"/>
          </a:ln>
        </p:spPr>
      </p:sp>
      <p:sp>
        <p:nvSpPr>
          <p:cNvPr id="9" name="Text 7"/>
          <p:cNvSpPr/>
          <p:nvPr/>
        </p:nvSpPr>
        <p:spPr>
          <a:xfrm>
            <a:off x="685800" y="21488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0" name="Text 8"/>
          <p:cNvSpPr/>
          <p:nvPr/>
        </p:nvSpPr>
        <p:spPr>
          <a:xfrm>
            <a:off x="1280160" y="2057400"/>
            <a:ext cx="5212080" cy="27432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Créer la collaboration</a:t>
            </a:r>
            <a:endParaRPr lang="en-US" sz="1300" dirty="0"/>
          </a:p>
        </p:txBody>
      </p:sp>
      <p:sp>
        <p:nvSpPr>
          <p:cNvPr id="11" name="Text 9"/>
          <p:cNvSpPr/>
          <p:nvPr/>
        </p:nvSpPr>
        <p:spPr>
          <a:xfrm>
            <a:off x="1280160" y="2295144"/>
            <a:ext cx="5212080" cy="45720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Console AWS → Clean Rooms → Create collaboration → ajouter le compte du partenaire.</a:t>
            </a:r>
            <a:endParaRPr lang="en-US" sz="1100" dirty="0"/>
          </a:p>
        </p:txBody>
      </p:sp>
      <p:sp>
        <p:nvSpPr>
          <p:cNvPr id="12" name="Shape 10"/>
          <p:cNvSpPr/>
          <p:nvPr/>
        </p:nvSpPr>
        <p:spPr>
          <a:xfrm>
            <a:off x="548640" y="2862072"/>
            <a:ext cx="6035040" cy="804672"/>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13" name="Shape 11"/>
          <p:cNvSpPr/>
          <p:nvPr/>
        </p:nvSpPr>
        <p:spPr>
          <a:xfrm>
            <a:off x="685800" y="3044952"/>
            <a:ext cx="457200" cy="457200"/>
          </a:xfrm>
          <a:prstGeom prst="ellipse">
            <a:avLst/>
          </a:prstGeom>
          <a:solidFill>
            <a:srgbClr val="F96167"/>
          </a:solidFill>
          <a:ln w="12700">
            <a:solidFill>
              <a:srgbClr val="F96167"/>
            </a:solidFill>
            <a:prstDash val="solid"/>
          </a:ln>
        </p:spPr>
      </p:sp>
      <p:sp>
        <p:nvSpPr>
          <p:cNvPr id="14" name="Text 12"/>
          <p:cNvSpPr/>
          <p:nvPr/>
        </p:nvSpPr>
        <p:spPr>
          <a:xfrm>
            <a:off x="685800" y="304495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5" name="Text 13"/>
          <p:cNvSpPr/>
          <p:nvPr/>
        </p:nvSpPr>
        <p:spPr>
          <a:xfrm>
            <a:off x="1280160" y="2953512"/>
            <a:ext cx="5212080" cy="27432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Associer les tables Glue</a:t>
            </a:r>
            <a:endParaRPr lang="en-US" sz="1300" dirty="0"/>
          </a:p>
        </p:txBody>
      </p:sp>
      <p:sp>
        <p:nvSpPr>
          <p:cNvPr id="16" name="Text 14"/>
          <p:cNvSpPr/>
          <p:nvPr/>
        </p:nvSpPr>
        <p:spPr>
          <a:xfrm>
            <a:off x="1280160" y="3191256"/>
            <a:ext cx="5212080" cy="45720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Attacher les tables via le AWS Glue Data Catalog (CUSTOMER_HASH, SKUS).</a:t>
            </a:r>
            <a:endParaRPr lang="en-US" sz="1100" dirty="0"/>
          </a:p>
        </p:txBody>
      </p:sp>
      <p:sp>
        <p:nvSpPr>
          <p:cNvPr id="17" name="Shape 15"/>
          <p:cNvSpPr/>
          <p:nvPr/>
        </p:nvSpPr>
        <p:spPr>
          <a:xfrm>
            <a:off x="548640" y="3758184"/>
            <a:ext cx="6035040" cy="804672"/>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18" name="Shape 16"/>
          <p:cNvSpPr/>
          <p:nvPr/>
        </p:nvSpPr>
        <p:spPr>
          <a:xfrm>
            <a:off x="685800" y="3941064"/>
            <a:ext cx="457200" cy="457200"/>
          </a:xfrm>
          <a:prstGeom prst="ellipse">
            <a:avLst/>
          </a:prstGeom>
          <a:solidFill>
            <a:srgbClr val="F96167"/>
          </a:solidFill>
          <a:ln w="12700">
            <a:solidFill>
              <a:srgbClr val="F96167"/>
            </a:solidFill>
            <a:prstDash val="solid"/>
          </a:ln>
        </p:spPr>
      </p:sp>
      <p:sp>
        <p:nvSpPr>
          <p:cNvPr id="19" name="Text 17"/>
          <p:cNvSpPr/>
          <p:nvPr/>
        </p:nvSpPr>
        <p:spPr>
          <a:xfrm>
            <a:off x="685800" y="3941064"/>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0" name="Text 18"/>
          <p:cNvSpPr/>
          <p:nvPr/>
        </p:nvSpPr>
        <p:spPr>
          <a:xfrm>
            <a:off x="1280160" y="3849624"/>
            <a:ext cx="5212080" cy="27432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Définir l'analysis rule</a:t>
            </a:r>
            <a:endParaRPr lang="en-US" sz="1300" dirty="0"/>
          </a:p>
        </p:txBody>
      </p:sp>
      <p:sp>
        <p:nvSpPr>
          <p:cNvPr id="21" name="Text 19"/>
          <p:cNvSpPr/>
          <p:nvPr/>
        </p:nvSpPr>
        <p:spPr>
          <a:xfrm>
            <a:off x="1280160" y="4087368"/>
            <a:ext cx="5212080" cy="45720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AGGREGATION rule : min output rows = 100 ; allowed columns ; allowed join keys.</a:t>
            </a:r>
            <a:endParaRPr lang="en-US" sz="1100" dirty="0"/>
          </a:p>
        </p:txBody>
      </p:sp>
      <p:sp>
        <p:nvSpPr>
          <p:cNvPr id="22" name="Shape 20"/>
          <p:cNvSpPr/>
          <p:nvPr/>
        </p:nvSpPr>
        <p:spPr>
          <a:xfrm>
            <a:off x="548640" y="4654296"/>
            <a:ext cx="6035040" cy="804672"/>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23" name="Shape 21"/>
          <p:cNvSpPr/>
          <p:nvPr/>
        </p:nvSpPr>
        <p:spPr>
          <a:xfrm>
            <a:off x="685800" y="4837176"/>
            <a:ext cx="457200" cy="457200"/>
          </a:xfrm>
          <a:prstGeom prst="ellipse">
            <a:avLst/>
          </a:prstGeom>
          <a:solidFill>
            <a:srgbClr val="F96167"/>
          </a:solidFill>
          <a:ln w="12700">
            <a:solidFill>
              <a:srgbClr val="F96167"/>
            </a:solidFill>
            <a:prstDash val="solid"/>
          </a:ln>
        </p:spPr>
      </p:sp>
      <p:sp>
        <p:nvSpPr>
          <p:cNvPr id="24" name="Text 22"/>
          <p:cNvSpPr/>
          <p:nvPr/>
        </p:nvSpPr>
        <p:spPr>
          <a:xfrm>
            <a:off x="685800" y="4837176"/>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5" name="Text 23"/>
          <p:cNvSpPr/>
          <p:nvPr/>
        </p:nvSpPr>
        <p:spPr>
          <a:xfrm>
            <a:off x="1280160" y="4745736"/>
            <a:ext cx="5212080" cy="27432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Query Builder</a:t>
            </a:r>
            <a:endParaRPr lang="en-US" sz="1300" dirty="0"/>
          </a:p>
        </p:txBody>
      </p:sp>
      <p:sp>
        <p:nvSpPr>
          <p:cNvPr id="26" name="Text 24"/>
          <p:cNvSpPr/>
          <p:nvPr/>
        </p:nvSpPr>
        <p:spPr>
          <a:xfrm>
            <a:off x="1280160" y="4983480"/>
            <a:ext cx="5212080" cy="45720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Utiliser l'UI de requête sans code (ou SQL) avec les templates approuvés.</a:t>
            </a:r>
            <a:endParaRPr lang="en-US" sz="1100" dirty="0"/>
          </a:p>
        </p:txBody>
      </p:sp>
      <p:sp>
        <p:nvSpPr>
          <p:cNvPr id="27" name="Shape 25"/>
          <p:cNvSpPr/>
          <p:nvPr/>
        </p:nvSpPr>
        <p:spPr>
          <a:xfrm>
            <a:off x="548640" y="5550408"/>
            <a:ext cx="6035040" cy="804672"/>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28" name="Shape 26"/>
          <p:cNvSpPr/>
          <p:nvPr/>
        </p:nvSpPr>
        <p:spPr>
          <a:xfrm>
            <a:off x="685800" y="5733288"/>
            <a:ext cx="457200" cy="457200"/>
          </a:xfrm>
          <a:prstGeom prst="ellipse">
            <a:avLst/>
          </a:prstGeom>
          <a:solidFill>
            <a:srgbClr val="F96167"/>
          </a:solidFill>
          <a:ln w="12700">
            <a:solidFill>
              <a:srgbClr val="F96167"/>
            </a:solidFill>
            <a:prstDash val="solid"/>
          </a:ln>
        </p:spPr>
      </p:sp>
      <p:sp>
        <p:nvSpPr>
          <p:cNvPr id="29" name="Text 27"/>
          <p:cNvSpPr/>
          <p:nvPr/>
        </p:nvSpPr>
        <p:spPr>
          <a:xfrm>
            <a:off x="685800" y="573328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0" name="Text 28"/>
          <p:cNvSpPr/>
          <p:nvPr/>
        </p:nvSpPr>
        <p:spPr>
          <a:xfrm>
            <a:off x="1280160" y="5641848"/>
            <a:ext cx="5212080" cy="27432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Export vers S3 + AMC</a:t>
            </a:r>
            <a:endParaRPr lang="en-US" sz="1300" dirty="0"/>
          </a:p>
        </p:txBody>
      </p:sp>
      <p:sp>
        <p:nvSpPr>
          <p:cNvPr id="31" name="Text 29"/>
          <p:cNvSpPr/>
          <p:nvPr/>
        </p:nvSpPr>
        <p:spPr>
          <a:xfrm>
            <a:off x="1280160" y="5879592"/>
            <a:ext cx="5212080" cy="45720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Les résultats vont dans un bucket S3 du </a:t>
            </a:r>
            <a:r>
              <a:rPr lang="en-US" sz="1100" dirty="0" err="1">
                <a:solidFill>
                  <a:srgbClr val="1E293B"/>
                </a:solidFill>
                <a:latin typeface="Calibri" pitchFamily="34" charset="0"/>
                <a:ea typeface="Calibri" pitchFamily="34" charset="-122"/>
                <a:cs typeface="Calibri" pitchFamily="34" charset="-120"/>
              </a:rPr>
              <a:t>partenaire</a:t>
            </a:r>
            <a:r>
              <a:rPr lang="en-US" sz="1100" dirty="0">
                <a:solidFill>
                  <a:srgbClr val="1E293B"/>
                </a:solidFill>
                <a:latin typeface="Calibri" pitchFamily="34" charset="0"/>
                <a:ea typeface="Calibri" pitchFamily="34" charset="-122"/>
                <a:cs typeface="Calibri" pitchFamily="34" charset="-120"/>
              </a:rPr>
              <a:t>  puis pipeline vers Amazon Marketing Cloud.</a:t>
            </a:r>
            <a:endParaRPr lang="en-US" sz="1100" dirty="0"/>
          </a:p>
        </p:txBody>
      </p:sp>
      <p:sp>
        <p:nvSpPr>
          <p:cNvPr id="32" name="Shape 30"/>
          <p:cNvSpPr/>
          <p:nvPr/>
        </p:nvSpPr>
        <p:spPr>
          <a:xfrm>
            <a:off x="6766560" y="1554480"/>
            <a:ext cx="4846320" cy="3017520"/>
          </a:xfrm>
          <a:prstGeom prst="rect">
            <a:avLst/>
          </a:prstGeom>
          <a:solidFill>
            <a:srgbClr val="0B1F3A"/>
          </a:solidFill>
          <a:ln w="12700">
            <a:solidFill>
              <a:srgbClr val="0B1F3A"/>
            </a:solidFill>
            <a:prstDash val="solid"/>
          </a:ln>
          <a:effectLst>
            <a:outerShdw blurRad="76200" dist="25400" dir="8100000" algn="bl" rotWithShape="0">
              <a:srgbClr val="000000">
                <a:alpha val="12000"/>
              </a:srgbClr>
            </a:outerShdw>
          </a:effectLst>
        </p:spPr>
      </p:sp>
      <p:sp>
        <p:nvSpPr>
          <p:cNvPr id="33" name="Shape 31"/>
          <p:cNvSpPr/>
          <p:nvPr/>
        </p:nvSpPr>
        <p:spPr>
          <a:xfrm>
            <a:off x="6766560" y="1554480"/>
            <a:ext cx="4846320" cy="292608"/>
          </a:xfrm>
          <a:prstGeom prst="rect">
            <a:avLst/>
          </a:prstGeom>
          <a:solidFill>
            <a:srgbClr val="102B52"/>
          </a:solidFill>
          <a:ln w="12700">
            <a:solidFill>
              <a:srgbClr val="102B52"/>
            </a:solidFill>
            <a:prstDash val="solid"/>
          </a:ln>
        </p:spPr>
      </p:sp>
      <p:sp>
        <p:nvSpPr>
          <p:cNvPr id="34" name="Shape 32"/>
          <p:cNvSpPr/>
          <p:nvPr/>
        </p:nvSpPr>
        <p:spPr>
          <a:xfrm>
            <a:off x="6876288" y="1636776"/>
            <a:ext cx="128016" cy="128016"/>
          </a:xfrm>
          <a:prstGeom prst="ellipse">
            <a:avLst/>
          </a:prstGeom>
          <a:solidFill>
            <a:srgbClr val="FF5F57"/>
          </a:solidFill>
          <a:ln w="12700">
            <a:solidFill>
              <a:srgbClr val="FF5F57"/>
            </a:solidFill>
            <a:prstDash val="solid"/>
          </a:ln>
        </p:spPr>
      </p:sp>
      <p:sp>
        <p:nvSpPr>
          <p:cNvPr id="35" name="Shape 33"/>
          <p:cNvSpPr/>
          <p:nvPr/>
        </p:nvSpPr>
        <p:spPr>
          <a:xfrm>
            <a:off x="7059168" y="1636776"/>
            <a:ext cx="128016" cy="128016"/>
          </a:xfrm>
          <a:prstGeom prst="ellipse">
            <a:avLst/>
          </a:prstGeom>
          <a:solidFill>
            <a:srgbClr val="FEBC2E"/>
          </a:solidFill>
          <a:ln w="12700">
            <a:solidFill>
              <a:srgbClr val="FEBC2E"/>
            </a:solidFill>
            <a:prstDash val="solid"/>
          </a:ln>
        </p:spPr>
      </p:sp>
      <p:sp>
        <p:nvSpPr>
          <p:cNvPr id="36" name="Shape 34"/>
          <p:cNvSpPr/>
          <p:nvPr/>
        </p:nvSpPr>
        <p:spPr>
          <a:xfrm>
            <a:off x="7242048" y="1636776"/>
            <a:ext cx="128016" cy="128016"/>
          </a:xfrm>
          <a:prstGeom prst="ellipse">
            <a:avLst/>
          </a:prstGeom>
          <a:solidFill>
            <a:srgbClr val="28C840"/>
          </a:solidFill>
          <a:ln w="12700">
            <a:solidFill>
              <a:srgbClr val="28C840"/>
            </a:solidFill>
            <a:prstDash val="solid"/>
          </a:ln>
        </p:spPr>
      </p:sp>
      <p:sp>
        <p:nvSpPr>
          <p:cNvPr id="37" name="Text 35"/>
          <p:cNvSpPr/>
          <p:nvPr/>
        </p:nvSpPr>
        <p:spPr>
          <a:xfrm>
            <a:off x="7498080" y="1600200"/>
            <a:ext cx="4023360" cy="201168"/>
          </a:xfrm>
          <a:prstGeom prst="rect">
            <a:avLst/>
          </a:prstGeom>
          <a:noFill/>
          <a:ln/>
        </p:spPr>
        <p:txBody>
          <a:bodyPr wrap="square" lIns="0" tIns="0" rIns="0" bIns="0" rtlCol="0" anchor="ctr"/>
          <a:lstStyle/>
          <a:p>
            <a:pPr marL="0" indent="0" algn="l">
              <a:buNone/>
            </a:pPr>
            <a:r>
              <a:rPr lang="en-US" sz="1000" dirty="0">
                <a:solidFill>
                  <a:srgbClr val="E2E8F0"/>
                </a:solidFill>
                <a:latin typeface="Consolas" pitchFamily="34" charset="0"/>
                <a:ea typeface="Consolas" pitchFamily="34" charset="-122"/>
                <a:cs typeface="Consolas" pitchFamily="34" charset="-120"/>
              </a:rPr>
              <a:t>analysis-</a:t>
            </a:r>
            <a:r>
              <a:rPr lang="en-US" sz="1000" dirty="0" err="1">
                <a:solidFill>
                  <a:srgbClr val="E2E8F0"/>
                </a:solidFill>
                <a:latin typeface="Consolas" pitchFamily="34" charset="0"/>
                <a:ea typeface="Consolas" pitchFamily="34" charset="-122"/>
                <a:cs typeface="Consolas" pitchFamily="34" charset="-120"/>
              </a:rPr>
              <a:t>rule.json</a:t>
            </a:r>
            <a:r>
              <a:rPr lang="en-US" sz="1000" dirty="0">
                <a:solidFill>
                  <a:srgbClr val="E2E8F0"/>
                </a:solidFill>
                <a:latin typeface="Consolas" pitchFamily="34" charset="0"/>
                <a:ea typeface="Consolas" pitchFamily="34" charset="-122"/>
                <a:cs typeface="Consolas" pitchFamily="34" charset="-120"/>
              </a:rPr>
              <a:t>  AWS CR</a:t>
            </a:r>
            <a:endParaRPr lang="en-US" sz="1000" dirty="0"/>
          </a:p>
        </p:txBody>
      </p:sp>
      <p:sp>
        <p:nvSpPr>
          <p:cNvPr id="38" name="Text 36"/>
          <p:cNvSpPr/>
          <p:nvPr/>
        </p:nvSpPr>
        <p:spPr>
          <a:xfrm>
            <a:off x="6949440" y="1920240"/>
            <a:ext cx="4480560" cy="2560320"/>
          </a:xfrm>
          <a:prstGeom prst="rect">
            <a:avLst/>
          </a:prstGeom>
          <a:noFill/>
          <a:ln/>
        </p:spPr>
        <p:txBody>
          <a:bodyPr wrap="square" lIns="0" tIns="0" rIns="0" bIns="0" rtlCol="0" anchor="t"/>
          <a:lstStyle/>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a:t>
            </a:r>
            <a:endParaRPr lang="en-US" sz="1000" dirty="0"/>
          </a:p>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  "type": "AGGREGATION",</a:t>
            </a:r>
            <a:endParaRPr lang="en-US" sz="1000" dirty="0"/>
          </a:p>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  "aggregateColumns": ["order_value"],</a:t>
            </a:r>
            <a:endParaRPr lang="en-US" sz="1000" dirty="0"/>
          </a:p>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  "joinColumns": ["email_hash"],</a:t>
            </a:r>
            <a:endParaRPr lang="en-US" sz="1000" dirty="0"/>
          </a:p>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  "outputConstraints": {</a:t>
            </a:r>
            <a:endParaRPr lang="en-US" sz="1000" dirty="0"/>
          </a:p>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    "minimumRows": 100</a:t>
            </a:r>
            <a:endParaRPr lang="en-US" sz="1000" dirty="0"/>
          </a:p>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  },</a:t>
            </a:r>
            <a:endParaRPr lang="en-US" sz="1000" dirty="0"/>
          </a:p>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  "dimensionColumns": ["city"]</a:t>
            </a:r>
            <a:endParaRPr lang="en-US" sz="1000" dirty="0"/>
          </a:p>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a:t>
            </a:r>
            <a:endParaRPr lang="en-US" sz="1000" dirty="0"/>
          </a:p>
          <a:p>
            <a:pPr marL="0" indent="0">
              <a:spcAft>
                <a:spcPts val="200"/>
              </a:spcAft>
              <a:buNone/>
            </a:pPr>
            <a:r>
              <a:rPr lang="en-US" sz="1000" dirty="0">
                <a:solidFill>
                  <a:srgbClr val="F9B233"/>
                </a:solidFill>
                <a:latin typeface="Consolas" pitchFamily="34" charset="0"/>
                <a:ea typeface="Consolas" pitchFamily="34" charset="-122"/>
                <a:cs typeface="Consolas" pitchFamily="34" charset="-120"/>
              </a:rPr>
              <a:t>&gt; Collaboration : ACTIVE</a:t>
            </a:r>
            <a:endParaRPr lang="en-US" sz="1000" dirty="0"/>
          </a:p>
          <a:p>
            <a:pPr marL="0" indent="0">
              <a:spcAft>
                <a:spcPts val="200"/>
              </a:spcAft>
              <a:buNone/>
            </a:pPr>
            <a:r>
              <a:rPr lang="en-US" sz="1000" dirty="0">
                <a:solidFill>
                  <a:srgbClr val="F9B233"/>
                </a:solidFill>
                <a:latin typeface="Consolas" pitchFamily="34" charset="0"/>
                <a:ea typeface="Consolas" pitchFamily="34" charset="-122"/>
                <a:cs typeface="Consolas" pitchFamily="34" charset="-120"/>
              </a:rPr>
              <a:t>&gt; 3 queries validées</a:t>
            </a:r>
            <a:endParaRPr lang="en-US" sz="1000" dirty="0"/>
          </a:p>
        </p:txBody>
      </p:sp>
      <p:sp>
        <p:nvSpPr>
          <p:cNvPr id="39" name="Shape 37"/>
          <p:cNvSpPr/>
          <p:nvPr/>
        </p:nvSpPr>
        <p:spPr>
          <a:xfrm>
            <a:off x="6766560" y="4709160"/>
            <a:ext cx="4846320" cy="1691640"/>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40" name="Shape 38"/>
          <p:cNvSpPr/>
          <p:nvPr/>
        </p:nvSpPr>
        <p:spPr>
          <a:xfrm>
            <a:off x="6766560" y="4709160"/>
            <a:ext cx="91440" cy="1691640"/>
          </a:xfrm>
          <a:prstGeom prst="rect">
            <a:avLst/>
          </a:prstGeom>
          <a:solidFill>
            <a:srgbClr val="F96167"/>
          </a:solidFill>
          <a:ln w="12700">
            <a:solidFill>
              <a:srgbClr val="F96167"/>
            </a:solidFill>
            <a:prstDash val="solid"/>
          </a:ln>
        </p:spPr>
      </p:sp>
      <p:sp>
        <p:nvSpPr>
          <p:cNvPr id="41" name="Text 39"/>
          <p:cNvSpPr/>
          <p:nvPr/>
        </p:nvSpPr>
        <p:spPr>
          <a:xfrm>
            <a:off x="6995160" y="4846320"/>
            <a:ext cx="4480560" cy="274320"/>
          </a:xfrm>
          <a:prstGeom prst="rect">
            <a:avLst/>
          </a:prstGeom>
          <a:noFill/>
          <a:ln/>
        </p:spPr>
        <p:txBody>
          <a:bodyPr wrap="square" lIns="0" tIns="0" rIns="0" bIns="0" rtlCol="0" anchor="ctr"/>
          <a:lstStyle/>
          <a:p>
            <a:pPr marL="0" indent="0">
              <a:buNone/>
            </a:pPr>
            <a:r>
              <a:rPr lang="en-US" sz="1000" b="1" kern="0" spc="150" dirty="0">
                <a:solidFill>
                  <a:srgbClr val="F96167"/>
                </a:solidFill>
                <a:latin typeface="Calibri" pitchFamily="34" charset="0"/>
                <a:ea typeface="Calibri" pitchFamily="34" charset="-122"/>
                <a:cs typeface="Calibri" pitchFamily="34" charset="-120"/>
              </a:rPr>
              <a:t>RÉSULTAT LIVRÉ</a:t>
            </a:r>
            <a:endParaRPr lang="en-US" sz="1000" dirty="0"/>
          </a:p>
        </p:txBody>
      </p:sp>
      <p:sp>
        <p:nvSpPr>
          <p:cNvPr id="42" name="Text 40"/>
          <p:cNvSpPr/>
          <p:nvPr/>
        </p:nvSpPr>
        <p:spPr>
          <a:xfrm>
            <a:off x="6995160" y="5120640"/>
            <a:ext cx="4480560" cy="640080"/>
          </a:xfrm>
          <a:prstGeom prst="rect">
            <a:avLst/>
          </a:prstGeom>
          <a:noFill/>
          <a:ln/>
        </p:spPr>
        <p:txBody>
          <a:bodyPr wrap="square" lIns="0" tIns="0" rIns="0" bIns="0" rtlCol="0" anchor="ctr"/>
          <a:lstStyle/>
          <a:p>
            <a:pPr marL="0" indent="0">
              <a:buNone/>
            </a:pPr>
            <a:r>
              <a:rPr lang="en-US" sz="2200" b="1" dirty="0">
                <a:solidFill>
                  <a:srgbClr val="065A82"/>
                </a:solidFill>
                <a:latin typeface="Calibri" pitchFamily="34" charset="0"/>
                <a:ea typeface="Calibri" pitchFamily="34" charset="-122"/>
                <a:cs typeface="Calibri" pitchFamily="34" charset="-120"/>
              </a:rPr>
              <a:t>840 K users · Lift +14 %</a:t>
            </a:r>
            <a:endParaRPr lang="en-US" sz="2200" dirty="0"/>
          </a:p>
        </p:txBody>
      </p:sp>
      <p:sp>
        <p:nvSpPr>
          <p:cNvPr id="43" name="Text 41"/>
          <p:cNvSpPr/>
          <p:nvPr/>
        </p:nvSpPr>
        <p:spPr>
          <a:xfrm>
            <a:off x="6995160" y="5760720"/>
            <a:ext cx="4480560" cy="59436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Overlap calculé côté AWS, exporté en CSV → AMC pour activation sur Amazon Ads et Prime Video.</a:t>
            </a:r>
            <a:endParaRPr lang="en-US" sz="1100" dirty="0"/>
          </a:p>
        </p:txBody>
      </p:sp>
      <p:sp>
        <p:nvSpPr>
          <p:cNvPr id="44" name="Shape 42"/>
          <p:cNvSpPr/>
          <p:nvPr/>
        </p:nvSpPr>
        <p:spPr>
          <a:xfrm>
            <a:off x="0" y="6583680"/>
            <a:ext cx="12191695" cy="274320"/>
          </a:xfrm>
          <a:prstGeom prst="rect">
            <a:avLst/>
          </a:prstGeom>
          <a:solidFill>
            <a:srgbClr val="0B1F3A"/>
          </a:solidFill>
          <a:ln w="12700">
            <a:solidFill>
              <a:srgbClr val="0B1F3A"/>
            </a:solidFill>
            <a:prstDash val="solid"/>
          </a:ln>
        </p:spPr>
      </p:sp>
      <p:sp>
        <p:nvSpPr>
          <p:cNvPr id="45" name="Text 43"/>
          <p:cNvSpPr/>
          <p:nvPr/>
        </p:nvSpPr>
        <p:spPr>
          <a:xfrm>
            <a:off x="365760" y="6601968"/>
            <a:ext cx="822960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Session 2  Demos providers</a:t>
            </a:r>
            <a:endParaRPr lang="en-US" sz="1000" dirty="0"/>
          </a:p>
        </p:txBody>
      </p:sp>
      <p:sp>
        <p:nvSpPr>
          <p:cNvPr id="46" name="Text 44"/>
          <p:cNvSpPr/>
          <p:nvPr/>
        </p:nvSpPr>
        <p:spPr>
          <a:xfrm>
            <a:off x="11551615" y="6601968"/>
            <a:ext cx="365760" cy="237744"/>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26">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B1F3A"/>
          </a:solidFill>
          <a:ln w="12700">
            <a:solidFill>
              <a:srgbClr val="0B1F3A"/>
            </a:solidFill>
            <a:prstDash val="solid"/>
          </a:ln>
        </p:spPr>
      </p:sp>
      <p:sp>
        <p:nvSpPr>
          <p:cNvPr id="3" name="Text 1"/>
          <p:cNvSpPr/>
          <p:nvPr/>
        </p:nvSpPr>
        <p:spPr>
          <a:xfrm>
            <a:off x="548640" y="164592"/>
            <a:ext cx="6400800" cy="274320"/>
          </a:xfrm>
          <a:prstGeom prst="rect">
            <a:avLst/>
          </a:prstGeom>
          <a:noFill/>
          <a:ln/>
        </p:spPr>
        <p:txBody>
          <a:bodyPr wrap="square" lIns="0" tIns="0" rIns="0" bIns="0" rtlCol="0" anchor="ctr"/>
          <a:lstStyle/>
          <a:p>
            <a:pPr marL="0" indent="0">
              <a:buNone/>
            </a:pPr>
            <a:r>
              <a:rPr lang="en-US" sz="1100" b="1" kern="0" spc="200" dirty="0">
                <a:solidFill>
                  <a:srgbClr val="F96167"/>
                </a:solidFill>
                <a:latin typeface="Calibri" pitchFamily="34" charset="0"/>
                <a:ea typeface="Calibri" pitchFamily="34" charset="-122"/>
                <a:cs typeface="Calibri" pitchFamily="34" charset="-120"/>
              </a:rPr>
              <a:t>DEMO 4/4  ·  WALKTHROUGH GOOGLE ADH</a:t>
            </a:r>
            <a:endParaRPr lang="en-US" sz="1100" dirty="0"/>
          </a:p>
        </p:txBody>
      </p:sp>
      <p:sp>
        <p:nvSpPr>
          <p:cNvPr id="4" name="Text 2"/>
          <p:cNvSpPr/>
          <p:nvPr/>
        </p:nvSpPr>
        <p:spPr>
          <a:xfrm>
            <a:off x="548640" y="384048"/>
            <a:ext cx="8229600" cy="45720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Google Ads Data Hub (ADH)</a:t>
            </a:r>
            <a:endParaRPr lang="en-US" sz="2600" dirty="0"/>
          </a:p>
        </p:txBody>
      </p:sp>
      <p:sp>
        <p:nvSpPr>
          <p:cNvPr id="5" name="Text 3"/>
          <p:cNvSpPr/>
          <p:nvPr/>
        </p:nvSpPr>
        <p:spPr>
          <a:xfrm>
            <a:off x="548640" y="1051560"/>
            <a:ext cx="11064240" cy="320040"/>
          </a:xfrm>
          <a:prstGeom prst="rect">
            <a:avLst/>
          </a:prstGeom>
          <a:noFill/>
          <a:ln/>
        </p:spPr>
        <p:txBody>
          <a:bodyPr wrap="square" lIns="0" tIns="0" rIns="0" bIns="0" rtlCol="0" anchor="ctr"/>
          <a:lstStyle/>
          <a:p>
            <a:pPr marL="0" indent="0">
              <a:buNone/>
            </a:pPr>
            <a:r>
              <a:rPr lang="en-US" sz="1300" i="1" dirty="0">
                <a:solidFill>
                  <a:srgbClr val="1C7293"/>
                </a:solidFill>
                <a:latin typeface="Calibri" pitchFamily="34" charset="0"/>
                <a:ea typeface="Calibri" pitchFamily="34" charset="-122"/>
                <a:cs typeface="Calibri" pitchFamily="34" charset="-120"/>
              </a:rPr>
              <a:t>Mesurer l'incrémental YouTube en SQL </a:t>
            </a:r>
            <a:r>
              <a:rPr lang="en-US" sz="1300" i="1" dirty="0" err="1">
                <a:solidFill>
                  <a:srgbClr val="1C7293"/>
                </a:solidFill>
                <a:latin typeface="Calibri" pitchFamily="34" charset="0"/>
                <a:ea typeface="Calibri" pitchFamily="34" charset="-122"/>
                <a:cs typeface="Calibri" pitchFamily="34" charset="-120"/>
              </a:rPr>
              <a:t>BigQuery</a:t>
            </a:r>
            <a:r>
              <a:rPr lang="en-US" sz="1300" i="1" dirty="0">
                <a:solidFill>
                  <a:srgbClr val="1C7293"/>
                </a:solidFill>
                <a:latin typeface="Calibri" pitchFamily="34" charset="0"/>
                <a:ea typeface="Calibri" pitchFamily="34" charset="-122"/>
                <a:cs typeface="Calibri" pitchFamily="34" charset="-120"/>
              </a:rPr>
              <a:t>  seuil d'agrégation imposé par Google.</a:t>
            </a:r>
            <a:endParaRPr lang="en-US" sz="1300" dirty="0"/>
          </a:p>
        </p:txBody>
      </p:sp>
      <p:sp>
        <p:nvSpPr>
          <p:cNvPr id="6" name="Text 4"/>
          <p:cNvSpPr/>
          <p:nvPr/>
        </p:nvSpPr>
        <p:spPr>
          <a:xfrm>
            <a:off x="548640" y="1554480"/>
            <a:ext cx="6035040" cy="274320"/>
          </a:xfrm>
          <a:prstGeom prst="rect">
            <a:avLst/>
          </a:prstGeom>
          <a:noFill/>
          <a:ln/>
        </p:spPr>
        <p:txBody>
          <a:bodyPr wrap="square" lIns="0" tIns="0" rIns="0" bIns="0" rtlCol="0" anchor="ctr"/>
          <a:lstStyle/>
          <a:p>
            <a:pPr marL="0" indent="0">
              <a:buNone/>
            </a:pPr>
            <a:r>
              <a:rPr lang="en-US" sz="1100" b="1" kern="0" spc="150" dirty="0">
                <a:solidFill>
                  <a:srgbClr val="065A82"/>
                </a:solidFill>
                <a:latin typeface="Calibri" pitchFamily="34" charset="0"/>
                <a:ea typeface="Calibri" pitchFamily="34" charset="-122"/>
                <a:cs typeface="Calibri" pitchFamily="34" charset="-120"/>
              </a:rPr>
              <a:t>WORKFLOW  5 ÉTAPES CLÉS</a:t>
            </a:r>
            <a:endParaRPr lang="en-US" sz="1100" dirty="0"/>
          </a:p>
        </p:txBody>
      </p:sp>
      <p:sp>
        <p:nvSpPr>
          <p:cNvPr id="7" name="Shape 5"/>
          <p:cNvSpPr/>
          <p:nvPr/>
        </p:nvSpPr>
        <p:spPr>
          <a:xfrm>
            <a:off x="548640" y="1965960"/>
            <a:ext cx="6035040" cy="804672"/>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8" name="Shape 6"/>
          <p:cNvSpPr/>
          <p:nvPr/>
        </p:nvSpPr>
        <p:spPr>
          <a:xfrm>
            <a:off x="685800" y="2148840"/>
            <a:ext cx="457200" cy="457200"/>
          </a:xfrm>
          <a:prstGeom prst="ellipse">
            <a:avLst/>
          </a:prstGeom>
          <a:solidFill>
            <a:srgbClr val="F96167"/>
          </a:solidFill>
          <a:ln w="12700">
            <a:solidFill>
              <a:srgbClr val="F96167"/>
            </a:solidFill>
            <a:prstDash val="solid"/>
          </a:ln>
        </p:spPr>
      </p:sp>
      <p:sp>
        <p:nvSpPr>
          <p:cNvPr id="9" name="Text 7"/>
          <p:cNvSpPr/>
          <p:nvPr/>
        </p:nvSpPr>
        <p:spPr>
          <a:xfrm>
            <a:off x="685800" y="21488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0" name="Text 8"/>
          <p:cNvSpPr/>
          <p:nvPr/>
        </p:nvSpPr>
        <p:spPr>
          <a:xfrm>
            <a:off x="1280160" y="2057400"/>
            <a:ext cx="5212080" cy="27432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Lier BigQuery à ADH</a:t>
            </a:r>
            <a:endParaRPr lang="en-US" sz="1300" dirty="0"/>
          </a:p>
        </p:txBody>
      </p:sp>
      <p:sp>
        <p:nvSpPr>
          <p:cNvPr id="11" name="Text 9"/>
          <p:cNvSpPr/>
          <p:nvPr/>
        </p:nvSpPr>
        <p:spPr>
          <a:xfrm>
            <a:off x="1280160" y="2295144"/>
            <a:ext cx="5212080" cy="45720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Dans la console ADH, link du projet BigQuery qui contient votre table CRM (hash email).</a:t>
            </a:r>
            <a:endParaRPr lang="en-US" sz="1100" dirty="0"/>
          </a:p>
        </p:txBody>
      </p:sp>
      <p:sp>
        <p:nvSpPr>
          <p:cNvPr id="12" name="Shape 10"/>
          <p:cNvSpPr/>
          <p:nvPr/>
        </p:nvSpPr>
        <p:spPr>
          <a:xfrm>
            <a:off x="548640" y="2862072"/>
            <a:ext cx="6035040" cy="804672"/>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13" name="Shape 11"/>
          <p:cNvSpPr/>
          <p:nvPr/>
        </p:nvSpPr>
        <p:spPr>
          <a:xfrm>
            <a:off x="685800" y="3044952"/>
            <a:ext cx="457200" cy="457200"/>
          </a:xfrm>
          <a:prstGeom prst="ellipse">
            <a:avLst/>
          </a:prstGeom>
          <a:solidFill>
            <a:srgbClr val="F96167"/>
          </a:solidFill>
          <a:ln w="12700">
            <a:solidFill>
              <a:srgbClr val="F96167"/>
            </a:solidFill>
            <a:prstDash val="solid"/>
          </a:ln>
        </p:spPr>
      </p:sp>
      <p:sp>
        <p:nvSpPr>
          <p:cNvPr id="14" name="Text 12"/>
          <p:cNvSpPr/>
          <p:nvPr/>
        </p:nvSpPr>
        <p:spPr>
          <a:xfrm>
            <a:off x="685800" y="304495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5" name="Text 13"/>
          <p:cNvSpPr/>
          <p:nvPr/>
        </p:nvSpPr>
        <p:spPr>
          <a:xfrm>
            <a:off x="1280160" y="2953512"/>
            <a:ext cx="5212080" cy="27432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Écrire la requête</a:t>
            </a:r>
            <a:endParaRPr lang="en-US" sz="1300" dirty="0"/>
          </a:p>
        </p:txBody>
      </p:sp>
      <p:sp>
        <p:nvSpPr>
          <p:cNvPr id="16" name="Text 14"/>
          <p:cNvSpPr/>
          <p:nvPr/>
        </p:nvSpPr>
        <p:spPr>
          <a:xfrm>
            <a:off x="1280160" y="3191256"/>
            <a:ext cx="5212080" cy="45720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SQL standard sur les tables adh.* + votre table customers  JOIN sur user_hash.</a:t>
            </a:r>
            <a:endParaRPr lang="en-US" sz="1100" dirty="0"/>
          </a:p>
        </p:txBody>
      </p:sp>
      <p:sp>
        <p:nvSpPr>
          <p:cNvPr id="17" name="Shape 15"/>
          <p:cNvSpPr/>
          <p:nvPr/>
        </p:nvSpPr>
        <p:spPr>
          <a:xfrm>
            <a:off x="548640" y="3758184"/>
            <a:ext cx="6035040" cy="804672"/>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18" name="Shape 16"/>
          <p:cNvSpPr/>
          <p:nvPr/>
        </p:nvSpPr>
        <p:spPr>
          <a:xfrm>
            <a:off x="685800" y="3941064"/>
            <a:ext cx="457200" cy="457200"/>
          </a:xfrm>
          <a:prstGeom prst="ellipse">
            <a:avLst/>
          </a:prstGeom>
          <a:solidFill>
            <a:srgbClr val="F96167"/>
          </a:solidFill>
          <a:ln w="12700">
            <a:solidFill>
              <a:srgbClr val="F96167"/>
            </a:solidFill>
            <a:prstDash val="solid"/>
          </a:ln>
        </p:spPr>
      </p:sp>
      <p:sp>
        <p:nvSpPr>
          <p:cNvPr id="19" name="Text 17"/>
          <p:cNvSpPr/>
          <p:nvPr/>
        </p:nvSpPr>
        <p:spPr>
          <a:xfrm>
            <a:off x="685800" y="3941064"/>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0" name="Text 18"/>
          <p:cNvSpPr/>
          <p:nvPr/>
        </p:nvSpPr>
        <p:spPr>
          <a:xfrm>
            <a:off x="1280160" y="3849624"/>
            <a:ext cx="5212080" cy="27432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Filtre d'agrégation</a:t>
            </a:r>
            <a:endParaRPr lang="en-US" sz="1300" dirty="0"/>
          </a:p>
        </p:txBody>
      </p:sp>
      <p:sp>
        <p:nvSpPr>
          <p:cNvPr id="21" name="Text 19"/>
          <p:cNvSpPr/>
          <p:nvPr/>
        </p:nvSpPr>
        <p:spPr>
          <a:xfrm>
            <a:off x="1280160" y="4087368"/>
            <a:ext cx="5212080" cy="45720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Ajouter la clause REQUIRED FILTERED ROW COUNT ≥ 50  imposé par ADH.</a:t>
            </a:r>
            <a:endParaRPr lang="en-US" sz="1100" dirty="0"/>
          </a:p>
        </p:txBody>
      </p:sp>
      <p:sp>
        <p:nvSpPr>
          <p:cNvPr id="22" name="Shape 20"/>
          <p:cNvSpPr/>
          <p:nvPr/>
        </p:nvSpPr>
        <p:spPr>
          <a:xfrm>
            <a:off x="548640" y="4654296"/>
            <a:ext cx="6035040" cy="804672"/>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23" name="Shape 21"/>
          <p:cNvSpPr/>
          <p:nvPr/>
        </p:nvSpPr>
        <p:spPr>
          <a:xfrm>
            <a:off x="685800" y="4837176"/>
            <a:ext cx="457200" cy="457200"/>
          </a:xfrm>
          <a:prstGeom prst="ellipse">
            <a:avLst/>
          </a:prstGeom>
          <a:solidFill>
            <a:srgbClr val="F96167"/>
          </a:solidFill>
          <a:ln w="12700">
            <a:solidFill>
              <a:srgbClr val="F96167"/>
            </a:solidFill>
            <a:prstDash val="solid"/>
          </a:ln>
        </p:spPr>
      </p:sp>
      <p:sp>
        <p:nvSpPr>
          <p:cNvPr id="24" name="Text 22"/>
          <p:cNvSpPr/>
          <p:nvPr/>
        </p:nvSpPr>
        <p:spPr>
          <a:xfrm>
            <a:off x="685800" y="4837176"/>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5" name="Text 23"/>
          <p:cNvSpPr/>
          <p:nvPr/>
        </p:nvSpPr>
        <p:spPr>
          <a:xfrm>
            <a:off x="1280160" y="4745736"/>
            <a:ext cx="5212080" cy="27432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Soumettre pour exécution</a:t>
            </a:r>
            <a:endParaRPr lang="en-US" sz="1300" dirty="0"/>
          </a:p>
        </p:txBody>
      </p:sp>
      <p:sp>
        <p:nvSpPr>
          <p:cNvPr id="26" name="Text 24"/>
          <p:cNvSpPr/>
          <p:nvPr/>
        </p:nvSpPr>
        <p:spPr>
          <a:xfrm>
            <a:off x="1280160" y="4983480"/>
            <a:ext cx="5212080" cy="45720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ADH exécute la requête sur les logs Google Ads / YouTube  pas d'accès direct aux logs.</a:t>
            </a:r>
            <a:endParaRPr lang="en-US" sz="1100" dirty="0"/>
          </a:p>
        </p:txBody>
      </p:sp>
      <p:sp>
        <p:nvSpPr>
          <p:cNvPr id="27" name="Shape 25"/>
          <p:cNvSpPr/>
          <p:nvPr/>
        </p:nvSpPr>
        <p:spPr>
          <a:xfrm>
            <a:off x="548640" y="5550408"/>
            <a:ext cx="6035040" cy="804672"/>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28" name="Shape 26"/>
          <p:cNvSpPr/>
          <p:nvPr/>
        </p:nvSpPr>
        <p:spPr>
          <a:xfrm>
            <a:off x="685800" y="5733288"/>
            <a:ext cx="457200" cy="457200"/>
          </a:xfrm>
          <a:prstGeom prst="ellipse">
            <a:avLst/>
          </a:prstGeom>
          <a:solidFill>
            <a:srgbClr val="F96167"/>
          </a:solidFill>
          <a:ln w="12700">
            <a:solidFill>
              <a:srgbClr val="F96167"/>
            </a:solidFill>
            <a:prstDash val="solid"/>
          </a:ln>
        </p:spPr>
      </p:sp>
      <p:sp>
        <p:nvSpPr>
          <p:cNvPr id="29" name="Text 27"/>
          <p:cNvSpPr/>
          <p:nvPr/>
        </p:nvSpPr>
        <p:spPr>
          <a:xfrm>
            <a:off x="685800" y="573328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0" name="Text 28"/>
          <p:cNvSpPr/>
          <p:nvPr/>
        </p:nvSpPr>
        <p:spPr>
          <a:xfrm>
            <a:off x="1280160" y="5641848"/>
            <a:ext cx="5212080" cy="27432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Récupérer les résultats</a:t>
            </a:r>
            <a:endParaRPr lang="en-US" sz="1300" dirty="0"/>
          </a:p>
        </p:txBody>
      </p:sp>
      <p:sp>
        <p:nvSpPr>
          <p:cNvPr id="31" name="Text 29"/>
          <p:cNvSpPr/>
          <p:nvPr/>
        </p:nvSpPr>
        <p:spPr>
          <a:xfrm>
            <a:off x="1280160" y="5879592"/>
            <a:ext cx="5212080" cy="45720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Les résultats agrégés arrivent dans une table </a:t>
            </a:r>
            <a:r>
              <a:rPr lang="en-US" sz="1100" dirty="0" err="1">
                <a:solidFill>
                  <a:srgbClr val="1E293B"/>
                </a:solidFill>
                <a:latin typeface="Calibri" pitchFamily="34" charset="0"/>
                <a:ea typeface="Calibri" pitchFamily="34" charset="-122"/>
                <a:cs typeface="Calibri" pitchFamily="34" charset="-120"/>
              </a:rPr>
              <a:t>BigQuery</a:t>
            </a:r>
            <a:r>
              <a:rPr lang="en-US" sz="1100" dirty="0">
                <a:solidFill>
                  <a:srgbClr val="1E293B"/>
                </a:solidFill>
                <a:latin typeface="Calibri" pitchFamily="34" charset="0"/>
                <a:ea typeface="Calibri" pitchFamily="34" charset="-122"/>
                <a:cs typeface="Calibri" pitchFamily="34" charset="-120"/>
              </a:rPr>
              <a:t>  ready pour Looker ou activation.</a:t>
            </a:r>
            <a:endParaRPr lang="en-US" sz="1100" dirty="0"/>
          </a:p>
        </p:txBody>
      </p:sp>
      <p:sp>
        <p:nvSpPr>
          <p:cNvPr id="32" name="Shape 30"/>
          <p:cNvSpPr/>
          <p:nvPr/>
        </p:nvSpPr>
        <p:spPr>
          <a:xfrm>
            <a:off x="6766560" y="1554480"/>
            <a:ext cx="4846320" cy="3017520"/>
          </a:xfrm>
          <a:prstGeom prst="rect">
            <a:avLst/>
          </a:prstGeom>
          <a:solidFill>
            <a:srgbClr val="0B1F3A"/>
          </a:solidFill>
          <a:ln w="12700">
            <a:solidFill>
              <a:srgbClr val="0B1F3A"/>
            </a:solidFill>
            <a:prstDash val="solid"/>
          </a:ln>
          <a:effectLst>
            <a:outerShdw blurRad="76200" dist="25400" dir="8100000" algn="bl" rotWithShape="0">
              <a:srgbClr val="000000">
                <a:alpha val="12000"/>
              </a:srgbClr>
            </a:outerShdw>
          </a:effectLst>
        </p:spPr>
      </p:sp>
      <p:sp>
        <p:nvSpPr>
          <p:cNvPr id="33" name="Shape 31"/>
          <p:cNvSpPr/>
          <p:nvPr/>
        </p:nvSpPr>
        <p:spPr>
          <a:xfrm>
            <a:off x="6766560" y="1554480"/>
            <a:ext cx="4846320" cy="292608"/>
          </a:xfrm>
          <a:prstGeom prst="rect">
            <a:avLst/>
          </a:prstGeom>
          <a:solidFill>
            <a:srgbClr val="102B52"/>
          </a:solidFill>
          <a:ln w="12700">
            <a:solidFill>
              <a:srgbClr val="102B52"/>
            </a:solidFill>
            <a:prstDash val="solid"/>
          </a:ln>
        </p:spPr>
      </p:sp>
      <p:sp>
        <p:nvSpPr>
          <p:cNvPr id="34" name="Shape 32"/>
          <p:cNvSpPr/>
          <p:nvPr/>
        </p:nvSpPr>
        <p:spPr>
          <a:xfrm>
            <a:off x="6876288" y="1636776"/>
            <a:ext cx="128016" cy="128016"/>
          </a:xfrm>
          <a:prstGeom prst="ellipse">
            <a:avLst/>
          </a:prstGeom>
          <a:solidFill>
            <a:srgbClr val="FF5F57"/>
          </a:solidFill>
          <a:ln w="12700">
            <a:solidFill>
              <a:srgbClr val="FF5F57"/>
            </a:solidFill>
            <a:prstDash val="solid"/>
          </a:ln>
        </p:spPr>
      </p:sp>
      <p:sp>
        <p:nvSpPr>
          <p:cNvPr id="35" name="Shape 33"/>
          <p:cNvSpPr/>
          <p:nvPr/>
        </p:nvSpPr>
        <p:spPr>
          <a:xfrm>
            <a:off x="7059168" y="1636776"/>
            <a:ext cx="128016" cy="128016"/>
          </a:xfrm>
          <a:prstGeom prst="ellipse">
            <a:avLst/>
          </a:prstGeom>
          <a:solidFill>
            <a:srgbClr val="FEBC2E"/>
          </a:solidFill>
          <a:ln w="12700">
            <a:solidFill>
              <a:srgbClr val="FEBC2E"/>
            </a:solidFill>
            <a:prstDash val="solid"/>
          </a:ln>
        </p:spPr>
      </p:sp>
      <p:sp>
        <p:nvSpPr>
          <p:cNvPr id="36" name="Shape 34"/>
          <p:cNvSpPr/>
          <p:nvPr/>
        </p:nvSpPr>
        <p:spPr>
          <a:xfrm>
            <a:off x="7242048" y="1636776"/>
            <a:ext cx="128016" cy="128016"/>
          </a:xfrm>
          <a:prstGeom prst="ellipse">
            <a:avLst/>
          </a:prstGeom>
          <a:solidFill>
            <a:srgbClr val="28C840"/>
          </a:solidFill>
          <a:ln w="12700">
            <a:solidFill>
              <a:srgbClr val="28C840"/>
            </a:solidFill>
            <a:prstDash val="solid"/>
          </a:ln>
        </p:spPr>
      </p:sp>
      <p:sp>
        <p:nvSpPr>
          <p:cNvPr id="37" name="Text 35"/>
          <p:cNvSpPr/>
          <p:nvPr/>
        </p:nvSpPr>
        <p:spPr>
          <a:xfrm>
            <a:off x="7498080" y="1600200"/>
            <a:ext cx="4023360" cy="201168"/>
          </a:xfrm>
          <a:prstGeom prst="rect">
            <a:avLst/>
          </a:prstGeom>
          <a:noFill/>
          <a:ln/>
        </p:spPr>
        <p:txBody>
          <a:bodyPr wrap="square" lIns="0" tIns="0" rIns="0" bIns="0" rtlCol="0" anchor="ctr"/>
          <a:lstStyle/>
          <a:p>
            <a:pPr marL="0" indent="0" algn="l">
              <a:buNone/>
            </a:pPr>
            <a:r>
              <a:rPr lang="en-US" sz="1000" dirty="0" err="1">
                <a:solidFill>
                  <a:srgbClr val="E2E8F0"/>
                </a:solidFill>
                <a:latin typeface="Consolas" pitchFamily="34" charset="0"/>
                <a:ea typeface="Consolas" pitchFamily="34" charset="-122"/>
                <a:cs typeface="Consolas" pitchFamily="34" charset="-120"/>
              </a:rPr>
              <a:t>incremental_reach.sql</a:t>
            </a:r>
            <a:r>
              <a:rPr lang="en-US" sz="1000" dirty="0">
                <a:solidFill>
                  <a:srgbClr val="E2E8F0"/>
                </a:solidFill>
                <a:latin typeface="Consolas" pitchFamily="34" charset="0"/>
                <a:ea typeface="Consolas" pitchFamily="34" charset="-122"/>
                <a:cs typeface="Consolas" pitchFamily="34" charset="-120"/>
              </a:rPr>
              <a:t>  ADH</a:t>
            </a:r>
            <a:endParaRPr lang="en-US" sz="1000" dirty="0"/>
          </a:p>
        </p:txBody>
      </p:sp>
      <p:sp>
        <p:nvSpPr>
          <p:cNvPr id="38" name="Text 36"/>
          <p:cNvSpPr/>
          <p:nvPr/>
        </p:nvSpPr>
        <p:spPr>
          <a:xfrm>
            <a:off x="6949440" y="1920240"/>
            <a:ext cx="4480560" cy="2560320"/>
          </a:xfrm>
          <a:prstGeom prst="rect">
            <a:avLst/>
          </a:prstGeom>
          <a:noFill/>
          <a:ln/>
        </p:spPr>
        <p:txBody>
          <a:bodyPr wrap="square" lIns="0" tIns="0" rIns="0" bIns="0" rtlCol="0" anchor="t"/>
          <a:lstStyle/>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SELECT</a:t>
            </a:r>
            <a:endParaRPr lang="en-US" sz="1000" dirty="0"/>
          </a:p>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  campaign_id,</a:t>
            </a:r>
            <a:endParaRPr lang="en-US" sz="1000" dirty="0"/>
          </a:p>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  COUNT(DISTINCT user_id) AS reach,</a:t>
            </a:r>
            <a:endParaRPr lang="en-US" sz="1000" dirty="0"/>
          </a:p>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  SUM(conversions) AS conv</a:t>
            </a:r>
            <a:endParaRPr lang="en-US" sz="1000" dirty="0"/>
          </a:p>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FROM adh.youtube_video</a:t>
            </a:r>
            <a:endParaRPr lang="en-US" sz="1000" dirty="0"/>
          </a:p>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JOIN customers USING(user_hash)</a:t>
            </a:r>
            <a:endParaRPr lang="en-US" sz="1000" dirty="0"/>
          </a:p>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GROUP BY campaign_id</a:t>
            </a:r>
            <a:endParaRPr lang="en-US" sz="1000" dirty="0"/>
          </a:p>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HAVING COUNT(DISTINCT user_id) &gt;= 50</a:t>
            </a:r>
            <a:endParaRPr lang="en-US" sz="1000" dirty="0"/>
          </a:p>
          <a:p>
            <a:pPr marL="0" indent="0">
              <a:spcAft>
                <a:spcPts val="200"/>
              </a:spcAft>
              <a:buNone/>
            </a:pPr>
            <a:endParaRPr lang="en-US" sz="1000" dirty="0"/>
          </a:p>
          <a:p>
            <a:pPr marL="0" indent="0">
              <a:spcAft>
                <a:spcPts val="200"/>
              </a:spcAft>
              <a:buNone/>
            </a:pPr>
            <a:r>
              <a:rPr lang="en-US" sz="1000" dirty="0">
                <a:solidFill>
                  <a:srgbClr val="F9B233"/>
                </a:solidFill>
                <a:latin typeface="Consolas" pitchFamily="34" charset="0"/>
                <a:ea typeface="Consolas" pitchFamily="34" charset="-122"/>
                <a:cs typeface="Consolas" pitchFamily="34" charset="-120"/>
              </a:rPr>
              <a:t>&gt; Query approved by ADH</a:t>
            </a:r>
            <a:endParaRPr lang="en-US" sz="1000" dirty="0"/>
          </a:p>
          <a:p>
            <a:pPr marL="0" indent="0">
              <a:spcAft>
                <a:spcPts val="200"/>
              </a:spcAft>
              <a:buNone/>
            </a:pPr>
            <a:r>
              <a:rPr lang="en-US" sz="1000" dirty="0">
                <a:solidFill>
                  <a:srgbClr val="F9B233"/>
                </a:solidFill>
                <a:latin typeface="Consolas" pitchFamily="34" charset="0"/>
                <a:ea typeface="Consolas" pitchFamily="34" charset="-122"/>
                <a:cs typeface="Consolas" pitchFamily="34" charset="-120"/>
              </a:rPr>
              <a:t>&gt; Result → BigQuery.adh_out</a:t>
            </a:r>
            <a:endParaRPr lang="en-US" sz="1000" dirty="0"/>
          </a:p>
        </p:txBody>
      </p:sp>
      <p:sp>
        <p:nvSpPr>
          <p:cNvPr id="39" name="Shape 37"/>
          <p:cNvSpPr/>
          <p:nvPr/>
        </p:nvSpPr>
        <p:spPr>
          <a:xfrm>
            <a:off x="6766560" y="4709160"/>
            <a:ext cx="4846320" cy="1691640"/>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40" name="Shape 38"/>
          <p:cNvSpPr/>
          <p:nvPr/>
        </p:nvSpPr>
        <p:spPr>
          <a:xfrm>
            <a:off x="6766560" y="4709160"/>
            <a:ext cx="91440" cy="1691640"/>
          </a:xfrm>
          <a:prstGeom prst="rect">
            <a:avLst/>
          </a:prstGeom>
          <a:solidFill>
            <a:srgbClr val="F96167"/>
          </a:solidFill>
          <a:ln w="12700">
            <a:solidFill>
              <a:srgbClr val="F96167"/>
            </a:solidFill>
            <a:prstDash val="solid"/>
          </a:ln>
        </p:spPr>
      </p:sp>
      <p:sp>
        <p:nvSpPr>
          <p:cNvPr id="41" name="Text 39"/>
          <p:cNvSpPr/>
          <p:nvPr/>
        </p:nvSpPr>
        <p:spPr>
          <a:xfrm>
            <a:off x="6995160" y="4846320"/>
            <a:ext cx="4480560" cy="274320"/>
          </a:xfrm>
          <a:prstGeom prst="rect">
            <a:avLst/>
          </a:prstGeom>
          <a:noFill/>
          <a:ln/>
        </p:spPr>
        <p:txBody>
          <a:bodyPr wrap="square" lIns="0" tIns="0" rIns="0" bIns="0" rtlCol="0" anchor="ctr"/>
          <a:lstStyle/>
          <a:p>
            <a:pPr marL="0" indent="0">
              <a:buNone/>
            </a:pPr>
            <a:r>
              <a:rPr lang="en-US" sz="1000" b="1" kern="0" spc="150" dirty="0">
                <a:solidFill>
                  <a:srgbClr val="F96167"/>
                </a:solidFill>
                <a:latin typeface="Calibri" pitchFamily="34" charset="0"/>
                <a:ea typeface="Calibri" pitchFamily="34" charset="-122"/>
                <a:cs typeface="Calibri" pitchFamily="34" charset="-120"/>
              </a:rPr>
              <a:t>RÉSULTAT LIVRÉ</a:t>
            </a:r>
            <a:endParaRPr lang="en-US" sz="1000" dirty="0"/>
          </a:p>
        </p:txBody>
      </p:sp>
      <p:sp>
        <p:nvSpPr>
          <p:cNvPr id="42" name="Text 40"/>
          <p:cNvSpPr/>
          <p:nvPr/>
        </p:nvSpPr>
        <p:spPr>
          <a:xfrm>
            <a:off x="6995160" y="5120640"/>
            <a:ext cx="4480560" cy="640080"/>
          </a:xfrm>
          <a:prstGeom prst="rect">
            <a:avLst/>
          </a:prstGeom>
          <a:noFill/>
          <a:ln/>
        </p:spPr>
        <p:txBody>
          <a:bodyPr wrap="square" lIns="0" tIns="0" rIns="0" bIns="0" rtlCol="0" anchor="ctr"/>
          <a:lstStyle/>
          <a:p>
            <a:pPr marL="0" indent="0">
              <a:buNone/>
            </a:pPr>
            <a:r>
              <a:rPr lang="en-US" sz="2200" b="1" dirty="0">
                <a:solidFill>
                  <a:srgbClr val="065A82"/>
                </a:solidFill>
                <a:latin typeface="Calibri" pitchFamily="34" charset="0"/>
                <a:ea typeface="Calibri" pitchFamily="34" charset="-122"/>
                <a:cs typeface="Calibri" pitchFamily="34" charset="-120"/>
              </a:rPr>
              <a:t>Reach incrémental 2,3 M</a:t>
            </a:r>
            <a:endParaRPr lang="en-US" sz="2200" dirty="0"/>
          </a:p>
        </p:txBody>
      </p:sp>
      <p:sp>
        <p:nvSpPr>
          <p:cNvPr id="43" name="Text 41"/>
          <p:cNvSpPr/>
          <p:nvPr/>
        </p:nvSpPr>
        <p:spPr>
          <a:xfrm>
            <a:off x="6995160" y="5760720"/>
            <a:ext cx="4480560" cy="59436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Campagnes YouTube mesurées sur la base CRM  réallocation budget +18 % sur les formats les plus incrémentaux.</a:t>
            </a:r>
            <a:endParaRPr lang="en-US" sz="1100" dirty="0"/>
          </a:p>
        </p:txBody>
      </p:sp>
      <p:sp>
        <p:nvSpPr>
          <p:cNvPr id="44" name="Shape 42"/>
          <p:cNvSpPr/>
          <p:nvPr/>
        </p:nvSpPr>
        <p:spPr>
          <a:xfrm>
            <a:off x="0" y="6583680"/>
            <a:ext cx="12191695" cy="274320"/>
          </a:xfrm>
          <a:prstGeom prst="rect">
            <a:avLst/>
          </a:prstGeom>
          <a:solidFill>
            <a:srgbClr val="0B1F3A"/>
          </a:solidFill>
          <a:ln w="12700">
            <a:solidFill>
              <a:srgbClr val="0B1F3A"/>
            </a:solidFill>
            <a:prstDash val="solid"/>
          </a:ln>
        </p:spPr>
      </p:sp>
      <p:sp>
        <p:nvSpPr>
          <p:cNvPr id="45" name="Text 43"/>
          <p:cNvSpPr/>
          <p:nvPr/>
        </p:nvSpPr>
        <p:spPr>
          <a:xfrm>
            <a:off x="365760" y="6601968"/>
            <a:ext cx="822960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Session 2  Demos providers</a:t>
            </a:r>
            <a:endParaRPr lang="en-US" sz="1000" dirty="0"/>
          </a:p>
        </p:txBody>
      </p:sp>
      <p:sp>
        <p:nvSpPr>
          <p:cNvPr id="46" name="Text 44"/>
          <p:cNvSpPr/>
          <p:nvPr/>
        </p:nvSpPr>
        <p:spPr>
          <a:xfrm>
            <a:off x="11551615" y="6601968"/>
            <a:ext cx="365760" cy="237744"/>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27">
    <p:bg>
      <p:bgPr>
        <a:solidFill>
          <a:srgbClr val="F5F8FC"/>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731520"/>
          </a:xfrm>
          <a:prstGeom prst="rect">
            <a:avLst/>
          </a:prstGeom>
          <a:noFill/>
          <a:ln/>
        </p:spPr>
        <p:txBody>
          <a:bodyPr wrap="square" lIns="0" tIns="0" rIns="0" bIns="0" rtlCol="0" anchor="ctr"/>
          <a:lstStyle/>
          <a:p>
            <a:pPr marL="0" indent="0" algn="l">
              <a:buNone/>
            </a:pPr>
            <a:r>
              <a:rPr lang="en-US" sz="3200" b="1" dirty="0" err="1">
                <a:solidFill>
                  <a:srgbClr val="0B1F3A"/>
                </a:solidFill>
                <a:latin typeface="Calibri" pitchFamily="34" charset="0"/>
                <a:ea typeface="Calibri" pitchFamily="34" charset="-122"/>
                <a:cs typeface="Calibri" pitchFamily="34" charset="-120"/>
              </a:rPr>
              <a:t>Comparatif</a:t>
            </a:r>
            <a:r>
              <a:rPr lang="en-US" sz="3200" b="1" dirty="0">
                <a:solidFill>
                  <a:srgbClr val="0B1F3A"/>
                </a:solidFill>
                <a:latin typeface="Calibri" pitchFamily="34" charset="0"/>
                <a:ea typeface="Calibri" pitchFamily="34" charset="-122"/>
                <a:cs typeface="Calibri" pitchFamily="34" charset="-120"/>
              </a:rPr>
              <a:t>  providers Cloud &amp; Data</a:t>
            </a:r>
            <a:endParaRPr lang="en-US" sz="3200" dirty="0"/>
          </a:p>
        </p:txBody>
      </p:sp>
      <p:sp>
        <p:nvSpPr>
          <p:cNvPr id="3" name="Shape 1"/>
          <p:cNvSpPr/>
          <p:nvPr/>
        </p:nvSpPr>
        <p:spPr>
          <a:xfrm>
            <a:off x="548640" y="1005840"/>
            <a:ext cx="548640" cy="73152"/>
          </a:xfrm>
          <a:prstGeom prst="rect">
            <a:avLst/>
          </a:prstGeom>
          <a:solidFill>
            <a:srgbClr val="F96167"/>
          </a:solidFill>
          <a:ln w="12700">
            <a:solidFill>
              <a:srgbClr val="F96167"/>
            </a:solidFill>
            <a:prstDash val="solid"/>
          </a:ln>
        </p:spPr>
      </p:sp>
      <p:sp>
        <p:nvSpPr>
          <p:cNvPr id="4" name="Text 2"/>
          <p:cNvSpPr/>
          <p:nvPr/>
        </p:nvSpPr>
        <p:spPr>
          <a:xfrm>
            <a:off x="548640" y="1143000"/>
            <a:ext cx="11064240" cy="411480"/>
          </a:xfrm>
          <a:prstGeom prst="rect">
            <a:avLst/>
          </a:prstGeom>
          <a:noFill/>
          <a:ln/>
        </p:spPr>
        <p:txBody>
          <a:bodyPr wrap="square" lIns="0" tIns="0" rIns="0" bIns="0" rtlCol="0" anchor="ctr"/>
          <a:lstStyle/>
          <a:p>
            <a:pPr marL="0" indent="0" algn="l">
              <a:buNone/>
            </a:pPr>
            <a:r>
              <a:rPr lang="en-US" sz="1600" i="1" dirty="0">
                <a:solidFill>
                  <a:srgbClr val="1C7293"/>
                </a:solidFill>
                <a:latin typeface="Calibri" pitchFamily="34" charset="0"/>
                <a:ea typeface="Calibri" pitchFamily="34" charset="-122"/>
                <a:cs typeface="Calibri" pitchFamily="34" charset="-120"/>
              </a:rPr>
              <a:t>Cinq dimensions qui comptent quand vous faites un choix.</a:t>
            </a:r>
            <a:endParaRPr lang="en-US" sz="16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640080" y="1828800"/>
          <a:ext cx="11064240" cy="3520440"/>
        </p:xfrm>
        <a:graphic>
          <a:graphicData uri="http://schemas.openxmlformats.org/drawingml/2006/table">
            <a:tbl>
              <a:tblPr/>
              <a:tblGrid>
                <a:gridCol w="228600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502920">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Provider</a:t>
                      </a:r>
                      <a:endParaRPr lang="en-US" sz="13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F3A"/>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Force</a:t>
                      </a:r>
                      <a:endParaRPr lang="en-US" sz="13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F3A"/>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Faiblesse</a:t>
                      </a:r>
                      <a:endParaRPr lang="en-US" sz="13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F3A"/>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Pour qui ?</a:t>
                      </a:r>
                      <a:endParaRPr lang="en-US" sz="13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F3A"/>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Coût</a:t>
                      </a:r>
                      <a:endParaRPr lang="en-US" sz="13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F3A"/>
                    </a:solidFill>
                  </a:tcPr>
                </a:tc>
                <a:extLst>
                  <a:ext uri="{0D108BD9-81ED-4DB2-BD59-A6C34878D82A}">
                    <a16:rowId xmlns:a16="http://schemas.microsoft.com/office/drawing/2014/main" val="10000"/>
                  </a:ext>
                </a:extLst>
              </a:tr>
              <a:tr h="502920">
                <a:tc>
                  <a:txBody>
                    <a:bodyPr/>
                    <a:lstStyle/>
                    <a:p>
                      <a:pPr marL="0" indent="0">
                        <a:buNone/>
                      </a:pPr>
                      <a:r>
                        <a:rPr lang="en-US" sz="1200" b="1" dirty="0">
                          <a:solidFill>
                            <a:srgbClr val="065A82"/>
                          </a:solidFill>
                          <a:latin typeface="Calibri" pitchFamily="34" charset="0"/>
                          <a:ea typeface="Calibri" pitchFamily="34" charset="-122"/>
                          <a:cs typeface="Calibri" pitchFamily="34" charset="-120"/>
                        </a:rPr>
                        <a:t>AWS Clean Rooms</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Intégration AWS/AMC</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Moins mature UX</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Déjà sur AWS</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200" b="1" dirty="0">
                          <a:solidFill>
                            <a:srgbClr val="065A82"/>
                          </a:solidFill>
                          <a:latin typeface="Calibri" pitchFamily="34" charset="0"/>
                          <a:ea typeface="Calibri" pitchFamily="34" charset="-122"/>
                          <a:cs typeface="Calibri" pitchFamily="34" charset="-120"/>
                        </a:rPr>
                        <a:t>Google ADH</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8FC"/>
                    </a:solidFill>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Données YouTube</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8FC"/>
                    </a:solidFill>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Réservé à Google Ads</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8FC"/>
                    </a:solidFill>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Gros annonceurs Google</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8FC"/>
                    </a:solidFill>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Inclus</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8FC"/>
                    </a:solidFill>
                  </a:tcPr>
                </a:tc>
                <a:extLst>
                  <a:ext uri="{0D108BD9-81ED-4DB2-BD59-A6C34878D82A}">
                    <a16:rowId xmlns:a16="http://schemas.microsoft.com/office/drawing/2014/main" val="10002"/>
                  </a:ext>
                </a:extLst>
              </a:tr>
              <a:tr h="502920">
                <a:tc>
                  <a:txBody>
                    <a:bodyPr/>
                    <a:lstStyle/>
                    <a:p>
                      <a:pPr marL="0" indent="0">
                        <a:buNone/>
                      </a:pPr>
                      <a:r>
                        <a:rPr lang="en-US" sz="1200" b="1" dirty="0">
                          <a:solidFill>
                            <a:srgbClr val="065A82"/>
                          </a:solidFill>
                          <a:latin typeface="Calibri" pitchFamily="34" charset="0"/>
                          <a:ea typeface="Calibri" pitchFamily="34" charset="-122"/>
                          <a:cs typeface="Calibri" pitchFamily="34" charset="-120"/>
                        </a:rPr>
                        <a:t>BigQuery CR</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Interop GCP/Looker</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Jeune sur DCR</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Déjà sur BigQuery</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buNone/>
                      </a:pPr>
                      <a:r>
                        <a:rPr lang="en-US" sz="1200" b="1" dirty="0">
                          <a:solidFill>
                            <a:srgbClr val="065A82"/>
                          </a:solidFill>
                          <a:latin typeface="Calibri" pitchFamily="34" charset="0"/>
                          <a:ea typeface="Calibri" pitchFamily="34" charset="-122"/>
                          <a:cs typeface="Calibri" pitchFamily="34" charset="-120"/>
                        </a:rPr>
                        <a:t>Snowflake DCR</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8FC"/>
                    </a:solidFill>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Multi-cloud, mature</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8FC"/>
                    </a:solidFill>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Coût compute</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8FC"/>
                    </a:solidFill>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Référence neutre</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8FC"/>
                    </a:solidFill>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8FC"/>
                    </a:solidFill>
                  </a:tcPr>
                </a:tc>
                <a:extLst>
                  <a:ext uri="{0D108BD9-81ED-4DB2-BD59-A6C34878D82A}">
                    <a16:rowId xmlns:a16="http://schemas.microsoft.com/office/drawing/2014/main" val="10004"/>
                  </a:ext>
                </a:extLst>
              </a:tr>
              <a:tr h="502920">
                <a:tc>
                  <a:txBody>
                    <a:bodyPr/>
                    <a:lstStyle/>
                    <a:p>
                      <a:pPr marL="0" indent="0">
                        <a:buNone/>
                      </a:pPr>
                      <a:r>
                        <a:rPr lang="en-US" sz="1200" b="1" dirty="0">
                          <a:solidFill>
                            <a:srgbClr val="065A82"/>
                          </a:solidFill>
                          <a:latin typeface="Calibri" pitchFamily="34" charset="0"/>
                          <a:ea typeface="Calibri" pitchFamily="34" charset="-122"/>
                          <a:cs typeface="Calibri" pitchFamily="34" charset="-120"/>
                        </a:rPr>
                        <a:t>Databricks CR</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ML &amp; Python natif</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Courbe d'apprentissage</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Équipes data mature</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2920">
                <a:tc>
                  <a:txBody>
                    <a:bodyPr/>
                    <a:lstStyle/>
                    <a:p>
                      <a:pPr marL="0" indent="0">
                        <a:buNone/>
                      </a:pPr>
                      <a:r>
                        <a:rPr lang="en-US" sz="1200" b="1" dirty="0">
                          <a:solidFill>
                            <a:srgbClr val="065A82"/>
                          </a:solidFill>
                          <a:latin typeface="Calibri" pitchFamily="34" charset="0"/>
                          <a:ea typeface="Calibri" pitchFamily="34" charset="-122"/>
                          <a:cs typeface="Calibri" pitchFamily="34" charset="-120"/>
                        </a:rPr>
                        <a:t>Samooha</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8FC"/>
                    </a:solidFill>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No-code marketing</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8FC"/>
                    </a:solidFill>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Adossé Snowflake</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8FC"/>
                    </a:solidFill>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Marketeurs sans DSI</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8FC"/>
                    </a:solidFill>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8FC"/>
                    </a:solidFill>
                  </a:tcPr>
                </a:tc>
                <a:extLst>
                  <a:ext uri="{0D108BD9-81ED-4DB2-BD59-A6C34878D82A}">
                    <a16:rowId xmlns:a16="http://schemas.microsoft.com/office/drawing/2014/main" val="10006"/>
                  </a:ext>
                </a:extLst>
              </a:tr>
            </a:tbl>
          </a:graphicData>
        </a:graphic>
      </p:graphicFrame>
      <p:sp>
        <p:nvSpPr>
          <p:cNvPr id="6" name="Shape 3"/>
          <p:cNvSpPr/>
          <p:nvPr/>
        </p:nvSpPr>
        <p:spPr>
          <a:xfrm>
            <a:off x="640080" y="5532120"/>
            <a:ext cx="11064240" cy="868680"/>
          </a:xfrm>
          <a:prstGeom prst="rect">
            <a:avLst/>
          </a:prstGeom>
          <a:solidFill>
            <a:srgbClr val="0B1F3A"/>
          </a:solidFill>
          <a:ln w="12700">
            <a:solidFill>
              <a:srgbClr val="0B1F3A"/>
            </a:solidFill>
            <a:prstDash val="solid"/>
          </a:ln>
          <a:effectLst>
            <a:outerShdw blurRad="76200" dist="25400" dir="8100000" algn="bl" rotWithShape="0">
              <a:srgbClr val="000000">
                <a:alpha val="12000"/>
              </a:srgbClr>
            </a:outerShdw>
          </a:effectLst>
        </p:spPr>
      </p:sp>
      <p:sp>
        <p:nvSpPr>
          <p:cNvPr id="7" name="Shape 4"/>
          <p:cNvSpPr/>
          <p:nvPr/>
        </p:nvSpPr>
        <p:spPr>
          <a:xfrm>
            <a:off x="640080" y="5532120"/>
            <a:ext cx="109728" cy="868680"/>
          </a:xfrm>
          <a:prstGeom prst="rect">
            <a:avLst/>
          </a:prstGeom>
          <a:solidFill>
            <a:srgbClr val="F96167"/>
          </a:solidFill>
          <a:ln w="12700">
            <a:solidFill>
              <a:srgbClr val="F96167"/>
            </a:solidFill>
            <a:prstDash val="solid"/>
          </a:ln>
        </p:spPr>
      </p:sp>
      <p:sp>
        <p:nvSpPr>
          <p:cNvPr id="8" name="Text 5"/>
          <p:cNvSpPr/>
          <p:nvPr/>
        </p:nvSpPr>
        <p:spPr>
          <a:xfrm>
            <a:off x="868680" y="5623560"/>
            <a:ext cx="2743200" cy="274320"/>
          </a:xfrm>
          <a:prstGeom prst="rect">
            <a:avLst/>
          </a:prstGeom>
          <a:noFill/>
          <a:ln/>
        </p:spPr>
        <p:txBody>
          <a:bodyPr wrap="square" lIns="0" tIns="0" rIns="0" bIns="0" rtlCol="0" anchor="ctr"/>
          <a:lstStyle/>
          <a:p>
            <a:pPr marL="0" indent="0">
              <a:buNone/>
            </a:pPr>
            <a:r>
              <a:rPr lang="en-US" sz="1100" b="1" kern="0" spc="150" dirty="0">
                <a:solidFill>
                  <a:srgbClr val="F9B233"/>
                </a:solidFill>
                <a:latin typeface="Calibri" pitchFamily="34" charset="0"/>
                <a:ea typeface="Calibri" pitchFamily="34" charset="-122"/>
                <a:cs typeface="Calibri" pitchFamily="34" charset="-120"/>
              </a:rPr>
              <a:t>RÈGLE DE POUCE</a:t>
            </a:r>
            <a:endParaRPr lang="en-US" sz="1100" dirty="0"/>
          </a:p>
        </p:txBody>
      </p:sp>
      <p:sp>
        <p:nvSpPr>
          <p:cNvPr id="9" name="Text 6"/>
          <p:cNvSpPr/>
          <p:nvPr/>
        </p:nvSpPr>
        <p:spPr>
          <a:xfrm>
            <a:off x="868680" y="5852160"/>
            <a:ext cx="10789920" cy="50292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Commencez par le provider où vous avez déjà votre data. Ne migrez pas d'écosystème cloud juste pour avoir une DCR  construisez sur ce que vous avez.</a:t>
            </a:r>
            <a:endParaRPr lang="en-US" sz="1300" dirty="0"/>
          </a:p>
        </p:txBody>
      </p:sp>
      <p:sp>
        <p:nvSpPr>
          <p:cNvPr id="10" name="Shape 7"/>
          <p:cNvSpPr/>
          <p:nvPr/>
        </p:nvSpPr>
        <p:spPr>
          <a:xfrm>
            <a:off x="0" y="6583680"/>
            <a:ext cx="12191695" cy="274320"/>
          </a:xfrm>
          <a:prstGeom prst="rect">
            <a:avLst/>
          </a:prstGeom>
          <a:solidFill>
            <a:srgbClr val="0B1F3A"/>
          </a:solidFill>
          <a:ln w="12700">
            <a:solidFill>
              <a:srgbClr val="0B1F3A"/>
            </a:solidFill>
            <a:prstDash val="solid"/>
          </a:ln>
        </p:spPr>
      </p:sp>
      <p:sp>
        <p:nvSpPr>
          <p:cNvPr id="11" name="Text 8"/>
          <p:cNvSpPr/>
          <p:nvPr/>
        </p:nvSpPr>
        <p:spPr>
          <a:xfrm>
            <a:off x="365760" y="6601968"/>
            <a:ext cx="822960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Session 2  Providers Cloud &amp; Data</a:t>
            </a:r>
            <a:endParaRPr lang="en-US" sz="1000" dirty="0"/>
          </a:p>
        </p:txBody>
      </p:sp>
      <p:sp>
        <p:nvSpPr>
          <p:cNvPr id="12" name="Text 9"/>
          <p:cNvSpPr/>
          <p:nvPr/>
        </p:nvSpPr>
        <p:spPr>
          <a:xfrm>
            <a:off x="11551615" y="6601968"/>
            <a:ext cx="365760" cy="237744"/>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28">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8229600" y="-2743200"/>
            <a:ext cx="7315200" cy="7315200"/>
          </a:xfrm>
          <a:prstGeom prst="ellipse">
            <a:avLst/>
          </a:prstGeom>
          <a:solidFill>
            <a:srgbClr val="1C7293">
              <a:alpha val="20000"/>
            </a:srgbClr>
          </a:solidFill>
          <a:ln w="12700">
            <a:solidFill>
              <a:srgbClr val="1C7293">
                <a:alpha val="20000"/>
              </a:srgbClr>
            </a:solidFill>
            <a:prstDash val="solid"/>
          </a:ln>
        </p:spPr>
      </p:sp>
      <p:sp>
        <p:nvSpPr>
          <p:cNvPr id="3" name="Shape 1"/>
          <p:cNvSpPr/>
          <p:nvPr/>
        </p:nvSpPr>
        <p:spPr>
          <a:xfrm>
            <a:off x="548640" y="822960"/>
            <a:ext cx="137160" cy="914400"/>
          </a:xfrm>
          <a:prstGeom prst="rect">
            <a:avLst/>
          </a:prstGeom>
          <a:solidFill>
            <a:srgbClr val="F96167"/>
          </a:solidFill>
          <a:ln w="12700">
            <a:solidFill>
              <a:srgbClr val="F96167"/>
            </a:solidFill>
            <a:prstDash val="solid"/>
          </a:ln>
        </p:spPr>
      </p:sp>
      <p:sp>
        <p:nvSpPr>
          <p:cNvPr id="4" name="Text 2"/>
          <p:cNvSpPr/>
          <p:nvPr/>
        </p:nvSpPr>
        <p:spPr>
          <a:xfrm>
            <a:off x="548640" y="457200"/>
            <a:ext cx="9144000" cy="365760"/>
          </a:xfrm>
          <a:prstGeom prst="rect">
            <a:avLst/>
          </a:prstGeom>
          <a:noFill/>
          <a:ln/>
        </p:spPr>
        <p:txBody>
          <a:bodyPr wrap="square" lIns="0" tIns="0" rIns="0" bIns="0" rtlCol="0" anchor="ctr"/>
          <a:lstStyle/>
          <a:p>
            <a:pPr marL="0" indent="0">
              <a:buNone/>
            </a:pPr>
            <a:r>
              <a:rPr lang="en-US" sz="1400" b="1" kern="0" spc="300" dirty="0">
                <a:solidFill>
                  <a:srgbClr val="F9B233"/>
                </a:solidFill>
                <a:latin typeface="Calibri" pitchFamily="34" charset="0"/>
                <a:ea typeface="Calibri" pitchFamily="34" charset="-122"/>
                <a:cs typeface="Calibri" pitchFamily="34" charset="-120"/>
              </a:rPr>
              <a:t>RÉCAP SESSION 2</a:t>
            </a:r>
            <a:endParaRPr lang="en-US" sz="1400" dirty="0"/>
          </a:p>
        </p:txBody>
      </p:sp>
      <p:sp>
        <p:nvSpPr>
          <p:cNvPr id="5" name="Text 3"/>
          <p:cNvSpPr/>
          <p:nvPr/>
        </p:nvSpPr>
        <p:spPr>
          <a:xfrm>
            <a:off x="548640" y="914400"/>
            <a:ext cx="10972800" cy="73152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Les 6 providers Cloud &amp; Data</a:t>
            </a:r>
            <a:endParaRPr lang="en-US" sz="3600" dirty="0"/>
          </a:p>
        </p:txBody>
      </p:sp>
      <p:sp>
        <p:nvSpPr>
          <p:cNvPr id="6" name="Shape 4"/>
          <p:cNvSpPr/>
          <p:nvPr/>
        </p:nvSpPr>
        <p:spPr>
          <a:xfrm>
            <a:off x="548640" y="2011680"/>
            <a:ext cx="5486400" cy="1188720"/>
          </a:xfrm>
          <a:prstGeom prst="rect">
            <a:avLst/>
          </a:prstGeom>
          <a:solidFill>
            <a:srgbClr val="FFFFFF">
              <a:alpha val="8000"/>
            </a:srgbClr>
          </a:solidFill>
          <a:ln w="6350">
            <a:solidFill>
              <a:srgbClr val="1C7293"/>
            </a:solidFill>
            <a:prstDash val="solid"/>
          </a:ln>
        </p:spPr>
      </p:sp>
      <p:sp>
        <p:nvSpPr>
          <p:cNvPr id="7" name="Shape 5"/>
          <p:cNvSpPr/>
          <p:nvPr/>
        </p:nvSpPr>
        <p:spPr>
          <a:xfrm>
            <a:off x="548640" y="2011680"/>
            <a:ext cx="73152" cy="1188720"/>
          </a:xfrm>
          <a:prstGeom prst="rect">
            <a:avLst/>
          </a:prstGeom>
          <a:solidFill>
            <a:srgbClr val="F96167"/>
          </a:solidFill>
          <a:ln w="12700">
            <a:solidFill>
              <a:srgbClr val="F96167"/>
            </a:solidFill>
            <a:prstDash val="solid"/>
          </a:ln>
        </p:spPr>
      </p:sp>
      <p:sp>
        <p:nvSpPr>
          <p:cNvPr id="8" name="Text 6"/>
          <p:cNvSpPr/>
          <p:nvPr/>
        </p:nvSpPr>
        <p:spPr>
          <a:xfrm>
            <a:off x="731520" y="2148840"/>
            <a:ext cx="5212080" cy="365760"/>
          </a:xfrm>
          <a:prstGeom prst="rect">
            <a:avLst/>
          </a:prstGeom>
          <a:noFill/>
          <a:ln/>
        </p:spPr>
        <p:txBody>
          <a:bodyPr wrap="square" lIns="0" tIns="0" rIns="0" bIns="0" rtlCol="0" anchor="ctr"/>
          <a:lstStyle/>
          <a:p>
            <a:pPr marL="0" indent="0">
              <a:buNone/>
            </a:pPr>
            <a:r>
              <a:rPr lang="en-US" sz="1500" b="1" dirty="0">
                <a:solidFill>
                  <a:srgbClr val="F9B233"/>
                </a:solidFill>
                <a:latin typeface="Calibri" pitchFamily="34" charset="0"/>
                <a:ea typeface="Calibri" pitchFamily="34" charset="-122"/>
                <a:cs typeface="Calibri" pitchFamily="34" charset="-120"/>
              </a:rPr>
              <a:t>AWS Clean Rooms</a:t>
            </a:r>
            <a:endParaRPr lang="en-US" sz="1500" dirty="0"/>
          </a:p>
        </p:txBody>
      </p:sp>
      <p:sp>
        <p:nvSpPr>
          <p:cNvPr id="9" name="Text 7"/>
          <p:cNvSpPr/>
          <p:nvPr/>
        </p:nvSpPr>
        <p:spPr>
          <a:xfrm>
            <a:off x="731520" y="2514600"/>
            <a:ext cx="5212080" cy="64008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Si vous êtes sur AWS et que vous voulez activer via Amazon Ads / AMC.</a:t>
            </a:r>
            <a:endParaRPr lang="en-US" sz="1200" dirty="0"/>
          </a:p>
        </p:txBody>
      </p:sp>
      <p:sp>
        <p:nvSpPr>
          <p:cNvPr id="10" name="Shape 8"/>
          <p:cNvSpPr/>
          <p:nvPr/>
        </p:nvSpPr>
        <p:spPr>
          <a:xfrm>
            <a:off x="6126480" y="2011680"/>
            <a:ext cx="5486400" cy="1188720"/>
          </a:xfrm>
          <a:prstGeom prst="rect">
            <a:avLst/>
          </a:prstGeom>
          <a:solidFill>
            <a:srgbClr val="FFFFFF">
              <a:alpha val="8000"/>
            </a:srgbClr>
          </a:solidFill>
          <a:ln w="6350">
            <a:solidFill>
              <a:srgbClr val="1C7293"/>
            </a:solidFill>
            <a:prstDash val="solid"/>
          </a:ln>
        </p:spPr>
      </p:sp>
      <p:sp>
        <p:nvSpPr>
          <p:cNvPr id="11" name="Shape 9"/>
          <p:cNvSpPr/>
          <p:nvPr/>
        </p:nvSpPr>
        <p:spPr>
          <a:xfrm>
            <a:off x="6126480" y="2011680"/>
            <a:ext cx="73152" cy="1188720"/>
          </a:xfrm>
          <a:prstGeom prst="rect">
            <a:avLst/>
          </a:prstGeom>
          <a:solidFill>
            <a:srgbClr val="F96167"/>
          </a:solidFill>
          <a:ln w="12700">
            <a:solidFill>
              <a:srgbClr val="F96167"/>
            </a:solidFill>
            <a:prstDash val="solid"/>
          </a:ln>
        </p:spPr>
      </p:sp>
      <p:sp>
        <p:nvSpPr>
          <p:cNvPr id="12" name="Text 10"/>
          <p:cNvSpPr/>
          <p:nvPr/>
        </p:nvSpPr>
        <p:spPr>
          <a:xfrm>
            <a:off x="6309360" y="2148840"/>
            <a:ext cx="5212080" cy="365760"/>
          </a:xfrm>
          <a:prstGeom prst="rect">
            <a:avLst/>
          </a:prstGeom>
          <a:noFill/>
          <a:ln/>
        </p:spPr>
        <p:txBody>
          <a:bodyPr wrap="square" lIns="0" tIns="0" rIns="0" bIns="0" rtlCol="0" anchor="ctr"/>
          <a:lstStyle/>
          <a:p>
            <a:pPr marL="0" indent="0">
              <a:buNone/>
            </a:pPr>
            <a:r>
              <a:rPr lang="en-US" sz="1500" b="1" dirty="0">
                <a:solidFill>
                  <a:srgbClr val="F9B233"/>
                </a:solidFill>
                <a:latin typeface="Calibri" pitchFamily="34" charset="0"/>
                <a:ea typeface="Calibri" pitchFamily="34" charset="-122"/>
                <a:cs typeface="Calibri" pitchFamily="34" charset="-120"/>
              </a:rPr>
              <a:t>Google ADH</a:t>
            </a:r>
            <a:endParaRPr lang="en-US" sz="1500" dirty="0"/>
          </a:p>
        </p:txBody>
      </p:sp>
      <p:sp>
        <p:nvSpPr>
          <p:cNvPr id="13" name="Text 11"/>
          <p:cNvSpPr/>
          <p:nvPr/>
        </p:nvSpPr>
        <p:spPr>
          <a:xfrm>
            <a:off x="6309360" y="2514600"/>
            <a:ext cx="5212080" cy="64008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Incontournable dès que vous achetez du YouTube ou du Google Ads à l'échelle.</a:t>
            </a:r>
            <a:endParaRPr lang="en-US" sz="1200" dirty="0"/>
          </a:p>
        </p:txBody>
      </p:sp>
      <p:sp>
        <p:nvSpPr>
          <p:cNvPr id="14" name="Shape 12"/>
          <p:cNvSpPr/>
          <p:nvPr/>
        </p:nvSpPr>
        <p:spPr>
          <a:xfrm>
            <a:off x="548640" y="3383280"/>
            <a:ext cx="5486400" cy="1188720"/>
          </a:xfrm>
          <a:prstGeom prst="rect">
            <a:avLst/>
          </a:prstGeom>
          <a:solidFill>
            <a:srgbClr val="FFFFFF">
              <a:alpha val="8000"/>
            </a:srgbClr>
          </a:solidFill>
          <a:ln w="6350">
            <a:solidFill>
              <a:srgbClr val="1C7293"/>
            </a:solidFill>
            <a:prstDash val="solid"/>
          </a:ln>
        </p:spPr>
      </p:sp>
      <p:sp>
        <p:nvSpPr>
          <p:cNvPr id="15" name="Shape 13"/>
          <p:cNvSpPr/>
          <p:nvPr/>
        </p:nvSpPr>
        <p:spPr>
          <a:xfrm>
            <a:off x="548640" y="3383280"/>
            <a:ext cx="73152" cy="1188720"/>
          </a:xfrm>
          <a:prstGeom prst="rect">
            <a:avLst/>
          </a:prstGeom>
          <a:solidFill>
            <a:srgbClr val="F96167"/>
          </a:solidFill>
          <a:ln w="12700">
            <a:solidFill>
              <a:srgbClr val="F96167"/>
            </a:solidFill>
            <a:prstDash val="solid"/>
          </a:ln>
        </p:spPr>
      </p:sp>
      <p:sp>
        <p:nvSpPr>
          <p:cNvPr id="16" name="Text 14"/>
          <p:cNvSpPr/>
          <p:nvPr/>
        </p:nvSpPr>
        <p:spPr>
          <a:xfrm>
            <a:off x="731520" y="3520440"/>
            <a:ext cx="5212080" cy="365760"/>
          </a:xfrm>
          <a:prstGeom prst="rect">
            <a:avLst/>
          </a:prstGeom>
          <a:noFill/>
          <a:ln/>
        </p:spPr>
        <p:txBody>
          <a:bodyPr wrap="square" lIns="0" tIns="0" rIns="0" bIns="0" rtlCol="0" anchor="ctr"/>
          <a:lstStyle/>
          <a:p>
            <a:pPr marL="0" indent="0">
              <a:buNone/>
            </a:pPr>
            <a:r>
              <a:rPr lang="en-US" sz="1500" b="1" dirty="0">
                <a:solidFill>
                  <a:srgbClr val="F9B233"/>
                </a:solidFill>
                <a:latin typeface="Calibri" pitchFamily="34" charset="0"/>
                <a:ea typeface="Calibri" pitchFamily="34" charset="-122"/>
                <a:cs typeface="Calibri" pitchFamily="34" charset="-120"/>
              </a:rPr>
              <a:t>Google BigQuery CR</a:t>
            </a:r>
            <a:endParaRPr lang="en-US" sz="1500" dirty="0"/>
          </a:p>
        </p:txBody>
      </p:sp>
      <p:sp>
        <p:nvSpPr>
          <p:cNvPr id="17" name="Text 15"/>
          <p:cNvSpPr/>
          <p:nvPr/>
        </p:nvSpPr>
        <p:spPr>
          <a:xfrm>
            <a:off x="731520" y="3886200"/>
            <a:ext cx="5212080" cy="64008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Le choix neutre si vous êtes déjà "BigQuery-native" chez GCP.</a:t>
            </a:r>
            <a:endParaRPr lang="en-US" sz="1200" dirty="0"/>
          </a:p>
        </p:txBody>
      </p:sp>
      <p:sp>
        <p:nvSpPr>
          <p:cNvPr id="18" name="Shape 16"/>
          <p:cNvSpPr/>
          <p:nvPr/>
        </p:nvSpPr>
        <p:spPr>
          <a:xfrm>
            <a:off x="6126480" y="3383280"/>
            <a:ext cx="5486400" cy="1188720"/>
          </a:xfrm>
          <a:prstGeom prst="rect">
            <a:avLst/>
          </a:prstGeom>
          <a:solidFill>
            <a:srgbClr val="FFFFFF">
              <a:alpha val="8000"/>
            </a:srgbClr>
          </a:solidFill>
          <a:ln w="6350">
            <a:solidFill>
              <a:srgbClr val="1C7293"/>
            </a:solidFill>
            <a:prstDash val="solid"/>
          </a:ln>
        </p:spPr>
      </p:sp>
      <p:sp>
        <p:nvSpPr>
          <p:cNvPr id="19" name="Shape 17"/>
          <p:cNvSpPr/>
          <p:nvPr/>
        </p:nvSpPr>
        <p:spPr>
          <a:xfrm>
            <a:off x="6126480" y="3383280"/>
            <a:ext cx="73152" cy="1188720"/>
          </a:xfrm>
          <a:prstGeom prst="rect">
            <a:avLst/>
          </a:prstGeom>
          <a:solidFill>
            <a:srgbClr val="F96167"/>
          </a:solidFill>
          <a:ln w="12700">
            <a:solidFill>
              <a:srgbClr val="F96167"/>
            </a:solidFill>
            <a:prstDash val="solid"/>
          </a:ln>
        </p:spPr>
      </p:sp>
      <p:sp>
        <p:nvSpPr>
          <p:cNvPr id="20" name="Text 18"/>
          <p:cNvSpPr/>
          <p:nvPr/>
        </p:nvSpPr>
        <p:spPr>
          <a:xfrm>
            <a:off x="6309360" y="3520440"/>
            <a:ext cx="5212080" cy="365760"/>
          </a:xfrm>
          <a:prstGeom prst="rect">
            <a:avLst/>
          </a:prstGeom>
          <a:noFill/>
          <a:ln/>
        </p:spPr>
        <p:txBody>
          <a:bodyPr wrap="square" lIns="0" tIns="0" rIns="0" bIns="0" rtlCol="0" anchor="ctr"/>
          <a:lstStyle/>
          <a:p>
            <a:pPr marL="0" indent="0">
              <a:buNone/>
            </a:pPr>
            <a:r>
              <a:rPr lang="en-US" sz="1500" b="1" dirty="0">
                <a:solidFill>
                  <a:srgbClr val="F9B233"/>
                </a:solidFill>
                <a:latin typeface="Calibri" pitchFamily="34" charset="0"/>
                <a:ea typeface="Calibri" pitchFamily="34" charset="-122"/>
                <a:cs typeface="Calibri" pitchFamily="34" charset="-120"/>
              </a:rPr>
              <a:t>Snowflake DCR</a:t>
            </a:r>
            <a:endParaRPr lang="en-US" sz="1500" dirty="0"/>
          </a:p>
        </p:txBody>
      </p:sp>
      <p:sp>
        <p:nvSpPr>
          <p:cNvPr id="21" name="Text 19"/>
          <p:cNvSpPr/>
          <p:nvPr/>
        </p:nvSpPr>
        <p:spPr>
          <a:xfrm>
            <a:off x="6309360" y="3886200"/>
            <a:ext cx="5212080" cy="64008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La référence multi-cloud. Le plus cité dans les RFP marketing data.</a:t>
            </a:r>
            <a:endParaRPr lang="en-US" sz="1200" dirty="0"/>
          </a:p>
        </p:txBody>
      </p:sp>
      <p:sp>
        <p:nvSpPr>
          <p:cNvPr id="22" name="Shape 20"/>
          <p:cNvSpPr/>
          <p:nvPr/>
        </p:nvSpPr>
        <p:spPr>
          <a:xfrm>
            <a:off x="548640" y="4754880"/>
            <a:ext cx="5486400" cy="1188720"/>
          </a:xfrm>
          <a:prstGeom prst="rect">
            <a:avLst/>
          </a:prstGeom>
          <a:solidFill>
            <a:srgbClr val="FFFFFF">
              <a:alpha val="8000"/>
            </a:srgbClr>
          </a:solidFill>
          <a:ln w="6350">
            <a:solidFill>
              <a:srgbClr val="1C7293"/>
            </a:solidFill>
            <a:prstDash val="solid"/>
          </a:ln>
        </p:spPr>
      </p:sp>
      <p:sp>
        <p:nvSpPr>
          <p:cNvPr id="23" name="Shape 21"/>
          <p:cNvSpPr/>
          <p:nvPr/>
        </p:nvSpPr>
        <p:spPr>
          <a:xfrm>
            <a:off x="548640" y="4754880"/>
            <a:ext cx="73152" cy="1188720"/>
          </a:xfrm>
          <a:prstGeom prst="rect">
            <a:avLst/>
          </a:prstGeom>
          <a:solidFill>
            <a:srgbClr val="F96167"/>
          </a:solidFill>
          <a:ln w="12700">
            <a:solidFill>
              <a:srgbClr val="F96167"/>
            </a:solidFill>
            <a:prstDash val="solid"/>
          </a:ln>
        </p:spPr>
      </p:sp>
      <p:sp>
        <p:nvSpPr>
          <p:cNvPr id="24" name="Text 22"/>
          <p:cNvSpPr/>
          <p:nvPr/>
        </p:nvSpPr>
        <p:spPr>
          <a:xfrm>
            <a:off x="731520" y="4892040"/>
            <a:ext cx="5212080" cy="365760"/>
          </a:xfrm>
          <a:prstGeom prst="rect">
            <a:avLst/>
          </a:prstGeom>
          <a:noFill/>
          <a:ln/>
        </p:spPr>
        <p:txBody>
          <a:bodyPr wrap="square" lIns="0" tIns="0" rIns="0" bIns="0" rtlCol="0" anchor="ctr"/>
          <a:lstStyle/>
          <a:p>
            <a:pPr marL="0" indent="0">
              <a:buNone/>
            </a:pPr>
            <a:r>
              <a:rPr lang="en-US" sz="1500" b="1" dirty="0">
                <a:solidFill>
                  <a:srgbClr val="F9B233"/>
                </a:solidFill>
                <a:latin typeface="Calibri" pitchFamily="34" charset="0"/>
                <a:ea typeface="Calibri" pitchFamily="34" charset="-122"/>
                <a:cs typeface="Calibri" pitchFamily="34" charset="-120"/>
              </a:rPr>
              <a:t>Databricks CR</a:t>
            </a:r>
            <a:endParaRPr lang="en-US" sz="1500" dirty="0"/>
          </a:p>
        </p:txBody>
      </p:sp>
      <p:sp>
        <p:nvSpPr>
          <p:cNvPr id="25" name="Text 23"/>
          <p:cNvSpPr/>
          <p:nvPr/>
        </p:nvSpPr>
        <p:spPr>
          <a:xfrm>
            <a:off x="731520" y="5257800"/>
            <a:ext cx="5212080" cy="64008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Pour les équipes qui veulent aller au-delà du SQL : ML, federated learning.</a:t>
            </a:r>
            <a:endParaRPr lang="en-US" sz="1200" dirty="0"/>
          </a:p>
        </p:txBody>
      </p:sp>
      <p:sp>
        <p:nvSpPr>
          <p:cNvPr id="26" name="Shape 24"/>
          <p:cNvSpPr/>
          <p:nvPr/>
        </p:nvSpPr>
        <p:spPr>
          <a:xfrm>
            <a:off x="6126480" y="4754880"/>
            <a:ext cx="5486400" cy="1188720"/>
          </a:xfrm>
          <a:prstGeom prst="rect">
            <a:avLst/>
          </a:prstGeom>
          <a:solidFill>
            <a:srgbClr val="FFFFFF">
              <a:alpha val="8000"/>
            </a:srgbClr>
          </a:solidFill>
          <a:ln w="6350">
            <a:solidFill>
              <a:srgbClr val="1C7293"/>
            </a:solidFill>
            <a:prstDash val="solid"/>
          </a:ln>
        </p:spPr>
      </p:sp>
      <p:sp>
        <p:nvSpPr>
          <p:cNvPr id="27" name="Shape 25"/>
          <p:cNvSpPr/>
          <p:nvPr/>
        </p:nvSpPr>
        <p:spPr>
          <a:xfrm>
            <a:off x="6126480" y="4754880"/>
            <a:ext cx="73152" cy="1188720"/>
          </a:xfrm>
          <a:prstGeom prst="rect">
            <a:avLst/>
          </a:prstGeom>
          <a:solidFill>
            <a:srgbClr val="F96167"/>
          </a:solidFill>
          <a:ln w="12700">
            <a:solidFill>
              <a:srgbClr val="F96167"/>
            </a:solidFill>
            <a:prstDash val="solid"/>
          </a:ln>
        </p:spPr>
      </p:sp>
      <p:sp>
        <p:nvSpPr>
          <p:cNvPr id="28" name="Text 26"/>
          <p:cNvSpPr/>
          <p:nvPr/>
        </p:nvSpPr>
        <p:spPr>
          <a:xfrm>
            <a:off x="6309360" y="4892040"/>
            <a:ext cx="5212080" cy="365760"/>
          </a:xfrm>
          <a:prstGeom prst="rect">
            <a:avLst/>
          </a:prstGeom>
          <a:noFill/>
          <a:ln/>
        </p:spPr>
        <p:txBody>
          <a:bodyPr wrap="square" lIns="0" tIns="0" rIns="0" bIns="0" rtlCol="0" anchor="ctr"/>
          <a:lstStyle/>
          <a:p>
            <a:pPr marL="0" indent="0">
              <a:buNone/>
            </a:pPr>
            <a:r>
              <a:rPr lang="en-US" sz="1500" b="1" dirty="0">
                <a:solidFill>
                  <a:srgbClr val="F9B233"/>
                </a:solidFill>
                <a:latin typeface="Calibri" pitchFamily="34" charset="0"/>
                <a:ea typeface="Calibri" pitchFamily="34" charset="-122"/>
                <a:cs typeface="Calibri" pitchFamily="34" charset="-120"/>
              </a:rPr>
              <a:t>Samooha</a:t>
            </a:r>
            <a:endParaRPr lang="en-US" sz="1500" dirty="0"/>
          </a:p>
        </p:txBody>
      </p:sp>
      <p:sp>
        <p:nvSpPr>
          <p:cNvPr id="29" name="Text 27"/>
          <p:cNvSpPr/>
          <p:nvPr/>
        </p:nvSpPr>
        <p:spPr>
          <a:xfrm>
            <a:off x="6309360" y="5257800"/>
            <a:ext cx="5212080" cy="64008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Le no-code Snowflake. Idéal si vous n'avez pas d'équipe data interne.</a:t>
            </a:r>
            <a:endParaRPr lang="en-US" sz="1200" dirty="0"/>
          </a:p>
        </p:txBody>
      </p:sp>
      <p:sp>
        <p:nvSpPr>
          <p:cNvPr id="30" name="Text 28"/>
          <p:cNvSpPr/>
          <p:nvPr/>
        </p:nvSpPr>
        <p:spPr>
          <a:xfrm>
            <a:off x="548640" y="6309360"/>
            <a:ext cx="11430000" cy="320040"/>
          </a:xfrm>
          <a:prstGeom prst="rect">
            <a:avLst/>
          </a:prstGeom>
          <a:noFill/>
          <a:ln/>
        </p:spPr>
        <p:txBody>
          <a:bodyPr wrap="square" lIns="0" tIns="0" rIns="0" bIns="0" rtlCol="0" anchor="ctr"/>
          <a:lstStyle/>
          <a:p>
            <a:pPr marL="0" indent="0">
              <a:buNone/>
            </a:pPr>
            <a:r>
              <a:rPr lang="en-US" sz="1300" i="1" dirty="0">
                <a:solidFill>
                  <a:srgbClr val="F9B233"/>
                </a:solidFill>
                <a:latin typeface="Calibri" pitchFamily="34" charset="0"/>
                <a:ea typeface="Calibri" pitchFamily="34" charset="-122"/>
                <a:cs typeface="Calibri" pitchFamily="34" charset="-120"/>
              </a:rPr>
              <a:t>Prochaine session : les walled gardens (Meta, Amazon, TTD) + les neutres (LiveRamp, InfoSum, Decentriq).</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29">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2743200" y="-2743200"/>
            <a:ext cx="9144000" cy="9144000"/>
          </a:xfrm>
          <a:prstGeom prst="ellipse">
            <a:avLst/>
          </a:prstGeom>
          <a:solidFill>
            <a:srgbClr val="F96167">
              <a:alpha val="15000"/>
            </a:srgbClr>
          </a:solidFill>
          <a:ln w="12700">
            <a:solidFill>
              <a:srgbClr val="F96167">
                <a:alpha val="15000"/>
              </a:srgbClr>
            </a:solidFill>
            <a:prstDash val="solid"/>
          </a:ln>
        </p:spPr>
      </p:sp>
      <p:sp>
        <p:nvSpPr>
          <p:cNvPr id="3" name="Shape 1"/>
          <p:cNvSpPr/>
          <p:nvPr/>
        </p:nvSpPr>
        <p:spPr>
          <a:xfrm>
            <a:off x="548640" y="2743200"/>
            <a:ext cx="137160" cy="1188720"/>
          </a:xfrm>
          <a:prstGeom prst="rect">
            <a:avLst/>
          </a:prstGeom>
          <a:solidFill>
            <a:srgbClr val="F96167"/>
          </a:solidFill>
          <a:ln w="12700">
            <a:solidFill>
              <a:srgbClr val="F96167"/>
            </a:solidFill>
            <a:prstDash val="solid"/>
          </a:ln>
        </p:spPr>
      </p:sp>
      <p:sp>
        <p:nvSpPr>
          <p:cNvPr id="4" name="Text 2"/>
          <p:cNvSpPr/>
          <p:nvPr/>
        </p:nvSpPr>
        <p:spPr>
          <a:xfrm>
            <a:off x="548640" y="2103120"/>
            <a:ext cx="7315200" cy="457200"/>
          </a:xfrm>
          <a:prstGeom prst="rect">
            <a:avLst/>
          </a:prstGeom>
          <a:noFill/>
          <a:ln/>
        </p:spPr>
        <p:txBody>
          <a:bodyPr wrap="square" lIns="0" tIns="0" rIns="0" bIns="0" rtlCol="0" anchor="ctr"/>
          <a:lstStyle/>
          <a:p>
            <a:pPr marL="0" indent="0">
              <a:buNone/>
            </a:pPr>
            <a:r>
              <a:rPr lang="en-US" sz="1600" b="1" kern="0" spc="300" dirty="0">
                <a:solidFill>
                  <a:srgbClr val="F9B233"/>
                </a:solidFill>
                <a:latin typeface="Calibri" pitchFamily="34" charset="0"/>
                <a:ea typeface="Calibri" pitchFamily="34" charset="-122"/>
                <a:cs typeface="Calibri" pitchFamily="34" charset="-120"/>
              </a:rPr>
              <a:t>SESSION 3 / 4</a:t>
            </a:r>
            <a:endParaRPr lang="en-US" sz="1600" dirty="0"/>
          </a:p>
        </p:txBody>
      </p:sp>
      <p:sp>
        <p:nvSpPr>
          <p:cNvPr id="5" name="Text 3"/>
          <p:cNvSpPr/>
          <p:nvPr/>
        </p:nvSpPr>
        <p:spPr>
          <a:xfrm>
            <a:off x="548640" y="2651760"/>
            <a:ext cx="10972800" cy="2286000"/>
          </a:xfrm>
          <a:prstGeom prst="rect">
            <a:avLst/>
          </a:prstGeom>
          <a:noFill/>
          <a:ln/>
        </p:spPr>
        <p:txBody>
          <a:bodyPr wrap="square" lIns="0" tIns="0" rIns="0" bIns="0" rtlCol="0" anchor="ctr"/>
          <a:lstStyle/>
          <a:p>
            <a:pPr marL="0" indent="0">
              <a:buNone/>
            </a:pPr>
            <a:r>
              <a:rPr lang="en-US" sz="5200" b="1" dirty="0">
                <a:solidFill>
                  <a:srgbClr val="FFFFFF"/>
                </a:solidFill>
                <a:latin typeface="Calibri" pitchFamily="34" charset="0"/>
                <a:ea typeface="Calibri" pitchFamily="34" charset="-122"/>
                <a:cs typeface="Calibri" pitchFamily="34" charset="-120"/>
              </a:rPr>
              <a:t>Walled gardens</a:t>
            </a:r>
            <a:endParaRPr lang="en-US" sz="5200" dirty="0"/>
          </a:p>
          <a:p>
            <a:pPr marL="0" indent="0">
              <a:buNone/>
            </a:pPr>
            <a:r>
              <a:rPr lang="en-US" sz="5200" b="1" dirty="0">
                <a:solidFill>
                  <a:srgbClr val="FFFFFF"/>
                </a:solidFill>
                <a:latin typeface="Calibri" pitchFamily="34" charset="0"/>
                <a:ea typeface="Calibri" pitchFamily="34" charset="-122"/>
                <a:cs typeface="Calibri" pitchFamily="34" charset="-120"/>
              </a:rPr>
              <a:t>&amp; acteurs neutres</a:t>
            </a:r>
            <a:endParaRPr lang="en-US" sz="5200" dirty="0"/>
          </a:p>
        </p:txBody>
      </p:sp>
      <p:sp>
        <p:nvSpPr>
          <p:cNvPr id="6" name="Text 4"/>
          <p:cNvSpPr/>
          <p:nvPr/>
        </p:nvSpPr>
        <p:spPr>
          <a:xfrm>
            <a:off x="548640" y="5029200"/>
            <a:ext cx="10972800" cy="457200"/>
          </a:xfrm>
          <a:prstGeom prst="rect">
            <a:avLst/>
          </a:prstGeom>
          <a:noFill/>
          <a:ln/>
        </p:spPr>
        <p:txBody>
          <a:bodyPr wrap="square" lIns="0" tIns="0" rIns="0" bIns="0" rtlCol="0" anchor="ctr"/>
          <a:lstStyle/>
          <a:p>
            <a:pPr marL="0" indent="0">
              <a:buNone/>
            </a:pPr>
            <a:r>
              <a:rPr lang="en-US" sz="1700" i="1" dirty="0">
                <a:solidFill>
                  <a:srgbClr val="1C7293"/>
                </a:solidFill>
                <a:latin typeface="Calibri" pitchFamily="34" charset="0"/>
                <a:ea typeface="Calibri" pitchFamily="34" charset="-122"/>
                <a:cs typeface="Calibri" pitchFamily="34" charset="-120"/>
              </a:rPr>
              <a:t>Meta, Amazon, The Trade Desk, LiveRamp, InfoSum, Habu, Decentriq</a:t>
            </a:r>
            <a:endParaRPr lang="en-US" sz="1700" dirty="0"/>
          </a:p>
        </p:txBody>
      </p:sp>
      <p:sp>
        <p:nvSpPr>
          <p:cNvPr id="7" name="Text 5"/>
          <p:cNvSpPr/>
          <p:nvPr/>
        </p:nvSpPr>
        <p:spPr>
          <a:xfrm>
            <a:off x="548640" y="5760720"/>
            <a:ext cx="5486400" cy="365760"/>
          </a:xfrm>
          <a:prstGeom prst="rect">
            <a:avLst/>
          </a:prstGeom>
          <a:noFill/>
          <a:ln/>
        </p:spPr>
        <p:txBody>
          <a:bodyPr wrap="square" lIns="0" tIns="0" rIns="0" bIns="0" rtlCol="0" anchor="ctr"/>
          <a:lstStyle/>
          <a:p>
            <a:pPr marL="0" indent="0">
              <a:buNone/>
            </a:pPr>
            <a:r>
              <a:rPr lang="en-US" sz="1300" dirty="0">
                <a:solidFill>
                  <a:srgbClr val="E2E8F0"/>
                </a:solidFill>
                <a:latin typeface="Calibri" pitchFamily="34" charset="0"/>
                <a:ea typeface="Calibri" pitchFamily="34" charset="-122"/>
                <a:cs typeface="Calibri" pitchFamily="34" charset="-120"/>
              </a:rPr>
              <a:t>Durée : 3h30</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30">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B1F3A"/>
          </a:solidFill>
          <a:ln w="12700">
            <a:solidFill>
              <a:srgbClr val="0B1F3A"/>
            </a:solidFill>
            <a:prstDash val="solid"/>
          </a:ln>
        </p:spPr>
      </p:sp>
      <p:sp>
        <p:nvSpPr>
          <p:cNvPr id="3" name="Text 1"/>
          <p:cNvSpPr/>
          <p:nvPr/>
        </p:nvSpPr>
        <p:spPr>
          <a:xfrm>
            <a:off x="548640" y="182880"/>
            <a:ext cx="2743200" cy="274320"/>
          </a:xfrm>
          <a:prstGeom prst="rect">
            <a:avLst/>
          </a:prstGeom>
          <a:noFill/>
          <a:ln/>
        </p:spPr>
        <p:txBody>
          <a:bodyPr wrap="square" lIns="0" tIns="0" rIns="0" bIns="0" rtlCol="0" anchor="ctr"/>
          <a:lstStyle/>
          <a:p>
            <a:pPr marL="0" indent="0">
              <a:buNone/>
            </a:pPr>
            <a:r>
              <a:rPr lang="en-US" sz="1100" b="1" kern="0" spc="200" dirty="0">
                <a:solidFill>
                  <a:srgbClr val="F96167"/>
                </a:solidFill>
                <a:latin typeface="Calibri" pitchFamily="34" charset="0"/>
                <a:ea typeface="Calibri" pitchFamily="34" charset="-122"/>
                <a:cs typeface="Calibri" pitchFamily="34" charset="-120"/>
              </a:rPr>
              <a:t>PROVIDER 7/12</a:t>
            </a:r>
            <a:endParaRPr lang="en-US" sz="1100" dirty="0"/>
          </a:p>
        </p:txBody>
      </p:sp>
      <p:sp>
        <p:nvSpPr>
          <p:cNvPr id="4" name="Text 2"/>
          <p:cNvSpPr/>
          <p:nvPr/>
        </p:nvSpPr>
        <p:spPr>
          <a:xfrm>
            <a:off x="548640" y="411480"/>
            <a:ext cx="10972800" cy="5029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Meta Advanced Analytics</a:t>
            </a:r>
            <a:endParaRPr lang="en-US" sz="2800" dirty="0"/>
          </a:p>
        </p:txBody>
      </p:sp>
      <p:sp>
        <p:nvSpPr>
          <p:cNvPr id="5" name="Text 3"/>
          <p:cNvSpPr/>
          <p:nvPr/>
        </p:nvSpPr>
        <p:spPr>
          <a:xfrm>
            <a:off x="548640" y="1051560"/>
            <a:ext cx="10972800" cy="320040"/>
          </a:xfrm>
          <a:prstGeom prst="rect">
            <a:avLst/>
          </a:prstGeom>
          <a:noFill/>
          <a:ln/>
        </p:spPr>
        <p:txBody>
          <a:bodyPr wrap="square" lIns="0" tIns="0" rIns="0" bIns="0" rtlCol="0" anchor="ctr"/>
          <a:lstStyle/>
          <a:p>
            <a:pPr marL="0" indent="0">
              <a:buNone/>
            </a:pPr>
            <a:r>
              <a:rPr lang="en-US" sz="1400" i="1" dirty="0">
                <a:solidFill>
                  <a:srgbClr val="1C7293"/>
                </a:solidFill>
                <a:latin typeface="Calibri" pitchFamily="34" charset="0"/>
                <a:ea typeface="Calibri" pitchFamily="34" charset="-122"/>
                <a:cs typeface="Calibri" pitchFamily="34" charset="-120"/>
              </a:rPr>
              <a:t>La DCR de Meta  seul moyen sérieux d'analyser la performance sur Facebook / Instagram.</a:t>
            </a:r>
            <a:endParaRPr lang="en-US" sz="1400" dirty="0"/>
          </a:p>
        </p:txBody>
      </p:sp>
      <p:sp>
        <p:nvSpPr>
          <p:cNvPr id="6" name="Shape 4"/>
          <p:cNvSpPr/>
          <p:nvPr/>
        </p:nvSpPr>
        <p:spPr>
          <a:xfrm>
            <a:off x="548640" y="1600200"/>
            <a:ext cx="4389120" cy="4754880"/>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7" name="Shape 5"/>
          <p:cNvSpPr/>
          <p:nvPr/>
        </p:nvSpPr>
        <p:spPr>
          <a:xfrm>
            <a:off x="548640" y="1600200"/>
            <a:ext cx="91440" cy="4754880"/>
          </a:xfrm>
          <a:prstGeom prst="rect">
            <a:avLst/>
          </a:prstGeom>
          <a:solidFill>
            <a:srgbClr val="065A82"/>
          </a:solidFill>
          <a:ln w="12700">
            <a:solidFill>
              <a:srgbClr val="065A82"/>
            </a:solidFill>
            <a:prstDash val="solid"/>
          </a:ln>
        </p:spPr>
      </p:sp>
      <p:sp>
        <p:nvSpPr>
          <p:cNvPr id="8" name="Text 6"/>
          <p:cNvSpPr/>
          <p:nvPr/>
        </p:nvSpPr>
        <p:spPr>
          <a:xfrm>
            <a:off x="777240" y="1783080"/>
            <a:ext cx="4023360" cy="320040"/>
          </a:xfrm>
          <a:prstGeom prst="rect">
            <a:avLst/>
          </a:prstGeom>
          <a:noFill/>
          <a:ln/>
        </p:spPr>
        <p:txBody>
          <a:bodyPr wrap="square" lIns="0" tIns="0" rIns="0" bIns="0" rtlCol="0" anchor="ctr"/>
          <a:lstStyle/>
          <a:p>
            <a:pPr marL="0" indent="0">
              <a:buNone/>
            </a:pPr>
            <a:r>
              <a:rPr lang="en-US" sz="1100" b="1" kern="0" spc="150" dirty="0">
                <a:solidFill>
                  <a:srgbClr val="F96167"/>
                </a:solidFill>
                <a:latin typeface="Calibri" pitchFamily="34" charset="0"/>
                <a:ea typeface="Calibri" pitchFamily="34" charset="-122"/>
                <a:cs typeface="Calibri" pitchFamily="34" charset="-120"/>
              </a:rPr>
              <a:t>CARTE D'IDENTITÉ</a:t>
            </a:r>
            <a:endParaRPr lang="en-US" sz="1100" dirty="0"/>
          </a:p>
        </p:txBody>
      </p:sp>
      <p:sp>
        <p:nvSpPr>
          <p:cNvPr id="9" name="Text 7"/>
          <p:cNvSpPr/>
          <p:nvPr/>
        </p:nvSpPr>
        <p:spPr>
          <a:xfrm>
            <a:off x="777240" y="2194560"/>
            <a:ext cx="3931920" cy="22860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Éditeur</a:t>
            </a:r>
            <a:endParaRPr lang="en-US" sz="1000" dirty="0"/>
          </a:p>
        </p:txBody>
      </p:sp>
      <p:sp>
        <p:nvSpPr>
          <p:cNvPr id="10" name="Text 8"/>
          <p:cNvSpPr/>
          <p:nvPr/>
        </p:nvSpPr>
        <p:spPr>
          <a:xfrm>
            <a:off x="777240" y="2404872"/>
            <a:ext cx="393192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Meta Platforms</a:t>
            </a:r>
            <a:endParaRPr lang="en-US" sz="1200" dirty="0"/>
          </a:p>
        </p:txBody>
      </p:sp>
      <p:sp>
        <p:nvSpPr>
          <p:cNvPr id="11" name="Text 9"/>
          <p:cNvSpPr/>
          <p:nvPr/>
        </p:nvSpPr>
        <p:spPr>
          <a:xfrm>
            <a:off x="777240" y="2971800"/>
            <a:ext cx="3931920" cy="22860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Famille</a:t>
            </a:r>
            <a:endParaRPr lang="en-US" sz="1000" dirty="0"/>
          </a:p>
        </p:txBody>
      </p:sp>
      <p:sp>
        <p:nvSpPr>
          <p:cNvPr id="12" name="Text 10"/>
          <p:cNvSpPr/>
          <p:nvPr/>
        </p:nvSpPr>
        <p:spPr>
          <a:xfrm>
            <a:off x="777240" y="3182112"/>
            <a:ext cx="393192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Walled garden Ads</a:t>
            </a:r>
            <a:endParaRPr lang="en-US" sz="1200" dirty="0"/>
          </a:p>
        </p:txBody>
      </p:sp>
      <p:sp>
        <p:nvSpPr>
          <p:cNvPr id="13" name="Text 11"/>
          <p:cNvSpPr/>
          <p:nvPr/>
        </p:nvSpPr>
        <p:spPr>
          <a:xfrm>
            <a:off x="777240" y="3749040"/>
            <a:ext cx="3931920" cy="22860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Maturité</a:t>
            </a:r>
            <a:endParaRPr lang="en-US" sz="1000" dirty="0"/>
          </a:p>
        </p:txBody>
      </p:sp>
      <p:sp>
        <p:nvSpPr>
          <p:cNvPr id="14" name="Text 12"/>
          <p:cNvSpPr/>
          <p:nvPr/>
        </p:nvSpPr>
        <p:spPr>
          <a:xfrm>
            <a:off x="777240" y="3959352"/>
            <a:ext cx="393192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Disponible en invite-only pour gros annonceurs</a:t>
            </a:r>
            <a:endParaRPr lang="en-US" sz="1200" dirty="0"/>
          </a:p>
        </p:txBody>
      </p:sp>
      <p:sp>
        <p:nvSpPr>
          <p:cNvPr id="15" name="Text 13"/>
          <p:cNvSpPr/>
          <p:nvPr/>
        </p:nvSpPr>
        <p:spPr>
          <a:xfrm>
            <a:off x="777240" y="4526280"/>
            <a:ext cx="3931920" cy="22860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Pricing</a:t>
            </a:r>
            <a:endParaRPr lang="en-US" sz="1000" dirty="0"/>
          </a:p>
        </p:txBody>
      </p:sp>
      <p:sp>
        <p:nvSpPr>
          <p:cNvPr id="16" name="Text 14"/>
          <p:cNvSpPr/>
          <p:nvPr/>
        </p:nvSpPr>
        <p:spPr>
          <a:xfrm>
            <a:off x="777240" y="4736592"/>
            <a:ext cx="393192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Inclus pour annonceurs stratégiques</a:t>
            </a:r>
            <a:endParaRPr lang="en-US" sz="1200" dirty="0"/>
          </a:p>
        </p:txBody>
      </p:sp>
      <p:sp>
        <p:nvSpPr>
          <p:cNvPr id="17" name="Text 15"/>
          <p:cNvSpPr/>
          <p:nvPr/>
        </p:nvSpPr>
        <p:spPr>
          <a:xfrm>
            <a:off x="777240" y="5303520"/>
            <a:ext cx="3931920" cy="22860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Force clé</a:t>
            </a:r>
            <a:endParaRPr lang="en-US" sz="1000" dirty="0"/>
          </a:p>
        </p:txBody>
      </p:sp>
      <p:sp>
        <p:nvSpPr>
          <p:cNvPr id="18" name="Text 16"/>
          <p:cNvSpPr/>
          <p:nvPr/>
        </p:nvSpPr>
        <p:spPr>
          <a:xfrm>
            <a:off x="777240" y="5513832"/>
            <a:ext cx="393192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Accès aux données d'impressions, clics, conversions sur l'écosystème Meta.</a:t>
            </a:r>
            <a:endParaRPr lang="en-US" sz="1200" dirty="0"/>
          </a:p>
        </p:txBody>
      </p:sp>
      <p:sp>
        <p:nvSpPr>
          <p:cNvPr id="19" name="Shape 17"/>
          <p:cNvSpPr/>
          <p:nvPr/>
        </p:nvSpPr>
        <p:spPr>
          <a:xfrm>
            <a:off x="5212080" y="1600200"/>
            <a:ext cx="6446520" cy="2331720"/>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20" name="Shape 18"/>
          <p:cNvSpPr/>
          <p:nvPr/>
        </p:nvSpPr>
        <p:spPr>
          <a:xfrm>
            <a:off x="5212080" y="1600200"/>
            <a:ext cx="91440" cy="2331720"/>
          </a:xfrm>
          <a:prstGeom prst="rect">
            <a:avLst/>
          </a:prstGeom>
          <a:solidFill>
            <a:srgbClr val="1C7293"/>
          </a:solidFill>
          <a:ln w="12700">
            <a:solidFill>
              <a:srgbClr val="1C7293"/>
            </a:solidFill>
            <a:prstDash val="solid"/>
          </a:ln>
        </p:spPr>
      </p:sp>
      <p:sp>
        <p:nvSpPr>
          <p:cNvPr id="21" name="Text 19"/>
          <p:cNvSpPr/>
          <p:nvPr/>
        </p:nvSpPr>
        <p:spPr>
          <a:xfrm>
            <a:off x="5440680" y="1737360"/>
            <a:ext cx="6080760" cy="274320"/>
          </a:xfrm>
          <a:prstGeom prst="rect">
            <a:avLst/>
          </a:prstGeom>
          <a:noFill/>
          <a:ln/>
        </p:spPr>
        <p:txBody>
          <a:bodyPr wrap="square" lIns="0" tIns="0" rIns="0" bIns="0" rtlCol="0" anchor="ctr"/>
          <a:lstStyle/>
          <a:p>
            <a:pPr marL="0" indent="0">
              <a:buNone/>
            </a:pPr>
            <a:r>
              <a:rPr lang="en-US" sz="1100" b="1" kern="0" spc="150" dirty="0">
                <a:solidFill>
                  <a:srgbClr val="F96167"/>
                </a:solidFill>
                <a:latin typeface="Calibri" pitchFamily="34" charset="0"/>
                <a:ea typeface="Calibri" pitchFamily="34" charset="-122"/>
                <a:cs typeface="Calibri" pitchFamily="34" charset="-120"/>
              </a:rPr>
              <a:t>CE QUE ÇA FAIT BIEN</a:t>
            </a:r>
            <a:endParaRPr lang="en-US" sz="1100" dirty="0"/>
          </a:p>
        </p:txBody>
      </p:sp>
      <p:sp>
        <p:nvSpPr>
          <p:cNvPr id="22" name="Text 20"/>
          <p:cNvSpPr/>
          <p:nvPr/>
        </p:nvSpPr>
        <p:spPr>
          <a:xfrm>
            <a:off x="5486400" y="2057400"/>
            <a:ext cx="5989320" cy="178308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Analyse attribuée aux campagnes Facebook / Instagram</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Croisement avec first-party data (via Advanced Matching)</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Lift Test natifs pour mesurer l'incrémentalité</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Rapports de path-to-conversion multi-touch</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Politique stricte de k-anonymat (k≥100)</a:t>
            </a:r>
            <a:endParaRPr lang="en-US" sz="1200" dirty="0"/>
          </a:p>
        </p:txBody>
      </p:sp>
      <p:sp>
        <p:nvSpPr>
          <p:cNvPr id="23" name="Shape 21"/>
          <p:cNvSpPr/>
          <p:nvPr/>
        </p:nvSpPr>
        <p:spPr>
          <a:xfrm>
            <a:off x="5212080" y="4069080"/>
            <a:ext cx="6446520" cy="2286000"/>
          </a:xfrm>
          <a:prstGeom prst="rect">
            <a:avLst/>
          </a:prstGeom>
          <a:solidFill>
            <a:srgbClr val="0B1F3A"/>
          </a:solidFill>
          <a:ln w="12700">
            <a:solidFill>
              <a:srgbClr val="0B1F3A"/>
            </a:solidFill>
            <a:prstDash val="solid"/>
          </a:ln>
          <a:effectLst>
            <a:outerShdw blurRad="76200" dist="25400" dir="8100000" algn="bl" rotWithShape="0">
              <a:srgbClr val="000000">
                <a:alpha val="12000"/>
              </a:srgbClr>
            </a:outerShdw>
          </a:effectLst>
        </p:spPr>
      </p:sp>
      <p:sp>
        <p:nvSpPr>
          <p:cNvPr id="24" name="Shape 22"/>
          <p:cNvSpPr/>
          <p:nvPr/>
        </p:nvSpPr>
        <p:spPr>
          <a:xfrm>
            <a:off x="5212080" y="4069080"/>
            <a:ext cx="91440" cy="2286000"/>
          </a:xfrm>
          <a:prstGeom prst="rect">
            <a:avLst/>
          </a:prstGeom>
          <a:solidFill>
            <a:srgbClr val="F96167"/>
          </a:solidFill>
          <a:ln w="12700">
            <a:solidFill>
              <a:srgbClr val="F96167"/>
            </a:solidFill>
            <a:prstDash val="solid"/>
          </a:ln>
        </p:spPr>
      </p:sp>
      <p:sp>
        <p:nvSpPr>
          <p:cNvPr id="25" name="Text 23"/>
          <p:cNvSpPr/>
          <p:nvPr/>
        </p:nvSpPr>
        <p:spPr>
          <a:xfrm>
            <a:off x="5486400" y="4251960"/>
            <a:ext cx="5989320" cy="274320"/>
          </a:xfrm>
          <a:prstGeom prst="rect">
            <a:avLst/>
          </a:prstGeom>
          <a:noFill/>
          <a:ln/>
        </p:spPr>
        <p:txBody>
          <a:bodyPr wrap="square" lIns="0" tIns="0" rIns="0" bIns="0" rtlCol="0" anchor="ctr"/>
          <a:lstStyle/>
          <a:p>
            <a:pPr marL="0" indent="0">
              <a:buNone/>
            </a:pPr>
            <a:r>
              <a:rPr lang="en-US" sz="1100" b="1" kern="0" spc="150" dirty="0">
                <a:solidFill>
                  <a:srgbClr val="F9B233"/>
                </a:solidFill>
                <a:latin typeface="Calibri" pitchFamily="34" charset="0"/>
                <a:ea typeface="Calibri" pitchFamily="34" charset="-122"/>
                <a:cs typeface="Calibri" pitchFamily="34" charset="-120"/>
              </a:rPr>
              <a:t>CAS MARKETING CONCRET</a:t>
            </a:r>
            <a:endParaRPr lang="en-US" sz="1100" dirty="0"/>
          </a:p>
        </p:txBody>
      </p:sp>
      <p:sp>
        <p:nvSpPr>
          <p:cNvPr id="26" name="Text 24"/>
          <p:cNvSpPr/>
          <p:nvPr/>
        </p:nvSpPr>
        <p:spPr>
          <a:xfrm>
            <a:off x="5486400" y="4572000"/>
            <a:ext cx="5989320" cy="141732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Cas </a:t>
            </a:r>
            <a:r>
              <a:rPr lang="en-US" sz="1200" dirty="0" err="1">
                <a:solidFill>
                  <a:srgbClr val="FFFFFF"/>
                </a:solidFill>
                <a:latin typeface="Calibri" pitchFamily="34" charset="0"/>
                <a:ea typeface="Calibri" pitchFamily="34" charset="-122"/>
                <a:cs typeface="Calibri" pitchFamily="34" charset="-120"/>
              </a:rPr>
              <a:t>Incrementability</a:t>
            </a:r>
            <a:r>
              <a:rPr lang="en-US" sz="1200" dirty="0">
                <a:solidFill>
                  <a:srgbClr val="FFFFFF"/>
                </a:solidFill>
                <a:latin typeface="Calibri" pitchFamily="34" charset="0"/>
                <a:ea typeface="Calibri" pitchFamily="34" charset="-122"/>
                <a:cs typeface="Calibri" pitchFamily="34" charset="-120"/>
              </a:rPr>
              <a:t> : Sephora France utilise Meta Advanced Analytics pour comprendre l'effet réel de ses campagnes Instagram sur les ventes en magasin. En croisant les expositions Meta avec la base client (loyalty), Sephora démontre un lift de 23 % sur les acheteurs exposés vs non-exposés  là où le modèle d'attribution classique sous-estimait de 60 %.</a:t>
            </a:r>
          </a:p>
          <a:p>
            <a:pPr marL="0" indent="0">
              <a:buNone/>
            </a:pPr>
            <a:endParaRPr lang="en-US" sz="1200" dirty="0"/>
          </a:p>
        </p:txBody>
      </p:sp>
      <p:sp>
        <p:nvSpPr>
          <p:cNvPr id="27" name="Text 25"/>
          <p:cNvSpPr/>
          <p:nvPr/>
        </p:nvSpPr>
        <p:spPr>
          <a:xfrm>
            <a:off x="5486400" y="5943600"/>
            <a:ext cx="5989320" cy="320040"/>
          </a:xfrm>
          <a:prstGeom prst="rect">
            <a:avLst/>
          </a:prstGeom>
          <a:noFill/>
          <a:ln/>
        </p:spPr>
        <p:txBody>
          <a:bodyPr wrap="square" lIns="0" tIns="0" rIns="0" bIns="0" rtlCol="0" anchor="ctr"/>
          <a:lstStyle/>
          <a:p>
            <a:pPr marL="0" indent="0">
              <a:buNone/>
            </a:pPr>
            <a:r>
              <a:rPr lang="en-US" sz="1300" b="1" dirty="0">
                <a:solidFill>
                  <a:srgbClr val="F96167"/>
                </a:solidFill>
                <a:latin typeface="Calibri" pitchFamily="34" charset="0"/>
                <a:ea typeface="Calibri" pitchFamily="34" charset="-122"/>
                <a:cs typeface="Calibri" pitchFamily="34" charset="-120"/>
              </a:rPr>
              <a:t>Budget Meta réalloué +18 % sur les formats "brand" après preuve du lift.</a:t>
            </a:r>
            <a:endParaRPr lang="en-US" sz="1300" dirty="0"/>
          </a:p>
        </p:txBody>
      </p:sp>
      <p:sp>
        <p:nvSpPr>
          <p:cNvPr id="28" name="Shape 26"/>
          <p:cNvSpPr/>
          <p:nvPr/>
        </p:nvSpPr>
        <p:spPr>
          <a:xfrm>
            <a:off x="0" y="6583680"/>
            <a:ext cx="12191695" cy="274320"/>
          </a:xfrm>
          <a:prstGeom prst="rect">
            <a:avLst/>
          </a:prstGeom>
          <a:solidFill>
            <a:srgbClr val="0B1F3A"/>
          </a:solidFill>
          <a:ln w="12700">
            <a:solidFill>
              <a:srgbClr val="0B1F3A"/>
            </a:solidFill>
            <a:prstDash val="solid"/>
          </a:ln>
        </p:spPr>
      </p:sp>
      <p:sp>
        <p:nvSpPr>
          <p:cNvPr id="29" name="Text 27"/>
          <p:cNvSpPr/>
          <p:nvPr/>
        </p:nvSpPr>
        <p:spPr>
          <a:xfrm>
            <a:off x="365760" y="6601968"/>
            <a:ext cx="822960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Session 3  Ads &amp; Neutres</a:t>
            </a:r>
            <a:endParaRPr lang="en-US" sz="1000" dirty="0"/>
          </a:p>
        </p:txBody>
      </p:sp>
      <p:sp>
        <p:nvSpPr>
          <p:cNvPr id="30" name="Text 28"/>
          <p:cNvSpPr/>
          <p:nvPr/>
        </p:nvSpPr>
        <p:spPr>
          <a:xfrm>
            <a:off x="11551615" y="6601968"/>
            <a:ext cx="365760" cy="237744"/>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29</a:t>
            </a:r>
            <a:endParaRPr lang="en-US" sz="1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31">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B1F3A"/>
          </a:solidFill>
          <a:ln w="12700">
            <a:solidFill>
              <a:srgbClr val="0B1F3A"/>
            </a:solidFill>
            <a:prstDash val="solid"/>
          </a:ln>
        </p:spPr>
      </p:sp>
      <p:sp>
        <p:nvSpPr>
          <p:cNvPr id="3" name="Text 1"/>
          <p:cNvSpPr/>
          <p:nvPr/>
        </p:nvSpPr>
        <p:spPr>
          <a:xfrm>
            <a:off x="548640" y="182880"/>
            <a:ext cx="2743200" cy="274320"/>
          </a:xfrm>
          <a:prstGeom prst="rect">
            <a:avLst/>
          </a:prstGeom>
          <a:noFill/>
          <a:ln/>
        </p:spPr>
        <p:txBody>
          <a:bodyPr wrap="square" lIns="0" tIns="0" rIns="0" bIns="0" rtlCol="0" anchor="ctr"/>
          <a:lstStyle/>
          <a:p>
            <a:pPr marL="0" indent="0">
              <a:buNone/>
            </a:pPr>
            <a:r>
              <a:rPr lang="en-US" sz="1100" b="1" kern="0" spc="200" dirty="0">
                <a:solidFill>
                  <a:srgbClr val="F96167"/>
                </a:solidFill>
                <a:latin typeface="Calibri" pitchFamily="34" charset="0"/>
                <a:ea typeface="Calibri" pitchFamily="34" charset="-122"/>
                <a:cs typeface="Calibri" pitchFamily="34" charset="-120"/>
              </a:rPr>
              <a:t>PROVIDER 8/12</a:t>
            </a:r>
            <a:endParaRPr lang="en-US" sz="1100" dirty="0"/>
          </a:p>
        </p:txBody>
      </p:sp>
      <p:sp>
        <p:nvSpPr>
          <p:cNvPr id="4" name="Text 2"/>
          <p:cNvSpPr/>
          <p:nvPr/>
        </p:nvSpPr>
        <p:spPr>
          <a:xfrm>
            <a:off x="548640" y="411480"/>
            <a:ext cx="10972800" cy="5029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Amazon Marketing Cloud (AMC)</a:t>
            </a:r>
            <a:endParaRPr lang="en-US" sz="2800" dirty="0"/>
          </a:p>
        </p:txBody>
      </p:sp>
      <p:sp>
        <p:nvSpPr>
          <p:cNvPr id="5" name="Text 3"/>
          <p:cNvSpPr/>
          <p:nvPr/>
        </p:nvSpPr>
        <p:spPr>
          <a:xfrm>
            <a:off x="548640" y="1051560"/>
            <a:ext cx="10972800" cy="320040"/>
          </a:xfrm>
          <a:prstGeom prst="rect">
            <a:avLst/>
          </a:prstGeom>
          <a:noFill/>
          <a:ln/>
        </p:spPr>
        <p:txBody>
          <a:bodyPr wrap="square" lIns="0" tIns="0" rIns="0" bIns="0" rtlCol="0" anchor="ctr"/>
          <a:lstStyle/>
          <a:p>
            <a:pPr marL="0" indent="0">
              <a:buNone/>
            </a:pPr>
            <a:r>
              <a:rPr lang="en-US" sz="1400" i="1" dirty="0">
                <a:solidFill>
                  <a:srgbClr val="1C7293"/>
                </a:solidFill>
                <a:latin typeface="Calibri" pitchFamily="34" charset="0"/>
                <a:ea typeface="Calibri" pitchFamily="34" charset="-122"/>
                <a:cs typeface="Calibri" pitchFamily="34" charset="-120"/>
              </a:rPr>
              <a:t>La DCR d'Amazon Ads  accès aux signaux e-commerce + streaming (Prime Video, Twitch).</a:t>
            </a:r>
            <a:endParaRPr lang="en-US" sz="1400" dirty="0"/>
          </a:p>
        </p:txBody>
      </p:sp>
      <p:sp>
        <p:nvSpPr>
          <p:cNvPr id="6" name="Shape 4"/>
          <p:cNvSpPr/>
          <p:nvPr/>
        </p:nvSpPr>
        <p:spPr>
          <a:xfrm>
            <a:off x="548640" y="1600200"/>
            <a:ext cx="4389120" cy="4754880"/>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7" name="Shape 5"/>
          <p:cNvSpPr/>
          <p:nvPr/>
        </p:nvSpPr>
        <p:spPr>
          <a:xfrm>
            <a:off x="548640" y="1600200"/>
            <a:ext cx="91440" cy="4754880"/>
          </a:xfrm>
          <a:prstGeom prst="rect">
            <a:avLst/>
          </a:prstGeom>
          <a:solidFill>
            <a:srgbClr val="065A82"/>
          </a:solidFill>
          <a:ln w="12700">
            <a:solidFill>
              <a:srgbClr val="065A82"/>
            </a:solidFill>
            <a:prstDash val="solid"/>
          </a:ln>
        </p:spPr>
      </p:sp>
      <p:sp>
        <p:nvSpPr>
          <p:cNvPr id="8" name="Text 6"/>
          <p:cNvSpPr/>
          <p:nvPr/>
        </p:nvSpPr>
        <p:spPr>
          <a:xfrm>
            <a:off x="777240" y="1783080"/>
            <a:ext cx="4023360" cy="320040"/>
          </a:xfrm>
          <a:prstGeom prst="rect">
            <a:avLst/>
          </a:prstGeom>
          <a:noFill/>
          <a:ln/>
        </p:spPr>
        <p:txBody>
          <a:bodyPr wrap="square" lIns="0" tIns="0" rIns="0" bIns="0" rtlCol="0" anchor="ctr"/>
          <a:lstStyle/>
          <a:p>
            <a:pPr marL="0" indent="0">
              <a:buNone/>
            </a:pPr>
            <a:r>
              <a:rPr lang="en-US" sz="1100" b="1" kern="0" spc="150" dirty="0">
                <a:solidFill>
                  <a:srgbClr val="F96167"/>
                </a:solidFill>
                <a:latin typeface="Calibri" pitchFamily="34" charset="0"/>
                <a:ea typeface="Calibri" pitchFamily="34" charset="-122"/>
                <a:cs typeface="Calibri" pitchFamily="34" charset="-120"/>
              </a:rPr>
              <a:t>CARTE D'IDENTITÉ</a:t>
            </a:r>
            <a:endParaRPr lang="en-US" sz="1100" dirty="0"/>
          </a:p>
        </p:txBody>
      </p:sp>
      <p:sp>
        <p:nvSpPr>
          <p:cNvPr id="9" name="Text 7"/>
          <p:cNvSpPr/>
          <p:nvPr/>
        </p:nvSpPr>
        <p:spPr>
          <a:xfrm>
            <a:off x="777240" y="2194560"/>
            <a:ext cx="3931920" cy="22860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Éditeur</a:t>
            </a:r>
            <a:endParaRPr lang="en-US" sz="1000" dirty="0"/>
          </a:p>
        </p:txBody>
      </p:sp>
      <p:sp>
        <p:nvSpPr>
          <p:cNvPr id="10" name="Text 8"/>
          <p:cNvSpPr/>
          <p:nvPr/>
        </p:nvSpPr>
        <p:spPr>
          <a:xfrm>
            <a:off x="777240" y="2404872"/>
            <a:ext cx="393192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Amazon Ads</a:t>
            </a:r>
            <a:endParaRPr lang="en-US" sz="1200" dirty="0"/>
          </a:p>
        </p:txBody>
      </p:sp>
      <p:sp>
        <p:nvSpPr>
          <p:cNvPr id="11" name="Text 9"/>
          <p:cNvSpPr/>
          <p:nvPr/>
        </p:nvSpPr>
        <p:spPr>
          <a:xfrm>
            <a:off x="777240" y="2971800"/>
            <a:ext cx="3931920" cy="22860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Famille</a:t>
            </a:r>
            <a:endParaRPr lang="en-US" sz="1000" dirty="0"/>
          </a:p>
        </p:txBody>
      </p:sp>
      <p:sp>
        <p:nvSpPr>
          <p:cNvPr id="12" name="Text 10"/>
          <p:cNvSpPr/>
          <p:nvPr/>
        </p:nvSpPr>
        <p:spPr>
          <a:xfrm>
            <a:off x="777240" y="3182112"/>
            <a:ext cx="393192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Walled garden Ads + Retail</a:t>
            </a:r>
            <a:endParaRPr lang="en-US" sz="1200" dirty="0"/>
          </a:p>
        </p:txBody>
      </p:sp>
      <p:sp>
        <p:nvSpPr>
          <p:cNvPr id="13" name="Text 11"/>
          <p:cNvSpPr/>
          <p:nvPr/>
        </p:nvSpPr>
        <p:spPr>
          <a:xfrm>
            <a:off x="777240" y="3749040"/>
            <a:ext cx="3931920" cy="22860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Maturité</a:t>
            </a:r>
            <a:endParaRPr lang="en-US" sz="1000" dirty="0"/>
          </a:p>
        </p:txBody>
      </p:sp>
      <p:sp>
        <p:nvSpPr>
          <p:cNvPr id="14" name="Text 12"/>
          <p:cNvSpPr/>
          <p:nvPr/>
        </p:nvSpPr>
        <p:spPr>
          <a:xfrm>
            <a:off x="777240" y="3959352"/>
            <a:ext cx="393192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Production depuis 2021  adoption massive</a:t>
            </a:r>
            <a:endParaRPr lang="en-US" sz="1200" dirty="0"/>
          </a:p>
        </p:txBody>
      </p:sp>
      <p:sp>
        <p:nvSpPr>
          <p:cNvPr id="15" name="Text 13"/>
          <p:cNvSpPr/>
          <p:nvPr/>
        </p:nvSpPr>
        <p:spPr>
          <a:xfrm>
            <a:off x="777240" y="4526280"/>
            <a:ext cx="3931920" cy="22860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Pricing</a:t>
            </a:r>
            <a:endParaRPr lang="en-US" sz="1000" dirty="0"/>
          </a:p>
        </p:txBody>
      </p:sp>
      <p:sp>
        <p:nvSpPr>
          <p:cNvPr id="16" name="Text 14"/>
          <p:cNvSpPr/>
          <p:nvPr/>
        </p:nvSpPr>
        <p:spPr>
          <a:xfrm>
            <a:off x="777240" y="4736592"/>
            <a:ext cx="393192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Inclus pour annonceurs Amazon Ads</a:t>
            </a:r>
            <a:endParaRPr lang="en-US" sz="1200" dirty="0"/>
          </a:p>
        </p:txBody>
      </p:sp>
      <p:sp>
        <p:nvSpPr>
          <p:cNvPr id="17" name="Text 15"/>
          <p:cNvSpPr/>
          <p:nvPr/>
        </p:nvSpPr>
        <p:spPr>
          <a:xfrm>
            <a:off x="777240" y="5303520"/>
            <a:ext cx="3931920" cy="22860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Force clé</a:t>
            </a:r>
            <a:endParaRPr lang="en-US" sz="1000" dirty="0"/>
          </a:p>
        </p:txBody>
      </p:sp>
      <p:sp>
        <p:nvSpPr>
          <p:cNvPr id="18" name="Text 16"/>
          <p:cNvSpPr/>
          <p:nvPr/>
        </p:nvSpPr>
        <p:spPr>
          <a:xfrm>
            <a:off x="777240" y="5513832"/>
            <a:ext cx="393192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Seul environnement où croiser exposition média Amazon ET comportement d'achat sur Amazon.</a:t>
            </a:r>
            <a:endParaRPr lang="en-US" sz="1200" dirty="0"/>
          </a:p>
        </p:txBody>
      </p:sp>
      <p:sp>
        <p:nvSpPr>
          <p:cNvPr id="19" name="Shape 17"/>
          <p:cNvSpPr/>
          <p:nvPr/>
        </p:nvSpPr>
        <p:spPr>
          <a:xfrm>
            <a:off x="5212080" y="1600200"/>
            <a:ext cx="6446520" cy="2331720"/>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20" name="Shape 18"/>
          <p:cNvSpPr/>
          <p:nvPr/>
        </p:nvSpPr>
        <p:spPr>
          <a:xfrm>
            <a:off x="5212080" y="1600200"/>
            <a:ext cx="91440" cy="2331720"/>
          </a:xfrm>
          <a:prstGeom prst="rect">
            <a:avLst/>
          </a:prstGeom>
          <a:solidFill>
            <a:srgbClr val="1C7293"/>
          </a:solidFill>
          <a:ln w="12700">
            <a:solidFill>
              <a:srgbClr val="1C7293"/>
            </a:solidFill>
            <a:prstDash val="solid"/>
          </a:ln>
        </p:spPr>
      </p:sp>
      <p:sp>
        <p:nvSpPr>
          <p:cNvPr id="21" name="Text 19"/>
          <p:cNvSpPr/>
          <p:nvPr/>
        </p:nvSpPr>
        <p:spPr>
          <a:xfrm>
            <a:off x="5440680" y="1737360"/>
            <a:ext cx="6080760" cy="274320"/>
          </a:xfrm>
          <a:prstGeom prst="rect">
            <a:avLst/>
          </a:prstGeom>
          <a:noFill/>
          <a:ln/>
        </p:spPr>
        <p:txBody>
          <a:bodyPr wrap="square" lIns="0" tIns="0" rIns="0" bIns="0" rtlCol="0" anchor="ctr"/>
          <a:lstStyle/>
          <a:p>
            <a:pPr marL="0" indent="0">
              <a:buNone/>
            </a:pPr>
            <a:r>
              <a:rPr lang="en-US" sz="1100" b="1" kern="0" spc="150" dirty="0">
                <a:solidFill>
                  <a:srgbClr val="F96167"/>
                </a:solidFill>
                <a:latin typeface="Calibri" pitchFamily="34" charset="0"/>
                <a:ea typeface="Calibri" pitchFamily="34" charset="-122"/>
                <a:cs typeface="Calibri" pitchFamily="34" charset="-120"/>
              </a:rPr>
              <a:t>CE QUE ÇA FAIT BIEN</a:t>
            </a:r>
            <a:endParaRPr lang="en-US" sz="1100" dirty="0"/>
          </a:p>
        </p:txBody>
      </p:sp>
      <p:sp>
        <p:nvSpPr>
          <p:cNvPr id="22" name="Text 20"/>
          <p:cNvSpPr/>
          <p:nvPr/>
        </p:nvSpPr>
        <p:spPr>
          <a:xfrm>
            <a:off x="5486400" y="2057400"/>
            <a:ext cx="5989320" cy="178308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Requêtes SQL sur données Sponsored Products, DSP, Streaming TV</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Croisement avec first-party data (via AWS Clean Rooms)</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Analyse du parcours path-to-purchase sur Amazon.fr</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Audiences custom activables sur Amazon DSP</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Incrementality Testing intégré</a:t>
            </a:r>
            <a:endParaRPr lang="en-US" sz="1200" dirty="0"/>
          </a:p>
        </p:txBody>
      </p:sp>
      <p:sp>
        <p:nvSpPr>
          <p:cNvPr id="23" name="Shape 21"/>
          <p:cNvSpPr/>
          <p:nvPr/>
        </p:nvSpPr>
        <p:spPr>
          <a:xfrm>
            <a:off x="5212080" y="4069080"/>
            <a:ext cx="6446520" cy="2286000"/>
          </a:xfrm>
          <a:prstGeom prst="rect">
            <a:avLst/>
          </a:prstGeom>
          <a:solidFill>
            <a:srgbClr val="0B1F3A"/>
          </a:solidFill>
          <a:ln w="12700">
            <a:solidFill>
              <a:srgbClr val="0B1F3A"/>
            </a:solidFill>
            <a:prstDash val="solid"/>
          </a:ln>
          <a:effectLst>
            <a:outerShdw blurRad="76200" dist="25400" dir="8100000" algn="bl" rotWithShape="0">
              <a:srgbClr val="000000">
                <a:alpha val="12000"/>
              </a:srgbClr>
            </a:outerShdw>
          </a:effectLst>
        </p:spPr>
      </p:sp>
      <p:sp>
        <p:nvSpPr>
          <p:cNvPr id="24" name="Shape 22"/>
          <p:cNvSpPr/>
          <p:nvPr/>
        </p:nvSpPr>
        <p:spPr>
          <a:xfrm>
            <a:off x="5212080" y="4069080"/>
            <a:ext cx="91440" cy="2286000"/>
          </a:xfrm>
          <a:prstGeom prst="rect">
            <a:avLst/>
          </a:prstGeom>
          <a:solidFill>
            <a:srgbClr val="F96167"/>
          </a:solidFill>
          <a:ln w="12700">
            <a:solidFill>
              <a:srgbClr val="F96167"/>
            </a:solidFill>
            <a:prstDash val="solid"/>
          </a:ln>
        </p:spPr>
      </p:sp>
      <p:sp>
        <p:nvSpPr>
          <p:cNvPr id="25" name="Text 23"/>
          <p:cNvSpPr/>
          <p:nvPr/>
        </p:nvSpPr>
        <p:spPr>
          <a:xfrm>
            <a:off x="5486400" y="4251960"/>
            <a:ext cx="5989320" cy="274320"/>
          </a:xfrm>
          <a:prstGeom prst="rect">
            <a:avLst/>
          </a:prstGeom>
          <a:noFill/>
          <a:ln/>
        </p:spPr>
        <p:txBody>
          <a:bodyPr wrap="square" lIns="0" tIns="0" rIns="0" bIns="0" rtlCol="0" anchor="ctr"/>
          <a:lstStyle/>
          <a:p>
            <a:pPr marL="0" indent="0">
              <a:buNone/>
            </a:pPr>
            <a:r>
              <a:rPr lang="en-US" sz="1100" b="1" kern="0" spc="150" dirty="0">
                <a:solidFill>
                  <a:srgbClr val="F9B233"/>
                </a:solidFill>
                <a:latin typeface="Calibri" pitchFamily="34" charset="0"/>
                <a:ea typeface="Calibri" pitchFamily="34" charset="-122"/>
                <a:cs typeface="Calibri" pitchFamily="34" charset="-120"/>
              </a:rPr>
              <a:t>CAS MARKETING CONCRET</a:t>
            </a:r>
            <a:endParaRPr lang="en-US" sz="1100" dirty="0"/>
          </a:p>
        </p:txBody>
      </p:sp>
      <p:sp>
        <p:nvSpPr>
          <p:cNvPr id="26" name="Text 24"/>
          <p:cNvSpPr/>
          <p:nvPr/>
        </p:nvSpPr>
        <p:spPr>
          <a:xfrm>
            <a:off x="5486400" y="4572000"/>
            <a:ext cx="5989320" cy="141732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Cas : Un grand groupe FMCG (yaourts bio) mesure l'impact de ses campagnes Prime Video sur ses ventes en magasin physique Carrefour ET sur Amazon Fresh. AMC révèle que 41 % des ventes incrémentales se font en point de vente physique  justifiant la campagne au-delà du seul ROAS Amazon.</a:t>
            </a:r>
            <a:endParaRPr lang="en-US" sz="1200" dirty="0"/>
          </a:p>
        </p:txBody>
      </p:sp>
      <p:sp>
        <p:nvSpPr>
          <p:cNvPr id="27" name="Text 25"/>
          <p:cNvSpPr/>
          <p:nvPr/>
        </p:nvSpPr>
        <p:spPr>
          <a:xfrm>
            <a:off x="5486400" y="5943600"/>
            <a:ext cx="5989320" cy="320040"/>
          </a:xfrm>
          <a:prstGeom prst="rect">
            <a:avLst/>
          </a:prstGeom>
          <a:noFill/>
          <a:ln/>
        </p:spPr>
        <p:txBody>
          <a:bodyPr wrap="square" lIns="0" tIns="0" rIns="0" bIns="0" rtlCol="0" anchor="ctr"/>
          <a:lstStyle/>
          <a:p>
            <a:pPr marL="0" indent="0">
              <a:buNone/>
            </a:pPr>
            <a:r>
              <a:rPr lang="en-US" sz="1300" b="1" dirty="0">
                <a:solidFill>
                  <a:srgbClr val="F96167"/>
                </a:solidFill>
                <a:latin typeface="Calibri" pitchFamily="34" charset="0"/>
                <a:ea typeface="Calibri" pitchFamily="34" charset="-122"/>
                <a:cs typeface="Calibri" pitchFamily="34" charset="-120"/>
              </a:rPr>
              <a:t>Bascule +15 % du budget TV vers Prime Video grâce à la preuve halo-effect.</a:t>
            </a:r>
            <a:endParaRPr lang="en-US" sz="1300" dirty="0"/>
          </a:p>
        </p:txBody>
      </p:sp>
      <p:sp>
        <p:nvSpPr>
          <p:cNvPr id="28" name="Shape 26"/>
          <p:cNvSpPr/>
          <p:nvPr/>
        </p:nvSpPr>
        <p:spPr>
          <a:xfrm>
            <a:off x="0" y="6583680"/>
            <a:ext cx="12191695" cy="274320"/>
          </a:xfrm>
          <a:prstGeom prst="rect">
            <a:avLst/>
          </a:prstGeom>
          <a:solidFill>
            <a:srgbClr val="0B1F3A"/>
          </a:solidFill>
          <a:ln w="12700">
            <a:solidFill>
              <a:srgbClr val="0B1F3A"/>
            </a:solidFill>
            <a:prstDash val="solid"/>
          </a:ln>
        </p:spPr>
      </p:sp>
      <p:sp>
        <p:nvSpPr>
          <p:cNvPr id="29" name="Text 27"/>
          <p:cNvSpPr/>
          <p:nvPr/>
        </p:nvSpPr>
        <p:spPr>
          <a:xfrm>
            <a:off x="365760" y="6601968"/>
            <a:ext cx="822960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Session 3  Ads &amp; Neutres</a:t>
            </a:r>
            <a:endParaRPr lang="en-US" sz="1000" dirty="0"/>
          </a:p>
        </p:txBody>
      </p:sp>
      <p:sp>
        <p:nvSpPr>
          <p:cNvPr id="30" name="Text 28"/>
          <p:cNvSpPr/>
          <p:nvPr/>
        </p:nvSpPr>
        <p:spPr>
          <a:xfrm>
            <a:off x="11551615" y="6601968"/>
            <a:ext cx="365760" cy="237744"/>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30</a:t>
            </a:r>
            <a:endParaRPr lang="en-US" sz="1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32">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B1F3A"/>
          </a:solidFill>
          <a:ln w="12700">
            <a:solidFill>
              <a:srgbClr val="0B1F3A"/>
            </a:solidFill>
            <a:prstDash val="solid"/>
          </a:ln>
        </p:spPr>
      </p:sp>
      <p:sp>
        <p:nvSpPr>
          <p:cNvPr id="3" name="Text 1"/>
          <p:cNvSpPr/>
          <p:nvPr/>
        </p:nvSpPr>
        <p:spPr>
          <a:xfrm>
            <a:off x="548640" y="182880"/>
            <a:ext cx="2743200" cy="274320"/>
          </a:xfrm>
          <a:prstGeom prst="rect">
            <a:avLst/>
          </a:prstGeom>
          <a:noFill/>
          <a:ln/>
        </p:spPr>
        <p:txBody>
          <a:bodyPr wrap="square" lIns="0" tIns="0" rIns="0" bIns="0" rtlCol="0" anchor="ctr"/>
          <a:lstStyle/>
          <a:p>
            <a:pPr marL="0" indent="0">
              <a:buNone/>
            </a:pPr>
            <a:r>
              <a:rPr lang="en-US" sz="1100" b="1" kern="0" spc="200" dirty="0">
                <a:solidFill>
                  <a:srgbClr val="F96167"/>
                </a:solidFill>
                <a:latin typeface="Calibri" pitchFamily="34" charset="0"/>
                <a:ea typeface="Calibri" pitchFamily="34" charset="-122"/>
                <a:cs typeface="Calibri" pitchFamily="34" charset="-120"/>
              </a:rPr>
              <a:t>PROVIDER 9/12</a:t>
            </a:r>
            <a:endParaRPr lang="en-US" sz="1100" dirty="0"/>
          </a:p>
        </p:txBody>
      </p:sp>
      <p:sp>
        <p:nvSpPr>
          <p:cNvPr id="4" name="Text 2"/>
          <p:cNvSpPr/>
          <p:nvPr/>
        </p:nvSpPr>
        <p:spPr>
          <a:xfrm>
            <a:off x="548640" y="411480"/>
            <a:ext cx="10972800" cy="5029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The Trade Desk + UID 2.0</a:t>
            </a:r>
            <a:endParaRPr lang="en-US" sz="2800" dirty="0"/>
          </a:p>
        </p:txBody>
      </p:sp>
      <p:sp>
        <p:nvSpPr>
          <p:cNvPr id="5" name="Text 3"/>
          <p:cNvSpPr/>
          <p:nvPr/>
        </p:nvSpPr>
        <p:spPr>
          <a:xfrm>
            <a:off x="548640" y="1051560"/>
            <a:ext cx="10972800" cy="320040"/>
          </a:xfrm>
          <a:prstGeom prst="rect">
            <a:avLst/>
          </a:prstGeom>
          <a:noFill/>
          <a:ln/>
        </p:spPr>
        <p:txBody>
          <a:bodyPr wrap="square" lIns="0" tIns="0" rIns="0" bIns="0" rtlCol="0" anchor="ctr"/>
          <a:lstStyle/>
          <a:p>
            <a:pPr marL="0" indent="0">
              <a:buNone/>
            </a:pPr>
            <a:r>
              <a:rPr lang="en-US" sz="1400" i="1" dirty="0">
                <a:solidFill>
                  <a:srgbClr val="1C7293"/>
                </a:solidFill>
                <a:latin typeface="Calibri" pitchFamily="34" charset="0"/>
                <a:ea typeface="Calibri" pitchFamily="34" charset="-122"/>
                <a:cs typeface="Calibri" pitchFamily="34" charset="-120"/>
              </a:rPr>
              <a:t>Le DSP indépendant #1 + l'identifiant email open-source qui remplace le cookie.</a:t>
            </a:r>
            <a:endParaRPr lang="en-US" sz="1400" dirty="0"/>
          </a:p>
        </p:txBody>
      </p:sp>
      <p:sp>
        <p:nvSpPr>
          <p:cNvPr id="6" name="Shape 4"/>
          <p:cNvSpPr/>
          <p:nvPr/>
        </p:nvSpPr>
        <p:spPr>
          <a:xfrm>
            <a:off x="548640" y="1600200"/>
            <a:ext cx="4389120" cy="4754880"/>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7" name="Shape 5"/>
          <p:cNvSpPr/>
          <p:nvPr/>
        </p:nvSpPr>
        <p:spPr>
          <a:xfrm>
            <a:off x="548640" y="1600200"/>
            <a:ext cx="91440" cy="4754880"/>
          </a:xfrm>
          <a:prstGeom prst="rect">
            <a:avLst/>
          </a:prstGeom>
          <a:solidFill>
            <a:srgbClr val="065A82"/>
          </a:solidFill>
          <a:ln w="12700">
            <a:solidFill>
              <a:srgbClr val="065A82"/>
            </a:solidFill>
            <a:prstDash val="solid"/>
          </a:ln>
        </p:spPr>
      </p:sp>
      <p:sp>
        <p:nvSpPr>
          <p:cNvPr id="8" name="Text 6"/>
          <p:cNvSpPr/>
          <p:nvPr/>
        </p:nvSpPr>
        <p:spPr>
          <a:xfrm>
            <a:off x="777240" y="1783080"/>
            <a:ext cx="4023360" cy="320040"/>
          </a:xfrm>
          <a:prstGeom prst="rect">
            <a:avLst/>
          </a:prstGeom>
          <a:noFill/>
          <a:ln/>
        </p:spPr>
        <p:txBody>
          <a:bodyPr wrap="square" lIns="0" tIns="0" rIns="0" bIns="0" rtlCol="0" anchor="ctr"/>
          <a:lstStyle/>
          <a:p>
            <a:pPr marL="0" indent="0">
              <a:buNone/>
            </a:pPr>
            <a:r>
              <a:rPr lang="en-US" sz="1100" b="1" kern="0" spc="150" dirty="0">
                <a:solidFill>
                  <a:srgbClr val="F96167"/>
                </a:solidFill>
                <a:latin typeface="Calibri" pitchFamily="34" charset="0"/>
                <a:ea typeface="Calibri" pitchFamily="34" charset="-122"/>
                <a:cs typeface="Calibri" pitchFamily="34" charset="-120"/>
              </a:rPr>
              <a:t>CARTE D'IDENTITÉ</a:t>
            </a:r>
            <a:endParaRPr lang="en-US" sz="1100" dirty="0"/>
          </a:p>
        </p:txBody>
      </p:sp>
      <p:sp>
        <p:nvSpPr>
          <p:cNvPr id="9" name="Text 7"/>
          <p:cNvSpPr/>
          <p:nvPr/>
        </p:nvSpPr>
        <p:spPr>
          <a:xfrm>
            <a:off x="777240" y="2194560"/>
            <a:ext cx="3931920" cy="22860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Éditeur</a:t>
            </a:r>
            <a:endParaRPr lang="en-US" sz="1000" dirty="0"/>
          </a:p>
        </p:txBody>
      </p:sp>
      <p:sp>
        <p:nvSpPr>
          <p:cNvPr id="10" name="Text 8"/>
          <p:cNvSpPr/>
          <p:nvPr/>
        </p:nvSpPr>
        <p:spPr>
          <a:xfrm>
            <a:off x="777240" y="2404872"/>
            <a:ext cx="393192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The Trade Desk</a:t>
            </a:r>
            <a:endParaRPr lang="en-US" sz="1200" dirty="0"/>
          </a:p>
        </p:txBody>
      </p:sp>
      <p:sp>
        <p:nvSpPr>
          <p:cNvPr id="11" name="Text 9"/>
          <p:cNvSpPr/>
          <p:nvPr/>
        </p:nvSpPr>
        <p:spPr>
          <a:xfrm>
            <a:off x="777240" y="2971800"/>
            <a:ext cx="3931920" cy="22860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Famille</a:t>
            </a:r>
            <a:endParaRPr lang="en-US" sz="1000" dirty="0"/>
          </a:p>
        </p:txBody>
      </p:sp>
      <p:sp>
        <p:nvSpPr>
          <p:cNvPr id="12" name="Text 10"/>
          <p:cNvSpPr/>
          <p:nvPr/>
        </p:nvSpPr>
        <p:spPr>
          <a:xfrm>
            <a:off x="777240" y="3182112"/>
            <a:ext cx="393192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DSP + identity (open source)</a:t>
            </a:r>
            <a:endParaRPr lang="en-US" sz="1200" dirty="0"/>
          </a:p>
        </p:txBody>
      </p:sp>
      <p:sp>
        <p:nvSpPr>
          <p:cNvPr id="13" name="Text 11"/>
          <p:cNvSpPr/>
          <p:nvPr/>
        </p:nvSpPr>
        <p:spPr>
          <a:xfrm>
            <a:off x="777240" y="3749040"/>
            <a:ext cx="3931920" cy="22860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Maturité</a:t>
            </a:r>
            <a:endParaRPr lang="en-US" sz="1000" dirty="0"/>
          </a:p>
        </p:txBody>
      </p:sp>
      <p:sp>
        <p:nvSpPr>
          <p:cNvPr id="14" name="Text 12"/>
          <p:cNvSpPr/>
          <p:nvPr/>
        </p:nvSpPr>
        <p:spPr>
          <a:xfrm>
            <a:off x="777240" y="3959352"/>
            <a:ext cx="393192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Production depuis 2022  standard de facto CTV</a:t>
            </a:r>
            <a:endParaRPr lang="en-US" sz="1200" dirty="0"/>
          </a:p>
        </p:txBody>
      </p:sp>
      <p:sp>
        <p:nvSpPr>
          <p:cNvPr id="15" name="Text 13"/>
          <p:cNvSpPr/>
          <p:nvPr/>
        </p:nvSpPr>
        <p:spPr>
          <a:xfrm>
            <a:off x="777240" y="4526280"/>
            <a:ext cx="3931920" cy="22860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Pricing</a:t>
            </a:r>
            <a:endParaRPr lang="en-US" sz="1000" dirty="0"/>
          </a:p>
        </p:txBody>
      </p:sp>
      <p:sp>
        <p:nvSpPr>
          <p:cNvPr id="16" name="Text 14"/>
          <p:cNvSpPr/>
          <p:nvPr/>
        </p:nvSpPr>
        <p:spPr>
          <a:xfrm>
            <a:off x="777240" y="4736592"/>
            <a:ext cx="393192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Inclus dans TTD</a:t>
            </a:r>
            <a:endParaRPr lang="en-US" sz="1200" dirty="0"/>
          </a:p>
        </p:txBody>
      </p:sp>
      <p:sp>
        <p:nvSpPr>
          <p:cNvPr id="17" name="Text 15"/>
          <p:cNvSpPr/>
          <p:nvPr/>
        </p:nvSpPr>
        <p:spPr>
          <a:xfrm>
            <a:off x="777240" y="5303520"/>
            <a:ext cx="3931920" cy="22860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Force clé</a:t>
            </a:r>
            <a:endParaRPr lang="en-US" sz="1000" dirty="0"/>
          </a:p>
        </p:txBody>
      </p:sp>
      <p:sp>
        <p:nvSpPr>
          <p:cNvPr id="18" name="Text 16"/>
          <p:cNvSpPr/>
          <p:nvPr/>
        </p:nvSpPr>
        <p:spPr>
          <a:xfrm>
            <a:off x="777240" y="5513832"/>
            <a:ext cx="393192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Seul identifiant cross-site accepté par un vaste écosystème d'éditeurs premium.</a:t>
            </a:r>
            <a:endParaRPr lang="en-US" sz="1200" dirty="0"/>
          </a:p>
        </p:txBody>
      </p:sp>
      <p:sp>
        <p:nvSpPr>
          <p:cNvPr id="19" name="Shape 17"/>
          <p:cNvSpPr/>
          <p:nvPr/>
        </p:nvSpPr>
        <p:spPr>
          <a:xfrm>
            <a:off x="5212080" y="1600200"/>
            <a:ext cx="6446520" cy="2331720"/>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20" name="Shape 18"/>
          <p:cNvSpPr/>
          <p:nvPr/>
        </p:nvSpPr>
        <p:spPr>
          <a:xfrm>
            <a:off x="5212080" y="1600200"/>
            <a:ext cx="91440" cy="2331720"/>
          </a:xfrm>
          <a:prstGeom prst="rect">
            <a:avLst/>
          </a:prstGeom>
          <a:solidFill>
            <a:srgbClr val="1C7293"/>
          </a:solidFill>
          <a:ln w="12700">
            <a:solidFill>
              <a:srgbClr val="1C7293"/>
            </a:solidFill>
            <a:prstDash val="solid"/>
          </a:ln>
        </p:spPr>
      </p:sp>
      <p:sp>
        <p:nvSpPr>
          <p:cNvPr id="21" name="Text 19"/>
          <p:cNvSpPr/>
          <p:nvPr/>
        </p:nvSpPr>
        <p:spPr>
          <a:xfrm>
            <a:off x="5440680" y="1737360"/>
            <a:ext cx="6080760" cy="274320"/>
          </a:xfrm>
          <a:prstGeom prst="rect">
            <a:avLst/>
          </a:prstGeom>
          <a:noFill/>
          <a:ln/>
        </p:spPr>
        <p:txBody>
          <a:bodyPr wrap="square" lIns="0" tIns="0" rIns="0" bIns="0" rtlCol="0" anchor="ctr"/>
          <a:lstStyle/>
          <a:p>
            <a:pPr marL="0" indent="0">
              <a:buNone/>
            </a:pPr>
            <a:r>
              <a:rPr lang="en-US" sz="1100" b="1" kern="0" spc="150" dirty="0">
                <a:solidFill>
                  <a:srgbClr val="F96167"/>
                </a:solidFill>
                <a:latin typeface="Calibri" pitchFamily="34" charset="0"/>
                <a:ea typeface="Calibri" pitchFamily="34" charset="-122"/>
                <a:cs typeface="Calibri" pitchFamily="34" charset="-120"/>
              </a:rPr>
              <a:t>CE QUE ÇA FAIT BIEN</a:t>
            </a:r>
            <a:endParaRPr lang="en-US" sz="1100" dirty="0"/>
          </a:p>
        </p:txBody>
      </p:sp>
      <p:sp>
        <p:nvSpPr>
          <p:cNvPr id="22" name="Text 20"/>
          <p:cNvSpPr/>
          <p:nvPr/>
        </p:nvSpPr>
        <p:spPr>
          <a:xfrm>
            <a:off x="5486400" y="2057400"/>
            <a:ext cx="5989320" cy="178308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UID 2.0 : email hashé + salé + rotaté</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Compatible avec la plupart des SSP et DCR neutres</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Intégration avec LiveRamp, Snowflake, AWS Clean Rooms</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CTV, audio, DOOH activables via UID 2.0</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Pensé privacy-first (opt-in, rotation)</a:t>
            </a:r>
            <a:endParaRPr lang="en-US" sz="1200" dirty="0"/>
          </a:p>
        </p:txBody>
      </p:sp>
      <p:sp>
        <p:nvSpPr>
          <p:cNvPr id="23" name="Shape 21"/>
          <p:cNvSpPr/>
          <p:nvPr/>
        </p:nvSpPr>
        <p:spPr>
          <a:xfrm>
            <a:off x="5212080" y="4069080"/>
            <a:ext cx="6446520" cy="2286000"/>
          </a:xfrm>
          <a:prstGeom prst="rect">
            <a:avLst/>
          </a:prstGeom>
          <a:solidFill>
            <a:srgbClr val="0B1F3A"/>
          </a:solidFill>
          <a:ln w="12700">
            <a:solidFill>
              <a:srgbClr val="0B1F3A"/>
            </a:solidFill>
            <a:prstDash val="solid"/>
          </a:ln>
          <a:effectLst>
            <a:outerShdw blurRad="76200" dist="25400" dir="8100000" algn="bl" rotWithShape="0">
              <a:srgbClr val="000000">
                <a:alpha val="12000"/>
              </a:srgbClr>
            </a:outerShdw>
          </a:effectLst>
        </p:spPr>
      </p:sp>
      <p:sp>
        <p:nvSpPr>
          <p:cNvPr id="24" name="Shape 22"/>
          <p:cNvSpPr/>
          <p:nvPr/>
        </p:nvSpPr>
        <p:spPr>
          <a:xfrm>
            <a:off x="5212080" y="4069080"/>
            <a:ext cx="91440" cy="2286000"/>
          </a:xfrm>
          <a:prstGeom prst="rect">
            <a:avLst/>
          </a:prstGeom>
          <a:solidFill>
            <a:srgbClr val="F96167"/>
          </a:solidFill>
          <a:ln w="12700">
            <a:solidFill>
              <a:srgbClr val="F96167"/>
            </a:solidFill>
            <a:prstDash val="solid"/>
          </a:ln>
        </p:spPr>
      </p:sp>
      <p:sp>
        <p:nvSpPr>
          <p:cNvPr id="25" name="Text 23"/>
          <p:cNvSpPr/>
          <p:nvPr/>
        </p:nvSpPr>
        <p:spPr>
          <a:xfrm>
            <a:off x="5486400" y="4251960"/>
            <a:ext cx="5989320" cy="274320"/>
          </a:xfrm>
          <a:prstGeom prst="rect">
            <a:avLst/>
          </a:prstGeom>
          <a:noFill/>
          <a:ln/>
        </p:spPr>
        <p:txBody>
          <a:bodyPr wrap="square" lIns="0" tIns="0" rIns="0" bIns="0" rtlCol="0" anchor="ctr"/>
          <a:lstStyle/>
          <a:p>
            <a:pPr marL="0" indent="0">
              <a:buNone/>
            </a:pPr>
            <a:r>
              <a:rPr lang="en-US" sz="1100" b="1" kern="0" spc="150" dirty="0">
                <a:solidFill>
                  <a:srgbClr val="F9B233"/>
                </a:solidFill>
                <a:latin typeface="Calibri" pitchFamily="34" charset="0"/>
                <a:ea typeface="Calibri" pitchFamily="34" charset="-122"/>
                <a:cs typeface="Calibri" pitchFamily="34" charset="-120"/>
              </a:rPr>
              <a:t>CAS MARKETING CONCRET</a:t>
            </a:r>
            <a:endParaRPr lang="en-US" sz="1100" dirty="0"/>
          </a:p>
        </p:txBody>
      </p:sp>
      <p:sp>
        <p:nvSpPr>
          <p:cNvPr id="26" name="Text 24"/>
          <p:cNvSpPr/>
          <p:nvPr/>
        </p:nvSpPr>
        <p:spPr>
          <a:xfrm>
            <a:off x="5486400" y="4572000"/>
            <a:ext cx="5989320" cy="141732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Cas : Le Monde (éditeur premium) convertit 8M de lecteurs logués en UID 2.0. Dans une DCR commune avec TTD et une marque auto, Le Monde démontre que ses lecteurs ont un taux de conversion 3,2x supérieur à la moyenne du web sur les campagnes auto haut de gamme. Résultat : un CPM premium justifié par la donnée, dans un cadre 100 % cookieless.</a:t>
            </a:r>
            <a:endParaRPr lang="en-US" sz="1200" dirty="0"/>
          </a:p>
        </p:txBody>
      </p:sp>
      <p:sp>
        <p:nvSpPr>
          <p:cNvPr id="27" name="Text 25"/>
          <p:cNvSpPr/>
          <p:nvPr/>
        </p:nvSpPr>
        <p:spPr>
          <a:xfrm>
            <a:off x="5486400" y="5943600"/>
            <a:ext cx="5989320" cy="320040"/>
          </a:xfrm>
          <a:prstGeom prst="rect">
            <a:avLst/>
          </a:prstGeom>
          <a:noFill/>
          <a:ln/>
        </p:spPr>
        <p:txBody>
          <a:bodyPr wrap="square" lIns="0" tIns="0" rIns="0" bIns="0" rtlCol="0" anchor="ctr"/>
          <a:lstStyle/>
          <a:p>
            <a:pPr marL="0" indent="0">
              <a:buNone/>
            </a:pPr>
            <a:r>
              <a:rPr lang="en-US" sz="1300" b="1" dirty="0">
                <a:solidFill>
                  <a:srgbClr val="F96167"/>
                </a:solidFill>
                <a:latin typeface="Calibri" pitchFamily="34" charset="0"/>
                <a:ea typeface="Calibri" pitchFamily="34" charset="-122"/>
                <a:cs typeface="Calibri" pitchFamily="34" charset="-120"/>
              </a:rPr>
              <a:t>+62 % de CPM moyen sur l'inventaire Le Monde cookieless (2025).</a:t>
            </a:r>
            <a:endParaRPr lang="en-US" sz="1300" dirty="0"/>
          </a:p>
        </p:txBody>
      </p:sp>
      <p:sp>
        <p:nvSpPr>
          <p:cNvPr id="28" name="Shape 26"/>
          <p:cNvSpPr/>
          <p:nvPr/>
        </p:nvSpPr>
        <p:spPr>
          <a:xfrm>
            <a:off x="0" y="6583680"/>
            <a:ext cx="12191695" cy="274320"/>
          </a:xfrm>
          <a:prstGeom prst="rect">
            <a:avLst/>
          </a:prstGeom>
          <a:solidFill>
            <a:srgbClr val="0B1F3A"/>
          </a:solidFill>
          <a:ln w="12700">
            <a:solidFill>
              <a:srgbClr val="0B1F3A"/>
            </a:solidFill>
            <a:prstDash val="solid"/>
          </a:ln>
        </p:spPr>
      </p:sp>
      <p:sp>
        <p:nvSpPr>
          <p:cNvPr id="29" name="Text 27"/>
          <p:cNvSpPr/>
          <p:nvPr/>
        </p:nvSpPr>
        <p:spPr>
          <a:xfrm>
            <a:off x="365760" y="6601968"/>
            <a:ext cx="822960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Session 3  Ads &amp; Neutres</a:t>
            </a:r>
            <a:endParaRPr lang="en-US" sz="1000" dirty="0"/>
          </a:p>
        </p:txBody>
      </p:sp>
      <p:sp>
        <p:nvSpPr>
          <p:cNvPr id="30" name="Text 28"/>
          <p:cNvSpPr/>
          <p:nvPr/>
        </p:nvSpPr>
        <p:spPr>
          <a:xfrm>
            <a:off x="11551615" y="6601968"/>
            <a:ext cx="365760" cy="237744"/>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31</a:t>
            </a:r>
            <a:endParaRPr lang="en-US" sz="1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33">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B1F3A"/>
          </a:solidFill>
          <a:ln w="12700">
            <a:solidFill>
              <a:srgbClr val="0B1F3A"/>
            </a:solidFill>
            <a:prstDash val="solid"/>
          </a:ln>
        </p:spPr>
      </p:sp>
      <p:sp>
        <p:nvSpPr>
          <p:cNvPr id="3" name="Text 1"/>
          <p:cNvSpPr/>
          <p:nvPr/>
        </p:nvSpPr>
        <p:spPr>
          <a:xfrm>
            <a:off x="548640" y="182880"/>
            <a:ext cx="2743200" cy="274320"/>
          </a:xfrm>
          <a:prstGeom prst="rect">
            <a:avLst/>
          </a:prstGeom>
          <a:noFill/>
          <a:ln/>
        </p:spPr>
        <p:txBody>
          <a:bodyPr wrap="square" lIns="0" tIns="0" rIns="0" bIns="0" rtlCol="0" anchor="ctr"/>
          <a:lstStyle/>
          <a:p>
            <a:pPr marL="0" indent="0">
              <a:buNone/>
            </a:pPr>
            <a:r>
              <a:rPr lang="en-US" sz="1100" b="1" kern="0" spc="200" dirty="0">
                <a:solidFill>
                  <a:srgbClr val="F96167"/>
                </a:solidFill>
                <a:latin typeface="Calibri" pitchFamily="34" charset="0"/>
                <a:ea typeface="Calibri" pitchFamily="34" charset="-122"/>
                <a:cs typeface="Calibri" pitchFamily="34" charset="-120"/>
              </a:rPr>
              <a:t>PROVIDER 10/12</a:t>
            </a:r>
            <a:endParaRPr lang="en-US" sz="1100" dirty="0"/>
          </a:p>
        </p:txBody>
      </p:sp>
      <p:sp>
        <p:nvSpPr>
          <p:cNvPr id="4" name="Text 2"/>
          <p:cNvSpPr/>
          <p:nvPr/>
        </p:nvSpPr>
        <p:spPr>
          <a:xfrm>
            <a:off x="548640" y="411480"/>
            <a:ext cx="10972800" cy="5029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LiveRamp Safe Haven</a:t>
            </a:r>
            <a:endParaRPr lang="en-US" sz="2800" dirty="0"/>
          </a:p>
        </p:txBody>
      </p:sp>
      <p:sp>
        <p:nvSpPr>
          <p:cNvPr id="5" name="Text 3"/>
          <p:cNvSpPr/>
          <p:nvPr/>
        </p:nvSpPr>
        <p:spPr>
          <a:xfrm>
            <a:off x="548640" y="1051560"/>
            <a:ext cx="10972800" cy="320040"/>
          </a:xfrm>
          <a:prstGeom prst="rect">
            <a:avLst/>
          </a:prstGeom>
          <a:noFill/>
          <a:ln/>
        </p:spPr>
        <p:txBody>
          <a:bodyPr wrap="square" lIns="0" tIns="0" rIns="0" bIns="0" rtlCol="0" anchor="ctr"/>
          <a:lstStyle/>
          <a:p>
            <a:pPr marL="0" indent="0">
              <a:buNone/>
            </a:pPr>
            <a:r>
              <a:rPr lang="en-US" sz="1400" i="1" dirty="0">
                <a:solidFill>
                  <a:srgbClr val="1C7293"/>
                </a:solidFill>
                <a:latin typeface="Calibri" pitchFamily="34" charset="0"/>
                <a:ea typeface="Calibri" pitchFamily="34" charset="-122"/>
                <a:cs typeface="Calibri" pitchFamily="34" charset="-120"/>
              </a:rPr>
              <a:t>La DCR neutre </a:t>
            </a:r>
            <a:r>
              <a:rPr lang="en-US" sz="1400" i="1" dirty="0" err="1">
                <a:solidFill>
                  <a:srgbClr val="1C7293"/>
                </a:solidFill>
                <a:latin typeface="Calibri" pitchFamily="34" charset="0"/>
                <a:ea typeface="Calibri" pitchFamily="34" charset="-122"/>
                <a:cs typeface="Calibri" pitchFamily="34" charset="-120"/>
              </a:rPr>
              <a:t>historique</a:t>
            </a:r>
            <a:r>
              <a:rPr lang="en-US" sz="1400" i="1" dirty="0">
                <a:solidFill>
                  <a:srgbClr val="1C7293"/>
                </a:solidFill>
                <a:latin typeface="Calibri" pitchFamily="34" charset="0"/>
                <a:ea typeface="Calibri" pitchFamily="34" charset="-122"/>
                <a:cs typeface="Calibri" pitchFamily="34" charset="-120"/>
              </a:rPr>
              <a:t>  le "Switzerland" de la collaboration data marketing.</a:t>
            </a:r>
            <a:endParaRPr lang="en-US" sz="1400" dirty="0"/>
          </a:p>
        </p:txBody>
      </p:sp>
      <p:sp>
        <p:nvSpPr>
          <p:cNvPr id="6" name="Shape 4"/>
          <p:cNvSpPr/>
          <p:nvPr/>
        </p:nvSpPr>
        <p:spPr>
          <a:xfrm>
            <a:off x="548640" y="1600200"/>
            <a:ext cx="4389120" cy="4754880"/>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7" name="Shape 5"/>
          <p:cNvSpPr/>
          <p:nvPr/>
        </p:nvSpPr>
        <p:spPr>
          <a:xfrm>
            <a:off x="548640" y="1600200"/>
            <a:ext cx="91440" cy="4754880"/>
          </a:xfrm>
          <a:prstGeom prst="rect">
            <a:avLst/>
          </a:prstGeom>
          <a:solidFill>
            <a:srgbClr val="065A82"/>
          </a:solidFill>
          <a:ln w="12700">
            <a:solidFill>
              <a:srgbClr val="065A82"/>
            </a:solidFill>
            <a:prstDash val="solid"/>
          </a:ln>
        </p:spPr>
      </p:sp>
      <p:sp>
        <p:nvSpPr>
          <p:cNvPr id="8" name="Text 6"/>
          <p:cNvSpPr/>
          <p:nvPr/>
        </p:nvSpPr>
        <p:spPr>
          <a:xfrm>
            <a:off x="777240" y="1783080"/>
            <a:ext cx="4023360" cy="320040"/>
          </a:xfrm>
          <a:prstGeom prst="rect">
            <a:avLst/>
          </a:prstGeom>
          <a:noFill/>
          <a:ln/>
        </p:spPr>
        <p:txBody>
          <a:bodyPr wrap="square" lIns="0" tIns="0" rIns="0" bIns="0" rtlCol="0" anchor="ctr"/>
          <a:lstStyle/>
          <a:p>
            <a:pPr marL="0" indent="0">
              <a:buNone/>
            </a:pPr>
            <a:r>
              <a:rPr lang="en-US" sz="1100" b="1" kern="0" spc="150" dirty="0">
                <a:solidFill>
                  <a:srgbClr val="F96167"/>
                </a:solidFill>
                <a:latin typeface="Calibri" pitchFamily="34" charset="0"/>
                <a:ea typeface="Calibri" pitchFamily="34" charset="-122"/>
                <a:cs typeface="Calibri" pitchFamily="34" charset="-120"/>
              </a:rPr>
              <a:t>CARTE D'IDENTITÉ</a:t>
            </a:r>
            <a:endParaRPr lang="en-US" sz="1100" dirty="0"/>
          </a:p>
        </p:txBody>
      </p:sp>
      <p:sp>
        <p:nvSpPr>
          <p:cNvPr id="9" name="Text 7"/>
          <p:cNvSpPr/>
          <p:nvPr/>
        </p:nvSpPr>
        <p:spPr>
          <a:xfrm>
            <a:off x="777240" y="2194560"/>
            <a:ext cx="3931920" cy="22860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Éditeur</a:t>
            </a:r>
            <a:endParaRPr lang="en-US" sz="1000" dirty="0"/>
          </a:p>
        </p:txBody>
      </p:sp>
      <p:sp>
        <p:nvSpPr>
          <p:cNvPr id="10" name="Text 8"/>
          <p:cNvSpPr/>
          <p:nvPr/>
        </p:nvSpPr>
        <p:spPr>
          <a:xfrm>
            <a:off x="777240" y="2404872"/>
            <a:ext cx="393192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LiveRamp</a:t>
            </a:r>
            <a:endParaRPr lang="en-US" sz="1200" dirty="0"/>
          </a:p>
        </p:txBody>
      </p:sp>
      <p:sp>
        <p:nvSpPr>
          <p:cNvPr id="11" name="Text 9"/>
          <p:cNvSpPr/>
          <p:nvPr/>
        </p:nvSpPr>
        <p:spPr>
          <a:xfrm>
            <a:off x="777240" y="2971800"/>
            <a:ext cx="3931920" cy="22860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Famille</a:t>
            </a:r>
            <a:endParaRPr lang="en-US" sz="1000" dirty="0"/>
          </a:p>
        </p:txBody>
      </p:sp>
      <p:sp>
        <p:nvSpPr>
          <p:cNvPr id="12" name="Text 10"/>
          <p:cNvSpPr/>
          <p:nvPr/>
        </p:nvSpPr>
        <p:spPr>
          <a:xfrm>
            <a:off x="777240" y="3182112"/>
            <a:ext cx="393192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Neutre spécialisé (identity + DCR)</a:t>
            </a:r>
            <a:endParaRPr lang="en-US" sz="1200" dirty="0"/>
          </a:p>
        </p:txBody>
      </p:sp>
      <p:sp>
        <p:nvSpPr>
          <p:cNvPr id="13" name="Text 11"/>
          <p:cNvSpPr/>
          <p:nvPr/>
        </p:nvSpPr>
        <p:spPr>
          <a:xfrm>
            <a:off x="777240" y="3749040"/>
            <a:ext cx="3931920" cy="22860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Maturité</a:t>
            </a:r>
            <a:endParaRPr lang="en-US" sz="1000" dirty="0"/>
          </a:p>
        </p:txBody>
      </p:sp>
      <p:sp>
        <p:nvSpPr>
          <p:cNvPr id="14" name="Text 12"/>
          <p:cNvSpPr/>
          <p:nvPr/>
        </p:nvSpPr>
        <p:spPr>
          <a:xfrm>
            <a:off x="777240" y="3959352"/>
            <a:ext cx="393192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Production depuis 2020  référence retail media Europe</a:t>
            </a:r>
            <a:endParaRPr lang="en-US" sz="1200" dirty="0"/>
          </a:p>
        </p:txBody>
      </p:sp>
      <p:sp>
        <p:nvSpPr>
          <p:cNvPr id="15" name="Text 13"/>
          <p:cNvSpPr/>
          <p:nvPr/>
        </p:nvSpPr>
        <p:spPr>
          <a:xfrm>
            <a:off x="777240" y="4526280"/>
            <a:ext cx="3931920" cy="22860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Pricing</a:t>
            </a:r>
            <a:endParaRPr lang="en-US" sz="1000" dirty="0"/>
          </a:p>
        </p:txBody>
      </p:sp>
      <p:sp>
        <p:nvSpPr>
          <p:cNvPr id="16" name="Text 14"/>
          <p:cNvSpPr/>
          <p:nvPr/>
        </p:nvSpPr>
        <p:spPr>
          <a:xfrm>
            <a:off x="777240" y="4736592"/>
            <a:ext cx="393192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License annuelle + volume</a:t>
            </a:r>
            <a:endParaRPr lang="en-US" sz="1200" dirty="0"/>
          </a:p>
        </p:txBody>
      </p:sp>
      <p:sp>
        <p:nvSpPr>
          <p:cNvPr id="17" name="Text 15"/>
          <p:cNvSpPr/>
          <p:nvPr/>
        </p:nvSpPr>
        <p:spPr>
          <a:xfrm>
            <a:off x="777240" y="5303520"/>
            <a:ext cx="3931920" cy="22860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Force clé</a:t>
            </a:r>
            <a:endParaRPr lang="en-US" sz="1000" dirty="0"/>
          </a:p>
        </p:txBody>
      </p:sp>
      <p:sp>
        <p:nvSpPr>
          <p:cNvPr id="18" name="Text 16"/>
          <p:cNvSpPr/>
          <p:nvPr/>
        </p:nvSpPr>
        <p:spPr>
          <a:xfrm>
            <a:off x="777240" y="5513832"/>
            <a:ext cx="393192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Tissu relationnel : LiveRamp est déjà connecté à quasiment tous les médias et retailers.</a:t>
            </a:r>
            <a:endParaRPr lang="en-US" sz="1200" dirty="0"/>
          </a:p>
        </p:txBody>
      </p:sp>
      <p:sp>
        <p:nvSpPr>
          <p:cNvPr id="19" name="Shape 17"/>
          <p:cNvSpPr/>
          <p:nvPr/>
        </p:nvSpPr>
        <p:spPr>
          <a:xfrm>
            <a:off x="5212080" y="1600200"/>
            <a:ext cx="6446520" cy="2331720"/>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20" name="Shape 18"/>
          <p:cNvSpPr/>
          <p:nvPr/>
        </p:nvSpPr>
        <p:spPr>
          <a:xfrm>
            <a:off x="5212080" y="1600200"/>
            <a:ext cx="91440" cy="2331720"/>
          </a:xfrm>
          <a:prstGeom prst="rect">
            <a:avLst/>
          </a:prstGeom>
          <a:solidFill>
            <a:srgbClr val="1C7293"/>
          </a:solidFill>
          <a:ln w="12700">
            <a:solidFill>
              <a:srgbClr val="1C7293"/>
            </a:solidFill>
            <a:prstDash val="solid"/>
          </a:ln>
        </p:spPr>
      </p:sp>
      <p:sp>
        <p:nvSpPr>
          <p:cNvPr id="21" name="Text 19"/>
          <p:cNvSpPr/>
          <p:nvPr/>
        </p:nvSpPr>
        <p:spPr>
          <a:xfrm>
            <a:off x="5440680" y="1737360"/>
            <a:ext cx="6080760" cy="274320"/>
          </a:xfrm>
          <a:prstGeom prst="rect">
            <a:avLst/>
          </a:prstGeom>
          <a:noFill/>
          <a:ln/>
        </p:spPr>
        <p:txBody>
          <a:bodyPr wrap="square" lIns="0" tIns="0" rIns="0" bIns="0" rtlCol="0" anchor="ctr"/>
          <a:lstStyle/>
          <a:p>
            <a:pPr marL="0" indent="0">
              <a:buNone/>
            </a:pPr>
            <a:r>
              <a:rPr lang="en-US" sz="1100" b="1" kern="0" spc="150" dirty="0">
                <a:solidFill>
                  <a:srgbClr val="F96167"/>
                </a:solidFill>
                <a:latin typeface="Calibri" pitchFamily="34" charset="0"/>
                <a:ea typeface="Calibri" pitchFamily="34" charset="-122"/>
                <a:cs typeface="Calibri" pitchFamily="34" charset="-120"/>
              </a:rPr>
              <a:t>CE QUE ÇA FAIT BIEN</a:t>
            </a:r>
            <a:endParaRPr lang="en-US" sz="1100" dirty="0"/>
          </a:p>
        </p:txBody>
      </p:sp>
      <p:sp>
        <p:nvSpPr>
          <p:cNvPr id="22" name="Text 20"/>
          <p:cNvSpPr/>
          <p:nvPr/>
        </p:nvSpPr>
        <p:spPr>
          <a:xfrm>
            <a:off x="5486400" y="2057400"/>
            <a:ext cx="5989320" cy="178308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RampID : identifiant deterministic cross-device</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Safe Haven : environnement DCR sécurisé</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Connectors prêts à l'emploi vers 100+ plateformes</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Idéal pour retail media (Carrefour Links tourne dessus)</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Acquisition de Habu (2024) pour renforcer la DCR</a:t>
            </a:r>
            <a:endParaRPr lang="en-US" sz="1200" dirty="0"/>
          </a:p>
        </p:txBody>
      </p:sp>
      <p:sp>
        <p:nvSpPr>
          <p:cNvPr id="23" name="Shape 21"/>
          <p:cNvSpPr/>
          <p:nvPr/>
        </p:nvSpPr>
        <p:spPr>
          <a:xfrm>
            <a:off x="5212080" y="4069080"/>
            <a:ext cx="6446520" cy="2286000"/>
          </a:xfrm>
          <a:prstGeom prst="rect">
            <a:avLst/>
          </a:prstGeom>
          <a:solidFill>
            <a:srgbClr val="0B1F3A"/>
          </a:solidFill>
          <a:ln w="12700">
            <a:solidFill>
              <a:srgbClr val="0B1F3A"/>
            </a:solidFill>
            <a:prstDash val="solid"/>
          </a:ln>
          <a:effectLst>
            <a:outerShdw blurRad="76200" dist="25400" dir="8100000" algn="bl" rotWithShape="0">
              <a:srgbClr val="000000">
                <a:alpha val="12000"/>
              </a:srgbClr>
            </a:outerShdw>
          </a:effectLst>
        </p:spPr>
      </p:sp>
      <p:sp>
        <p:nvSpPr>
          <p:cNvPr id="24" name="Shape 22"/>
          <p:cNvSpPr/>
          <p:nvPr/>
        </p:nvSpPr>
        <p:spPr>
          <a:xfrm>
            <a:off x="5212080" y="4069080"/>
            <a:ext cx="91440" cy="2286000"/>
          </a:xfrm>
          <a:prstGeom prst="rect">
            <a:avLst/>
          </a:prstGeom>
          <a:solidFill>
            <a:srgbClr val="F96167"/>
          </a:solidFill>
          <a:ln w="12700">
            <a:solidFill>
              <a:srgbClr val="F96167"/>
            </a:solidFill>
            <a:prstDash val="solid"/>
          </a:ln>
        </p:spPr>
      </p:sp>
      <p:sp>
        <p:nvSpPr>
          <p:cNvPr id="25" name="Text 23"/>
          <p:cNvSpPr/>
          <p:nvPr/>
        </p:nvSpPr>
        <p:spPr>
          <a:xfrm>
            <a:off x="5486400" y="4251960"/>
            <a:ext cx="5989320" cy="274320"/>
          </a:xfrm>
          <a:prstGeom prst="rect">
            <a:avLst/>
          </a:prstGeom>
          <a:noFill/>
          <a:ln/>
        </p:spPr>
        <p:txBody>
          <a:bodyPr wrap="square" lIns="0" tIns="0" rIns="0" bIns="0" rtlCol="0" anchor="ctr"/>
          <a:lstStyle/>
          <a:p>
            <a:pPr marL="0" indent="0">
              <a:buNone/>
            </a:pPr>
            <a:r>
              <a:rPr lang="en-US" sz="1100" b="1" kern="0" spc="150" dirty="0">
                <a:solidFill>
                  <a:srgbClr val="F9B233"/>
                </a:solidFill>
                <a:latin typeface="Calibri" pitchFamily="34" charset="0"/>
                <a:ea typeface="Calibri" pitchFamily="34" charset="-122"/>
                <a:cs typeface="Calibri" pitchFamily="34" charset="-120"/>
              </a:rPr>
              <a:t>CAS MARKETING CONCRET</a:t>
            </a:r>
            <a:endParaRPr lang="en-US" sz="1100" dirty="0"/>
          </a:p>
        </p:txBody>
      </p:sp>
      <p:sp>
        <p:nvSpPr>
          <p:cNvPr id="26" name="Text 24"/>
          <p:cNvSpPr/>
          <p:nvPr/>
        </p:nvSpPr>
        <p:spPr>
          <a:xfrm>
            <a:off x="5486400" y="4572000"/>
            <a:ext cx="5989320" cy="141732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Cas : Carrefour Links (la régie retail media de Carrefour) fait tourner l'ensemble de son offre publicitaire sur LiveRamp Safe Haven. Une marque FMCG peut cibler, par exemple, les acheteurs de lessive n'ayant pas converti sur sa marque dans les 90 derniers jours, sans que la marque ne voie jamais les identifiants des clients Carrefour.</a:t>
            </a:r>
            <a:endParaRPr lang="en-US" sz="1200" dirty="0"/>
          </a:p>
        </p:txBody>
      </p:sp>
      <p:sp>
        <p:nvSpPr>
          <p:cNvPr id="27" name="Text 25"/>
          <p:cNvSpPr/>
          <p:nvPr/>
        </p:nvSpPr>
        <p:spPr>
          <a:xfrm>
            <a:off x="5486400" y="5943600"/>
            <a:ext cx="5989320" cy="320040"/>
          </a:xfrm>
          <a:prstGeom prst="rect">
            <a:avLst/>
          </a:prstGeom>
          <a:noFill/>
          <a:ln/>
        </p:spPr>
        <p:txBody>
          <a:bodyPr wrap="square" lIns="0" tIns="0" rIns="0" bIns="0" rtlCol="0" anchor="ctr"/>
          <a:lstStyle/>
          <a:p>
            <a:pPr marL="0" indent="0">
              <a:buNone/>
            </a:pPr>
            <a:r>
              <a:rPr lang="en-US" sz="1300" b="1" dirty="0">
                <a:solidFill>
                  <a:srgbClr val="F96167"/>
                </a:solidFill>
                <a:latin typeface="Calibri" pitchFamily="34" charset="0"/>
                <a:ea typeface="Calibri" pitchFamily="34" charset="-122"/>
                <a:cs typeface="Calibri" pitchFamily="34" charset="-120"/>
              </a:rPr>
              <a:t>Marché retail media français adossé : 1,3 Md€  LiveRamp en est l'infrastructure principale.</a:t>
            </a:r>
            <a:endParaRPr lang="en-US" sz="1300" dirty="0"/>
          </a:p>
        </p:txBody>
      </p:sp>
      <p:sp>
        <p:nvSpPr>
          <p:cNvPr id="28" name="Shape 26"/>
          <p:cNvSpPr/>
          <p:nvPr/>
        </p:nvSpPr>
        <p:spPr>
          <a:xfrm>
            <a:off x="0" y="6583680"/>
            <a:ext cx="12191695" cy="274320"/>
          </a:xfrm>
          <a:prstGeom prst="rect">
            <a:avLst/>
          </a:prstGeom>
          <a:solidFill>
            <a:srgbClr val="0B1F3A"/>
          </a:solidFill>
          <a:ln w="12700">
            <a:solidFill>
              <a:srgbClr val="0B1F3A"/>
            </a:solidFill>
            <a:prstDash val="solid"/>
          </a:ln>
        </p:spPr>
      </p:sp>
      <p:sp>
        <p:nvSpPr>
          <p:cNvPr id="29" name="Text 27"/>
          <p:cNvSpPr/>
          <p:nvPr/>
        </p:nvSpPr>
        <p:spPr>
          <a:xfrm>
            <a:off x="365760" y="6601968"/>
            <a:ext cx="822960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Session 3  Ads &amp; Neutres</a:t>
            </a:r>
            <a:endParaRPr lang="en-US" sz="1000" dirty="0"/>
          </a:p>
        </p:txBody>
      </p:sp>
      <p:sp>
        <p:nvSpPr>
          <p:cNvPr id="30" name="Text 28"/>
          <p:cNvSpPr/>
          <p:nvPr/>
        </p:nvSpPr>
        <p:spPr>
          <a:xfrm>
            <a:off x="11551615" y="6601968"/>
            <a:ext cx="365760" cy="237744"/>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32</a:t>
            </a:r>
            <a:endParaRPr lang="en-US" sz="10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34">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B1F3A"/>
          </a:solidFill>
          <a:ln w="12700">
            <a:solidFill>
              <a:srgbClr val="0B1F3A"/>
            </a:solidFill>
            <a:prstDash val="solid"/>
          </a:ln>
        </p:spPr>
      </p:sp>
      <p:sp>
        <p:nvSpPr>
          <p:cNvPr id="3" name="Text 1"/>
          <p:cNvSpPr/>
          <p:nvPr/>
        </p:nvSpPr>
        <p:spPr>
          <a:xfrm>
            <a:off x="548640" y="182880"/>
            <a:ext cx="2743200" cy="274320"/>
          </a:xfrm>
          <a:prstGeom prst="rect">
            <a:avLst/>
          </a:prstGeom>
          <a:noFill/>
          <a:ln/>
        </p:spPr>
        <p:txBody>
          <a:bodyPr wrap="square" lIns="0" tIns="0" rIns="0" bIns="0" rtlCol="0" anchor="ctr"/>
          <a:lstStyle/>
          <a:p>
            <a:pPr marL="0" indent="0">
              <a:buNone/>
            </a:pPr>
            <a:r>
              <a:rPr lang="en-US" sz="1100" b="1" kern="0" spc="200" dirty="0">
                <a:solidFill>
                  <a:srgbClr val="F96167"/>
                </a:solidFill>
                <a:latin typeface="Calibri" pitchFamily="34" charset="0"/>
                <a:ea typeface="Calibri" pitchFamily="34" charset="-122"/>
                <a:cs typeface="Calibri" pitchFamily="34" charset="-120"/>
              </a:rPr>
              <a:t>PROVIDER 11/12</a:t>
            </a:r>
            <a:endParaRPr lang="en-US" sz="1100" dirty="0"/>
          </a:p>
        </p:txBody>
      </p:sp>
      <p:sp>
        <p:nvSpPr>
          <p:cNvPr id="4" name="Text 2"/>
          <p:cNvSpPr/>
          <p:nvPr/>
        </p:nvSpPr>
        <p:spPr>
          <a:xfrm>
            <a:off x="548640" y="411480"/>
            <a:ext cx="10972800" cy="5029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Habu (by LiveRamp)</a:t>
            </a:r>
            <a:endParaRPr lang="en-US" sz="2800" dirty="0"/>
          </a:p>
        </p:txBody>
      </p:sp>
      <p:sp>
        <p:nvSpPr>
          <p:cNvPr id="5" name="Text 3"/>
          <p:cNvSpPr/>
          <p:nvPr/>
        </p:nvSpPr>
        <p:spPr>
          <a:xfrm>
            <a:off x="548640" y="1051560"/>
            <a:ext cx="10972800" cy="320040"/>
          </a:xfrm>
          <a:prstGeom prst="rect">
            <a:avLst/>
          </a:prstGeom>
          <a:noFill/>
          <a:ln/>
        </p:spPr>
        <p:txBody>
          <a:bodyPr wrap="square" lIns="0" tIns="0" rIns="0" bIns="0" rtlCol="0" anchor="ctr"/>
          <a:lstStyle/>
          <a:p>
            <a:pPr marL="0" indent="0">
              <a:buNone/>
            </a:pPr>
            <a:r>
              <a:rPr lang="en-US" sz="1400" i="1" dirty="0">
                <a:solidFill>
                  <a:srgbClr val="1C7293"/>
                </a:solidFill>
                <a:latin typeface="Calibri" pitchFamily="34" charset="0"/>
                <a:ea typeface="Calibri" pitchFamily="34" charset="-122"/>
                <a:cs typeface="Calibri" pitchFamily="34" charset="-120"/>
              </a:rPr>
              <a:t>La couche de collaboration multi-DCR  pour orchestrer des collaborations cross-cloud.</a:t>
            </a:r>
            <a:endParaRPr lang="en-US" sz="1400" dirty="0"/>
          </a:p>
        </p:txBody>
      </p:sp>
      <p:sp>
        <p:nvSpPr>
          <p:cNvPr id="6" name="Shape 4"/>
          <p:cNvSpPr/>
          <p:nvPr/>
        </p:nvSpPr>
        <p:spPr>
          <a:xfrm>
            <a:off x="548640" y="1600200"/>
            <a:ext cx="4389120" cy="4754880"/>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7" name="Shape 5"/>
          <p:cNvSpPr/>
          <p:nvPr/>
        </p:nvSpPr>
        <p:spPr>
          <a:xfrm>
            <a:off x="548640" y="1600200"/>
            <a:ext cx="91440" cy="4754880"/>
          </a:xfrm>
          <a:prstGeom prst="rect">
            <a:avLst/>
          </a:prstGeom>
          <a:solidFill>
            <a:srgbClr val="065A82"/>
          </a:solidFill>
          <a:ln w="12700">
            <a:solidFill>
              <a:srgbClr val="065A82"/>
            </a:solidFill>
            <a:prstDash val="solid"/>
          </a:ln>
        </p:spPr>
      </p:sp>
      <p:sp>
        <p:nvSpPr>
          <p:cNvPr id="8" name="Text 6"/>
          <p:cNvSpPr/>
          <p:nvPr/>
        </p:nvSpPr>
        <p:spPr>
          <a:xfrm>
            <a:off x="777240" y="1783080"/>
            <a:ext cx="4023360" cy="320040"/>
          </a:xfrm>
          <a:prstGeom prst="rect">
            <a:avLst/>
          </a:prstGeom>
          <a:noFill/>
          <a:ln/>
        </p:spPr>
        <p:txBody>
          <a:bodyPr wrap="square" lIns="0" tIns="0" rIns="0" bIns="0" rtlCol="0" anchor="ctr"/>
          <a:lstStyle/>
          <a:p>
            <a:pPr marL="0" indent="0">
              <a:buNone/>
            </a:pPr>
            <a:r>
              <a:rPr lang="en-US" sz="1100" b="1" kern="0" spc="150" dirty="0">
                <a:solidFill>
                  <a:srgbClr val="F96167"/>
                </a:solidFill>
                <a:latin typeface="Calibri" pitchFamily="34" charset="0"/>
                <a:ea typeface="Calibri" pitchFamily="34" charset="-122"/>
                <a:cs typeface="Calibri" pitchFamily="34" charset="-120"/>
              </a:rPr>
              <a:t>CARTE D'IDENTITÉ</a:t>
            </a:r>
            <a:endParaRPr lang="en-US" sz="1100" dirty="0"/>
          </a:p>
        </p:txBody>
      </p:sp>
      <p:sp>
        <p:nvSpPr>
          <p:cNvPr id="9" name="Text 7"/>
          <p:cNvSpPr/>
          <p:nvPr/>
        </p:nvSpPr>
        <p:spPr>
          <a:xfrm>
            <a:off x="777240" y="2194560"/>
            <a:ext cx="3931920" cy="22860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Éditeur</a:t>
            </a:r>
            <a:endParaRPr lang="en-US" sz="1000" dirty="0"/>
          </a:p>
        </p:txBody>
      </p:sp>
      <p:sp>
        <p:nvSpPr>
          <p:cNvPr id="10" name="Text 8"/>
          <p:cNvSpPr/>
          <p:nvPr/>
        </p:nvSpPr>
        <p:spPr>
          <a:xfrm>
            <a:off x="777240" y="2404872"/>
            <a:ext cx="393192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Habu acquis par LiveRamp (2024)</a:t>
            </a:r>
            <a:endParaRPr lang="en-US" sz="1200" dirty="0"/>
          </a:p>
        </p:txBody>
      </p:sp>
      <p:sp>
        <p:nvSpPr>
          <p:cNvPr id="11" name="Text 9"/>
          <p:cNvSpPr/>
          <p:nvPr/>
        </p:nvSpPr>
        <p:spPr>
          <a:xfrm>
            <a:off x="777240" y="2971800"/>
            <a:ext cx="3931920" cy="22860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Famille</a:t>
            </a:r>
            <a:endParaRPr lang="en-US" sz="1000" dirty="0"/>
          </a:p>
        </p:txBody>
      </p:sp>
      <p:sp>
        <p:nvSpPr>
          <p:cNvPr id="12" name="Text 10"/>
          <p:cNvSpPr/>
          <p:nvPr/>
        </p:nvSpPr>
        <p:spPr>
          <a:xfrm>
            <a:off x="777240" y="3182112"/>
            <a:ext cx="393192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Cross-cloud DCR orchestrator</a:t>
            </a:r>
            <a:endParaRPr lang="en-US" sz="1200" dirty="0"/>
          </a:p>
        </p:txBody>
      </p:sp>
      <p:sp>
        <p:nvSpPr>
          <p:cNvPr id="13" name="Text 11"/>
          <p:cNvSpPr/>
          <p:nvPr/>
        </p:nvSpPr>
        <p:spPr>
          <a:xfrm>
            <a:off x="777240" y="3749040"/>
            <a:ext cx="3931920" cy="22860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Maturité</a:t>
            </a:r>
            <a:endParaRPr lang="en-US" sz="1000" dirty="0"/>
          </a:p>
        </p:txBody>
      </p:sp>
      <p:sp>
        <p:nvSpPr>
          <p:cNvPr id="14" name="Text 12"/>
          <p:cNvSpPr/>
          <p:nvPr/>
        </p:nvSpPr>
        <p:spPr>
          <a:xfrm>
            <a:off x="777240" y="3959352"/>
            <a:ext cx="393192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Intégré à l'offre LiveRamp</a:t>
            </a:r>
            <a:endParaRPr lang="en-US" sz="1200" dirty="0"/>
          </a:p>
        </p:txBody>
      </p:sp>
      <p:sp>
        <p:nvSpPr>
          <p:cNvPr id="15" name="Text 13"/>
          <p:cNvSpPr/>
          <p:nvPr/>
        </p:nvSpPr>
        <p:spPr>
          <a:xfrm>
            <a:off x="777240" y="4526280"/>
            <a:ext cx="3931920" cy="22860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Pricing</a:t>
            </a:r>
            <a:endParaRPr lang="en-US" sz="1000" dirty="0"/>
          </a:p>
        </p:txBody>
      </p:sp>
      <p:sp>
        <p:nvSpPr>
          <p:cNvPr id="16" name="Text 14"/>
          <p:cNvSpPr/>
          <p:nvPr/>
        </p:nvSpPr>
        <p:spPr>
          <a:xfrm>
            <a:off x="777240" y="4736592"/>
            <a:ext cx="393192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License + volume</a:t>
            </a:r>
            <a:endParaRPr lang="en-US" sz="1200" dirty="0"/>
          </a:p>
        </p:txBody>
      </p:sp>
      <p:sp>
        <p:nvSpPr>
          <p:cNvPr id="17" name="Text 15"/>
          <p:cNvSpPr/>
          <p:nvPr/>
        </p:nvSpPr>
        <p:spPr>
          <a:xfrm>
            <a:off x="777240" y="5303520"/>
            <a:ext cx="3931920" cy="22860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Force clé</a:t>
            </a:r>
            <a:endParaRPr lang="en-US" sz="1000" dirty="0"/>
          </a:p>
        </p:txBody>
      </p:sp>
      <p:sp>
        <p:nvSpPr>
          <p:cNvPr id="18" name="Text 16"/>
          <p:cNvSpPr/>
          <p:nvPr/>
        </p:nvSpPr>
        <p:spPr>
          <a:xfrm>
            <a:off x="777240" y="5513832"/>
            <a:ext cx="393192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Fonctionne au-dessus de Snowflake, Databricks, BigQuery, AWS. Vous n'avez pas à choisir.</a:t>
            </a:r>
            <a:endParaRPr lang="en-US" sz="1200" dirty="0"/>
          </a:p>
        </p:txBody>
      </p:sp>
      <p:sp>
        <p:nvSpPr>
          <p:cNvPr id="19" name="Shape 17"/>
          <p:cNvSpPr/>
          <p:nvPr/>
        </p:nvSpPr>
        <p:spPr>
          <a:xfrm>
            <a:off x="5212080" y="1600200"/>
            <a:ext cx="6446520" cy="2331720"/>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20" name="Shape 18"/>
          <p:cNvSpPr/>
          <p:nvPr/>
        </p:nvSpPr>
        <p:spPr>
          <a:xfrm>
            <a:off x="5212080" y="1600200"/>
            <a:ext cx="91440" cy="2331720"/>
          </a:xfrm>
          <a:prstGeom prst="rect">
            <a:avLst/>
          </a:prstGeom>
          <a:solidFill>
            <a:srgbClr val="1C7293"/>
          </a:solidFill>
          <a:ln w="12700">
            <a:solidFill>
              <a:srgbClr val="1C7293"/>
            </a:solidFill>
            <a:prstDash val="solid"/>
          </a:ln>
        </p:spPr>
      </p:sp>
      <p:sp>
        <p:nvSpPr>
          <p:cNvPr id="21" name="Text 19"/>
          <p:cNvSpPr/>
          <p:nvPr/>
        </p:nvSpPr>
        <p:spPr>
          <a:xfrm>
            <a:off x="5440680" y="1737360"/>
            <a:ext cx="6080760" cy="274320"/>
          </a:xfrm>
          <a:prstGeom prst="rect">
            <a:avLst/>
          </a:prstGeom>
          <a:noFill/>
          <a:ln/>
        </p:spPr>
        <p:txBody>
          <a:bodyPr wrap="square" lIns="0" tIns="0" rIns="0" bIns="0" rtlCol="0" anchor="ctr"/>
          <a:lstStyle/>
          <a:p>
            <a:pPr marL="0" indent="0">
              <a:buNone/>
            </a:pPr>
            <a:r>
              <a:rPr lang="en-US" sz="1100" b="1" kern="0" spc="150" dirty="0">
                <a:solidFill>
                  <a:srgbClr val="F96167"/>
                </a:solidFill>
                <a:latin typeface="Calibri" pitchFamily="34" charset="0"/>
                <a:ea typeface="Calibri" pitchFamily="34" charset="-122"/>
                <a:cs typeface="Calibri" pitchFamily="34" charset="-120"/>
              </a:rPr>
              <a:t>CE QUE ÇA FAIT BIEN</a:t>
            </a:r>
            <a:endParaRPr lang="en-US" sz="1100" dirty="0"/>
          </a:p>
        </p:txBody>
      </p:sp>
      <p:sp>
        <p:nvSpPr>
          <p:cNvPr id="22" name="Text 20"/>
          <p:cNvSpPr/>
          <p:nvPr/>
        </p:nvSpPr>
        <p:spPr>
          <a:xfrm>
            <a:off x="5486400" y="2057400"/>
            <a:ext cx="5989320" cy="178308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Collaboration DCR cross-cloud sans migration</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UI simple type "no-code" pour non-techs</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Gouvernance unifiée et audit centralisé</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Templates pour audience, attribution, mesure</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Idéal en contexte multi-partenaires complexe</a:t>
            </a:r>
            <a:endParaRPr lang="en-US" sz="1200" dirty="0"/>
          </a:p>
        </p:txBody>
      </p:sp>
      <p:sp>
        <p:nvSpPr>
          <p:cNvPr id="23" name="Shape 21"/>
          <p:cNvSpPr/>
          <p:nvPr/>
        </p:nvSpPr>
        <p:spPr>
          <a:xfrm>
            <a:off x="5212080" y="4069080"/>
            <a:ext cx="6446520" cy="2286000"/>
          </a:xfrm>
          <a:prstGeom prst="rect">
            <a:avLst/>
          </a:prstGeom>
          <a:solidFill>
            <a:srgbClr val="0B1F3A"/>
          </a:solidFill>
          <a:ln w="12700">
            <a:solidFill>
              <a:srgbClr val="0B1F3A"/>
            </a:solidFill>
            <a:prstDash val="solid"/>
          </a:ln>
          <a:effectLst>
            <a:outerShdw blurRad="76200" dist="25400" dir="8100000" algn="bl" rotWithShape="0">
              <a:srgbClr val="000000">
                <a:alpha val="12000"/>
              </a:srgbClr>
            </a:outerShdw>
          </a:effectLst>
        </p:spPr>
      </p:sp>
      <p:sp>
        <p:nvSpPr>
          <p:cNvPr id="24" name="Shape 22"/>
          <p:cNvSpPr/>
          <p:nvPr/>
        </p:nvSpPr>
        <p:spPr>
          <a:xfrm>
            <a:off x="5212080" y="4069080"/>
            <a:ext cx="91440" cy="2286000"/>
          </a:xfrm>
          <a:prstGeom prst="rect">
            <a:avLst/>
          </a:prstGeom>
          <a:solidFill>
            <a:srgbClr val="F96167"/>
          </a:solidFill>
          <a:ln w="12700">
            <a:solidFill>
              <a:srgbClr val="F96167"/>
            </a:solidFill>
            <a:prstDash val="solid"/>
          </a:ln>
        </p:spPr>
      </p:sp>
      <p:sp>
        <p:nvSpPr>
          <p:cNvPr id="25" name="Text 23"/>
          <p:cNvSpPr/>
          <p:nvPr/>
        </p:nvSpPr>
        <p:spPr>
          <a:xfrm>
            <a:off x="5486400" y="4251960"/>
            <a:ext cx="5989320" cy="274320"/>
          </a:xfrm>
          <a:prstGeom prst="rect">
            <a:avLst/>
          </a:prstGeom>
          <a:noFill/>
          <a:ln/>
        </p:spPr>
        <p:txBody>
          <a:bodyPr wrap="square" lIns="0" tIns="0" rIns="0" bIns="0" rtlCol="0" anchor="ctr"/>
          <a:lstStyle/>
          <a:p>
            <a:pPr marL="0" indent="0">
              <a:buNone/>
            </a:pPr>
            <a:r>
              <a:rPr lang="en-US" sz="1100" b="1" kern="0" spc="150" dirty="0">
                <a:solidFill>
                  <a:srgbClr val="F9B233"/>
                </a:solidFill>
                <a:latin typeface="Calibri" pitchFamily="34" charset="0"/>
                <a:ea typeface="Calibri" pitchFamily="34" charset="-122"/>
                <a:cs typeface="Calibri" pitchFamily="34" charset="-120"/>
              </a:rPr>
              <a:t>CAS MARKETING CONCRET</a:t>
            </a:r>
            <a:endParaRPr lang="en-US" sz="1100" dirty="0"/>
          </a:p>
        </p:txBody>
      </p:sp>
      <p:sp>
        <p:nvSpPr>
          <p:cNvPr id="26" name="Text 24"/>
          <p:cNvSpPr/>
          <p:nvPr/>
        </p:nvSpPr>
        <p:spPr>
          <a:xfrm>
            <a:off x="5486400" y="4572000"/>
            <a:ext cx="5989320" cy="141732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Cas : Un éditeur média européen collabore simultanément avec trois partenaires : un sur AWS, un sur Snowflake, un sur BigQuery. Habu orchestre une seule DCR logique qui se projette sur les trois environnements. L'éditeur mesure en une seule requête l'overlap et l'attribution sur les trois collaborations, sans demander à personne de migrer.</a:t>
            </a:r>
            <a:endParaRPr lang="en-US" sz="1200" dirty="0"/>
          </a:p>
        </p:txBody>
      </p:sp>
      <p:sp>
        <p:nvSpPr>
          <p:cNvPr id="27" name="Text 25"/>
          <p:cNvSpPr/>
          <p:nvPr/>
        </p:nvSpPr>
        <p:spPr>
          <a:xfrm>
            <a:off x="5486400" y="5943600"/>
            <a:ext cx="5989320" cy="320040"/>
          </a:xfrm>
          <a:prstGeom prst="rect">
            <a:avLst/>
          </a:prstGeom>
          <a:noFill/>
          <a:ln/>
        </p:spPr>
        <p:txBody>
          <a:bodyPr wrap="square" lIns="0" tIns="0" rIns="0" bIns="0" rtlCol="0" anchor="ctr"/>
          <a:lstStyle/>
          <a:p>
            <a:pPr marL="0" indent="0">
              <a:buNone/>
            </a:pPr>
            <a:r>
              <a:rPr lang="en-US" sz="1300" b="1" dirty="0">
                <a:solidFill>
                  <a:srgbClr val="F96167"/>
                </a:solidFill>
                <a:latin typeface="Calibri" pitchFamily="34" charset="0"/>
                <a:ea typeface="Calibri" pitchFamily="34" charset="-122"/>
                <a:cs typeface="Calibri" pitchFamily="34" charset="-120"/>
              </a:rPr>
              <a:t>Time-to-insight divisé par 4 sur les collaborations multi-partenaires.</a:t>
            </a:r>
            <a:endParaRPr lang="en-US" sz="1300" dirty="0"/>
          </a:p>
        </p:txBody>
      </p:sp>
      <p:sp>
        <p:nvSpPr>
          <p:cNvPr id="28" name="Shape 26"/>
          <p:cNvSpPr/>
          <p:nvPr/>
        </p:nvSpPr>
        <p:spPr>
          <a:xfrm>
            <a:off x="0" y="6583680"/>
            <a:ext cx="12191695" cy="274320"/>
          </a:xfrm>
          <a:prstGeom prst="rect">
            <a:avLst/>
          </a:prstGeom>
          <a:solidFill>
            <a:srgbClr val="0B1F3A"/>
          </a:solidFill>
          <a:ln w="12700">
            <a:solidFill>
              <a:srgbClr val="0B1F3A"/>
            </a:solidFill>
            <a:prstDash val="solid"/>
          </a:ln>
        </p:spPr>
      </p:sp>
      <p:sp>
        <p:nvSpPr>
          <p:cNvPr id="29" name="Text 27"/>
          <p:cNvSpPr/>
          <p:nvPr/>
        </p:nvSpPr>
        <p:spPr>
          <a:xfrm>
            <a:off x="365760" y="6601968"/>
            <a:ext cx="822960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Session 3  Ads &amp; Neutres</a:t>
            </a:r>
            <a:endParaRPr lang="en-US" sz="1000" dirty="0"/>
          </a:p>
        </p:txBody>
      </p:sp>
      <p:sp>
        <p:nvSpPr>
          <p:cNvPr id="30" name="Text 28"/>
          <p:cNvSpPr/>
          <p:nvPr/>
        </p:nvSpPr>
        <p:spPr>
          <a:xfrm>
            <a:off x="11551615" y="6601968"/>
            <a:ext cx="365760" cy="237744"/>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33</a:t>
            </a:r>
            <a:endParaRPr lang="en-US" sz="10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35">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B1F3A"/>
          </a:solidFill>
          <a:ln w="12700">
            <a:solidFill>
              <a:srgbClr val="0B1F3A"/>
            </a:solidFill>
            <a:prstDash val="solid"/>
          </a:ln>
        </p:spPr>
      </p:sp>
      <p:sp>
        <p:nvSpPr>
          <p:cNvPr id="3" name="Text 1"/>
          <p:cNvSpPr/>
          <p:nvPr/>
        </p:nvSpPr>
        <p:spPr>
          <a:xfrm>
            <a:off x="548640" y="182880"/>
            <a:ext cx="2743200" cy="274320"/>
          </a:xfrm>
          <a:prstGeom prst="rect">
            <a:avLst/>
          </a:prstGeom>
          <a:noFill/>
          <a:ln/>
        </p:spPr>
        <p:txBody>
          <a:bodyPr wrap="square" lIns="0" tIns="0" rIns="0" bIns="0" rtlCol="0" anchor="ctr"/>
          <a:lstStyle/>
          <a:p>
            <a:pPr marL="0" indent="0">
              <a:buNone/>
            </a:pPr>
            <a:r>
              <a:rPr lang="en-US" sz="1100" b="1" kern="0" spc="200" dirty="0">
                <a:solidFill>
                  <a:srgbClr val="F96167"/>
                </a:solidFill>
                <a:latin typeface="Calibri" pitchFamily="34" charset="0"/>
                <a:ea typeface="Calibri" pitchFamily="34" charset="-122"/>
                <a:cs typeface="Calibri" pitchFamily="34" charset="-120"/>
              </a:rPr>
              <a:t>PROVIDER 12/12</a:t>
            </a:r>
            <a:endParaRPr lang="en-US" sz="1100" dirty="0"/>
          </a:p>
        </p:txBody>
      </p:sp>
      <p:sp>
        <p:nvSpPr>
          <p:cNvPr id="4" name="Text 2"/>
          <p:cNvSpPr/>
          <p:nvPr/>
        </p:nvSpPr>
        <p:spPr>
          <a:xfrm>
            <a:off x="548640" y="411480"/>
            <a:ext cx="10972800" cy="5029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InfoSum</a:t>
            </a:r>
            <a:endParaRPr lang="en-US" sz="2800" dirty="0"/>
          </a:p>
        </p:txBody>
      </p:sp>
      <p:sp>
        <p:nvSpPr>
          <p:cNvPr id="5" name="Text 3"/>
          <p:cNvSpPr/>
          <p:nvPr/>
        </p:nvSpPr>
        <p:spPr>
          <a:xfrm>
            <a:off x="548640" y="1051560"/>
            <a:ext cx="10972800" cy="320040"/>
          </a:xfrm>
          <a:prstGeom prst="rect">
            <a:avLst/>
          </a:prstGeom>
          <a:noFill/>
          <a:ln/>
        </p:spPr>
        <p:txBody>
          <a:bodyPr wrap="square" lIns="0" tIns="0" rIns="0" bIns="0" rtlCol="0" anchor="ctr"/>
          <a:lstStyle/>
          <a:p>
            <a:pPr marL="0" indent="0">
              <a:buNone/>
            </a:pPr>
            <a:r>
              <a:rPr lang="en-US" sz="1400" i="1" dirty="0">
                <a:solidFill>
                  <a:srgbClr val="1C7293"/>
                </a:solidFill>
                <a:latin typeface="Calibri" pitchFamily="34" charset="0"/>
                <a:ea typeface="Calibri" pitchFamily="34" charset="-122"/>
                <a:cs typeface="Calibri" pitchFamily="34" charset="-120"/>
              </a:rPr>
              <a:t>La "non-movement" DCR  spécialité : ne JAMAIS déplacer la donnée. Puriste privacy.</a:t>
            </a:r>
            <a:endParaRPr lang="en-US" sz="1400" dirty="0"/>
          </a:p>
        </p:txBody>
      </p:sp>
      <p:sp>
        <p:nvSpPr>
          <p:cNvPr id="6" name="Shape 4"/>
          <p:cNvSpPr/>
          <p:nvPr/>
        </p:nvSpPr>
        <p:spPr>
          <a:xfrm>
            <a:off x="548640" y="1600200"/>
            <a:ext cx="4389120" cy="4754880"/>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7" name="Shape 5"/>
          <p:cNvSpPr/>
          <p:nvPr/>
        </p:nvSpPr>
        <p:spPr>
          <a:xfrm>
            <a:off x="548640" y="1600200"/>
            <a:ext cx="91440" cy="4754880"/>
          </a:xfrm>
          <a:prstGeom prst="rect">
            <a:avLst/>
          </a:prstGeom>
          <a:solidFill>
            <a:srgbClr val="065A82"/>
          </a:solidFill>
          <a:ln w="12700">
            <a:solidFill>
              <a:srgbClr val="065A82"/>
            </a:solidFill>
            <a:prstDash val="solid"/>
          </a:ln>
        </p:spPr>
      </p:sp>
      <p:sp>
        <p:nvSpPr>
          <p:cNvPr id="8" name="Text 6"/>
          <p:cNvSpPr/>
          <p:nvPr/>
        </p:nvSpPr>
        <p:spPr>
          <a:xfrm>
            <a:off x="777240" y="1783080"/>
            <a:ext cx="4023360" cy="320040"/>
          </a:xfrm>
          <a:prstGeom prst="rect">
            <a:avLst/>
          </a:prstGeom>
          <a:noFill/>
          <a:ln/>
        </p:spPr>
        <p:txBody>
          <a:bodyPr wrap="square" lIns="0" tIns="0" rIns="0" bIns="0" rtlCol="0" anchor="ctr"/>
          <a:lstStyle/>
          <a:p>
            <a:pPr marL="0" indent="0">
              <a:buNone/>
            </a:pPr>
            <a:r>
              <a:rPr lang="en-US" sz="1100" b="1" kern="0" spc="150" dirty="0">
                <a:solidFill>
                  <a:srgbClr val="F96167"/>
                </a:solidFill>
                <a:latin typeface="Calibri" pitchFamily="34" charset="0"/>
                <a:ea typeface="Calibri" pitchFamily="34" charset="-122"/>
                <a:cs typeface="Calibri" pitchFamily="34" charset="-120"/>
              </a:rPr>
              <a:t>CARTE D'IDENTITÉ</a:t>
            </a:r>
            <a:endParaRPr lang="en-US" sz="1100" dirty="0"/>
          </a:p>
        </p:txBody>
      </p:sp>
      <p:sp>
        <p:nvSpPr>
          <p:cNvPr id="9" name="Text 7"/>
          <p:cNvSpPr/>
          <p:nvPr/>
        </p:nvSpPr>
        <p:spPr>
          <a:xfrm>
            <a:off x="777240" y="2194560"/>
            <a:ext cx="3931920" cy="22860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Éditeur</a:t>
            </a:r>
            <a:endParaRPr lang="en-US" sz="1000" dirty="0"/>
          </a:p>
        </p:txBody>
      </p:sp>
      <p:sp>
        <p:nvSpPr>
          <p:cNvPr id="10" name="Text 8"/>
          <p:cNvSpPr/>
          <p:nvPr/>
        </p:nvSpPr>
        <p:spPr>
          <a:xfrm>
            <a:off x="777240" y="2404872"/>
            <a:ext cx="393192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InfoSum Ltd.</a:t>
            </a:r>
            <a:endParaRPr lang="en-US" sz="1200" dirty="0"/>
          </a:p>
        </p:txBody>
      </p:sp>
      <p:sp>
        <p:nvSpPr>
          <p:cNvPr id="11" name="Text 9"/>
          <p:cNvSpPr/>
          <p:nvPr/>
        </p:nvSpPr>
        <p:spPr>
          <a:xfrm>
            <a:off x="777240" y="2971800"/>
            <a:ext cx="3931920" cy="22860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Famille</a:t>
            </a:r>
            <a:endParaRPr lang="en-US" sz="1000" dirty="0"/>
          </a:p>
        </p:txBody>
      </p:sp>
      <p:sp>
        <p:nvSpPr>
          <p:cNvPr id="12" name="Text 10"/>
          <p:cNvSpPr/>
          <p:nvPr/>
        </p:nvSpPr>
        <p:spPr>
          <a:xfrm>
            <a:off x="777240" y="3182112"/>
            <a:ext cx="393192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Neutre spécialisé (privacy-first)</a:t>
            </a:r>
            <a:endParaRPr lang="en-US" sz="1200" dirty="0"/>
          </a:p>
        </p:txBody>
      </p:sp>
      <p:sp>
        <p:nvSpPr>
          <p:cNvPr id="13" name="Text 11"/>
          <p:cNvSpPr/>
          <p:nvPr/>
        </p:nvSpPr>
        <p:spPr>
          <a:xfrm>
            <a:off x="777240" y="3749040"/>
            <a:ext cx="3931920" cy="22860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Maturité</a:t>
            </a:r>
            <a:endParaRPr lang="en-US" sz="1000" dirty="0"/>
          </a:p>
        </p:txBody>
      </p:sp>
      <p:sp>
        <p:nvSpPr>
          <p:cNvPr id="14" name="Text 12"/>
          <p:cNvSpPr/>
          <p:nvPr/>
        </p:nvSpPr>
        <p:spPr>
          <a:xfrm>
            <a:off x="777240" y="3959352"/>
            <a:ext cx="393192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Production depuis 2018  leader UK/TV</a:t>
            </a:r>
            <a:endParaRPr lang="en-US" sz="1200" dirty="0"/>
          </a:p>
        </p:txBody>
      </p:sp>
      <p:sp>
        <p:nvSpPr>
          <p:cNvPr id="15" name="Text 13"/>
          <p:cNvSpPr/>
          <p:nvPr/>
        </p:nvSpPr>
        <p:spPr>
          <a:xfrm>
            <a:off x="777240" y="4526280"/>
            <a:ext cx="3931920" cy="22860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Pricing</a:t>
            </a:r>
            <a:endParaRPr lang="en-US" sz="1000" dirty="0"/>
          </a:p>
        </p:txBody>
      </p:sp>
      <p:sp>
        <p:nvSpPr>
          <p:cNvPr id="16" name="Text 14"/>
          <p:cNvSpPr/>
          <p:nvPr/>
        </p:nvSpPr>
        <p:spPr>
          <a:xfrm>
            <a:off x="777240" y="4736592"/>
            <a:ext cx="393192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License + usage</a:t>
            </a:r>
            <a:endParaRPr lang="en-US" sz="1200" dirty="0"/>
          </a:p>
        </p:txBody>
      </p:sp>
      <p:sp>
        <p:nvSpPr>
          <p:cNvPr id="17" name="Text 15"/>
          <p:cNvSpPr/>
          <p:nvPr/>
        </p:nvSpPr>
        <p:spPr>
          <a:xfrm>
            <a:off x="777240" y="5303520"/>
            <a:ext cx="3931920" cy="22860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Force clé</a:t>
            </a:r>
            <a:endParaRPr lang="en-US" sz="1000" dirty="0"/>
          </a:p>
        </p:txBody>
      </p:sp>
      <p:sp>
        <p:nvSpPr>
          <p:cNvPr id="18" name="Text 16"/>
          <p:cNvSpPr/>
          <p:nvPr/>
        </p:nvSpPr>
        <p:spPr>
          <a:xfrm>
            <a:off x="777240" y="5513832"/>
            <a:ext cx="393192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Architecture federated : chaque "bunker" reste chez son propriétaire.</a:t>
            </a:r>
            <a:endParaRPr lang="en-US" sz="1200" dirty="0"/>
          </a:p>
        </p:txBody>
      </p:sp>
      <p:sp>
        <p:nvSpPr>
          <p:cNvPr id="19" name="Shape 17"/>
          <p:cNvSpPr/>
          <p:nvPr/>
        </p:nvSpPr>
        <p:spPr>
          <a:xfrm>
            <a:off x="5212080" y="1600200"/>
            <a:ext cx="6446520" cy="2331720"/>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20" name="Shape 18"/>
          <p:cNvSpPr/>
          <p:nvPr/>
        </p:nvSpPr>
        <p:spPr>
          <a:xfrm>
            <a:off x="5212080" y="1600200"/>
            <a:ext cx="91440" cy="2331720"/>
          </a:xfrm>
          <a:prstGeom prst="rect">
            <a:avLst/>
          </a:prstGeom>
          <a:solidFill>
            <a:srgbClr val="1C7293"/>
          </a:solidFill>
          <a:ln w="12700">
            <a:solidFill>
              <a:srgbClr val="1C7293"/>
            </a:solidFill>
            <a:prstDash val="solid"/>
          </a:ln>
        </p:spPr>
      </p:sp>
      <p:sp>
        <p:nvSpPr>
          <p:cNvPr id="21" name="Text 19"/>
          <p:cNvSpPr/>
          <p:nvPr/>
        </p:nvSpPr>
        <p:spPr>
          <a:xfrm>
            <a:off x="5440680" y="1737360"/>
            <a:ext cx="6080760" cy="274320"/>
          </a:xfrm>
          <a:prstGeom prst="rect">
            <a:avLst/>
          </a:prstGeom>
          <a:noFill/>
          <a:ln/>
        </p:spPr>
        <p:txBody>
          <a:bodyPr wrap="square" lIns="0" tIns="0" rIns="0" bIns="0" rtlCol="0" anchor="ctr"/>
          <a:lstStyle/>
          <a:p>
            <a:pPr marL="0" indent="0">
              <a:buNone/>
            </a:pPr>
            <a:r>
              <a:rPr lang="en-US" sz="1100" b="1" kern="0" spc="150" dirty="0">
                <a:solidFill>
                  <a:srgbClr val="F96167"/>
                </a:solidFill>
                <a:latin typeface="Calibri" pitchFamily="34" charset="0"/>
                <a:ea typeface="Calibri" pitchFamily="34" charset="-122"/>
                <a:cs typeface="Calibri" pitchFamily="34" charset="-120"/>
              </a:rPr>
              <a:t>CE QUE ÇA FAIT BIEN</a:t>
            </a:r>
            <a:endParaRPr lang="en-US" sz="1100" dirty="0"/>
          </a:p>
        </p:txBody>
      </p:sp>
      <p:sp>
        <p:nvSpPr>
          <p:cNvPr id="22" name="Text 20"/>
          <p:cNvSpPr/>
          <p:nvPr/>
        </p:nvSpPr>
        <p:spPr>
          <a:xfrm>
            <a:off x="5486400" y="2057400"/>
            <a:ext cx="5989320" cy="178308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Architecture "bunker" : la donnée ne sort jamais</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Calcul distribué sur les bunkers de chaque partie</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Très apprécié des chaînes TV et éditeurs (ITV, Sky, Channel 4)</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Certifié IAB Europe TCF</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UX pensée pour des équipes marketing non techniques</a:t>
            </a:r>
            <a:endParaRPr lang="en-US" sz="1200" dirty="0"/>
          </a:p>
        </p:txBody>
      </p:sp>
      <p:sp>
        <p:nvSpPr>
          <p:cNvPr id="23" name="Shape 21"/>
          <p:cNvSpPr/>
          <p:nvPr/>
        </p:nvSpPr>
        <p:spPr>
          <a:xfrm>
            <a:off x="5212080" y="4069080"/>
            <a:ext cx="6446520" cy="2286000"/>
          </a:xfrm>
          <a:prstGeom prst="rect">
            <a:avLst/>
          </a:prstGeom>
          <a:solidFill>
            <a:srgbClr val="0B1F3A"/>
          </a:solidFill>
          <a:ln w="12700">
            <a:solidFill>
              <a:srgbClr val="0B1F3A"/>
            </a:solidFill>
            <a:prstDash val="solid"/>
          </a:ln>
          <a:effectLst>
            <a:outerShdw blurRad="76200" dist="25400" dir="8100000" algn="bl" rotWithShape="0">
              <a:srgbClr val="000000">
                <a:alpha val="12000"/>
              </a:srgbClr>
            </a:outerShdw>
          </a:effectLst>
        </p:spPr>
      </p:sp>
      <p:sp>
        <p:nvSpPr>
          <p:cNvPr id="24" name="Shape 22"/>
          <p:cNvSpPr/>
          <p:nvPr/>
        </p:nvSpPr>
        <p:spPr>
          <a:xfrm>
            <a:off x="5212080" y="4069080"/>
            <a:ext cx="91440" cy="2286000"/>
          </a:xfrm>
          <a:prstGeom prst="rect">
            <a:avLst/>
          </a:prstGeom>
          <a:solidFill>
            <a:srgbClr val="F96167"/>
          </a:solidFill>
          <a:ln w="12700">
            <a:solidFill>
              <a:srgbClr val="F96167"/>
            </a:solidFill>
            <a:prstDash val="solid"/>
          </a:ln>
        </p:spPr>
      </p:sp>
      <p:sp>
        <p:nvSpPr>
          <p:cNvPr id="25" name="Text 23"/>
          <p:cNvSpPr/>
          <p:nvPr/>
        </p:nvSpPr>
        <p:spPr>
          <a:xfrm>
            <a:off x="5486400" y="4251960"/>
            <a:ext cx="5989320" cy="274320"/>
          </a:xfrm>
          <a:prstGeom prst="rect">
            <a:avLst/>
          </a:prstGeom>
          <a:noFill/>
          <a:ln/>
        </p:spPr>
        <p:txBody>
          <a:bodyPr wrap="square" lIns="0" tIns="0" rIns="0" bIns="0" rtlCol="0" anchor="ctr"/>
          <a:lstStyle/>
          <a:p>
            <a:pPr marL="0" indent="0">
              <a:buNone/>
            </a:pPr>
            <a:r>
              <a:rPr lang="en-US" sz="1100" b="1" kern="0" spc="150" dirty="0">
                <a:solidFill>
                  <a:srgbClr val="F9B233"/>
                </a:solidFill>
                <a:latin typeface="Calibri" pitchFamily="34" charset="0"/>
                <a:ea typeface="Calibri" pitchFamily="34" charset="-122"/>
                <a:cs typeface="Calibri" pitchFamily="34" charset="-120"/>
              </a:rPr>
              <a:t>CAS MARKETING CONCRET</a:t>
            </a:r>
            <a:endParaRPr lang="en-US" sz="1100" dirty="0"/>
          </a:p>
        </p:txBody>
      </p:sp>
      <p:sp>
        <p:nvSpPr>
          <p:cNvPr id="26" name="Text 24"/>
          <p:cNvSpPr/>
          <p:nvPr/>
        </p:nvSpPr>
        <p:spPr>
          <a:xfrm>
            <a:off x="5486400" y="4572000"/>
            <a:ext cx="5989320" cy="141732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Cas : Channel 4 (UK) et Nestlé construisent une DCR InfoSum pour mesurer l'effet des campagnes TV adressables sur les ventes retail de KitKat. Les données Channel 4 restent chez Channel 4, les données Nestlé chez Nestlé  seul un agrégat d'attribution circule. 27 % de lift incrémental démontré, campagne reconduite x3.</a:t>
            </a:r>
            <a:endParaRPr lang="en-US" sz="1200" dirty="0"/>
          </a:p>
        </p:txBody>
      </p:sp>
      <p:sp>
        <p:nvSpPr>
          <p:cNvPr id="27" name="Text 25"/>
          <p:cNvSpPr/>
          <p:nvPr/>
        </p:nvSpPr>
        <p:spPr>
          <a:xfrm>
            <a:off x="5486400" y="5943600"/>
            <a:ext cx="5989320" cy="320040"/>
          </a:xfrm>
          <a:prstGeom prst="rect">
            <a:avLst/>
          </a:prstGeom>
          <a:noFill/>
          <a:ln/>
        </p:spPr>
        <p:txBody>
          <a:bodyPr wrap="square" lIns="0" tIns="0" rIns="0" bIns="0" rtlCol="0" anchor="ctr"/>
          <a:lstStyle/>
          <a:p>
            <a:pPr marL="0" indent="0">
              <a:buNone/>
            </a:pPr>
            <a:r>
              <a:rPr lang="en-US" sz="1300" b="1" dirty="0">
                <a:solidFill>
                  <a:srgbClr val="F96167"/>
                </a:solidFill>
                <a:latin typeface="Calibri" pitchFamily="34" charset="0"/>
                <a:ea typeface="Calibri" pitchFamily="34" charset="-122"/>
                <a:cs typeface="Calibri" pitchFamily="34" charset="-120"/>
              </a:rPr>
              <a:t>3x le budget alloué à la TV adressable après la première vague de mesure.</a:t>
            </a:r>
            <a:endParaRPr lang="en-US" sz="1300" dirty="0"/>
          </a:p>
        </p:txBody>
      </p:sp>
      <p:sp>
        <p:nvSpPr>
          <p:cNvPr id="28" name="Shape 26"/>
          <p:cNvSpPr/>
          <p:nvPr/>
        </p:nvSpPr>
        <p:spPr>
          <a:xfrm>
            <a:off x="0" y="6583680"/>
            <a:ext cx="12191695" cy="274320"/>
          </a:xfrm>
          <a:prstGeom prst="rect">
            <a:avLst/>
          </a:prstGeom>
          <a:solidFill>
            <a:srgbClr val="0B1F3A"/>
          </a:solidFill>
          <a:ln w="12700">
            <a:solidFill>
              <a:srgbClr val="0B1F3A"/>
            </a:solidFill>
            <a:prstDash val="solid"/>
          </a:ln>
        </p:spPr>
      </p:sp>
      <p:sp>
        <p:nvSpPr>
          <p:cNvPr id="29" name="Text 27"/>
          <p:cNvSpPr/>
          <p:nvPr/>
        </p:nvSpPr>
        <p:spPr>
          <a:xfrm>
            <a:off x="365760" y="6601968"/>
            <a:ext cx="822960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Session 3  Ads &amp; Neutres</a:t>
            </a:r>
            <a:endParaRPr lang="en-US" sz="1000" dirty="0"/>
          </a:p>
        </p:txBody>
      </p:sp>
      <p:sp>
        <p:nvSpPr>
          <p:cNvPr id="30" name="Text 28"/>
          <p:cNvSpPr/>
          <p:nvPr/>
        </p:nvSpPr>
        <p:spPr>
          <a:xfrm>
            <a:off x="11551615" y="6601968"/>
            <a:ext cx="365760" cy="237744"/>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34</a:t>
            </a:r>
            <a:endParaRPr lang="en-US" sz="10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36">
    <p:bg>
      <p:bgPr>
        <a:solidFill>
          <a:srgbClr val="F5F8FC"/>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731520"/>
          </a:xfrm>
          <a:prstGeom prst="rect">
            <a:avLst/>
          </a:prstGeom>
          <a:noFill/>
          <a:ln/>
        </p:spPr>
        <p:txBody>
          <a:bodyPr wrap="square" lIns="0" tIns="0" rIns="0" bIns="0" rtlCol="0" anchor="ctr"/>
          <a:lstStyle/>
          <a:p>
            <a:pPr marL="0" indent="0" algn="l">
              <a:buNone/>
            </a:pPr>
            <a:r>
              <a:rPr lang="en-US" sz="3200" b="1" dirty="0">
                <a:solidFill>
                  <a:srgbClr val="0B1F3A"/>
                </a:solidFill>
                <a:latin typeface="Calibri" pitchFamily="34" charset="0"/>
                <a:ea typeface="Calibri" pitchFamily="34" charset="-122"/>
                <a:cs typeface="Calibri" pitchFamily="34" charset="-120"/>
              </a:rPr>
              <a:t>Decentriq</a:t>
            </a:r>
            <a:endParaRPr lang="en-US" sz="3200" dirty="0"/>
          </a:p>
        </p:txBody>
      </p:sp>
      <p:sp>
        <p:nvSpPr>
          <p:cNvPr id="3" name="Shape 1"/>
          <p:cNvSpPr/>
          <p:nvPr/>
        </p:nvSpPr>
        <p:spPr>
          <a:xfrm>
            <a:off x="548640" y="1005840"/>
            <a:ext cx="548640" cy="73152"/>
          </a:xfrm>
          <a:prstGeom prst="rect">
            <a:avLst/>
          </a:prstGeom>
          <a:solidFill>
            <a:srgbClr val="F96167"/>
          </a:solidFill>
          <a:ln w="12700">
            <a:solidFill>
              <a:srgbClr val="F96167"/>
            </a:solidFill>
            <a:prstDash val="solid"/>
          </a:ln>
        </p:spPr>
      </p:sp>
      <p:sp>
        <p:nvSpPr>
          <p:cNvPr id="4" name="Text 2"/>
          <p:cNvSpPr/>
          <p:nvPr/>
        </p:nvSpPr>
        <p:spPr>
          <a:xfrm>
            <a:off x="548640" y="1143000"/>
            <a:ext cx="11064240" cy="411480"/>
          </a:xfrm>
          <a:prstGeom prst="rect">
            <a:avLst/>
          </a:prstGeom>
          <a:noFill/>
          <a:ln/>
        </p:spPr>
        <p:txBody>
          <a:bodyPr wrap="square" lIns="0" tIns="0" rIns="0" bIns="0" rtlCol="0" anchor="ctr"/>
          <a:lstStyle/>
          <a:p>
            <a:pPr marL="0" indent="0" algn="l">
              <a:buNone/>
            </a:pPr>
            <a:r>
              <a:rPr lang="en-US" sz="1600" i="1" dirty="0">
                <a:solidFill>
                  <a:srgbClr val="1C7293"/>
                </a:solidFill>
                <a:latin typeface="Calibri" pitchFamily="34" charset="0"/>
                <a:ea typeface="Calibri" pitchFamily="34" charset="-122"/>
                <a:cs typeface="Calibri" pitchFamily="34" charset="-120"/>
              </a:rPr>
              <a:t>La DCR </a:t>
            </a:r>
            <a:r>
              <a:rPr lang="en-US" sz="1600" i="1" dirty="0" err="1">
                <a:solidFill>
                  <a:srgbClr val="1C7293"/>
                </a:solidFill>
                <a:latin typeface="Calibri" pitchFamily="34" charset="0"/>
                <a:ea typeface="Calibri" pitchFamily="34" charset="-122"/>
                <a:cs typeface="Calibri" pitchFamily="34" charset="-120"/>
              </a:rPr>
              <a:t>suisse</a:t>
            </a:r>
            <a:r>
              <a:rPr lang="en-US" sz="1600" i="1" dirty="0">
                <a:solidFill>
                  <a:srgbClr val="1C7293"/>
                </a:solidFill>
                <a:latin typeface="Calibri" pitchFamily="34" charset="0"/>
                <a:ea typeface="Calibri" pitchFamily="34" charset="-122"/>
                <a:cs typeface="Calibri" pitchFamily="34" charset="-120"/>
              </a:rPr>
              <a:t>  confidential computing au niveau du processeur (Intel SGX).</a:t>
            </a:r>
            <a:endParaRPr lang="en-US" sz="1600" dirty="0"/>
          </a:p>
        </p:txBody>
      </p:sp>
      <p:sp>
        <p:nvSpPr>
          <p:cNvPr id="5" name="Shape 3"/>
          <p:cNvSpPr/>
          <p:nvPr/>
        </p:nvSpPr>
        <p:spPr>
          <a:xfrm>
            <a:off x="548640" y="1737360"/>
            <a:ext cx="4389120" cy="4572000"/>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6" name="Shape 4"/>
          <p:cNvSpPr/>
          <p:nvPr/>
        </p:nvSpPr>
        <p:spPr>
          <a:xfrm>
            <a:off x="548640" y="1737360"/>
            <a:ext cx="91440" cy="4572000"/>
          </a:xfrm>
          <a:prstGeom prst="rect">
            <a:avLst/>
          </a:prstGeom>
          <a:solidFill>
            <a:srgbClr val="065A82"/>
          </a:solidFill>
          <a:ln w="12700">
            <a:solidFill>
              <a:srgbClr val="065A82"/>
            </a:solidFill>
            <a:prstDash val="solid"/>
          </a:ln>
        </p:spPr>
      </p:sp>
      <p:sp>
        <p:nvSpPr>
          <p:cNvPr id="7" name="Text 5"/>
          <p:cNvSpPr/>
          <p:nvPr/>
        </p:nvSpPr>
        <p:spPr>
          <a:xfrm>
            <a:off x="777240" y="1920240"/>
            <a:ext cx="4023360" cy="320040"/>
          </a:xfrm>
          <a:prstGeom prst="rect">
            <a:avLst/>
          </a:prstGeom>
          <a:noFill/>
          <a:ln/>
        </p:spPr>
        <p:txBody>
          <a:bodyPr wrap="square" lIns="0" tIns="0" rIns="0" bIns="0" rtlCol="0" anchor="ctr"/>
          <a:lstStyle/>
          <a:p>
            <a:pPr marL="0" indent="0">
              <a:buNone/>
            </a:pPr>
            <a:r>
              <a:rPr lang="en-US" sz="1100" b="1" kern="0" spc="150" dirty="0">
                <a:solidFill>
                  <a:srgbClr val="F96167"/>
                </a:solidFill>
                <a:latin typeface="Calibri" pitchFamily="34" charset="0"/>
                <a:ea typeface="Calibri" pitchFamily="34" charset="-122"/>
                <a:cs typeface="Calibri" pitchFamily="34" charset="-120"/>
              </a:rPr>
              <a:t>CARTE D'IDENTITÉ</a:t>
            </a:r>
            <a:endParaRPr lang="en-US" sz="1100" dirty="0"/>
          </a:p>
        </p:txBody>
      </p:sp>
      <p:sp>
        <p:nvSpPr>
          <p:cNvPr id="8" name="Text 6"/>
          <p:cNvSpPr/>
          <p:nvPr/>
        </p:nvSpPr>
        <p:spPr>
          <a:xfrm>
            <a:off x="777240" y="2377440"/>
            <a:ext cx="3931920" cy="22860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Éditeur</a:t>
            </a:r>
            <a:endParaRPr lang="en-US" sz="1000" dirty="0"/>
          </a:p>
        </p:txBody>
      </p:sp>
      <p:sp>
        <p:nvSpPr>
          <p:cNvPr id="9" name="Text 7"/>
          <p:cNvSpPr/>
          <p:nvPr/>
        </p:nvSpPr>
        <p:spPr>
          <a:xfrm>
            <a:off x="777240" y="2587752"/>
            <a:ext cx="3931920" cy="45720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Decentriq AG (Zurich)</a:t>
            </a:r>
            <a:endParaRPr lang="en-US" sz="1200" dirty="0"/>
          </a:p>
        </p:txBody>
      </p:sp>
      <p:sp>
        <p:nvSpPr>
          <p:cNvPr id="10" name="Text 8"/>
          <p:cNvSpPr/>
          <p:nvPr/>
        </p:nvSpPr>
        <p:spPr>
          <a:xfrm>
            <a:off x="777240" y="3108960"/>
            <a:ext cx="3931920" cy="22860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Famille</a:t>
            </a:r>
            <a:endParaRPr lang="en-US" sz="1000" dirty="0"/>
          </a:p>
        </p:txBody>
      </p:sp>
      <p:sp>
        <p:nvSpPr>
          <p:cNvPr id="11" name="Text 9"/>
          <p:cNvSpPr/>
          <p:nvPr/>
        </p:nvSpPr>
        <p:spPr>
          <a:xfrm>
            <a:off x="777240" y="3319272"/>
            <a:ext cx="3931920" cy="45720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Neutre + Confidential Computing</a:t>
            </a:r>
            <a:endParaRPr lang="en-US" sz="1200" dirty="0"/>
          </a:p>
        </p:txBody>
      </p:sp>
      <p:sp>
        <p:nvSpPr>
          <p:cNvPr id="12" name="Text 10"/>
          <p:cNvSpPr/>
          <p:nvPr/>
        </p:nvSpPr>
        <p:spPr>
          <a:xfrm>
            <a:off x="777240" y="3840480"/>
            <a:ext cx="3931920" cy="22860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Maturité</a:t>
            </a:r>
            <a:endParaRPr lang="en-US" sz="1000" dirty="0"/>
          </a:p>
        </p:txBody>
      </p:sp>
      <p:sp>
        <p:nvSpPr>
          <p:cNvPr id="13" name="Text 11"/>
          <p:cNvSpPr/>
          <p:nvPr/>
        </p:nvSpPr>
        <p:spPr>
          <a:xfrm>
            <a:off x="777240" y="4050792"/>
            <a:ext cx="3931920" cy="45720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Production  prisé régulés</a:t>
            </a:r>
            <a:endParaRPr lang="en-US" sz="1200" dirty="0"/>
          </a:p>
        </p:txBody>
      </p:sp>
      <p:sp>
        <p:nvSpPr>
          <p:cNvPr id="14" name="Text 12"/>
          <p:cNvSpPr/>
          <p:nvPr/>
        </p:nvSpPr>
        <p:spPr>
          <a:xfrm>
            <a:off x="777240" y="4572000"/>
            <a:ext cx="3931920" cy="22860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Pricing</a:t>
            </a:r>
            <a:endParaRPr lang="en-US" sz="1000" dirty="0"/>
          </a:p>
        </p:txBody>
      </p:sp>
      <p:sp>
        <p:nvSpPr>
          <p:cNvPr id="15" name="Text 13"/>
          <p:cNvSpPr/>
          <p:nvPr/>
        </p:nvSpPr>
        <p:spPr>
          <a:xfrm>
            <a:off x="777240" y="4782312"/>
            <a:ext cx="3931920" cy="45720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License + compute</a:t>
            </a:r>
            <a:endParaRPr lang="en-US" sz="1200" dirty="0"/>
          </a:p>
        </p:txBody>
      </p:sp>
      <p:sp>
        <p:nvSpPr>
          <p:cNvPr id="16" name="Text 14"/>
          <p:cNvSpPr/>
          <p:nvPr/>
        </p:nvSpPr>
        <p:spPr>
          <a:xfrm>
            <a:off x="777240" y="5303520"/>
            <a:ext cx="3931920" cy="22860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Force clé</a:t>
            </a:r>
            <a:endParaRPr lang="en-US" sz="1000" dirty="0"/>
          </a:p>
        </p:txBody>
      </p:sp>
      <p:sp>
        <p:nvSpPr>
          <p:cNvPr id="17" name="Text 15"/>
          <p:cNvSpPr/>
          <p:nvPr/>
        </p:nvSpPr>
        <p:spPr>
          <a:xfrm>
            <a:off x="777240" y="5513832"/>
            <a:ext cx="3931920" cy="45720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Hardware-enforced privacy (Intel SGX)</a:t>
            </a:r>
            <a:endParaRPr lang="en-US" sz="1200" dirty="0"/>
          </a:p>
        </p:txBody>
      </p:sp>
      <p:sp>
        <p:nvSpPr>
          <p:cNvPr id="18" name="Shape 16"/>
          <p:cNvSpPr/>
          <p:nvPr/>
        </p:nvSpPr>
        <p:spPr>
          <a:xfrm>
            <a:off x="5212080" y="1737360"/>
            <a:ext cx="6446520" cy="2148840"/>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19" name="Shape 17"/>
          <p:cNvSpPr/>
          <p:nvPr/>
        </p:nvSpPr>
        <p:spPr>
          <a:xfrm>
            <a:off x="5212080" y="1737360"/>
            <a:ext cx="91440" cy="2148840"/>
          </a:xfrm>
          <a:prstGeom prst="rect">
            <a:avLst/>
          </a:prstGeom>
          <a:solidFill>
            <a:srgbClr val="1C7293"/>
          </a:solidFill>
          <a:ln w="12700">
            <a:solidFill>
              <a:srgbClr val="1C7293"/>
            </a:solidFill>
            <a:prstDash val="solid"/>
          </a:ln>
        </p:spPr>
      </p:sp>
      <p:sp>
        <p:nvSpPr>
          <p:cNvPr id="20" name="Text 18"/>
          <p:cNvSpPr/>
          <p:nvPr/>
        </p:nvSpPr>
        <p:spPr>
          <a:xfrm>
            <a:off x="5440680" y="1874520"/>
            <a:ext cx="6080760" cy="274320"/>
          </a:xfrm>
          <a:prstGeom prst="rect">
            <a:avLst/>
          </a:prstGeom>
          <a:noFill/>
          <a:ln/>
        </p:spPr>
        <p:txBody>
          <a:bodyPr wrap="square" lIns="0" tIns="0" rIns="0" bIns="0" rtlCol="0" anchor="ctr"/>
          <a:lstStyle/>
          <a:p>
            <a:pPr marL="0" indent="0">
              <a:buNone/>
            </a:pPr>
            <a:r>
              <a:rPr lang="en-US" sz="1100" b="1" kern="0" spc="150" dirty="0">
                <a:solidFill>
                  <a:srgbClr val="F96167"/>
                </a:solidFill>
                <a:latin typeface="Calibri" pitchFamily="34" charset="0"/>
                <a:ea typeface="Calibri" pitchFamily="34" charset="-122"/>
                <a:cs typeface="Calibri" pitchFamily="34" charset="-120"/>
              </a:rPr>
              <a:t>CE QUE ÇA FAIT BIEN</a:t>
            </a:r>
            <a:endParaRPr lang="en-US" sz="1100" dirty="0"/>
          </a:p>
        </p:txBody>
      </p:sp>
      <p:sp>
        <p:nvSpPr>
          <p:cNvPr id="21" name="Text 19"/>
          <p:cNvSpPr/>
          <p:nvPr/>
        </p:nvSpPr>
        <p:spPr>
          <a:xfrm>
            <a:off x="5486400" y="2194560"/>
            <a:ext cx="5989320" cy="160020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Confidential computing hardware (Intel SGX)</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DCR multipartite ET secteurs régulés (pharma, finance, santé)</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Calculs prouvables cryptographiquement</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Interop avec Snowflake, Databricks, AWS, GCP</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Cas d'usage au-delà du marketing (recherche clinique, anti-fraude)</a:t>
            </a:r>
            <a:endParaRPr lang="en-US" sz="1200" dirty="0"/>
          </a:p>
        </p:txBody>
      </p:sp>
      <p:sp>
        <p:nvSpPr>
          <p:cNvPr id="22" name="Shape 20"/>
          <p:cNvSpPr/>
          <p:nvPr/>
        </p:nvSpPr>
        <p:spPr>
          <a:xfrm>
            <a:off x="5212080" y="4023360"/>
            <a:ext cx="6446520" cy="2286000"/>
          </a:xfrm>
          <a:prstGeom prst="rect">
            <a:avLst/>
          </a:prstGeom>
          <a:solidFill>
            <a:srgbClr val="0B1F3A"/>
          </a:solidFill>
          <a:ln w="12700">
            <a:solidFill>
              <a:srgbClr val="0B1F3A"/>
            </a:solidFill>
            <a:prstDash val="solid"/>
          </a:ln>
          <a:effectLst>
            <a:outerShdw blurRad="76200" dist="25400" dir="8100000" algn="bl" rotWithShape="0">
              <a:srgbClr val="000000">
                <a:alpha val="12000"/>
              </a:srgbClr>
            </a:outerShdw>
          </a:effectLst>
        </p:spPr>
      </p:sp>
      <p:sp>
        <p:nvSpPr>
          <p:cNvPr id="23" name="Shape 21"/>
          <p:cNvSpPr/>
          <p:nvPr/>
        </p:nvSpPr>
        <p:spPr>
          <a:xfrm>
            <a:off x="5212080" y="4023360"/>
            <a:ext cx="91440" cy="2286000"/>
          </a:xfrm>
          <a:prstGeom prst="rect">
            <a:avLst/>
          </a:prstGeom>
          <a:solidFill>
            <a:srgbClr val="F96167"/>
          </a:solidFill>
          <a:ln w="12700">
            <a:solidFill>
              <a:srgbClr val="F96167"/>
            </a:solidFill>
            <a:prstDash val="solid"/>
          </a:ln>
        </p:spPr>
      </p:sp>
      <p:sp>
        <p:nvSpPr>
          <p:cNvPr id="24" name="Text 22"/>
          <p:cNvSpPr/>
          <p:nvPr/>
        </p:nvSpPr>
        <p:spPr>
          <a:xfrm>
            <a:off x="5486400" y="4206240"/>
            <a:ext cx="5989320" cy="274320"/>
          </a:xfrm>
          <a:prstGeom prst="rect">
            <a:avLst/>
          </a:prstGeom>
          <a:noFill/>
          <a:ln/>
        </p:spPr>
        <p:txBody>
          <a:bodyPr wrap="square" lIns="0" tIns="0" rIns="0" bIns="0" rtlCol="0" anchor="ctr"/>
          <a:lstStyle/>
          <a:p>
            <a:pPr marL="0" indent="0">
              <a:buNone/>
            </a:pPr>
            <a:r>
              <a:rPr lang="en-US" sz="1100" b="1" kern="0" spc="150" dirty="0">
                <a:solidFill>
                  <a:srgbClr val="F9B233"/>
                </a:solidFill>
                <a:latin typeface="Calibri" pitchFamily="34" charset="0"/>
                <a:ea typeface="Calibri" pitchFamily="34" charset="-122"/>
                <a:cs typeface="Calibri" pitchFamily="34" charset="-120"/>
              </a:rPr>
              <a:t>CAS MARKETING CONCRET</a:t>
            </a:r>
            <a:endParaRPr lang="en-US" sz="1100" dirty="0"/>
          </a:p>
        </p:txBody>
      </p:sp>
      <p:sp>
        <p:nvSpPr>
          <p:cNvPr id="25" name="Text 23"/>
          <p:cNvSpPr/>
          <p:nvPr/>
        </p:nvSpPr>
        <p:spPr>
          <a:xfrm>
            <a:off x="5486400" y="4526280"/>
            <a:ext cx="5989320" cy="141732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Roche Diagnostics (pharma) et un distributeur pharmacies collaborent via Decentriq pour analyser l'efficacité d'une campagne d'éducation patient sur les taux de renouvellement d'ordonnance. Le niveau de sensibilité impose du confidential computing : ni Roche ni la pharmacie ne peuvent voir les données de santé brutes, même par accident technique.</a:t>
            </a:r>
            <a:endParaRPr lang="en-US" sz="1200" dirty="0"/>
          </a:p>
        </p:txBody>
      </p:sp>
      <p:sp>
        <p:nvSpPr>
          <p:cNvPr id="26" name="Text 24"/>
          <p:cNvSpPr/>
          <p:nvPr/>
        </p:nvSpPr>
        <p:spPr>
          <a:xfrm>
            <a:off x="5486400" y="5897880"/>
            <a:ext cx="5989320" cy="320040"/>
          </a:xfrm>
          <a:prstGeom prst="rect">
            <a:avLst/>
          </a:prstGeom>
          <a:noFill/>
          <a:ln/>
        </p:spPr>
        <p:txBody>
          <a:bodyPr wrap="square" lIns="0" tIns="0" rIns="0" bIns="0" rtlCol="0" anchor="ctr"/>
          <a:lstStyle/>
          <a:p>
            <a:pPr marL="0" indent="0">
              <a:buNone/>
            </a:pPr>
            <a:r>
              <a:rPr lang="en-US" sz="1200" b="1" dirty="0">
                <a:solidFill>
                  <a:srgbClr val="F96167"/>
                </a:solidFill>
                <a:latin typeface="Calibri" pitchFamily="34" charset="0"/>
                <a:ea typeface="Calibri" pitchFamily="34" charset="-122"/>
                <a:cs typeface="Calibri" pitchFamily="34" charset="-120"/>
              </a:rPr>
              <a:t>Campagne validée par les DPO des 2 parties et déployée sur 4 pays européens.</a:t>
            </a:r>
            <a:endParaRPr lang="en-US" sz="1200" dirty="0"/>
          </a:p>
        </p:txBody>
      </p:sp>
      <p:sp>
        <p:nvSpPr>
          <p:cNvPr id="27" name="Shape 25"/>
          <p:cNvSpPr/>
          <p:nvPr/>
        </p:nvSpPr>
        <p:spPr>
          <a:xfrm>
            <a:off x="0" y="6583680"/>
            <a:ext cx="12191695" cy="274320"/>
          </a:xfrm>
          <a:prstGeom prst="rect">
            <a:avLst/>
          </a:prstGeom>
          <a:solidFill>
            <a:srgbClr val="0B1F3A"/>
          </a:solidFill>
          <a:ln w="12700">
            <a:solidFill>
              <a:srgbClr val="0B1F3A"/>
            </a:solidFill>
            <a:prstDash val="solid"/>
          </a:ln>
        </p:spPr>
      </p:sp>
      <p:sp>
        <p:nvSpPr>
          <p:cNvPr id="28" name="Text 26"/>
          <p:cNvSpPr/>
          <p:nvPr/>
        </p:nvSpPr>
        <p:spPr>
          <a:xfrm>
            <a:off x="365760" y="6601968"/>
            <a:ext cx="822960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Session 3  Ads &amp; Neutres</a:t>
            </a:r>
            <a:endParaRPr lang="en-US" sz="1000" dirty="0"/>
          </a:p>
        </p:txBody>
      </p:sp>
      <p:sp>
        <p:nvSpPr>
          <p:cNvPr id="29" name="Text 27"/>
          <p:cNvSpPr/>
          <p:nvPr/>
        </p:nvSpPr>
        <p:spPr>
          <a:xfrm>
            <a:off x="11551615" y="6601968"/>
            <a:ext cx="365760" cy="237744"/>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35</a:t>
            </a:r>
            <a:endParaRPr lang="en-US" sz="10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37">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B1F3A"/>
          </a:solidFill>
          <a:ln w="12700">
            <a:solidFill>
              <a:srgbClr val="0B1F3A"/>
            </a:solidFill>
            <a:prstDash val="solid"/>
          </a:ln>
        </p:spPr>
      </p:sp>
      <p:sp>
        <p:nvSpPr>
          <p:cNvPr id="3" name="Text 1"/>
          <p:cNvSpPr/>
          <p:nvPr/>
        </p:nvSpPr>
        <p:spPr>
          <a:xfrm>
            <a:off x="548640" y="164592"/>
            <a:ext cx="6400800" cy="274320"/>
          </a:xfrm>
          <a:prstGeom prst="rect">
            <a:avLst/>
          </a:prstGeom>
          <a:noFill/>
          <a:ln/>
        </p:spPr>
        <p:txBody>
          <a:bodyPr wrap="square" lIns="0" tIns="0" rIns="0" bIns="0" rtlCol="0" anchor="ctr"/>
          <a:lstStyle/>
          <a:p>
            <a:pPr marL="0" indent="0">
              <a:buNone/>
            </a:pPr>
            <a:r>
              <a:rPr lang="en-US" sz="1100" b="1" kern="0" spc="200" dirty="0">
                <a:solidFill>
                  <a:srgbClr val="F96167"/>
                </a:solidFill>
                <a:latin typeface="Calibri" pitchFamily="34" charset="0"/>
                <a:ea typeface="Calibri" pitchFamily="34" charset="-122"/>
                <a:cs typeface="Calibri" pitchFamily="34" charset="-120"/>
              </a:rPr>
              <a:t>DEMO 5/8  ·  WALKTHROUGH AMC</a:t>
            </a:r>
            <a:endParaRPr lang="en-US" sz="1100" dirty="0"/>
          </a:p>
        </p:txBody>
      </p:sp>
      <p:sp>
        <p:nvSpPr>
          <p:cNvPr id="4" name="Text 2"/>
          <p:cNvSpPr/>
          <p:nvPr/>
        </p:nvSpPr>
        <p:spPr>
          <a:xfrm>
            <a:off x="548640" y="384048"/>
            <a:ext cx="8229600" cy="45720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Amazon Marketing Cloud</a:t>
            </a:r>
            <a:endParaRPr lang="en-US" sz="2600" dirty="0"/>
          </a:p>
        </p:txBody>
      </p:sp>
      <p:sp>
        <p:nvSpPr>
          <p:cNvPr id="5" name="Text 3"/>
          <p:cNvSpPr/>
          <p:nvPr/>
        </p:nvSpPr>
        <p:spPr>
          <a:xfrm>
            <a:off x="548640" y="1051560"/>
            <a:ext cx="11064240" cy="320040"/>
          </a:xfrm>
          <a:prstGeom prst="rect">
            <a:avLst/>
          </a:prstGeom>
          <a:noFill/>
          <a:ln/>
        </p:spPr>
        <p:txBody>
          <a:bodyPr wrap="square" lIns="0" tIns="0" rIns="0" bIns="0" rtlCol="0" anchor="ctr"/>
          <a:lstStyle/>
          <a:p>
            <a:pPr marL="0" indent="0">
              <a:buNone/>
            </a:pPr>
            <a:r>
              <a:rPr lang="en-US" sz="1300" i="1" dirty="0">
                <a:solidFill>
                  <a:srgbClr val="1C7293"/>
                </a:solidFill>
                <a:latin typeface="Calibri" pitchFamily="34" charset="0"/>
                <a:ea typeface="Calibri" pitchFamily="34" charset="-122"/>
                <a:cs typeface="Calibri" pitchFamily="34" charset="-120"/>
              </a:rPr>
              <a:t>Analyser le path-to-conversion sur l'écosystème Amazon  tous les touchpoints, une requête.</a:t>
            </a:r>
            <a:endParaRPr lang="en-US" sz="1300" dirty="0"/>
          </a:p>
        </p:txBody>
      </p:sp>
      <p:sp>
        <p:nvSpPr>
          <p:cNvPr id="6" name="Text 4"/>
          <p:cNvSpPr/>
          <p:nvPr/>
        </p:nvSpPr>
        <p:spPr>
          <a:xfrm>
            <a:off x="548640" y="1554480"/>
            <a:ext cx="6035040" cy="274320"/>
          </a:xfrm>
          <a:prstGeom prst="rect">
            <a:avLst/>
          </a:prstGeom>
          <a:noFill/>
          <a:ln/>
        </p:spPr>
        <p:txBody>
          <a:bodyPr wrap="square" lIns="0" tIns="0" rIns="0" bIns="0" rtlCol="0" anchor="ctr"/>
          <a:lstStyle/>
          <a:p>
            <a:pPr marL="0" indent="0">
              <a:buNone/>
            </a:pPr>
            <a:r>
              <a:rPr lang="en-US" sz="1100" b="1" kern="0" spc="150" dirty="0">
                <a:solidFill>
                  <a:srgbClr val="065A82"/>
                </a:solidFill>
                <a:latin typeface="Calibri" pitchFamily="34" charset="0"/>
                <a:ea typeface="Calibri" pitchFamily="34" charset="-122"/>
                <a:cs typeface="Calibri" pitchFamily="34" charset="-120"/>
              </a:rPr>
              <a:t>WORKFLOW  5 ÉTAPES CLÉS</a:t>
            </a:r>
            <a:endParaRPr lang="en-US" sz="1100" dirty="0"/>
          </a:p>
        </p:txBody>
      </p:sp>
      <p:sp>
        <p:nvSpPr>
          <p:cNvPr id="7" name="Shape 5"/>
          <p:cNvSpPr/>
          <p:nvPr/>
        </p:nvSpPr>
        <p:spPr>
          <a:xfrm>
            <a:off x="548640" y="1965960"/>
            <a:ext cx="6035040" cy="804672"/>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8" name="Shape 6"/>
          <p:cNvSpPr/>
          <p:nvPr/>
        </p:nvSpPr>
        <p:spPr>
          <a:xfrm>
            <a:off x="685800" y="2148840"/>
            <a:ext cx="457200" cy="457200"/>
          </a:xfrm>
          <a:prstGeom prst="ellipse">
            <a:avLst/>
          </a:prstGeom>
          <a:solidFill>
            <a:srgbClr val="F96167"/>
          </a:solidFill>
          <a:ln w="12700">
            <a:solidFill>
              <a:srgbClr val="F96167"/>
            </a:solidFill>
            <a:prstDash val="solid"/>
          </a:ln>
        </p:spPr>
      </p:sp>
      <p:sp>
        <p:nvSpPr>
          <p:cNvPr id="9" name="Text 7"/>
          <p:cNvSpPr/>
          <p:nvPr/>
        </p:nvSpPr>
        <p:spPr>
          <a:xfrm>
            <a:off x="685800" y="21488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0" name="Text 8"/>
          <p:cNvSpPr/>
          <p:nvPr/>
        </p:nvSpPr>
        <p:spPr>
          <a:xfrm>
            <a:off x="1280160" y="2057400"/>
            <a:ext cx="5212080" cy="27432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Uploader la hashed CRM</a:t>
            </a:r>
            <a:endParaRPr lang="en-US" sz="1300" dirty="0"/>
          </a:p>
        </p:txBody>
      </p:sp>
      <p:sp>
        <p:nvSpPr>
          <p:cNvPr id="11" name="Text 9"/>
          <p:cNvSpPr/>
          <p:nvPr/>
        </p:nvSpPr>
        <p:spPr>
          <a:xfrm>
            <a:off x="1280160" y="2295144"/>
            <a:ext cx="5212080" cy="45720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Via Amazon Ads → AMC Instance → data upload (hash SHA-256 email).</a:t>
            </a:r>
            <a:endParaRPr lang="en-US" sz="1100" dirty="0"/>
          </a:p>
        </p:txBody>
      </p:sp>
      <p:sp>
        <p:nvSpPr>
          <p:cNvPr id="12" name="Shape 10"/>
          <p:cNvSpPr/>
          <p:nvPr/>
        </p:nvSpPr>
        <p:spPr>
          <a:xfrm>
            <a:off x="548640" y="2862072"/>
            <a:ext cx="6035040" cy="804672"/>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13" name="Shape 11"/>
          <p:cNvSpPr/>
          <p:nvPr/>
        </p:nvSpPr>
        <p:spPr>
          <a:xfrm>
            <a:off x="685800" y="3044952"/>
            <a:ext cx="457200" cy="457200"/>
          </a:xfrm>
          <a:prstGeom prst="ellipse">
            <a:avLst/>
          </a:prstGeom>
          <a:solidFill>
            <a:srgbClr val="F96167"/>
          </a:solidFill>
          <a:ln w="12700">
            <a:solidFill>
              <a:srgbClr val="F96167"/>
            </a:solidFill>
            <a:prstDash val="solid"/>
          </a:ln>
        </p:spPr>
      </p:sp>
      <p:sp>
        <p:nvSpPr>
          <p:cNvPr id="14" name="Text 12"/>
          <p:cNvSpPr/>
          <p:nvPr/>
        </p:nvSpPr>
        <p:spPr>
          <a:xfrm>
            <a:off x="685800" y="304495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5" name="Text 13"/>
          <p:cNvSpPr/>
          <p:nvPr/>
        </p:nvSpPr>
        <p:spPr>
          <a:xfrm>
            <a:off x="1280160" y="2953512"/>
            <a:ext cx="5212080" cy="27432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Ouvrir l'AMC Query Editor</a:t>
            </a:r>
            <a:endParaRPr lang="en-US" sz="1300" dirty="0"/>
          </a:p>
        </p:txBody>
      </p:sp>
      <p:sp>
        <p:nvSpPr>
          <p:cNvPr id="16" name="Text 14"/>
          <p:cNvSpPr/>
          <p:nvPr/>
        </p:nvSpPr>
        <p:spPr>
          <a:xfrm>
            <a:off x="1280160" y="3191256"/>
            <a:ext cx="5212080" cy="45720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Interface SQL dans la console  schéma pré-joint (impressions, clicks, purchases).</a:t>
            </a:r>
            <a:endParaRPr lang="en-US" sz="1100" dirty="0"/>
          </a:p>
        </p:txBody>
      </p:sp>
      <p:sp>
        <p:nvSpPr>
          <p:cNvPr id="17" name="Shape 15"/>
          <p:cNvSpPr/>
          <p:nvPr/>
        </p:nvSpPr>
        <p:spPr>
          <a:xfrm>
            <a:off x="548640" y="3758184"/>
            <a:ext cx="6035040" cy="804672"/>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18" name="Shape 16"/>
          <p:cNvSpPr/>
          <p:nvPr/>
        </p:nvSpPr>
        <p:spPr>
          <a:xfrm>
            <a:off x="685800" y="3941064"/>
            <a:ext cx="457200" cy="457200"/>
          </a:xfrm>
          <a:prstGeom prst="ellipse">
            <a:avLst/>
          </a:prstGeom>
          <a:solidFill>
            <a:srgbClr val="F96167"/>
          </a:solidFill>
          <a:ln w="12700">
            <a:solidFill>
              <a:srgbClr val="F96167"/>
            </a:solidFill>
            <a:prstDash val="solid"/>
          </a:ln>
        </p:spPr>
      </p:sp>
      <p:sp>
        <p:nvSpPr>
          <p:cNvPr id="19" name="Text 17"/>
          <p:cNvSpPr/>
          <p:nvPr/>
        </p:nvSpPr>
        <p:spPr>
          <a:xfrm>
            <a:off x="685800" y="3941064"/>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0" name="Text 18"/>
          <p:cNvSpPr/>
          <p:nvPr/>
        </p:nvSpPr>
        <p:spPr>
          <a:xfrm>
            <a:off x="1280160" y="3849624"/>
            <a:ext cx="5212080" cy="27432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Écrire la requête path</a:t>
            </a:r>
            <a:endParaRPr lang="en-US" sz="1300" dirty="0"/>
          </a:p>
        </p:txBody>
      </p:sp>
      <p:sp>
        <p:nvSpPr>
          <p:cNvPr id="21" name="Text 19"/>
          <p:cNvSpPr/>
          <p:nvPr/>
        </p:nvSpPr>
        <p:spPr>
          <a:xfrm>
            <a:off x="1280160" y="4087368"/>
            <a:ext cx="5212080" cy="45720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Utiliser le template amazon_path_to_conversion sur 30 jours.</a:t>
            </a:r>
            <a:endParaRPr lang="en-US" sz="1100" dirty="0"/>
          </a:p>
        </p:txBody>
      </p:sp>
      <p:sp>
        <p:nvSpPr>
          <p:cNvPr id="22" name="Shape 20"/>
          <p:cNvSpPr/>
          <p:nvPr/>
        </p:nvSpPr>
        <p:spPr>
          <a:xfrm>
            <a:off x="548640" y="4654296"/>
            <a:ext cx="6035040" cy="804672"/>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23" name="Shape 21"/>
          <p:cNvSpPr/>
          <p:nvPr/>
        </p:nvSpPr>
        <p:spPr>
          <a:xfrm>
            <a:off x="685800" y="4837176"/>
            <a:ext cx="457200" cy="457200"/>
          </a:xfrm>
          <a:prstGeom prst="ellipse">
            <a:avLst/>
          </a:prstGeom>
          <a:solidFill>
            <a:srgbClr val="F96167"/>
          </a:solidFill>
          <a:ln w="12700">
            <a:solidFill>
              <a:srgbClr val="F96167"/>
            </a:solidFill>
            <a:prstDash val="solid"/>
          </a:ln>
        </p:spPr>
      </p:sp>
      <p:sp>
        <p:nvSpPr>
          <p:cNvPr id="24" name="Text 22"/>
          <p:cNvSpPr/>
          <p:nvPr/>
        </p:nvSpPr>
        <p:spPr>
          <a:xfrm>
            <a:off x="685800" y="4837176"/>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5" name="Text 23"/>
          <p:cNvSpPr/>
          <p:nvPr/>
        </p:nvSpPr>
        <p:spPr>
          <a:xfrm>
            <a:off x="1280160" y="4745736"/>
            <a:ext cx="5212080" cy="27432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Seuil d'agrégation ≥100</a:t>
            </a:r>
            <a:endParaRPr lang="en-US" sz="1300" dirty="0"/>
          </a:p>
        </p:txBody>
      </p:sp>
      <p:sp>
        <p:nvSpPr>
          <p:cNvPr id="26" name="Text 24"/>
          <p:cNvSpPr/>
          <p:nvPr/>
        </p:nvSpPr>
        <p:spPr>
          <a:xfrm>
            <a:off x="1280160" y="4983480"/>
            <a:ext cx="5212080" cy="45720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AMC refuse tout output en dessous du </a:t>
            </a:r>
            <a:r>
              <a:rPr lang="en-US" sz="1100" dirty="0" err="1">
                <a:solidFill>
                  <a:srgbClr val="1E293B"/>
                </a:solidFill>
                <a:latin typeface="Calibri" pitchFamily="34" charset="0"/>
                <a:ea typeface="Calibri" pitchFamily="34" charset="-122"/>
                <a:cs typeface="Calibri" pitchFamily="34" charset="-120"/>
              </a:rPr>
              <a:t>seuil</a:t>
            </a:r>
            <a:r>
              <a:rPr lang="en-US" sz="1100" dirty="0">
                <a:solidFill>
                  <a:srgbClr val="1E293B"/>
                </a:solidFill>
                <a:latin typeface="Calibri" pitchFamily="34" charset="0"/>
                <a:ea typeface="Calibri" pitchFamily="34" charset="-122"/>
                <a:cs typeface="Calibri" pitchFamily="34" charset="-120"/>
              </a:rPr>
              <a:t>  message d'erreur explicite si vous le violez.</a:t>
            </a:r>
            <a:endParaRPr lang="en-US" sz="1100" dirty="0"/>
          </a:p>
        </p:txBody>
      </p:sp>
      <p:sp>
        <p:nvSpPr>
          <p:cNvPr id="27" name="Shape 25"/>
          <p:cNvSpPr/>
          <p:nvPr/>
        </p:nvSpPr>
        <p:spPr>
          <a:xfrm>
            <a:off x="548640" y="5550408"/>
            <a:ext cx="6035040" cy="804672"/>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28" name="Shape 26"/>
          <p:cNvSpPr/>
          <p:nvPr/>
        </p:nvSpPr>
        <p:spPr>
          <a:xfrm>
            <a:off x="685800" y="5733288"/>
            <a:ext cx="457200" cy="457200"/>
          </a:xfrm>
          <a:prstGeom prst="ellipse">
            <a:avLst/>
          </a:prstGeom>
          <a:solidFill>
            <a:srgbClr val="F96167"/>
          </a:solidFill>
          <a:ln w="12700">
            <a:solidFill>
              <a:srgbClr val="F96167"/>
            </a:solidFill>
            <a:prstDash val="solid"/>
          </a:ln>
        </p:spPr>
      </p:sp>
      <p:sp>
        <p:nvSpPr>
          <p:cNvPr id="29" name="Text 27"/>
          <p:cNvSpPr/>
          <p:nvPr/>
        </p:nvSpPr>
        <p:spPr>
          <a:xfrm>
            <a:off x="685800" y="573328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0" name="Text 28"/>
          <p:cNvSpPr/>
          <p:nvPr/>
        </p:nvSpPr>
        <p:spPr>
          <a:xfrm>
            <a:off x="1280160" y="5641848"/>
            <a:ext cx="5212080" cy="27432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Exporter vers S3</a:t>
            </a:r>
            <a:endParaRPr lang="en-US" sz="1300" dirty="0"/>
          </a:p>
        </p:txBody>
      </p:sp>
      <p:sp>
        <p:nvSpPr>
          <p:cNvPr id="31" name="Text 29"/>
          <p:cNvSpPr/>
          <p:nvPr/>
        </p:nvSpPr>
        <p:spPr>
          <a:xfrm>
            <a:off x="1280160" y="5879592"/>
            <a:ext cx="5212080" cy="45720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Résultats push vers S3 → Tableau / QuickSight pour la restitution CMO.</a:t>
            </a:r>
            <a:endParaRPr lang="en-US" sz="1100" dirty="0"/>
          </a:p>
        </p:txBody>
      </p:sp>
      <p:sp>
        <p:nvSpPr>
          <p:cNvPr id="32" name="Shape 30"/>
          <p:cNvSpPr/>
          <p:nvPr/>
        </p:nvSpPr>
        <p:spPr>
          <a:xfrm>
            <a:off x="6766560" y="1554480"/>
            <a:ext cx="4846320" cy="3017520"/>
          </a:xfrm>
          <a:prstGeom prst="rect">
            <a:avLst/>
          </a:prstGeom>
          <a:solidFill>
            <a:srgbClr val="0B1F3A"/>
          </a:solidFill>
          <a:ln w="12700">
            <a:solidFill>
              <a:srgbClr val="0B1F3A"/>
            </a:solidFill>
            <a:prstDash val="solid"/>
          </a:ln>
          <a:effectLst>
            <a:outerShdw blurRad="76200" dist="25400" dir="8100000" algn="bl" rotWithShape="0">
              <a:srgbClr val="000000">
                <a:alpha val="12000"/>
              </a:srgbClr>
            </a:outerShdw>
          </a:effectLst>
        </p:spPr>
      </p:sp>
      <p:sp>
        <p:nvSpPr>
          <p:cNvPr id="33" name="Shape 31"/>
          <p:cNvSpPr/>
          <p:nvPr/>
        </p:nvSpPr>
        <p:spPr>
          <a:xfrm>
            <a:off x="6766560" y="1554480"/>
            <a:ext cx="4846320" cy="292608"/>
          </a:xfrm>
          <a:prstGeom prst="rect">
            <a:avLst/>
          </a:prstGeom>
          <a:solidFill>
            <a:srgbClr val="102B52"/>
          </a:solidFill>
          <a:ln w="12700">
            <a:solidFill>
              <a:srgbClr val="102B52"/>
            </a:solidFill>
            <a:prstDash val="solid"/>
          </a:ln>
        </p:spPr>
      </p:sp>
      <p:sp>
        <p:nvSpPr>
          <p:cNvPr id="34" name="Shape 32"/>
          <p:cNvSpPr/>
          <p:nvPr/>
        </p:nvSpPr>
        <p:spPr>
          <a:xfrm>
            <a:off x="6876288" y="1636776"/>
            <a:ext cx="128016" cy="128016"/>
          </a:xfrm>
          <a:prstGeom prst="ellipse">
            <a:avLst/>
          </a:prstGeom>
          <a:solidFill>
            <a:srgbClr val="FF5F57"/>
          </a:solidFill>
          <a:ln w="12700">
            <a:solidFill>
              <a:srgbClr val="FF5F57"/>
            </a:solidFill>
            <a:prstDash val="solid"/>
          </a:ln>
        </p:spPr>
      </p:sp>
      <p:sp>
        <p:nvSpPr>
          <p:cNvPr id="35" name="Shape 33"/>
          <p:cNvSpPr/>
          <p:nvPr/>
        </p:nvSpPr>
        <p:spPr>
          <a:xfrm>
            <a:off x="7059168" y="1636776"/>
            <a:ext cx="128016" cy="128016"/>
          </a:xfrm>
          <a:prstGeom prst="ellipse">
            <a:avLst/>
          </a:prstGeom>
          <a:solidFill>
            <a:srgbClr val="FEBC2E"/>
          </a:solidFill>
          <a:ln w="12700">
            <a:solidFill>
              <a:srgbClr val="FEBC2E"/>
            </a:solidFill>
            <a:prstDash val="solid"/>
          </a:ln>
        </p:spPr>
      </p:sp>
      <p:sp>
        <p:nvSpPr>
          <p:cNvPr id="36" name="Shape 34"/>
          <p:cNvSpPr/>
          <p:nvPr/>
        </p:nvSpPr>
        <p:spPr>
          <a:xfrm>
            <a:off x="7242048" y="1636776"/>
            <a:ext cx="128016" cy="128016"/>
          </a:xfrm>
          <a:prstGeom prst="ellipse">
            <a:avLst/>
          </a:prstGeom>
          <a:solidFill>
            <a:srgbClr val="28C840"/>
          </a:solidFill>
          <a:ln w="12700">
            <a:solidFill>
              <a:srgbClr val="28C840"/>
            </a:solidFill>
            <a:prstDash val="solid"/>
          </a:ln>
        </p:spPr>
      </p:sp>
      <p:sp>
        <p:nvSpPr>
          <p:cNvPr id="37" name="Text 35"/>
          <p:cNvSpPr/>
          <p:nvPr/>
        </p:nvSpPr>
        <p:spPr>
          <a:xfrm>
            <a:off x="7498080" y="1600200"/>
            <a:ext cx="4023360" cy="201168"/>
          </a:xfrm>
          <a:prstGeom prst="rect">
            <a:avLst/>
          </a:prstGeom>
          <a:noFill/>
          <a:ln/>
        </p:spPr>
        <p:txBody>
          <a:bodyPr wrap="square" lIns="0" tIns="0" rIns="0" bIns="0" rtlCol="0" anchor="ctr"/>
          <a:lstStyle/>
          <a:p>
            <a:pPr marL="0" indent="0" algn="l">
              <a:buNone/>
            </a:pPr>
            <a:r>
              <a:rPr lang="en-US" sz="1000" dirty="0" err="1">
                <a:solidFill>
                  <a:srgbClr val="E2E8F0"/>
                </a:solidFill>
                <a:latin typeface="Consolas" pitchFamily="34" charset="0"/>
                <a:ea typeface="Consolas" pitchFamily="34" charset="-122"/>
                <a:cs typeface="Consolas" pitchFamily="34" charset="-120"/>
              </a:rPr>
              <a:t>path_to_conv.sql</a:t>
            </a:r>
            <a:r>
              <a:rPr lang="en-US" sz="1000" dirty="0">
                <a:solidFill>
                  <a:srgbClr val="E2E8F0"/>
                </a:solidFill>
                <a:latin typeface="Consolas" pitchFamily="34" charset="0"/>
                <a:ea typeface="Consolas" pitchFamily="34" charset="-122"/>
                <a:cs typeface="Consolas" pitchFamily="34" charset="-120"/>
              </a:rPr>
              <a:t>  AMC</a:t>
            </a:r>
            <a:endParaRPr lang="en-US" sz="1000" dirty="0"/>
          </a:p>
        </p:txBody>
      </p:sp>
      <p:sp>
        <p:nvSpPr>
          <p:cNvPr id="38" name="Text 36"/>
          <p:cNvSpPr/>
          <p:nvPr/>
        </p:nvSpPr>
        <p:spPr>
          <a:xfrm>
            <a:off x="6949440" y="1920240"/>
            <a:ext cx="4480560" cy="2560320"/>
          </a:xfrm>
          <a:prstGeom prst="rect">
            <a:avLst/>
          </a:prstGeom>
          <a:noFill/>
          <a:ln/>
        </p:spPr>
        <p:txBody>
          <a:bodyPr wrap="square" lIns="0" tIns="0" rIns="0" bIns="0" rtlCol="0" anchor="t"/>
          <a:lstStyle/>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SELECT path_sequence,</a:t>
            </a:r>
            <a:endParaRPr lang="en-US" sz="1000" dirty="0"/>
          </a:p>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       COUNT(DISTINCT user_id) AS u,</a:t>
            </a:r>
            <a:endParaRPr lang="en-US" sz="1000" dirty="0"/>
          </a:p>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       SUM(purchase_value) AS rev</a:t>
            </a:r>
            <a:endParaRPr lang="en-US" sz="1000" dirty="0"/>
          </a:p>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FROM amazon_attributed_events</a:t>
            </a:r>
            <a:endParaRPr lang="en-US" sz="1000" dirty="0"/>
          </a:p>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WHERE path_length BETWEEN 2 AND 5</a:t>
            </a:r>
            <a:endParaRPr lang="en-US" sz="1000" dirty="0"/>
          </a:p>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  AND date &gt;= CURRENT_DATE - 30</a:t>
            </a:r>
            <a:endParaRPr lang="en-US" sz="1000" dirty="0"/>
          </a:p>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GROUP BY path_sequence</a:t>
            </a:r>
            <a:endParaRPr lang="en-US" sz="1000" dirty="0"/>
          </a:p>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HAVING COUNT(DISTINCT user_id) &gt;= 100</a:t>
            </a:r>
            <a:endParaRPr lang="en-US" sz="1000" dirty="0"/>
          </a:p>
          <a:p>
            <a:pPr marL="0" indent="0">
              <a:spcAft>
                <a:spcPts val="200"/>
              </a:spcAft>
              <a:buNone/>
            </a:pPr>
            <a:endParaRPr lang="en-US" sz="1000" dirty="0"/>
          </a:p>
          <a:p>
            <a:pPr marL="0" indent="0">
              <a:spcAft>
                <a:spcPts val="200"/>
              </a:spcAft>
              <a:buNone/>
            </a:pPr>
            <a:r>
              <a:rPr lang="en-US" sz="1000" dirty="0">
                <a:solidFill>
                  <a:srgbClr val="F9B233"/>
                </a:solidFill>
                <a:latin typeface="Consolas" pitchFamily="34" charset="0"/>
                <a:ea typeface="Consolas" pitchFamily="34" charset="-122"/>
                <a:cs typeface="Consolas" pitchFamily="34" charset="-120"/>
              </a:rPr>
              <a:t>&gt; 142 paths retournés</a:t>
            </a:r>
            <a:endParaRPr lang="en-US" sz="1000" dirty="0"/>
          </a:p>
          <a:p>
            <a:pPr marL="0" indent="0">
              <a:spcAft>
                <a:spcPts val="200"/>
              </a:spcAft>
              <a:buNone/>
            </a:pPr>
            <a:r>
              <a:rPr lang="en-US" sz="1000" dirty="0">
                <a:solidFill>
                  <a:srgbClr val="F9B233"/>
                </a:solidFill>
                <a:latin typeface="Consolas" pitchFamily="34" charset="0"/>
                <a:ea typeface="Consolas" pitchFamily="34" charset="-122"/>
                <a:cs typeface="Consolas" pitchFamily="34" charset="-120"/>
              </a:rPr>
              <a:t>&gt; Export → S3 ready</a:t>
            </a:r>
            <a:endParaRPr lang="en-US" sz="1000" dirty="0"/>
          </a:p>
        </p:txBody>
      </p:sp>
      <p:sp>
        <p:nvSpPr>
          <p:cNvPr id="39" name="Shape 37"/>
          <p:cNvSpPr/>
          <p:nvPr/>
        </p:nvSpPr>
        <p:spPr>
          <a:xfrm>
            <a:off x="6766560" y="4709160"/>
            <a:ext cx="4846320" cy="1691640"/>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40" name="Shape 38"/>
          <p:cNvSpPr/>
          <p:nvPr/>
        </p:nvSpPr>
        <p:spPr>
          <a:xfrm>
            <a:off x="6766560" y="4709160"/>
            <a:ext cx="91440" cy="1691640"/>
          </a:xfrm>
          <a:prstGeom prst="rect">
            <a:avLst/>
          </a:prstGeom>
          <a:solidFill>
            <a:srgbClr val="F96167"/>
          </a:solidFill>
          <a:ln w="12700">
            <a:solidFill>
              <a:srgbClr val="F96167"/>
            </a:solidFill>
            <a:prstDash val="solid"/>
          </a:ln>
        </p:spPr>
      </p:sp>
      <p:sp>
        <p:nvSpPr>
          <p:cNvPr id="41" name="Text 39"/>
          <p:cNvSpPr/>
          <p:nvPr/>
        </p:nvSpPr>
        <p:spPr>
          <a:xfrm>
            <a:off x="6995160" y="4846320"/>
            <a:ext cx="4480560" cy="274320"/>
          </a:xfrm>
          <a:prstGeom prst="rect">
            <a:avLst/>
          </a:prstGeom>
          <a:noFill/>
          <a:ln/>
        </p:spPr>
        <p:txBody>
          <a:bodyPr wrap="square" lIns="0" tIns="0" rIns="0" bIns="0" rtlCol="0" anchor="ctr"/>
          <a:lstStyle/>
          <a:p>
            <a:pPr marL="0" indent="0">
              <a:buNone/>
            </a:pPr>
            <a:r>
              <a:rPr lang="en-US" sz="1000" b="1" kern="0" spc="150" dirty="0">
                <a:solidFill>
                  <a:srgbClr val="F96167"/>
                </a:solidFill>
                <a:latin typeface="Calibri" pitchFamily="34" charset="0"/>
                <a:ea typeface="Calibri" pitchFamily="34" charset="-122"/>
                <a:cs typeface="Calibri" pitchFamily="34" charset="-120"/>
              </a:rPr>
              <a:t>RÉSULTAT LIVRÉ</a:t>
            </a:r>
            <a:endParaRPr lang="en-US" sz="1000" dirty="0"/>
          </a:p>
        </p:txBody>
      </p:sp>
      <p:sp>
        <p:nvSpPr>
          <p:cNvPr id="42" name="Text 40"/>
          <p:cNvSpPr/>
          <p:nvPr/>
        </p:nvSpPr>
        <p:spPr>
          <a:xfrm>
            <a:off x="6995160" y="5120640"/>
            <a:ext cx="4480560" cy="640080"/>
          </a:xfrm>
          <a:prstGeom prst="rect">
            <a:avLst/>
          </a:prstGeom>
          <a:noFill/>
          <a:ln/>
        </p:spPr>
        <p:txBody>
          <a:bodyPr wrap="square" lIns="0" tIns="0" rIns="0" bIns="0" rtlCol="0" anchor="ctr"/>
          <a:lstStyle/>
          <a:p>
            <a:pPr marL="0" indent="0">
              <a:buNone/>
            </a:pPr>
            <a:r>
              <a:rPr lang="en-US" sz="2200" b="1" dirty="0">
                <a:solidFill>
                  <a:srgbClr val="065A82"/>
                </a:solidFill>
                <a:latin typeface="Calibri" pitchFamily="34" charset="0"/>
                <a:ea typeface="Calibri" pitchFamily="34" charset="-122"/>
                <a:cs typeface="Calibri" pitchFamily="34" charset="-120"/>
              </a:rPr>
              <a:t>Path DSP→Display→Search</a:t>
            </a:r>
            <a:endParaRPr lang="en-US" sz="2200" dirty="0"/>
          </a:p>
        </p:txBody>
      </p:sp>
      <p:sp>
        <p:nvSpPr>
          <p:cNvPr id="43" name="Text 41"/>
          <p:cNvSpPr/>
          <p:nvPr/>
        </p:nvSpPr>
        <p:spPr>
          <a:xfrm>
            <a:off x="6995160" y="5760720"/>
            <a:ext cx="4480560" cy="59436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4,2× plus de conversions que le path direct  budget Display réhaussé de 22 % suite au rapport.</a:t>
            </a:r>
            <a:endParaRPr lang="en-US" sz="1100" dirty="0"/>
          </a:p>
        </p:txBody>
      </p:sp>
      <p:sp>
        <p:nvSpPr>
          <p:cNvPr id="44" name="Shape 42"/>
          <p:cNvSpPr/>
          <p:nvPr/>
        </p:nvSpPr>
        <p:spPr>
          <a:xfrm>
            <a:off x="0" y="6583680"/>
            <a:ext cx="12191695" cy="274320"/>
          </a:xfrm>
          <a:prstGeom prst="rect">
            <a:avLst/>
          </a:prstGeom>
          <a:solidFill>
            <a:srgbClr val="0B1F3A"/>
          </a:solidFill>
          <a:ln w="12700">
            <a:solidFill>
              <a:srgbClr val="0B1F3A"/>
            </a:solidFill>
            <a:prstDash val="solid"/>
          </a:ln>
        </p:spPr>
      </p:sp>
      <p:sp>
        <p:nvSpPr>
          <p:cNvPr id="45" name="Text 43"/>
          <p:cNvSpPr/>
          <p:nvPr/>
        </p:nvSpPr>
        <p:spPr>
          <a:xfrm>
            <a:off x="365760" y="6601968"/>
            <a:ext cx="822960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Session 3  Demos providers</a:t>
            </a:r>
            <a:endParaRPr lang="en-US" sz="1000" dirty="0"/>
          </a:p>
        </p:txBody>
      </p:sp>
      <p:sp>
        <p:nvSpPr>
          <p:cNvPr id="46" name="Text 44"/>
          <p:cNvSpPr/>
          <p:nvPr/>
        </p:nvSpPr>
        <p:spPr>
          <a:xfrm>
            <a:off x="11551615" y="6601968"/>
            <a:ext cx="365760" cy="237744"/>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36</a:t>
            </a:r>
            <a:endParaRPr lang="en-US" sz="10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38">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B1F3A"/>
          </a:solidFill>
          <a:ln w="12700">
            <a:solidFill>
              <a:srgbClr val="0B1F3A"/>
            </a:solidFill>
            <a:prstDash val="solid"/>
          </a:ln>
        </p:spPr>
      </p:sp>
      <p:sp>
        <p:nvSpPr>
          <p:cNvPr id="3" name="Text 1"/>
          <p:cNvSpPr/>
          <p:nvPr/>
        </p:nvSpPr>
        <p:spPr>
          <a:xfrm>
            <a:off x="548640" y="164592"/>
            <a:ext cx="6400800" cy="274320"/>
          </a:xfrm>
          <a:prstGeom prst="rect">
            <a:avLst/>
          </a:prstGeom>
          <a:noFill/>
          <a:ln/>
        </p:spPr>
        <p:txBody>
          <a:bodyPr wrap="square" lIns="0" tIns="0" rIns="0" bIns="0" rtlCol="0" anchor="ctr"/>
          <a:lstStyle/>
          <a:p>
            <a:pPr marL="0" indent="0">
              <a:buNone/>
            </a:pPr>
            <a:r>
              <a:rPr lang="en-US" sz="1100" b="1" kern="0" spc="200" dirty="0">
                <a:solidFill>
                  <a:srgbClr val="F96167"/>
                </a:solidFill>
                <a:latin typeface="Calibri" pitchFamily="34" charset="0"/>
                <a:ea typeface="Calibri" pitchFamily="34" charset="-122"/>
                <a:cs typeface="Calibri" pitchFamily="34" charset="-120"/>
              </a:rPr>
              <a:t>DEMO 6/8  ·  WALKTHROUGH DECENTRIQ</a:t>
            </a:r>
            <a:endParaRPr lang="en-US" sz="1100" dirty="0"/>
          </a:p>
        </p:txBody>
      </p:sp>
      <p:sp>
        <p:nvSpPr>
          <p:cNvPr id="4" name="Text 2"/>
          <p:cNvSpPr/>
          <p:nvPr/>
        </p:nvSpPr>
        <p:spPr>
          <a:xfrm>
            <a:off x="548640" y="384048"/>
            <a:ext cx="8229600" cy="45720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Decentriq (Confidential Computing)</a:t>
            </a:r>
            <a:endParaRPr lang="en-US" sz="2600" dirty="0"/>
          </a:p>
        </p:txBody>
      </p:sp>
      <p:sp>
        <p:nvSpPr>
          <p:cNvPr id="5" name="Text 3"/>
          <p:cNvSpPr/>
          <p:nvPr/>
        </p:nvSpPr>
        <p:spPr>
          <a:xfrm>
            <a:off x="548640" y="1051560"/>
            <a:ext cx="11064240" cy="320040"/>
          </a:xfrm>
          <a:prstGeom prst="rect">
            <a:avLst/>
          </a:prstGeom>
          <a:noFill/>
          <a:ln/>
        </p:spPr>
        <p:txBody>
          <a:bodyPr wrap="square" lIns="0" tIns="0" rIns="0" bIns="0" rtlCol="0" anchor="ctr"/>
          <a:lstStyle/>
          <a:p>
            <a:pPr marL="0" indent="0">
              <a:buNone/>
            </a:pPr>
            <a:r>
              <a:rPr lang="en-US" sz="1300" i="1" dirty="0">
                <a:solidFill>
                  <a:srgbClr val="1C7293"/>
                </a:solidFill>
                <a:latin typeface="Calibri" pitchFamily="34" charset="0"/>
                <a:ea typeface="Calibri" pitchFamily="34" charset="-122"/>
                <a:cs typeface="Calibri" pitchFamily="34" charset="-120"/>
              </a:rPr>
              <a:t>Le plus strict : exécution dans une enclave Intel SGX  la data n'est visible par personne, pas même Decentriq.</a:t>
            </a:r>
            <a:endParaRPr lang="en-US" sz="1300" dirty="0"/>
          </a:p>
        </p:txBody>
      </p:sp>
      <p:sp>
        <p:nvSpPr>
          <p:cNvPr id="6" name="Text 4"/>
          <p:cNvSpPr/>
          <p:nvPr/>
        </p:nvSpPr>
        <p:spPr>
          <a:xfrm>
            <a:off x="548640" y="1554480"/>
            <a:ext cx="6035040" cy="274320"/>
          </a:xfrm>
          <a:prstGeom prst="rect">
            <a:avLst/>
          </a:prstGeom>
          <a:noFill/>
          <a:ln/>
        </p:spPr>
        <p:txBody>
          <a:bodyPr wrap="square" lIns="0" tIns="0" rIns="0" bIns="0" rtlCol="0" anchor="ctr"/>
          <a:lstStyle/>
          <a:p>
            <a:pPr marL="0" indent="0">
              <a:buNone/>
            </a:pPr>
            <a:r>
              <a:rPr lang="en-US" sz="1100" b="1" kern="0" spc="150" dirty="0">
                <a:solidFill>
                  <a:srgbClr val="065A82"/>
                </a:solidFill>
                <a:latin typeface="Calibri" pitchFamily="34" charset="0"/>
                <a:ea typeface="Calibri" pitchFamily="34" charset="-122"/>
                <a:cs typeface="Calibri" pitchFamily="34" charset="-120"/>
              </a:rPr>
              <a:t>WORKFLOW  5 ÉTAPES CLÉS</a:t>
            </a:r>
            <a:endParaRPr lang="en-US" sz="1100" dirty="0"/>
          </a:p>
        </p:txBody>
      </p:sp>
      <p:sp>
        <p:nvSpPr>
          <p:cNvPr id="7" name="Shape 5"/>
          <p:cNvSpPr/>
          <p:nvPr/>
        </p:nvSpPr>
        <p:spPr>
          <a:xfrm>
            <a:off x="548640" y="1965960"/>
            <a:ext cx="6035040" cy="804672"/>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8" name="Shape 6"/>
          <p:cNvSpPr/>
          <p:nvPr/>
        </p:nvSpPr>
        <p:spPr>
          <a:xfrm>
            <a:off x="685800" y="2148840"/>
            <a:ext cx="457200" cy="457200"/>
          </a:xfrm>
          <a:prstGeom prst="ellipse">
            <a:avLst/>
          </a:prstGeom>
          <a:solidFill>
            <a:srgbClr val="F96167"/>
          </a:solidFill>
          <a:ln w="12700">
            <a:solidFill>
              <a:srgbClr val="F96167"/>
            </a:solidFill>
            <a:prstDash val="solid"/>
          </a:ln>
        </p:spPr>
      </p:sp>
      <p:sp>
        <p:nvSpPr>
          <p:cNvPr id="9" name="Text 7"/>
          <p:cNvSpPr/>
          <p:nvPr/>
        </p:nvSpPr>
        <p:spPr>
          <a:xfrm>
            <a:off x="685800" y="21488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0" name="Text 8"/>
          <p:cNvSpPr/>
          <p:nvPr/>
        </p:nvSpPr>
        <p:spPr>
          <a:xfrm>
            <a:off x="1280160" y="2057400"/>
            <a:ext cx="5212080" cy="27432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Créer un Data Lab</a:t>
            </a:r>
            <a:endParaRPr lang="en-US" sz="1300" dirty="0"/>
          </a:p>
        </p:txBody>
      </p:sp>
      <p:sp>
        <p:nvSpPr>
          <p:cNvPr id="11" name="Text 9"/>
          <p:cNvSpPr/>
          <p:nvPr/>
        </p:nvSpPr>
        <p:spPr>
          <a:xfrm>
            <a:off x="1280160" y="2295144"/>
            <a:ext cx="5212080" cy="45720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Interface Decentriq → new Data Lab → définir les 2 data providers.</a:t>
            </a:r>
            <a:endParaRPr lang="en-US" sz="1100" dirty="0"/>
          </a:p>
        </p:txBody>
      </p:sp>
      <p:sp>
        <p:nvSpPr>
          <p:cNvPr id="12" name="Shape 10"/>
          <p:cNvSpPr/>
          <p:nvPr/>
        </p:nvSpPr>
        <p:spPr>
          <a:xfrm>
            <a:off x="548640" y="2862072"/>
            <a:ext cx="6035040" cy="804672"/>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13" name="Shape 11"/>
          <p:cNvSpPr/>
          <p:nvPr/>
        </p:nvSpPr>
        <p:spPr>
          <a:xfrm>
            <a:off x="685800" y="3044952"/>
            <a:ext cx="457200" cy="457200"/>
          </a:xfrm>
          <a:prstGeom prst="ellipse">
            <a:avLst/>
          </a:prstGeom>
          <a:solidFill>
            <a:srgbClr val="F96167"/>
          </a:solidFill>
          <a:ln w="12700">
            <a:solidFill>
              <a:srgbClr val="F96167"/>
            </a:solidFill>
            <a:prstDash val="solid"/>
          </a:ln>
        </p:spPr>
      </p:sp>
      <p:sp>
        <p:nvSpPr>
          <p:cNvPr id="14" name="Text 12"/>
          <p:cNvSpPr/>
          <p:nvPr/>
        </p:nvSpPr>
        <p:spPr>
          <a:xfrm>
            <a:off x="685800" y="304495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5" name="Text 13"/>
          <p:cNvSpPr/>
          <p:nvPr/>
        </p:nvSpPr>
        <p:spPr>
          <a:xfrm>
            <a:off x="1280160" y="2953512"/>
            <a:ext cx="5212080" cy="27432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Uploader en chiffré</a:t>
            </a:r>
            <a:endParaRPr lang="en-US" sz="1300" dirty="0"/>
          </a:p>
        </p:txBody>
      </p:sp>
      <p:sp>
        <p:nvSpPr>
          <p:cNvPr id="16" name="Text 14"/>
          <p:cNvSpPr/>
          <p:nvPr/>
        </p:nvSpPr>
        <p:spPr>
          <a:xfrm>
            <a:off x="1280160" y="3191256"/>
            <a:ext cx="5212080" cy="45720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Chaque partie upload via un client local qui chiffre AVANT l'envoi (clé privée côté utilisateur).</a:t>
            </a:r>
            <a:endParaRPr lang="en-US" sz="1100" dirty="0"/>
          </a:p>
        </p:txBody>
      </p:sp>
      <p:sp>
        <p:nvSpPr>
          <p:cNvPr id="17" name="Shape 15"/>
          <p:cNvSpPr/>
          <p:nvPr/>
        </p:nvSpPr>
        <p:spPr>
          <a:xfrm>
            <a:off x="548640" y="3758184"/>
            <a:ext cx="6035040" cy="804672"/>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18" name="Shape 16"/>
          <p:cNvSpPr/>
          <p:nvPr/>
        </p:nvSpPr>
        <p:spPr>
          <a:xfrm>
            <a:off x="685800" y="3941064"/>
            <a:ext cx="457200" cy="457200"/>
          </a:xfrm>
          <a:prstGeom prst="ellipse">
            <a:avLst/>
          </a:prstGeom>
          <a:solidFill>
            <a:srgbClr val="F96167"/>
          </a:solidFill>
          <a:ln w="12700">
            <a:solidFill>
              <a:srgbClr val="F96167"/>
            </a:solidFill>
            <a:prstDash val="solid"/>
          </a:ln>
        </p:spPr>
      </p:sp>
      <p:sp>
        <p:nvSpPr>
          <p:cNvPr id="19" name="Text 17"/>
          <p:cNvSpPr/>
          <p:nvPr/>
        </p:nvSpPr>
        <p:spPr>
          <a:xfrm>
            <a:off x="685800" y="3941064"/>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0" name="Text 18"/>
          <p:cNvSpPr/>
          <p:nvPr/>
        </p:nvSpPr>
        <p:spPr>
          <a:xfrm>
            <a:off x="1280160" y="3849624"/>
            <a:ext cx="5212080" cy="27432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Définir la computation</a:t>
            </a:r>
            <a:endParaRPr lang="en-US" sz="1300" dirty="0"/>
          </a:p>
        </p:txBody>
      </p:sp>
      <p:sp>
        <p:nvSpPr>
          <p:cNvPr id="21" name="Text 19"/>
          <p:cNvSpPr/>
          <p:nvPr/>
        </p:nvSpPr>
        <p:spPr>
          <a:xfrm>
            <a:off x="1280160" y="4087368"/>
            <a:ext cx="5212080" cy="45720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Python ou SQL  signed par les 2 parties. Le code est lui aussi chiffré et attesté.</a:t>
            </a:r>
            <a:endParaRPr lang="en-US" sz="1100" dirty="0"/>
          </a:p>
        </p:txBody>
      </p:sp>
      <p:sp>
        <p:nvSpPr>
          <p:cNvPr id="22" name="Shape 20"/>
          <p:cNvSpPr/>
          <p:nvPr/>
        </p:nvSpPr>
        <p:spPr>
          <a:xfrm>
            <a:off x="548640" y="4654296"/>
            <a:ext cx="6035040" cy="804672"/>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23" name="Shape 21"/>
          <p:cNvSpPr/>
          <p:nvPr/>
        </p:nvSpPr>
        <p:spPr>
          <a:xfrm>
            <a:off x="685800" y="4837176"/>
            <a:ext cx="457200" cy="457200"/>
          </a:xfrm>
          <a:prstGeom prst="ellipse">
            <a:avLst/>
          </a:prstGeom>
          <a:solidFill>
            <a:srgbClr val="F96167"/>
          </a:solidFill>
          <a:ln w="12700">
            <a:solidFill>
              <a:srgbClr val="F96167"/>
            </a:solidFill>
            <a:prstDash val="solid"/>
          </a:ln>
        </p:spPr>
      </p:sp>
      <p:sp>
        <p:nvSpPr>
          <p:cNvPr id="24" name="Text 22"/>
          <p:cNvSpPr/>
          <p:nvPr/>
        </p:nvSpPr>
        <p:spPr>
          <a:xfrm>
            <a:off x="685800" y="4837176"/>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5" name="Text 23"/>
          <p:cNvSpPr/>
          <p:nvPr/>
        </p:nvSpPr>
        <p:spPr>
          <a:xfrm>
            <a:off x="1280160" y="4745736"/>
            <a:ext cx="5212080" cy="27432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Attestation enclave</a:t>
            </a:r>
            <a:endParaRPr lang="en-US" sz="1300" dirty="0"/>
          </a:p>
        </p:txBody>
      </p:sp>
      <p:sp>
        <p:nvSpPr>
          <p:cNvPr id="26" name="Text 24"/>
          <p:cNvSpPr/>
          <p:nvPr/>
        </p:nvSpPr>
        <p:spPr>
          <a:xfrm>
            <a:off x="1280160" y="4983480"/>
            <a:ext cx="5212080" cy="45720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Intel SGX fournit une preuve cryptographique que le code exécuté est bien celui approuvé.</a:t>
            </a:r>
            <a:endParaRPr lang="en-US" sz="1100" dirty="0"/>
          </a:p>
        </p:txBody>
      </p:sp>
      <p:sp>
        <p:nvSpPr>
          <p:cNvPr id="27" name="Shape 25"/>
          <p:cNvSpPr/>
          <p:nvPr/>
        </p:nvSpPr>
        <p:spPr>
          <a:xfrm>
            <a:off x="548640" y="5550408"/>
            <a:ext cx="6035040" cy="804672"/>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28" name="Shape 26"/>
          <p:cNvSpPr/>
          <p:nvPr/>
        </p:nvSpPr>
        <p:spPr>
          <a:xfrm>
            <a:off x="685800" y="5733288"/>
            <a:ext cx="457200" cy="457200"/>
          </a:xfrm>
          <a:prstGeom prst="ellipse">
            <a:avLst/>
          </a:prstGeom>
          <a:solidFill>
            <a:srgbClr val="F96167"/>
          </a:solidFill>
          <a:ln w="12700">
            <a:solidFill>
              <a:srgbClr val="F96167"/>
            </a:solidFill>
            <a:prstDash val="solid"/>
          </a:ln>
        </p:spPr>
      </p:sp>
      <p:sp>
        <p:nvSpPr>
          <p:cNvPr id="29" name="Text 27"/>
          <p:cNvSpPr/>
          <p:nvPr/>
        </p:nvSpPr>
        <p:spPr>
          <a:xfrm>
            <a:off x="685800" y="573328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0" name="Text 28"/>
          <p:cNvSpPr/>
          <p:nvPr/>
        </p:nvSpPr>
        <p:spPr>
          <a:xfrm>
            <a:off x="1280160" y="5641848"/>
            <a:ext cx="5212080" cy="27432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Seul l'output sort</a:t>
            </a:r>
            <a:endParaRPr lang="en-US" sz="1300" dirty="0"/>
          </a:p>
        </p:txBody>
      </p:sp>
      <p:sp>
        <p:nvSpPr>
          <p:cNvPr id="31" name="Text 29"/>
          <p:cNvSpPr/>
          <p:nvPr/>
        </p:nvSpPr>
        <p:spPr>
          <a:xfrm>
            <a:off x="1280160" y="5879592"/>
            <a:ext cx="5212080" cy="45720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Résultat agrégé déchiffré par les 2 parties  aucune raw data ne quitte l'enclave.</a:t>
            </a:r>
            <a:endParaRPr lang="en-US" sz="1100" dirty="0"/>
          </a:p>
        </p:txBody>
      </p:sp>
      <p:sp>
        <p:nvSpPr>
          <p:cNvPr id="32" name="Shape 30"/>
          <p:cNvSpPr/>
          <p:nvPr/>
        </p:nvSpPr>
        <p:spPr>
          <a:xfrm>
            <a:off x="6766560" y="1554480"/>
            <a:ext cx="4846320" cy="3017520"/>
          </a:xfrm>
          <a:prstGeom prst="rect">
            <a:avLst/>
          </a:prstGeom>
          <a:solidFill>
            <a:srgbClr val="0B1F3A"/>
          </a:solidFill>
          <a:ln w="12700">
            <a:solidFill>
              <a:srgbClr val="0B1F3A"/>
            </a:solidFill>
            <a:prstDash val="solid"/>
          </a:ln>
          <a:effectLst>
            <a:outerShdw blurRad="76200" dist="25400" dir="8100000" algn="bl" rotWithShape="0">
              <a:srgbClr val="000000">
                <a:alpha val="12000"/>
              </a:srgbClr>
            </a:outerShdw>
          </a:effectLst>
        </p:spPr>
      </p:sp>
      <p:sp>
        <p:nvSpPr>
          <p:cNvPr id="33" name="Shape 31"/>
          <p:cNvSpPr/>
          <p:nvPr/>
        </p:nvSpPr>
        <p:spPr>
          <a:xfrm>
            <a:off x="6766560" y="1554480"/>
            <a:ext cx="4846320" cy="292608"/>
          </a:xfrm>
          <a:prstGeom prst="rect">
            <a:avLst/>
          </a:prstGeom>
          <a:solidFill>
            <a:srgbClr val="102B52"/>
          </a:solidFill>
          <a:ln w="12700">
            <a:solidFill>
              <a:srgbClr val="102B52"/>
            </a:solidFill>
            <a:prstDash val="solid"/>
          </a:ln>
        </p:spPr>
      </p:sp>
      <p:sp>
        <p:nvSpPr>
          <p:cNvPr id="34" name="Shape 32"/>
          <p:cNvSpPr/>
          <p:nvPr/>
        </p:nvSpPr>
        <p:spPr>
          <a:xfrm>
            <a:off x="6876288" y="1636776"/>
            <a:ext cx="128016" cy="128016"/>
          </a:xfrm>
          <a:prstGeom prst="ellipse">
            <a:avLst/>
          </a:prstGeom>
          <a:solidFill>
            <a:srgbClr val="FF5F57"/>
          </a:solidFill>
          <a:ln w="12700">
            <a:solidFill>
              <a:srgbClr val="FF5F57"/>
            </a:solidFill>
            <a:prstDash val="solid"/>
          </a:ln>
        </p:spPr>
      </p:sp>
      <p:sp>
        <p:nvSpPr>
          <p:cNvPr id="35" name="Shape 33"/>
          <p:cNvSpPr/>
          <p:nvPr/>
        </p:nvSpPr>
        <p:spPr>
          <a:xfrm>
            <a:off x="7059168" y="1636776"/>
            <a:ext cx="128016" cy="128016"/>
          </a:xfrm>
          <a:prstGeom prst="ellipse">
            <a:avLst/>
          </a:prstGeom>
          <a:solidFill>
            <a:srgbClr val="FEBC2E"/>
          </a:solidFill>
          <a:ln w="12700">
            <a:solidFill>
              <a:srgbClr val="FEBC2E"/>
            </a:solidFill>
            <a:prstDash val="solid"/>
          </a:ln>
        </p:spPr>
      </p:sp>
      <p:sp>
        <p:nvSpPr>
          <p:cNvPr id="36" name="Shape 34"/>
          <p:cNvSpPr/>
          <p:nvPr/>
        </p:nvSpPr>
        <p:spPr>
          <a:xfrm>
            <a:off x="7242048" y="1636776"/>
            <a:ext cx="128016" cy="128016"/>
          </a:xfrm>
          <a:prstGeom prst="ellipse">
            <a:avLst/>
          </a:prstGeom>
          <a:solidFill>
            <a:srgbClr val="28C840"/>
          </a:solidFill>
          <a:ln w="12700">
            <a:solidFill>
              <a:srgbClr val="28C840"/>
            </a:solidFill>
            <a:prstDash val="solid"/>
          </a:ln>
        </p:spPr>
      </p:sp>
      <p:sp>
        <p:nvSpPr>
          <p:cNvPr id="37" name="Text 35"/>
          <p:cNvSpPr/>
          <p:nvPr/>
        </p:nvSpPr>
        <p:spPr>
          <a:xfrm>
            <a:off x="7498080" y="1600200"/>
            <a:ext cx="4023360" cy="201168"/>
          </a:xfrm>
          <a:prstGeom prst="rect">
            <a:avLst/>
          </a:prstGeom>
          <a:noFill/>
          <a:ln/>
        </p:spPr>
        <p:txBody>
          <a:bodyPr wrap="square" lIns="0" tIns="0" rIns="0" bIns="0" rtlCol="0" anchor="ctr"/>
          <a:lstStyle/>
          <a:p>
            <a:pPr marL="0" indent="0" algn="l">
              <a:buNone/>
            </a:pPr>
            <a:r>
              <a:rPr lang="en-US" sz="1000" dirty="0">
                <a:solidFill>
                  <a:srgbClr val="E2E8F0"/>
                </a:solidFill>
                <a:latin typeface="Consolas" pitchFamily="34" charset="0"/>
                <a:ea typeface="Consolas" pitchFamily="34" charset="-122"/>
                <a:cs typeface="Consolas" pitchFamily="34" charset="-120"/>
              </a:rPr>
              <a:t>computation.py  enclave</a:t>
            </a:r>
            <a:endParaRPr lang="en-US" sz="1000" dirty="0"/>
          </a:p>
        </p:txBody>
      </p:sp>
      <p:sp>
        <p:nvSpPr>
          <p:cNvPr id="38" name="Text 36"/>
          <p:cNvSpPr/>
          <p:nvPr/>
        </p:nvSpPr>
        <p:spPr>
          <a:xfrm>
            <a:off x="6949440" y="1920240"/>
            <a:ext cx="4480560" cy="2560320"/>
          </a:xfrm>
          <a:prstGeom prst="rect">
            <a:avLst/>
          </a:prstGeom>
          <a:noFill/>
          <a:ln/>
        </p:spPr>
        <p:txBody>
          <a:bodyPr wrap="square" lIns="0" tIns="0" rIns="0" bIns="0" rtlCol="0" anchor="t"/>
          <a:lstStyle/>
          <a:p>
            <a:pPr marL="0" indent="0">
              <a:spcAft>
                <a:spcPts val="200"/>
              </a:spcAft>
              <a:buNone/>
            </a:pPr>
            <a:r>
              <a:rPr lang="en-US" sz="1000" dirty="0">
                <a:solidFill>
                  <a:srgbClr val="64748B"/>
                </a:solidFill>
                <a:latin typeface="Consolas" pitchFamily="34" charset="0"/>
                <a:ea typeface="Consolas" pitchFamily="34" charset="-122"/>
                <a:cs typeface="Consolas" pitchFamily="34" charset="-120"/>
              </a:rPr>
              <a:t># Inside Intel SGX enclave</a:t>
            </a:r>
            <a:endParaRPr lang="en-US" sz="1000" dirty="0"/>
          </a:p>
          <a:p>
            <a:pPr marL="0" indent="0">
              <a:spcAft>
                <a:spcPts val="200"/>
              </a:spcAft>
              <a:buNone/>
            </a:pPr>
            <a:r>
              <a:rPr lang="en-US" sz="1000" dirty="0">
                <a:solidFill>
                  <a:srgbClr val="64748B"/>
                </a:solidFill>
                <a:latin typeface="Consolas" pitchFamily="34" charset="0"/>
                <a:ea typeface="Consolas" pitchFamily="34" charset="-122"/>
                <a:cs typeface="Consolas" pitchFamily="34" charset="-120"/>
              </a:rPr>
              <a:t># Attested + code-signed</a:t>
            </a:r>
            <a:endParaRPr lang="en-US" sz="1000" dirty="0"/>
          </a:p>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import pandas as pd</a:t>
            </a:r>
            <a:endParaRPr lang="en-US" sz="1000" dirty="0"/>
          </a:p>
          <a:p>
            <a:pPr marL="0" indent="0">
              <a:spcAft>
                <a:spcPts val="200"/>
              </a:spcAft>
              <a:buNone/>
            </a:pPr>
            <a:endParaRPr lang="en-US" sz="1000" dirty="0"/>
          </a:p>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df_a = load_encrypted('party_a')</a:t>
            </a:r>
            <a:endParaRPr lang="en-US" sz="1000" dirty="0"/>
          </a:p>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df_b = load_encrypted('party_b')</a:t>
            </a:r>
            <a:endParaRPr lang="en-US" sz="1000" dirty="0"/>
          </a:p>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result = df_a.merge(df_b,</a:t>
            </a:r>
            <a:endParaRPr lang="en-US" sz="1000" dirty="0"/>
          </a:p>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  on='email_hash').groupby(</a:t>
            </a:r>
            <a:endParaRPr lang="en-US" sz="1000" dirty="0"/>
          </a:p>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  'segment').agg({'rev':'sum'})</a:t>
            </a:r>
            <a:endParaRPr lang="en-US" sz="1000" dirty="0"/>
          </a:p>
          <a:p>
            <a:pPr marL="0" indent="0">
              <a:spcAft>
                <a:spcPts val="200"/>
              </a:spcAft>
              <a:buNone/>
            </a:pPr>
            <a:endParaRPr lang="en-US" sz="1000" dirty="0"/>
          </a:p>
          <a:p>
            <a:pPr marL="0" indent="0">
              <a:spcAft>
                <a:spcPts val="200"/>
              </a:spcAft>
              <a:buNone/>
            </a:pPr>
            <a:r>
              <a:rPr lang="en-US" sz="1000" dirty="0">
                <a:solidFill>
                  <a:srgbClr val="F9B233"/>
                </a:solidFill>
                <a:latin typeface="Consolas" pitchFamily="34" charset="0"/>
                <a:ea typeface="Consolas" pitchFamily="34" charset="-122"/>
                <a:cs typeface="Consolas" pitchFamily="34" charset="-120"/>
              </a:rPr>
              <a:t>&gt; Attestation: verified</a:t>
            </a:r>
            <a:endParaRPr lang="en-US" sz="1000" dirty="0"/>
          </a:p>
          <a:p>
            <a:pPr marL="0" indent="0">
              <a:spcAft>
                <a:spcPts val="200"/>
              </a:spcAft>
              <a:buNone/>
            </a:pPr>
            <a:r>
              <a:rPr lang="en-US" sz="1000" dirty="0">
                <a:solidFill>
                  <a:srgbClr val="F9B233"/>
                </a:solidFill>
                <a:latin typeface="Consolas" pitchFamily="34" charset="0"/>
                <a:ea typeface="Consolas" pitchFamily="34" charset="-122"/>
                <a:cs typeface="Consolas" pitchFamily="34" charset="-120"/>
              </a:rPr>
              <a:t>&gt; Output sealed → parties</a:t>
            </a:r>
            <a:endParaRPr lang="en-US" sz="1000" dirty="0"/>
          </a:p>
        </p:txBody>
      </p:sp>
      <p:sp>
        <p:nvSpPr>
          <p:cNvPr id="39" name="Shape 37"/>
          <p:cNvSpPr/>
          <p:nvPr/>
        </p:nvSpPr>
        <p:spPr>
          <a:xfrm>
            <a:off x="6766560" y="4709160"/>
            <a:ext cx="4846320" cy="1691640"/>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40" name="Shape 38"/>
          <p:cNvSpPr/>
          <p:nvPr/>
        </p:nvSpPr>
        <p:spPr>
          <a:xfrm>
            <a:off x="6766560" y="4709160"/>
            <a:ext cx="91440" cy="1691640"/>
          </a:xfrm>
          <a:prstGeom prst="rect">
            <a:avLst/>
          </a:prstGeom>
          <a:solidFill>
            <a:srgbClr val="F96167"/>
          </a:solidFill>
          <a:ln w="12700">
            <a:solidFill>
              <a:srgbClr val="F96167"/>
            </a:solidFill>
            <a:prstDash val="solid"/>
          </a:ln>
        </p:spPr>
      </p:sp>
      <p:sp>
        <p:nvSpPr>
          <p:cNvPr id="41" name="Text 39"/>
          <p:cNvSpPr/>
          <p:nvPr/>
        </p:nvSpPr>
        <p:spPr>
          <a:xfrm>
            <a:off x="6995160" y="4846320"/>
            <a:ext cx="4480560" cy="274320"/>
          </a:xfrm>
          <a:prstGeom prst="rect">
            <a:avLst/>
          </a:prstGeom>
          <a:noFill/>
          <a:ln/>
        </p:spPr>
        <p:txBody>
          <a:bodyPr wrap="square" lIns="0" tIns="0" rIns="0" bIns="0" rtlCol="0" anchor="ctr"/>
          <a:lstStyle/>
          <a:p>
            <a:pPr marL="0" indent="0">
              <a:buNone/>
            </a:pPr>
            <a:r>
              <a:rPr lang="en-US" sz="1000" b="1" kern="0" spc="150" dirty="0">
                <a:solidFill>
                  <a:srgbClr val="F96167"/>
                </a:solidFill>
                <a:latin typeface="Calibri" pitchFamily="34" charset="0"/>
                <a:ea typeface="Calibri" pitchFamily="34" charset="-122"/>
                <a:cs typeface="Calibri" pitchFamily="34" charset="-120"/>
              </a:rPr>
              <a:t>RÉSULTAT LIVRÉ</a:t>
            </a:r>
            <a:endParaRPr lang="en-US" sz="1000" dirty="0"/>
          </a:p>
        </p:txBody>
      </p:sp>
      <p:sp>
        <p:nvSpPr>
          <p:cNvPr id="42" name="Text 40"/>
          <p:cNvSpPr/>
          <p:nvPr/>
        </p:nvSpPr>
        <p:spPr>
          <a:xfrm>
            <a:off x="6995160" y="5120640"/>
            <a:ext cx="4480560" cy="640080"/>
          </a:xfrm>
          <a:prstGeom prst="rect">
            <a:avLst/>
          </a:prstGeom>
          <a:noFill/>
          <a:ln/>
        </p:spPr>
        <p:txBody>
          <a:bodyPr wrap="square" lIns="0" tIns="0" rIns="0" bIns="0" rtlCol="0" anchor="ctr"/>
          <a:lstStyle/>
          <a:p>
            <a:pPr marL="0" indent="0">
              <a:buNone/>
            </a:pPr>
            <a:r>
              <a:rPr lang="en-US" sz="2200" b="1" dirty="0">
                <a:solidFill>
                  <a:srgbClr val="065A82"/>
                </a:solidFill>
                <a:latin typeface="Calibri" pitchFamily="34" charset="0"/>
                <a:ea typeface="Calibri" pitchFamily="34" charset="-122"/>
                <a:cs typeface="Calibri" pitchFamily="34" charset="-120"/>
              </a:rPr>
              <a:t>Niveau pharma/santé</a:t>
            </a:r>
            <a:endParaRPr lang="en-US" sz="2200" dirty="0"/>
          </a:p>
        </p:txBody>
      </p:sp>
      <p:sp>
        <p:nvSpPr>
          <p:cNvPr id="43" name="Text 41"/>
          <p:cNvSpPr/>
          <p:nvPr/>
        </p:nvSpPr>
        <p:spPr>
          <a:xfrm>
            <a:off x="6995160" y="5760720"/>
            <a:ext cx="4480560" cy="59436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Roche × distributeur : preuve cryptographique que les données patients n'ont jamais été exposées. DPO signe, campagne live sur 4 pays.</a:t>
            </a:r>
            <a:endParaRPr lang="en-US" sz="1100" dirty="0"/>
          </a:p>
        </p:txBody>
      </p:sp>
      <p:sp>
        <p:nvSpPr>
          <p:cNvPr id="44" name="Shape 42"/>
          <p:cNvSpPr/>
          <p:nvPr/>
        </p:nvSpPr>
        <p:spPr>
          <a:xfrm>
            <a:off x="0" y="6583680"/>
            <a:ext cx="12191695" cy="274320"/>
          </a:xfrm>
          <a:prstGeom prst="rect">
            <a:avLst/>
          </a:prstGeom>
          <a:solidFill>
            <a:srgbClr val="0B1F3A"/>
          </a:solidFill>
          <a:ln w="12700">
            <a:solidFill>
              <a:srgbClr val="0B1F3A"/>
            </a:solidFill>
            <a:prstDash val="solid"/>
          </a:ln>
        </p:spPr>
      </p:sp>
      <p:sp>
        <p:nvSpPr>
          <p:cNvPr id="45" name="Text 43"/>
          <p:cNvSpPr/>
          <p:nvPr/>
        </p:nvSpPr>
        <p:spPr>
          <a:xfrm>
            <a:off x="365760" y="6601968"/>
            <a:ext cx="822960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Session 3  Demos providers</a:t>
            </a:r>
            <a:endParaRPr lang="en-US" sz="1000" dirty="0"/>
          </a:p>
        </p:txBody>
      </p:sp>
      <p:sp>
        <p:nvSpPr>
          <p:cNvPr id="46" name="Text 44"/>
          <p:cNvSpPr/>
          <p:nvPr/>
        </p:nvSpPr>
        <p:spPr>
          <a:xfrm>
            <a:off x="11551615" y="6601968"/>
            <a:ext cx="365760" cy="237744"/>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37</a:t>
            </a:r>
            <a:endParaRPr lang="en-US" sz="10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39">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B1F3A"/>
          </a:solidFill>
          <a:ln w="12700">
            <a:solidFill>
              <a:srgbClr val="0B1F3A"/>
            </a:solidFill>
            <a:prstDash val="solid"/>
          </a:ln>
        </p:spPr>
      </p:sp>
      <p:sp>
        <p:nvSpPr>
          <p:cNvPr id="3" name="Text 1"/>
          <p:cNvSpPr/>
          <p:nvPr/>
        </p:nvSpPr>
        <p:spPr>
          <a:xfrm>
            <a:off x="548640" y="164592"/>
            <a:ext cx="6400800" cy="274320"/>
          </a:xfrm>
          <a:prstGeom prst="rect">
            <a:avLst/>
          </a:prstGeom>
          <a:noFill/>
          <a:ln/>
        </p:spPr>
        <p:txBody>
          <a:bodyPr wrap="square" lIns="0" tIns="0" rIns="0" bIns="0" rtlCol="0" anchor="ctr"/>
          <a:lstStyle/>
          <a:p>
            <a:pPr marL="0" indent="0">
              <a:buNone/>
            </a:pPr>
            <a:r>
              <a:rPr lang="en-US" sz="1100" b="1" kern="0" spc="200" dirty="0">
                <a:solidFill>
                  <a:srgbClr val="F96167"/>
                </a:solidFill>
                <a:latin typeface="Calibri" pitchFamily="34" charset="0"/>
                <a:ea typeface="Calibri" pitchFamily="34" charset="-122"/>
                <a:cs typeface="Calibri" pitchFamily="34" charset="-120"/>
              </a:rPr>
              <a:t>DEMO 7/8  ·  WALKTHROUGH INFOSUM</a:t>
            </a:r>
            <a:endParaRPr lang="en-US" sz="1100" dirty="0"/>
          </a:p>
        </p:txBody>
      </p:sp>
      <p:sp>
        <p:nvSpPr>
          <p:cNvPr id="4" name="Text 2"/>
          <p:cNvSpPr/>
          <p:nvPr/>
        </p:nvSpPr>
        <p:spPr>
          <a:xfrm>
            <a:off x="548640" y="384048"/>
            <a:ext cx="8229600" cy="45720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InfoSum (Federated Bunkers)</a:t>
            </a:r>
            <a:endParaRPr lang="en-US" sz="2600" dirty="0"/>
          </a:p>
        </p:txBody>
      </p:sp>
      <p:sp>
        <p:nvSpPr>
          <p:cNvPr id="5" name="Text 3"/>
          <p:cNvSpPr/>
          <p:nvPr/>
        </p:nvSpPr>
        <p:spPr>
          <a:xfrm>
            <a:off x="548640" y="1051560"/>
            <a:ext cx="11064240" cy="320040"/>
          </a:xfrm>
          <a:prstGeom prst="rect">
            <a:avLst/>
          </a:prstGeom>
          <a:noFill/>
          <a:ln/>
        </p:spPr>
        <p:txBody>
          <a:bodyPr wrap="square" lIns="0" tIns="0" rIns="0" bIns="0" rtlCol="0" anchor="ctr"/>
          <a:lstStyle/>
          <a:p>
            <a:pPr marL="0" indent="0">
              <a:buNone/>
            </a:pPr>
            <a:r>
              <a:rPr lang="en-US" sz="1300" i="1" dirty="0">
                <a:solidFill>
                  <a:srgbClr val="1C7293"/>
                </a:solidFill>
                <a:latin typeface="Calibri" pitchFamily="34" charset="0"/>
                <a:ea typeface="Calibri" pitchFamily="34" charset="-122"/>
                <a:cs typeface="Calibri" pitchFamily="34" charset="-120"/>
              </a:rPr>
              <a:t>Les données ne bougent jamais : chaque partie garde son « bunker » on-prem, seules les requêtes voyagent.</a:t>
            </a:r>
            <a:endParaRPr lang="en-US" sz="1300" dirty="0"/>
          </a:p>
        </p:txBody>
      </p:sp>
      <p:sp>
        <p:nvSpPr>
          <p:cNvPr id="6" name="Text 4"/>
          <p:cNvSpPr/>
          <p:nvPr/>
        </p:nvSpPr>
        <p:spPr>
          <a:xfrm>
            <a:off x="548640" y="1554480"/>
            <a:ext cx="6035040" cy="274320"/>
          </a:xfrm>
          <a:prstGeom prst="rect">
            <a:avLst/>
          </a:prstGeom>
          <a:noFill/>
          <a:ln/>
        </p:spPr>
        <p:txBody>
          <a:bodyPr wrap="square" lIns="0" tIns="0" rIns="0" bIns="0" rtlCol="0" anchor="ctr"/>
          <a:lstStyle/>
          <a:p>
            <a:pPr marL="0" indent="0">
              <a:buNone/>
            </a:pPr>
            <a:r>
              <a:rPr lang="en-US" sz="1100" b="1" kern="0" spc="150" dirty="0">
                <a:solidFill>
                  <a:srgbClr val="065A82"/>
                </a:solidFill>
                <a:latin typeface="Calibri" pitchFamily="34" charset="0"/>
                <a:ea typeface="Calibri" pitchFamily="34" charset="-122"/>
                <a:cs typeface="Calibri" pitchFamily="34" charset="-120"/>
              </a:rPr>
              <a:t>WORKFLOW  5 ÉTAPES CLÉS</a:t>
            </a:r>
            <a:endParaRPr lang="en-US" sz="1100" dirty="0"/>
          </a:p>
        </p:txBody>
      </p:sp>
      <p:sp>
        <p:nvSpPr>
          <p:cNvPr id="7" name="Shape 5"/>
          <p:cNvSpPr/>
          <p:nvPr/>
        </p:nvSpPr>
        <p:spPr>
          <a:xfrm>
            <a:off x="548640" y="1965960"/>
            <a:ext cx="6035040" cy="804672"/>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8" name="Shape 6"/>
          <p:cNvSpPr/>
          <p:nvPr/>
        </p:nvSpPr>
        <p:spPr>
          <a:xfrm>
            <a:off x="685800" y="2148840"/>
            <a:ext cx="457200" cy="457200"/>
          </a:xfrm>
          <a:prstGeom prst="ellipse">
            <a:avLst/>
          </a:prstGeom>
          <a:solidFill>
            <a:srgbClr val="F96167"/>
          </a:solidFill>
          <a:ln w="12700">
            <a:solidFill>
              <a:srgbClr val="F96167"/>
            </a:solidFill>
            <a:prstDash val="solid"/>
          </a:ln>
        </p:spPr>
      </p:sp>
      <p:sp>
        <p:nvSpPr>
          <p:cNvPr id="9" name="Text 7"/>
          <p:cNvSpPr/>
          <p:nvPr/>
        </p:nvSpPr>
        <p:spPr>
          <a:xfrm>
            <a:off x="685800" y="21488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0" name="Text 8"/>
          <p:cNvSpPr/>
          <p:nvPr/>
        </p:nvSpPr>
        <p:spPr>
          <a:xfrm>
            <a:off x="1280160" y="2057400"/>
            <a:ext cx="5212080" cy="27432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Déployer un Bunker</a:t>
            </a:r>
            <a:endParaRPr lang="en-US" sz="1300" dirty="0"/>
          </a:p>
        </p:txBody>
      </p:sp>
      <p:sp>
        <p:nvSpPr>
          <p:cNvPr id="11" name="Text 9"/>
          <p:cNvSpPr/>
          <p:nvPr/>
        </p:nvSpPr>
        <p:spPr>
          <a:xfrm>
            <a:off x="1280160" y="2295144"/>
            <a:ext cx="5212080" cy="45720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Chaque partenaire installe un InfoSum Bunker (Docker) dans son propre environnement.</a:t>
            </a:r>
            <a:endParaRPr lang="en-US" sz="1100" dirty="0"/>
          </a:p>
        </p:txBody>
      </p:sp>
      <p:sp>
        <p:nvSpPr>
          <p:cNvPr id="12" name="Shape 10"/>
          <p:cNvSpPr/>
          <p:nvPr/>
        </p:nvSpPr>
        <p:spPr>
          <a:xfrm>
            <a:off x="548640" y="2862072"/>
            <a:ext cx="6035040" cy="804672"/>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13" name="Shape 11"/>
          <p:cNvSpPr/>
          <p:nvPr/>
        </p:nvSpPr>
        <p:spPr>
          <a:xfrm>
            <a:off x="685800" y="3044952"/>
            <a:ext cx="457200" cy="457200"/>
          </a:xfrm>
          <a:prstGeom prst="ellipse">
            <a:avLst/>
          </a:prstGeom>
          <a:solidFill>
            <a:srgbClr val="F96167"/>
          </a:solidFill>
          <a:ln w="12700">
            <a:solidFill>
              <a:srgbClr val="F96167"/>
            </a:solidFill>
            <a:prstDash val="solid"/>
          </a:ln>
        </p:spPr>
      </p:sp>
      <p:sp>
        <p:nvSpPr>
          <p:cNvPr id="14" name="Text 12"/>
          <p:cNvSpPr/>
          <p:nvPr/>
        </p:nvSpPr>
        <p:spPr>
          <a:xfrm>
            <a:off x="685800" y="304495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5" name="Text 13"/>
          <p:cNvSpPr/>
          <p:nvPr/>
        </p:nvSpPr>
        <p:spPr>
          <a:xfrm>
            <a:off x="1280160" y="2953512"/>
            <a:ext cx="5212080" cy="27432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Normaliser les identifiants</a:t>
            </a:r>
            <a:endParaRPr lang="en-US" sz="1300" dirty="0"/>
          </a:p>
        </p:txBody>
      </p:sp>
      <p:sp>
        <p:nvSpPr>
          <p:cNvPr id="16" name="Text 14"/>
          <p:cNvSpPr/>
          <p:nvPr/>
        </p:nvSpPr>
        <p:spPr>
          <a:xfrm>
            <a:off x="1280160" y="3191256"/>
            <a:ext cx="5212080" cy="45720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La Key Service crée une mapping commune  email → opaque InfoSum ID.</a:t>
            </a:r>
            <a:endParaRPr lang="en-US" sz="1100" dirty="0"/>
          </a:p>
        </p:txBody>
      </p:sp>
      <p:sp>
        <p:nvSpPr>
          <p:cNvPr id="17" name="Shape 15"/>
          <p:cNvSpPr/>
          <p:nvPr/>
        </p:nvSpPr>
        <p:spPr>
          <a:xfrm>
            <a:off x="548640" y="3758184"/>
            <a:ext cx="6035040" cy="804672"/>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18" name="Shape 16"/>
          <p:cNvSpPr/>
          <p:nvPr/>
        </p:nvSpPr>
        <p:spPr>
          <a:xfrm>
            <a:off x="685800" y="3941064"/>
            <a:ext cx="457200" cy="457200"/>
          </a:xfrm>
          <a:prstGeom prst="ellipse">
            <a:avLst/>
          </a:prstGeom>
          <a:solidFill>
            <a:srgbClr val="F96167"/>
          </a:solidFill>
          <a:ln w="12700">
            <a:solidFill>
              <a:srgbClr val="F96167"/>
            </a:solidFill>
            <a:prstDash val="solid"/>
          </a:ln>
        </p:spPr>
      </p:sp>
      <p:sp>
        <p:nvSpPr>
          <p:cNvPr id="19" name="Text 17"/>
          <p:cNvSpPr/>
          <p:nvPr/>
        </p:nvSpPr>
        <p:spPr>
          <a:xfrm>
            <a:off x="685800" y="3941064"/>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0" name="Text 18"/>
          <p:cNvSpPr/>
          <p:nvPr/>
        </p:nvSpPr>
        <p:spPr>
          <a:xfrm>
            <a:off x="1280160" y="3849624"/>
            <a:ext cx="5212080" cy="27432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Définir la requête</a:t>
            </a:r>
            <a:endParaRPr lang="en-US" sz="1300" dirty="0"/>
          </a:p>
        </p:txBody>
      </p:sp>
      <p:sp>
        <p:nvSpPr>
          <p:cNvPr id="21" name="Text 19"/>
          <p:cNvSpPr/>
          <p:nvPr/>
        </p:nvSpPr>
        <p:spPr>
          <a:xfrm>
            <a:off x="1280160" y="4087368"/>
            <a:ext cx="5212080" cy="45720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Via la plateforme </a:t>
            </a:r>
            <a:r>
              <a:rPr lang="en-US" sz="1100" dirty="0" err="1">
                <a:solidFill>
                  <a:srgbClr val="1E293B"/>
                </a:solidFill>
                <a:latin typeface="Calibri" pitchFamily="34" charset="0"/>
                <a:ea typeface="Calibri" pitchFamily="34" charset="-122"/>
                <a:cs typeface="Calibri" pitchFamily="34" charset="-120"/>
              </a:rPr>
              <a:t>InfoSum</a:t>
            </a:r>
            <a:r>
              <a:rPr lang="en-US" sz="1100" dirty="0">
                <a:solidFill>
                  <a:srgbClr val="1E293B"/>
                </a:solidFill>
                <a:latin typeface="Calibri" pitchFamily="34" charset="0"/>
                <a:ea typeface="Calibri" pitchFamily="34" charset="-122"/>
                <a:cs typeface="Calibri" pitchFamily="34" charset="-120"/>
              </a:rPr>
              <a:t>  overlap, reach, frequency cap, profile enrichment.</a:t>
            </a:r>
            <a:endParaRPr lang="en-US" sz="1100" dirty="0"/>
          </a:p>
        </p:txBody>
      </p:sp>
      <p:sp>
        <p:nvSpPr>
          <p:cNvPr id="22" name="Shape 20"/>
          <p:cNvSpPr/>
          <p:nvPr/>
        </p:nvSpPr>
        <p:spPr>
          <a:xfrm>
            <a:off x="548640" y="4654296"/>
            <a:ext cx="6035040" cy="804672"/>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23" name="Shape 21"/>
          <p:cNvSpPr/>
          <p:nvPr/>
        </p:nvSpPr>
        <p:spPr>
          <a:xfrm>
            <a:off x="685800" y="4837176"/>
            <a:ext cx="457200" cy="457200"/>
          </a:xfrm>
          <a:prstGeom prst="ellipse">
            <a:avLst/>
          </a:prstGeom>
          <a:solidFill>
            <a:srgbClr val="F96167"/>
          </a:solidFill>
          <a:ln w="12700">
            <a:solidFill>
              <a:srgbClr val="F96167"/>
            </a:solidFill>
            <a:prstDash val="solid"/>
          </a:ln>
        </p:spPr>
      </p:sp>
      <p:sp>
        <p:nvSpPr>
          <p:cNvPr id="24" name="Text 22"/>
          <p:cNvSpPr/>
          <p:nvPr/>
        </p:nvSpPr>
        <p:spPr>
          <a:xfrm>
            <a:off x="685800" y="4837176"/>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5" name="Text 23"/>
          <p:cNvSpPr/>
          <p:nvPr/>
        </p:nvSpPr>
        <p:spPr>
          <a:xfrm>
            <a:off x="1280160" y="4745736"/>
            <a:ext cx="5212080" cy="27432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Exécution distribuée</a:t>
            </a:r>
            <a:endParaRPr lang="en-US" sz="1300" dirty="0"/>
          </a:p>
        </p:txBody>
      </p:sp>
      <p:sp>
        <p:nvSpPr>
          <p:cNvPr id="26" name="Text 24"/>
          <p:cNvSpPr/>
          <p:nvPr/>
        </p:nvSpPr>
        <p:spPr>
          <a:xfrm>
            <a:off x="1280160" y="4983480"/>
            <a:ext cx="5212080" cy="45720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La requête est envoyée aux bunkers ; chacun calcule localement, puis agrège.</a:t>
            </a:r>
            <a:endParaRPr lang="en-US" sz="1100" dirty="0"/>
          </a:p>
        </p:txBody>
      </p:sp>
      <p:sp>
        <p:nvSpPr>
          <p:cNvPr id="27" name="Shape 25"/>
          <p:cNvSpPr/>
          <p:nvPr/>
        </p:nvSpPr>
        <p:spPr>
          <a:xfrm>
            <a:off x="548640" y="5550408"/>
            <a:ext cx="6035040" cy="804672"/>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28" name="Shape 26"/>
          <p:cNvSpPr/>
          <p:nvPr/>
        </p:nvSpPr>
        <p:spPr>
          <a:xfrm>
            <a:off x="685800" y="5733288"/>
            <a:ext cx="457200" cy="457200"/>
          </a:xfrm>
          <a:prstGeom prst="ellipse">
            <a:avLst/>
          </a:prstGeom>
          <a:solidFill>
            <a:srgbClr val="F96167"/>
          </a:solidFill>
          <a:ln w="12700">
            <a:solidFill>
              <a:srgbClr val="F96167"/>
            </a:solidFill>
            <a:prstDash val="solid"/>
          </a:ln>
        </p:spPr>
      </p:sp>
      <p:sp>
        <p:nvSpPr>
          <p:cNvPr id="29" name="Text 27"/>
          <p:cNvSpPr/>
          <p:nvPr/>
        </p:nvSpPr>
        <p:spPr>
          <a:xfrm>
            <a:off x="685800" y="573328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0" name="Text 28"/>
          <p:cNvSpPr/>
          <p:nvPr/>
        </p:nvSpPr>
        <p:spPr>
          <a:xfrm>
            <a:off x="1280160" y="5641848"/>
            <a:ext cx="5212080" cy="27432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Retour agrégé</a:t>
            </a:r>
            <a:endParaRPr lang="en-US" sz="1300" dirty="0"/>
          </a:p>
        </p:txBody>
      </p:sp>
      <p:sp>
        <p:nvSpPr>
          <p:cNvPr id="31" name="Text 29"/>
          <p:cNvSpPr/>
          <p:nvPr/>
        </p:nvSpPr>
        <p:spPr>
          <a:xfrm>
            <a:off x="1280160" y="5879592"/>
            <a:ext cx="5212080" cy="45720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Seul le résultat agrégé (counts, overlaps) </a:t>
            </a:r>
            <a:r>
              <a:rPr lang="en-US" sz="1100" dirty="0" err="1">
                <a:solidFill>
                  <a:srgbClr val="1E293B"/>
                </a:solidFill>
                <a:latin typeface="Calibri" pitchFamily="34" charset="0"/>
                <a:ea typeface="Calibri" pitchFamily="34" charset="-122"/>
                <a:cs typeface="Calibri" pitchFamily="34" charset="-120"/>
              </a:rPr>
              <a:t>remonte</a:t>
            </a:r>
            <a:r>
              <a:rPr lang="en-US" sz="1100" dirty="0">
                <a:solidFill>
                  <a:srgbClr val="1E293B"/>
                </a:solidFill>
                <a:latin typeface="Calibri" pitchFamily="34" charset="0"/>
                <a:ea typeface="Calibri" pitchFamily="34" charset="-122"/>
                <a:cs typeface="Calibri" pitchFamily="34" charset="-120"/>
              </a:rPr>
              <a:t>  les data restent chez chaque partie.</a:t>
            </a:r>
            <a:endParaRPr lang="en-US" sz="1100" dirty="0"/>
          </a:p>
        </p:txBody>
      </p:sp>
      <p:sp>
        <p:nvSpPr>
          <p:cNvPr id="32" name="Shape 30"/>
          <p:cNvSpPr/>
          <p:nvPr/>
        </p:nvSpPr>
        <p:spPr>
          <a:xfrm>
            <a:off x="6766560" y="1554480"/>
            <a:ext cx="4846320" cy="3017520"/>
          </a:xfrm>
          <a:prstGeom prst="rect">
            <a:avLst/>
          </a:prstGeom>
          <a:solidFill>
            <a:srgbClr val="0B1F3A"/>
          </a:solidFill>
          <a:ln w="12700">
            <a:solidFill>
              <a:srgbClr val="0B1F3A"/>
            </a:solidFill>
            <a:prstDash val="solid"/>
          </a:ln>
          <a:effectLst>
            <a:outerShdw blurRad="76200" dist="25400" dir="8100000" algn="bl" rotWithShape="0">
              <a:srgbClr val="000000">
                <a:alpha val="12000"/>
              </a:srgbClr>
            </a:outerShdw>
          </a:effectLst>
        </p:spPr>
      </p:sp>
      <p:sp>
        <p:nvSpPr>
          <p:cNvPr id="33" name="Shape 31"/>
          <p:cNvSpPr/>
          <p:nvPr/>
        </p:nvSpPr>
        <p:spPr>
          <a:xfrm>
            <a:off x="6766560" y="1554480"/>
            <a:ext cx="4846320" cy="292608"/>
          </a:xfrm>
          <a:prstGeom prst="rect">
            <a:avLst/>
          </a:prstGeom>
          <a:solidFill>
            <a:srgbClr val="102B52"/>
          </a:solidFill>
          <a:ln w="12700">
            <a:solidFill>
              <a:srgbClr val="102B52"/>
            </a:solidFill>
            <a:prstDash val="solid"/>
          </a:ln>
        </p:spPr>
      </p:sp>
      <p:sp>
        <p:nvSpPr>
          <p:cNvPr id="34" name="Shape 32"/>
          <p:cNvSpPr/>
          <p:nvPr/>
        </p:nvSpPr>
        <p:spPr>
          <a:xfrm>
            <a:off x="6876288" y="1636776"/>
            <a:ext cx="128016" cy="128016"/>
          </a:xfrm>
          <a:prstGeom prst="ellipse">
            <a:avLst/>
          </a:prstGeom>
          <a:solidFill>
            <a:srgbClr val="FF5F57"/>
          </a:solidFill>
          <a:ln w="12700">
            <a:solidFill>
              <a:srgbClr val="FF5F57"/>
            </a:solidFill>
            <a:prstDash val="solid"/>
          </a:ln>
        </p:spPr>
      </p:sp>
      <p:sp>
        <p:nvSpPr>
          <p:cNvPr id="35" name="Shape 33"/>
          <p:cNvSpPr/>
          <p:nvPr/>
        </p:nvSpPr>
        <p:spPr>
          <a:xfrm>
            <a:off x="7059168" y="1636776"/>
            <a:ext cx="128016" cy="128016"/>
          </a:xfrm>
          <a:prstGeom prst="ellipse">
            <a:avLst/>
          </a:prstGeom>
          <a:solidFill>
            <a:srgbClr val="FEBC2E"/>
          </a:solidFill>
          <a:ln w="12700">
            <a:solidFill>
              <a:srgbClr val="FEBC2E"/>
            </a:solidFill>
            <a:prstDash val="solid"/>
          </a:ln>
        </p:spPr>
      </p:sp>
      <p:sp>
        <p:nvSpPr>
          <p:cNvPr id="36" name="Shape 34"/>
          <p:cNvSpPr/>
          <p:nvPr/>
        </p:nvSpPr>
        <p:spPr>
          <a:xfrm>
            <a:off x="7242048" y="1636776"/>
            <a:ext cx="128016" cy="128016"/>
          </a:xfrm>
          <a:prstGeom prst="ellipse">
            <a:avLst/>
          </a:prstGeom>
          <a:solidFill>
            <a:srgbClr val="28C840"/>
          </a:solidFill>
          <a:ln w="12700">
            <a:solidFill>
              <a:srgbClr val="28C840"/>
            </a:solidFill>
            <a:prstDash val="solid"/>
          </a:ln>
        </p:spPr>
      </p:sp>
      <p:sp>
        <p:nvSpPr>
          <p:cNvPr id="37" name="Text 35"/>
          <p:cNvSpPr/>
          <p:nvPr/>
        </p:nvSpPr>
        <p:spPr>
          <a:xfrm>
            <a:off x="7498080" y="1600200"/>
            <a:ext cx="4023360" cy="201168"/>
          </a:xfrm>
          <a:prstGeom prst="rect">
            <a:avLst/>
          </a:prstGeom>
          <a:noFill/>
          <a:ln/>
        </p:spPr>
        <p:txBody>
          <a:bodyPr wrap="square" lIns="0" tIns="0" rIns="0" bIns="0" rtlCol="0" anchor="ctr"/>
          <a:lstStyle/>
          <a:p>
            <a:pPr marL="0" indent="0" algn="l">
              <a:buNone/>
            </a:pPr>
            <a:r>
              <a:rPr lang="en-US" sz="1000" dirty="0" err="1">
                <a:solidFill>
                  <a:srgbClr val="E2E8F0"/>
                </a:solidFill>
                <a:latin typeface="Consolas" pitchFamily="34" charset="0"/>
                <a:ea typeface="Consolas" pitchFamily="34" charset="-122"/>
                <a:cs typeface="Consolas" pitchFamily="34" charset="-120"/>
              </a:rPr>
              <a:t>query.yaml</a:t>
            </a:r>
            <a:r>
              <a:rPr lang="en-US" sz="1000" dirty="0">
                <a:solidFill>
                  <a:srgbClr val="E2E8F0"/>
                </a:solidFill>
                <a:latin typeface="Consolas" pitchFamily="34" charset="0"/>
                <a:ea typeface="Consolas" pitchFamily="34" charset="-122"/>
                <a:cs typeface="Consolas" pitchFamily="34" charset="-120"/>
              </a:rPr>
              <a:t>  InfoSum</a:t>
            </a:r>
            <a:endParaRPr lang="en-US" sz="1000" dirty="0"/>
          </a:p>
        </p:txBody>
      </p:sp>
      <p:sp>
        <p:nvSpPr>
          <p:cNvPr id="38" name="Text 36"/>
          <p:cNvSpPr/>
          <p:nvPr/>
        </p:nvSpPr>
        <p:spPr>
          <a:xfrm>
            <a:off x="6949440" y="1920240"/>
            <a:ext cx="4480560" cy="2560320"/>
          </a:xfrm>
          <a:prstGeom prst="rect">
            <a:avLst/>
          </a:prstGeom>
          <a:noFill/>
          <a:ln/>
        </p:spPr>
        <p:txBody>
          <a:bodyPr wrap="square" lIns="0" tIns="0" rIns="0" bIns="0" rtlCol="0" anchor="t"/>
          <a:lstStyle/>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query:</a:t>
            </a:r>
            <a:endParaRPr lang="en-US" sz="1000" dirty="0"/>
          </a:p>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  type: audience_overlap</a:t>
            </a:r>
            <a:endParaRPr lang="en-US" sz="1000" dirty="0"/>
          </a:p>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  parties:</a:t>
            </a:r>
            <a:endParaRPr lang="en-US" sz="1000" dirty="0"/>
          </a:p>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    - brand_modeverte</a:t>
            </a:r>
            <a:endParaRPr lang="en-US" sz="1000" dirty="0"/>
          </a:p>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    - publisher_leparisien</a:t>
            </a:r>
            <a:endParaRPr lang="en-US" sz="1000" dirty="0"/>
          </a:p>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  dimensions:</a:t>
            </a:r>
            <a:endParaRPr lang="en-US" sz="1000" dirty="0"/>
          </a:p>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    - age_bucket</a:t>
            </a:r>
            <a:endParaRPr lang="en-US" sz="1000" dirty="0"/>
          </a:p>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    - postal_code_region</a:t>
            </a:r>
            <a:endParaRPr lang="en-US" sz="1000" dirty="0"/>
          </a:p>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  min_cell_size: 100</a:t>
            </a:r>
            <a:endParaRPr lang="en-US" sz="1000" dirty="0"/>
          </a:p>
          <a:p>
            <a:pPr marL="0" indent="0">
              <a:spcAft>
                <a:spcPts val="200"/>
              </a:spcAft>
              <a:buNone/>
            </a:pPr>
            <a:endParaRPr lang="en-US" sz="1000" dirty="0"/>
          </a:p>
          <a:p>
            <a:pPr marL="0" indent="0">
              <a:spcAft>
                <a:spcPts val="200"/>
              </a:spcAft>
              <a:buNone/>
            </a:pPr>
            <a:r>
              <a:rPr lang="en-US" sz="1000" dirty="0">
                <a:solidFill>
                  <a:srgbClr val="F9B233"/>
                </a:solidFill>
                <a:latin typeface="Consolas" pitchFamily="34" charset="0"/>
                <a:ea typeface="Consolas" pitchFamily="34" charset="-122"/>
                <a:cs typeface="Consolas" pitchFamily="34" charset="-120"/>
              </a:rPr>
              <a:t>&gt; Bunkers: 2/2 responding</a:t>
            </a:r>
            <a:endParaRPr lang="en-US" sz="1000" dirty="0"/>
          </a:p>
          <a:p>
            <a:pPr marL="0" indent="0">
              <a:spcAft>
                <a:spcPts val="200"/>
              </a:spcAft>
              <a:buNone/>
            </a:pPr>
            <a:r>
              <a:rPr lang="en-US" sz="1000" dirty="0">
                <a:solidFill>
                  <a:srgbClr val="F9B233"/>
                </a:solidFill>
                <a:latin typeface="Consolas" pitchFamily="34" charset="0"/>
                <a:ea typeface="Consolas" pitchFamily="34" charset="-122"/>
                <a:cs typeface="Consolas" pitchFamily="34" charset="-120"/>
              </a:rPr>
              <a:t>&gt; Overlap: computed</a:t>
            </a:r>
            <a:endParaRPr lang="en-US" sz="1000" dirty="0"/>
          </a:p>
        </p:txBody>
      </p:sp>
      <p:sp>
        <p:nvSpPr>
          <p:cNvPr id="39" name="Shape 37"/>
          <p:cNvSpPr/>
          <p:nvPr/>
        </p:nvSpPr>
        <p:spPr>
          <a:xfrm>
            <a:off x="6766560" y="4709160"/>
            <a:ext cx="4846320" cy="1691640"/>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40" name="Shape 38"/>
          <p:cNvSpPr/>
          <p:nvPr/>
        </p:nvSpPr>
        <p:spPr>
          <a:xfrm>
            <a:off x="6766560" y="4709160"/>
            <a:ext cx="91440" cy="1691640"/>
          </a:xfrm>
          <a:prstGeom prst="rect">
            <a:avLst/>
          </a:prstGeom>
          <a:solidFill>
            <a:srgbClr val="F96167"/>
          </a:solidFill>
          <a:ln w="12700">
            <a:solidFill>
              <a:srgbClr val="F96167"/>
            </a:solidFill>
            <a:prstDash val="solid"/>
          </a:ln>
        </p:spPr>
      </p:sp>
      <p:sp>
        <p:nvSpPr>
          <p:cNvPr id="41" name="Text 39"/>
          <p:cNvSpPr/>
          <p:nvPr/>
        </p:nvSpPr>
        <p:spPr>
          <a:xfrm>
            <a:off x="6995160" y="4846320"/>
            <a:ext cx="4480560" cy="274320"/>
          </a:xfrm>
          <a:prstGeom prst="rect">
            <a:avLst/>
          </a:prstGeom>
          <a:noFill/>
          <a:ln/>
        </p:spPr>
        <p:txBody>
          <a:bodyPr wrap="square" lIns="0" tIns="0" rIns="0" bIns="0" rtlCol="0" anchor="ctr"/>
          <a:lstStyle/>
          <a:p>
            <a:pPr marL="0" indent="0">
              <a:buNone/>
            </a:pPr>
            <a:r>
              <a:rPr lang="en-US" sz="1000" b="1" kern="0" spc="150" dirty="0">
                <a:solidFill>
                  <a:srgbClr val="F96167"/>
                </a:solidFill>
                <a:latin typeface="Calibri" pitchFamily="34" charset="0"/>
                <a:ea typeface="Calibri" pitchFamily="34" charset="-122"/>
                <a:cs typeface="Calibri" pitchFamily="34" charset="-120"/>
              </a:rPr>
              <a:t>RÉSULTAT LIVRÉ</a:t>
            </a:r>
            <a:endParaRPr lang="en-US" sz="1000" dirty="0"/>
          </a:p>
        </p:txBody>
      </p:sp>
      <p:sp>
        <p:nvSpPr>
          <p:cNvPr id="42" name="Text 40"/>
          <p:cNvSpPr/>
          <p:nvPr/>
        </p:nvSpPr>
        <p:spPr>
          <a:xfrm>
            <a:off x="6995160" y="5120640"/>
            <a:ext cx="4480560" cy="640080"/>
          </a:xfrm>
          <a:prstGeom prst="rect">
            <a:avLst/>
          </a:prstGeom>
          <a:noFill/>
          <a:ln/>
        </p:spPr>
        <p:txBody>
          <a:bodyPr wrap="square" lIns="0" tIns="0" rIns="0" bIns="0" rtlCol="0" anchor="ctr"/>
          <a:lstStyle/>
          <a:p>
            <a:pPr marL="0" indent="0">
              <a:buNone/>
            </a:pPr>
            <a:r>
              <a:rPr lang="en-US" sz="2200" b="1" dirty="0">
                <a:solidFill>
                  <a:srgbClr val="065A82"/>
                </a:solidFill>
                <a:latin typeface="Calibri" pitchFamily="34" charset="0"/>
                <a:ea typeface="Calibri" pitchFamily="34" charset="-122"/>
                <a:cs typeface="Calibri" pitchFamily="34" charset="-120"/>
              </a:rPr>
              <a:t>12 segments communs</a:t>
            </a:r>
            <a:endParaRPr lang="en-US" sz="2200" dirty="0"/>
          </a:p>
        </p:txBody>
      </p:sp>
      <p:sp>
        <p:nvSpPr>
          <p:cNvPr id="43" name="Text 41"/>
          <p:cNvSpPr/>
          <p:nvPr/>
        </p:nvSpPr>
        <p:spPr>
          <a:xfrm>
            <a:off x="6995160" y="5760720"/>
            <a:ext cx="4480560" cy="59436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Idéal pour les collabs brand × broadcaster : Le Parisien garde ses données sur ses serveurs, ModeVerte aussi. Rien ne bouge.</a:t>
            </a:r>
            <a:endParaRPr lang="en-US" sz="1100" dirty="0"/>
          </a:p>
        </p:txBody>
      </p:sp>
      <p:sp>
        <p:nvSpPr>
          <p:cNvPr id="44" name="Shape 42"/>
          <p:cNvSpPr/>
          <p:nvPr/>
        </p:nvSpPr>
        <p:spPr>
          <a:xfrm>
            <a:off x="0" y="6583680"/>
            <a:ext cx="12191695" cy="274320"/>
          </a:xfrm>
          <a:prstGeom prst="rect">
            <a:avLst/>
          </a:prstGeom>
          <a:solidFill>
            <a:srgbClr val="0B1F3A"/>
          </a:solidFill>
          <a:ln w="12700">
            <a:solidFill>
              <a:srgbClr val="0B1F3A"/>
            </a:solidFill>
            <a:prstDash val="solid"/>
          </a:ln>
        </p:spPr>
      </p:sp>
      <p:sp>
        <p:nvSpPr>
          <p:cNvPr id="45" name="Text 43"/>
          <p:cNvSpPr/>
          <p:nvPr/>
        </p:nvSpPr>
        <p:spPr>
          <a:xfrm>
            <a:off x="365760" y="6601968"/>
            <a:ext cx="822960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Session 3  Demos providers</a:t>
            </a:r>
            <a:endParaRPr lang="en-US" sz="1000" dirty="0"/>
          </a:p>
        </p:txBody>
      </p:sp>
      <p:sp>
        <p:nvSpPr>
          <p:cNvPr id="46" name="Text 44"/>
          <p:cNvSpPr/>
          <p:nvPr/>
        </p:nvSpPr>
        <p:spPr>
          <a:xfrm>
            <a:off x="11551615" y="6601968"/>
            <a:ext cx="365760" cy="237744"/>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38</a:t>
            </a:r>
            <a:endParaRPr lang="en-US" sz="10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40">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B1F3A"/>
          </a:solidFill>
          <a:ln w="12700">
            <a:solidFill>
              <a:srgbClr val="0B1F3A"/>
            </a:solidFill>
            <a:prstDash val="solid"/>
          </a:ln>
        </p:spPr>
      </p:sp>
      <p:sp>
        <p:nvSpPr>
          <p:cNvPr id="3" name="Text 1"/>
          <p:cNvSpPr/>
          <p:nvPr/>
        </p:nvSpPr>
        <p:spPr>
          <a:xfrm>
            <a:off x="548640" y="164592"/>
            <a:ext cx="6400800" cy="274320"/>
          </a:xfrm>
          <a:prstGeom prst="rect">
            <a:avLst/>
          </a:prstGeom>
          <a:noFill/>
          <a:ln/>
        </p:spPr>
        <p:txBody>
          <a:bodyPr wrap="square" lIns="0" tIns="0" rIns="0" bIns="0" rtlCol="0" anchor="ctr"/>
          <a:lstStyle/>
          <a:p>
            <a:pPr marL="0" indent="0">
              <a:buNone/>
            </a:pPr>
            <a:r>
              <a:rPr lang="en-US" sz="1100" b="1" kern="0" spc="200" dirty="0">
                <a:solidFill>
                  <a:srgbClr val="F96167"/>
                </a:solidFill>
                <a:latin typeface="Calibri" pitchFamily="34" charset="0"/>
                <a:ea typeface="Calibri" pitchFamily="34" charset="-122"/>
                <a:cs typeface="Calibri" pitchFamily="34" charset="-120"/>
              </a:rPr>
              <a:t>DEMO 8/8  ·  WALKTHROUGH TTD / UID 2.0</a:t>
            </a:r>
            <a:endParaRPr lang="en-US" sz="1100" dirty="0"/>
          </a:p>
        </p:txBody>
      </p:sp>
      <p:sp>
        <p:nvSpPr>
          <p:cNvPr id="4" name="Text 2"/>
          <p:cNvSpPr/>
          <p:nvPr/>
        </p:nvSpPr>
        <p:spPr>
          <a:xfrm>
            <a:off x="548640" y="384048"/>
            <a:ext cx="8229600" cy="45720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The Trade Desk + UID 2.0</a:t>
            </a:r>
            <a:endParaRPr lang="en-US" sz="2600" dirty="0"/>
          </a:p>
        </p:txBody>
      </p:sp>
      <p:sp>
        <p:nvSpPr>
          <p:cNvPr id="5" name="Text 3"/>
          <p:cNvSpPr/>
          <p:nvPr/>
        </p:nvSpPr>
        <p:spPr>
          <a:xfrm>
            <a:off x="548640" y="1051560"/>
            <a:ext cx="11064240" cy="320040"/>
          </a:xfrm>
          <a:prstGeom prst="rect">
            <a:avLst/>
          </a:prstGeom>
          <a:noFill/>
          <a:ln/>
        </p:spPr>
        <p:txBody>
          <a:bodyPr wrap="square" lIns="0" tIns="0" rIns="0" bIns="0" rtlCol="0" anchor="ctr"/>
          <a:lstStyle/>
          <a:p>
            <a:pPr marL="0" indent="0">
              <a:buNone/>
            </a:pPr>
            <a:r>
              <a:rPr lang="en-US" sz="1300" i="1" dirty="0">
                <a:solidFill>
                  <a:srgbClr val="1C7293"/>
                </a:solidFill>
                <a:latin typeface="Calibri" pitchFamily="34" charset="0"/>
                <a:ea typeface="Calibri" pitchFamily="34" charset="-122"/>
                <a:cs typeface="Calibri" pitchFamily="34" charset="-120"/>
              </a:rPr>
              <a:t>Activer sans cookies tiers : un email hashé devient un token UID 2.0  identité persistante et opt-in.</a:t>
            </a:r>
            <a:endParaRPr lang="en-US" sz="1300" dirty="0"/>
          </a:p>
        </p:txBody>
      </p:sp>
      <p:sp>
        <p:nvSpPr>
          <p:cNvPr id="6" name="Text 4"/>
          <p:cNvSpPr/>
          <p:nvPr/>
        </p:nvSpPr>
        <p:spPr>
          <a:xfrm>
            <a:off x="548640" y="1554480"/>
            <a:ext cx="6035040" cy="274320"/>
          </a:xfrm>
          <a:prstGeom prst="rect">
            <a:avLst/>
          </a:prstGeom>
          <a:noFill/>
          <a:ln/>
        </p:spPr>
        <p:txBody>
          <a:bodyPr wrap="square" lIns="0" tIns="0" rIns="0" bIns="0" rtlCol="0" anchor="ctr"/>
          <a:lstStyle/>
          <a:p>
            <a:pPr marL="0" indent="0">
              <a:buNone/>
            </a:pPr>
            <a:r>
              <a:rPr lang="en-US" sz="1100" b="1" kern="0" spc="150" dirty="0">
                <a:solidFill>
                  <a:srgbClr val="065A82"/>
                </a:solidFill>
                <a:latin typeface="Calibri" pitchFamily="34" charset="0"/>
                <a:ea typeface="Calibri" pitchFamily="34" charset="-122"/>
                <a:cs typeface="Calibri" pitchFamily="34" charset="-120"/>
              </a:rPr>
              <a:t>WORKFLOW  5 ÉTAPES CLÉS</a:t>
            </a:r>
            <a:endParaRPr lang="en-US" sz="1100" dirty="0"/>
          </a:p>
        </p:txBody>
      </p:sp>
      <p:sp>
        <p:nvSpPr>
          <p:cNvPr id="7" name="Shape 5"/>
          <p:cNvSpPr/>
          <p:nvPr/>
        </p:nvSpPr>
        <p:spPr>
          <a:xfrm>
            <a:off x="548640" y="1965960"/>
            <a:ext cx="6035040" cy="804672"/>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8" name="Shape 6"/>
          <p:cNvSpPr/>
          <p:nvPr/>
        </p:nvSpPr>
        <p:spPr>
          <a:xfrm>
            <a:off x="685800" y="2148840"/>
            <a:ext cx="457200" cy="457200"/>
          </a:xfrm>
          <a:prstGeom prst="ellipse">
            <a:avLst/>
          </a:prstGeom>
          <a:solidFill>
            <a:srgbClr val="F96167"/>
          </a:solidFill>
          <a:ln w="12700">
            <a:solidFill>
              <a:srgbClr val="F96167"/>
            </a:solidFill>
            <a:prstDash val="solid"/>
          </a:ln>
        </p:spPr>
      </p:sp>
      <p:sp>
        <p:nvSpPr>
          <p:cNvPr id="9" name="Text 7"/>
          <p:cNvSpPr/>
          <p:nvPr/>
        </p:nvSpPr>
        <p:spPr>
          <a:xfrm>
            <a:off x="685800" y="21488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0" name="Text 8"/>
          <p:cNvSpPr/>
          <p:nvPr/>
        </p:nvSpPr>
        <p:spPr>
          <a:xfrm>
            <a:off x="1280160" y="2057400"/>
            <a:ext cx="5212080" cy="27432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Opt-in publisher</a:t>
            </a:r>
            <a:endParaRPr lang="en-US" sz="1300" dirty="0"/>
          </a:p>
        </p:txBody>
      </p:sp>
      <p:sp>
        <p:nvSpPr>
          <p:cNvPr id="11" name="Text 9"/>
          <p:cNvSpPr/>
          <p:nvPr/>
        </p:nvSpPr>
        <p:spPr>
          <a:xfrm>
            <a:off x="1280160" y="2295144"/>
            <a:ext cx="5212080" cy="45720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Un internaute accepte le tracking sur un site publisher  l'email part vers UID 2.0 service.</a:t>
            </a:r>
            <a:endParaRPr lang="en-US" sz="1100" dirty="0"/>
          </a:p>
        </p:txBody>
      </p:sp>
      <p:sp>
        <p:nvSpPr>
          <p:cNvPr id="12" name="Shape 10"/>
          <p:cNvSpPr/>
          <p:nvPr/>
        </p:nvSpPr>
        <p:spPr>
          <a:xfrm>
            <a:off x="548640" y="2862072"/>
            <a:ext cx="6035040" cy="804672"/>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13" name="Shape 11"/>
          <p:cNvSpPr/>
          <p:nvPr/>
        </p:nvSpPr>
        <p:spPr>
          <a:xfrm>
            <a:off x="685800" y="3044952"/>
            <a:ext cx="457200" cy="457200"/>
          </a:xfrm>
          <a:prstGeom prst="ellipse">
            <a:avLst/>
          </a:prstGeom>
          <a:solidFill>
            <a:srgbClr val="F96167"/>
          </a:solidFill>
          <a:ln w="12700">
            <a:solidFill>
              <a:srgbClr val="F96167"/>
            </a:solidFill>
            <a:prstDash val="solid"/>
          </a:ln>
        </p:spPr>
      </p:sp>
      <p:sp>
        <p:nvSpPr>
          <p:cNvPr id="14" name="Text 12"/>
          <p:cNvSpPr/>
          <p:nvPr/>
        </p:nvSpPr>
        <p:spPr>
          <a:xfrm>
            <a:off x="685800" y="304495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5" name="Text 13"/>
          <p:cNvSpPr/>
          <p:nvPr/>
        </p:nvSpPr>
        <p:spPr>
          <a:xfrm>
            <a:off x="1280160" y="2953512"/>
            <a:ext cx="5212080" cy="27432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Génération du token</a:t>
            </a:r>
            <a:endParaRPr lang="en-US" sz="1300" dirty="0"/>
          </a:p>
        </p:txBody>
      </p:sp>
      <p:sp>
        <p:nvSpPr>
          <p:cNvPr id="16" name="Text 14"/>
          <p:cNvSpPr/>
          <p:nvPr/>
        </p:nvSpPr>
        <p:spPr>
          <a:xfrm>
            <a:off x="1280160" y="3191256"/>
            <a:ext cx="5212080" cy="45720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UID 2.0 hashe + salt l'email → génère un token à durée de vie limitée (rotation 30 j).</a:t>
            </a:r>
            <a:endParaRPr lang="en-US" sz="1100" dirty="0"/>
          </a:p>
        </p:txBody>
      </p:sp>
      <p:sp>
        <p:nvSpPr>
          <p:cNvPr id="17" name="Shape 15"/>
          <p:cNvSpPr/>
          <p:nvPr/>
        </p:nvSpPr>
        <p:spPr>
          <a:xfrm>
            <a:off x="548640" y="3758184"/>
            <a:ext cx="6035040" cy="804672"/>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18" name="Shape 16"/>
          <p:cNvSpPr/>
          <p:nvPr/>
        </p:nvSpPr>
        <p:spPr>
          <a:xfrm>
            <a:off x="685800" y="3941064"/>
            <a:ext cx="457200" cy="457200"/>
          </a:xfrm>
          <a:prstGeom prst="ellipse">
            <a:avLst/>
          </a:prstGeom>
          <a:solidFill>
            <a:srgbClr val="F96167"/>
          </a:solidFill>
          <a:ln w="12700">
            <a:solidFill>
              <a:srgbClr val="F96167"/>
            </a:solidFill>
            <a:prstDash val="solid"/>
          </a:ln>
        </p:spPr>
      </p:sp>
      <p:sp>
        <p:nvSpPr>
          <p:cNvPr id="19" name="Text 17"/>
          <p:cNvSpPr/>
          <p:nvPr/>
        </p:nvSpPr>
        <p:spPr>
          <a:xfrm>
            <a:off x="685800" y="3941064"/>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0" name="Text 18"/>
          <p:cNvSpPr/>
          <p:nvPr/>
        </p:nvSpPr>
        <p:spPr>
          <a:xfrm>
            <a:off x="1280160" y="3849624"/>
            <a:ext cx="5212080" cy="27432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Upload de votre CRM</a:t>
            </a:r>
            <a:endParaRPr lang="en-US" sz="1300" dirty="0"/>
          </a:p>
        </p:txBody>
      </p:sp>
      <p:sp>
        <p:nvSpPr>
          <p:cNvPr id="21" name="Text 19"/>
          <p:cNvSpPr/>
          <p:nvPr/>
        </p:nvSpPr>
        <p:spPr>
          <a:xfrm>
            <a:off x="1280160" y="4087368"/>
            <a:ext cx="5212080" cy="45720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Côté brand : vous envoyez votre base CRM </a:t>
            </a:r>
            <a:r>
              <a:rPr lang="en-US" sz="1100" dirty="0" err="1">
                <a:solidFill>
                  <a:srgbClr val="1E293B"/>
                </a:solidFill>
                <a:latin typeface="Calibri" pitchFamily="34" charset="0"/>
                <a:ea typeface="Calibri" pitchFamily="34" charset="-122"/>
                <a:cs typeface="Calibri" pitchFamily="34" charset="-120"/>
              </a:rPr>
              <a:t>hashée</a:t>
            </a:r>
            <a:r>
              <a:rPr lang="en-US" sz="1100" dirty="0">
                <a:solidFill>
                  <a:srgbClr val="1E293B"/>
                </a:solidFill>
                <a:latin typeface="Calibri" pitchFamily="34" charset="0"/>
                <a:ea typeface="Calibri" pitchFamily="34" charset="-122"/>
                <a:cs typeface="Calibri" pitchFamily="34" charset="-120"/>
              </a:rPr>
              <a:t>  TTD la matche avec les tokens UID 2.0.</a:t>
            </a:r>
            <a:endParaRPr lang="en-US" sz="1100" dirty="0"/>
          </a:p>
        </p:txBody>
      </p:sp>
      <p:sp>
        <p:nvSpPr>
          <p:cNvPr id="22" name="Shape 20"/>
          <p:cNvSpPr/>
          <p:nvPr/>
        </p:nvSpPr>
        <p:spPr>
          <a:xfrm>
            <a:off x="548640" y="4654296"/>
            <a:ext cx="6035040" cy="804672"/>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23" name="Shape 21"/>
          <p:cNvSpPr/>
          <p:nvPr/>
        </p:nvSpPr>
        <p:spPr>
          <a:xfrm>
            <a:off x="685800" y="4837176"/>
            <a:ext cx="457200" cy="457200"/>
          </a:xfrm>
          <a:prstGeom prst="ellipse">
            <a:avLst/>
          </a:prstGeom>
          <a:solidFill>
            <a:srgbClr val="F96167"/>
          </a:solidFill>
          <a:ln w="12700">
            <a:solidFill>
              <a:srgbClr val="F96167"/>
            </a:solidFill>
            <a:prstDash val="solid"/>
          </a:ln>
        </p:spPr>
      </p:sp>
      <p:sp>
        <p:nvSpPr>
          <p:cNvPr id="24" name="Text 22"/>
          <p:cNvSpPr/>
          <p:nvPr/>
        </p:nvSpPr>
        <p:spPr>
          <a:xfrm>
            <a:off x="685800" y="4837176"/>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5" name="Text 23"/>
          <p:cNvSpPr/>
          <p:nvPr/>
        </p:nvSpPr>
        <p:spPr>
          <a:xfrm>
            <a:off x="1280160" y="4745736"/>
            <a:ext cx="5212080" cy="27432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Définir le segment</a:t>
            </a:r>
            <a:endParaRPr lang="en-US" sz="1300" dirty="0"/>
          </a:p>
        </p:txBody>
      </p:sp>
      <p:sp>
        <p:nvSpPr>
          <p:cNvPr id="26" name="Text 24"/>
          <p:cNvSpPr/>
          <p:nvPr/>
        </p:nvSpPr>
        <p:spPr>
          <a:xfrm>
            <a:off x="1280160" y="4983480"/>
            <a:ext cx="5212080" cy="45720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Dans TTD DSP : créer l'audience, paramétrer la campagne programmatique (CTV, display, audio).</a:t>
            </a:r>
            <a:endParaRPr lang="en-US" sz="1100" dirty="0"/>
          </a:p>
        </p:txBody>
      </p:sp>
      <p:sp>
        <p:nvSpPr>
          <p:cNvPr id="27" name="Shape 25"/>
          <p:cNvSpPr/>
          <p:nvPr/>
        </p:nvSpPr>
        <p:spPr>
          <a:xfrm>
            <a:off x="548640" y="5550408"/>
            <a:ext cx="6035040" cy="804672"/>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28" name="Shape 26"/>
          <p:cNvSpPr/>
          <p:nvPr/>
        </p:nvSpPr>
        <p:spPr>
          <a:xfrm>
            <a:off x="685800" y="5733288"/>
            <a:ext cx="457200" cy="457200"/>
          </a:xfrm>
          <a:prstGeom prst="ellipse">
            <a:avLst/>
          </a:prstGeom>
          <a:solidFill>
            <a:srgbClr val="F96167"/>
          </a:solidFill>
          <a:ln w="12700">
            <a:solidFill>
              <a:srgbClr val="F96167"/>
            </a:solidFill>
            <a:prstDash val="solid"/>
          </a:ln>
        </p:spPr>
      </p:sp>
      <p:sp>
        <p:nvSpPr>
          <p:cNvPr id="29" name="Text 27"/>
          <p:cNvSpPr/>
          <p:nvPr/>
        </p:nvSpPr>
        <p:spPr>
          <a:xfrm>
            <a:off x="685800" y="573328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0" name="Text 28"/>
          <p:cNvSpPr/>
          <p:nvPr/>
        </p:nvSpPr>
        <p:spPr>
          <a:xfrm>
            <a:off x="1280160" y="5641848"/>
            <a:ext cx="5212080" cy="27432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Activation cross-device</a:t>
            </a:r>
            <a:endParaRPr lang="en-US" sz="1300" dirty="0"/>
          </a:p>
        </p:txBody>
      </p:sp>
      <p:sp>
        <p:nvSpPr>
          <p:cNvPr id="31" name="Text 29"/>
          <p:cNvSpPr/>
          <p:nvPr/>
        </p:nvSpPr>
        <p:spPr>
          <a:xfrm>
            <a:off x="1280160" y="5879592"/>
            <a:ext cx="5212080" cy="45720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TTD active sur tout l'inventaire compatible UID 2.0  sans recours au cookie tiers.</a:t>
            </a:r>
            <a:endParaRPr lang="en-US" sz="1100" dirty="0"/>
          </a:p>
        </p:txBody>
      </p:sp>
      <p:sp>
        <p:nvSpPr>
          <p:cNvPr id="32" name="Shape 30"/>
          <p:cNvSpPr/>
          <p:nvPr/>
        </p:nvSpPr>
        <p:spPr>
          <a:xfrm>
            <a:off x="6766560" y="1554480"/>
            <a:ext cx="4846320" cy="3017520"/>
          </a:xfrm>
          <a:prstGeom prst="rect">
            <a:avLst/>
          </a:prstGeom>
          <a:solidFill>
            <a:srgbClr val="0B1F3A"/>
          </a:solidFill>
          <a:ln w="12700">
            <a:solidFill>
              <a:srgbClr val="0B1F3A"/>
            </a:solidFill>
            <a:prstDash val="solid"/>
          </a:ln>
          <a:effectLst>
            <a:outerShdw blurRad="76200" dist="25400" dir="8100000" algn="bl" rotWithShape="0">
              <a:srgbClr val="000000">
                <a:alpha val="12000"/>
              </a:srgbClr>
            </a:outerShdw>
          </a:effectLst>
        </p:spPr>
      </p:sp>
      <p:sp>
        <p:nvSpPr>
          <p:cNvPr id="33" name="Shape 31"/>
          <p:cNvSpPr/>
          <p:nvPr/>
        </p:nvSpPr>
        <p:spPr>
          <a:xfrm>
            <a:off x="6766560" y="1554480"/>
            <a:ext cx="4846320" cy="292608"/>
          </a:xfrm>
          <a:prstGeom prst="rect">
            <a:avLst/>
          </a:prstGeom>
          <a:solidFill>
            <a:srgbClr val="102B52"/>
          </a:solidFill>
          <a:ln w="12700">
            <a:solidFill>
              <a:srgbClr val="102B52"/>
            </a:solidFill>
            <a:prstDash val="solid"/>
          </a:ln>
        </p:spPr>
      </p:sp>
      <p:sp>
        <p:nvSpPr>
          <p:cNvPr id="34" name="Shape 32"/>
          <p:cNvSpPr/>
          <p:nvPr/>
        </p:nvSpPr>
        <p:spPr>
          <a:xfrm>
            <a:off x="6876288" y="1636776"/>
            <a:ext cx="128016" cy="128016"/>
          </a:xfrm>
          <a:prstGeom prst="ellipse">
            <a:avLst/>
          </a:prstGeom>
          <a:solidFill>
            <a:srgbClr val="FF5F57"/>
          </a:solidFill>
          <a:ln w="12700">
            <a:solidFill>
              <a:srgbClr val="FF5F57"/>
            </a:solidFill>
            <a:prstDash val="solid"/>
          </a:ln>
        </p:spPr>
      </p:sp>
      <p:sp>
        <p:nvSpPr>
          <p:cNvPr id="35" name="Shape 33"/>
          <p:cNvSpPr/>
          <p:nvPr/>
        </p:nvSpPr>
        <p:spPr>
          <a:xfrm>
            <a:off x="7059168" y="1636776"/>
            <a:ext cx="128016" cy="128016"/>
          </a:xfrm>
          <a:prstGeom prst="ellipse">
            <a:avLst/>
          </a:prstGeom>
          <a:solidFill>
            <a:srgbClr val="FEBC2E"/>
          </a:solidFill>
          <a:ln w="12700">
            <a:solidFill>
              <a:srgbClr val="FEBC2E"/>
            </a:solidFill>
            <a:prstDash val="solid"/>
          </a:ln>
        </p:spPr>
      </p:sp>
      <p:sp>
        <p:nvSpPr>
          <p:cNvPr id="36" name="Shape 34"/>
          <p:cNvSpPr/>
          <p:nvPr/>
        </p:nvSpPr>
        <p:spPr>
          <a:xfrm>
            <a:off x="7242048" y="1636776"/>
            <a:ext cx="128016" cy="128016"/>
          </a:xfrm>
          <a:prstGeom prst="ellipse">
            <a:avLst/>
          </a:prstGeom>
          <a:solidFill>
            <a:srgbClr val="28C840"/>
          </a:solidFill>
          <a:ln w="12700">
            <a:solidFill>
              <a:srgbClr val="28C840"/>
            </a:solidFill>
            <a:prstDash val="solid"/>
          </a:ln>
        </p:spPr>
      </p:sp>
      <p:sp>
        <p:nvSpPr>
          <p:cNvPr id="37" name="Text 35"/>
          <p:cNvSpPr/>
          <p:nvPr/>
        </p:nvSpPr>
        <p:spPr>
          <a:xfrm>
            <a:off x="7498080" y="1600200"/>
            <a:ext cx="4023360" cy="201168"/>
          </a:xfrm>
          <a:prstGeom prst="rect">
            <a:avLst/>
          </a:prstGeom>
          <a:noFill/>
          <a:ln/>
        </p:spPr>
        <p:txBody>
          <a:bodyPr wrap="square" lIns="0" tIns="0" rIns="0" bIns="0" rtlCol="0" anchor="ctr"/>
          <a:lstStyle/>
          <a:p>
            <a:pPr marL="0" indent="0" algn="l">
              <a:buNone/>
            </a:pPr>
            <a:r>
              <a:rPr lang="en-US" sz="1000" dirty="0">
                <a:solidFill>
                  <a:srgbClr val="E2E8F0"/>
                </a:solidFill>
                <a:latin typeface="Consolas" pitchFamily="34" charset="0"/>
                <a:ea typeface="Consolas" pitchFamily="34" charset="-122"/>
                <a:cs typeface="Consolas" pitchFamily="34" charset="-120"/>
              </a:rPr>
              <a:t>uid2_audience.json  TTD</a:t>
            </a:r>
            <a:endParaRPr lang="en-US" sz="1000" dirty="0"/>
          </a:p>
        </p:txBody>
      </p:sp>
      <p:sp>
        <p:nvSpPr>
          <p:cNvPr id="38" name="Text 36"/>
          <p:cNvSpPr/>
          <p:nvPr/>
        </p:nvSpPr>
        <p:spPr>
          <a:xfrm>
            <a:off x="6949440" y="1920240"/>
            <a:ext cx="4480560" cy="2560320"/>
          </a:xfrm>
          <a:prstGeom prst="rect">
            <a:avLst/>
          </a:prstGeom>
          <a:noFill/>
          <a:ln/>
        </p:spPr>
        <p:txBody>
          <a:bodyPr wrap="square" lIns="0" tIns="0" rIns="0" bIns="0" rtlCol="0" anchor="t"/>
          <a:lstStyle/>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a:t>
            </a:r>
            <a:endParaRPr lang="en-US" sz="1000" dirty="0"/>
          </a:p>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  "audience_name": "ModeVerte_CRM",</a:t>
            </a:r>
            <a:endParaRPr lang="en-US" sz="1000" dirty="0"/>
          </a:p>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  "source": "first_party_hashed",</a:t>
            </a:r>
            <a:endParaRPr lang="en-US" sz="1000" dirty="0"/>
          </a:p>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  "matched_ids": 3412000,</a:t>
            </a:r>
            <a:endParaRPr lang="en-US" sz="1000" dirty="0"/>
          </a:p>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  "match_rate": 0.61,</a:t>
            </a:r>
            <a:endParaRPr lang="en-US" sz="1000" dirty="0"/>
          </a:p>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  "inventory": [</a:t>
            </a:r>
            <a:endParaRPr lang="en-US" sz="1000" dirty="0"/>
          </a:p>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    "CTV", "Display", "Audio"</a:t>
            </a:r>
            <a:endParaRPr lang="en-US" sz="1000" dirty="0"/>
          </a:p>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  ],</a:t>
            </a:r>
            <a:endParaRPr lang="en-US" sz="1000" dirty="0"/>
          </a:p>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  "status": "ACTIVE"</a:t>
            </a:r>
            <a:endParaRPr lang="en-US" sz="1000" dirty="0"/>
          </a:p>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a:t>
            </a:r>
            <a:endParaRPr lang="en-US" sz="1000" dirty="0"/>
          </a:p>
          <a:p>
            <a:pPr marL="0" indent="0">
              <a:spcAft>
                <a:spcPts val="200"/>
              </a:spcAft>
              <a:buNone/>
            </a:pPr>
            <a:r>
              <a:rPr lang="en-US" sz="1000" dirty="0">
                <a:solidFill>
                  <a:srgbClr val="F9B233"/>
                </a:solidFill>
                <a:latin typeface="Consolas" pitchFamily="34" charset="0"/>
                <a:ea typeface="Consolas" pitchFamily="34" charset="-122"/>
                <a:cs typeface="Consolas" pitchFamily="34" charset="-120"/>
              </a:rPr>
              <a:t>&gt; Campaign ID: TTD_924115</a:t>
            </a:r>
            <a:endParaRPr lang="en-US" sz="1000" dirty="0"/>
          </a:p>
        </p:txBody>
      </p:sp>
      <p:sp>
        <p:nvSpPr>
          <p:cNvPr id="39" name="Shape 37"/>
          <p:cNvSpPr/>
          <p:nvPr/>
        </p:nvSpPr>
        <p:spPr>
          <a:xfrm>
            <a:off x="6766560" y="4709160"/>
            <a:ext cx="4846320" cy="1691640"/>
          </a:xfrm>
          <a:prstGeom prst="rect">
            <a:avLst/>
          </a:prstGeom>
          <a:solidFill>
            <a:srgbClr val="FFFFFF"/>
          </a:solidFill>
          <a:ln w="9525">
            <a:solidFill>
              <a:srgbClr val="E2E8F0"/>
            </a:solidFill>
            <a:prstDash val="solid"/>
          </a:ln>
          <a:effectLst>
            <a:outerShdw blurRad="76200" dist="25400" dir="8100000" algn="bl" rotWithShape="0">
              <a:srgbClr val="000000">
                <a:alpha val="12000"/>
              </a:srgbClr>
            </a:outerShdw>
          </a:effectLst>
        </p:spPr>
      </p:sp>
      <p:sp>
        <p:nvSpPr>
          <p:cNvPr id="40" name="Shape 38"/>
          <p:cNvSpPr/>
          <p:nvPr/>
        </p:nvSpPr>
        <p:spPr>
          <a:xfrm>
            <a:off x="6766560" y="4709160"/>
            <a:ext cx="91440" cy="1691640"/>
          </a:xfrm>
          <a:prstGeom prst="rect">
            <a:avLst/>
          </a:prstGeom>
          <a:solidFill>
            <a:srgbClr val="F96167"/>
          </a:solidFill>
          <a:ln w="12700">
            <a:solidFill>
              <a:srgbClr val="F96167"/>
            </a:solidFill>
            <a:prstDash val="solid"/>
          </a:ln>
        </p:spPr>
      </p:sp>
      <p:sp>
        <p:nvSpPr>
          <p:cNvPr id="41" name="Text 39"/>
          <p:cNvSpPr/>
          <p:nvPr/>
        </p:nvSpPr>
        <p:spPr>
          <a:xfrm>
            <a:off x="6995160" y="4846320"/>
            <a:ext cx="4480560" cy="274320"/>
          </a:xfrm>
          <a:prstGeom prst="rect">
            <a:avLst/>
          </a:prstGeom>
          <a:noFill/>
          <a:ln/>
        </p:spPr>
        <p:txBody>
          <a:bodyPr wrap="square" lIns="0" tIns="0" rIns="0" bIns="0" rtlCol="0" anchor="ctr"/>
          <a:lstStyle/>
          <a:p>
            <a:pPr marL="0" indent="0">
              <a:buNone/>
            </a:pPr>
            <a:r>
              <a:rPr lang="en-US" sz="1000" b="1" kern="0" spc="150" dirty="0">
                <a:solidFill>
                  <a:srgbClr val="F96167"/>
                </a:solidFill>
                <a:latin typeface="Calibri" pitchFamily="34" charset="0"/>
                <a:ea typeface="Calibri" pitchFamily="34" charset="-122"/>
                <a:cs typeface="Calibri" pitchFamily="34" charset="-120"/>
              </a:rPr>
              <a:t>RÉSULTAT LIVRÉ</a:t>
            </a:r>
            <a:endParaRPr lang="en-US" sz="1000" dirty="0"/>
          </a:p>
        </p:txBody>
      </p:sp>
      <p:sp>
        <p:nvSpPr>
          <p:cNvPr id="42" name="Text 40"/>
          <p:cNvSpPr/>
          <p:nvPr/>
        </p:nvSpPr>
        <p:spPr>
          <a:xfrm>
            <a:off x="6995160" y="5120640"/>
            <a:ext cx="4480560" cy="640080"/>
          </a:xfrm>
          <a:prstGeom prst="rect">
            <a:avLst/>
          </a:prstGeom>
          <a:noFill/>
          <a:ln/>
        </p:spPr>
        <p:txBody>
          <a:bodyPr wrap="square" lIns="0" tIns="0" rIns="0" bIns="0" rtlCol="0" anchor="ctr"/>
          <a:lstStyle/>
          <a:p>
            <a:pPr marL="0" indent="0">
              <a:buNone/>
            </a:pPr>
            <a:r>
              <a:rPr lang="en-US" sz="2200" b="1" dirty="0">
                <a:solidFill>
                  <a:srgbClr val="065A82"/>
                </a:solidFill>
                <a:latin typeface="Calibri" pitchFamily="34" charset="0"/>
                <a:ea typeface="Calibri" pitchFamily="34" charset="-122"/>
                <a:cs typeface="Calibri" pitchFamily="34" charset="-120"/>
              </a:rPr>
              <a:t>3,4 M users activés</a:t>
            </a:r>
            <a:endParaRPr lang="en-US" sz="2200" dirty="0"/>
          </a:p>
        </p:txBody>
      </p:sp>
      <p:sp>
        <p:nvSpPr>
          <p:cNvPr id="43" name="Text 41"/>
          <p:cNvSpPr/>
          <p:nvPr/>
        </p:nvSpPr>
        <p:spPr>
          <a:xfrm>
            <a:off x="6995160" y="5760720"/>
            <a:ext cx="4480560" cy="59436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CTR +22 % vs campagne cookie classique. Coverage CTV élargie à la cible </a:t>
            </a:r>
            <a:r>
              <a:rPr lang="en-US" sz="1100" dirty="0" err="1">
                <a:solidFill>
                  <a:srgbClr val="1E293B"/>
                </a:solidFill>
                <a:latin typeface="Calibri" pitchFamily="34" charset="0"/>
                <a:ea typeface="Calibri" pitchFamily="34" charset="-122"/>
                <a:cs typeface="Calibri" pitchFamily="34" charset="-120"/>
              </a:rPr>
              <a:t>fidèle</a:t>
            </a:r>
            <a:r>
              <a:rPr lang="en-US" sz="1100" dirty="0">
                <a:solidFill>
                  <a:srgbClr val="1E293B"/>
                </a:solidFill>
                <a:latin typeface="Calibri" pitchFamily="34" charset="0"/>
                <a:ea typeface="Calibri" pitchFamily="34" charset="-122"/>
                <a:cs typeface="Calibri" pitchFamily="34" charset="-120"/>
              </a:rPr>
              <a:t>  sans re-ciblage aveugle.</a:t>
            </a:r>
            <a:endParaRPr lang="en-US" sz="1100" dirty="0"/>
          </a:p>
        </p:txBody>
      </p:sp>
      <p:sp>
        <p:nvSpPr>
          <p:cNvPr id="44" name="Shape 42"/>
          <p:cNvSpPr/>
          <p:nvPr/>
        </p:nvSpPr>
        <p:spPr>
          <a:xfrm>
            <a:off x="0" y="6583680"/>
            <a:ext cx="12191695" cy="274320"/>
          </a:xfrm>
          <a:prstGeom prst="rect">
            <a:avLst/>
          </a:prstGeom>
          <a:solidFill>
            <a:srgbClr val="0B1F3A"/>
          </a:solidFill>
          <a:ln w="12700">
            <a:solidFill>
              <a:srgbClr val="0B1F3A"/>
            </a:solidFill>
            <a:prstDash val="solid"/>
          </a:ln>
        </p:spPr>
      </p:sp>
      <p:sp>
        <p:nvSpPr>
          <p:cNvPr id="45" name="Text 43"/>
          <p:cNvSpPr/>
          <p:nvPr/>
        </p:nvSpPr>
        <p:spPr>
          <a:xfrm>
            <a:off x="365760" y="6601968"/>
            <a:ext cx="822960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Session 3  Demos providers</a:t>
            </a:r>
            <a:endParaRPr lang="en-US" sz="1000" dirty="0"/>
          </a:p>
        </p:txBody>
      </p:sp>
      <p:sp>
        <p:nvSpPr>
          <p:cNvPr id="46" name="Text 44"/>
          <p:cNvSpPr/>
          <p:nvPr/>
        </p:nvSpPr>
        <p:spPr>
          <a:xfrm>
            <a:off x="11551615" y="6601968"/>
            <a:ext cx="365760" cy="237744"/>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39</a:t>
            </a:r>
            <a:endParaRPr lang="en-US" sz="10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41">
    <p:bg>
      <p:bgPr>
        <a:solidFill>
          <a:srgbClr val="F5F8FC"/>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731520"/>
          </a:xfrm>
          <a:prstGeom prst="rect">
            <a:avLst/>
          </a:prstGeom>
          <a:noFill/>
          <a:ln/>
        </p:spPr>
        <p:txBody>
          <a:bodyPr wrap="square" lIns="0" tIns="0" rIns="0" bIns="0" rtlCol="0" anchor="ctr"/>
          <a:lstStyle/>
          <a:p>
            <a:pPr marL="0" indent="0" algn="l">
              <a:buNone/>
            </a:pPr>
            <a:r>
              <a:rPr lang="en-US" sz="3200" b="1" dirty="0" err="1">
                <a:solidFill>
                  <a:srgbClr val="0B1F3A"/>
                </a:solidFill>
                <a:latin typeface="Calibri" pitchFamily="34" charset="0"/>
                <a:ea typeface="Calibri" pitchFamily="34" charset="-122"/>
                <a:cs typeface="Calibri" pitchFamily="34" charset="-120"/>
              </a:rPr>
              <a:t>Comparatif</a:t>
            </a:r>
            <a:r>
              <a:rPr lang="en-US" sz="3200" b="1" dirty="0">
                <a:solidFill>
                  <a:srgbClr val="0B1F3A"/>
                </a:solidFill>
                <a:latin typeface="Calibri" pitchFamily="34" charset="0"/>
                <a:ea typeface="Calibri" pitchFamily="34" charset="-122"/>
                <a:cs typeface="Calibri" pitchFamily="34" charset="-120"/>
              </a:rPr>
              <a:t>  walled gardens &amp; neutres</a:t>
            </a:r>
            <a:endParaRPr lang="en-US" sz="3200" dirty="0"/>
          </a:p>
        </p:txBody>
      </p:sp>
      <p:sp>
        <p:nvSpPr>
          <p:cNvPr id="3" name="Shape 1"/>
          <p:cNvSpPr/>
          <p:nvPr/>
        </p:nvSpPr>
        <p:spPr>
          <a:xfrm>
            <a:off x="548640" y="1005840"/>
            <a:ext cx="548640" cy="73152"/>
          </a:xfrm>
          <a:prstGeom prst="rect">
            <a:avLst/>
          </a:prstGeom>
          <a:solidFill>
            <a:srgbClr val="F96167"/>
          </a:solidFill>
          <a:ln w="12700">
            <a:solidFill>
              <a:srgbClr val="F96167"/>
            </a:solidFill>
            <a:prstDash val="solid"/>
          </a:ln>
        </p:spPr>
      </p:sp>
      <p:sp>
        <p:nvSpPr>
          <p:cNvPr id="4" name="Text 2"/>
          <p:cNvSpPr/>
          <p:nvPr/>
        </p:nvSpPr>
        <p:spPr>
          <a:xfrm>
            <a:off x="548640" y="1143000"/>
            <a:ext cx="11064240" cy="411480"/>
          </a:xfrm>
          <a:prstGeom prst="rect">
            <a:avLst/>
          </a:prstGeom>
          <a:noFill/>
          <a:ln/>
        </p:spPr>
        <p:txBody>
          <a:bodyPr wrap="square" lIns="0" tIns="0" rIns="0" bIns="0" rtlCol="0" anchor="ctr"/>
          <a:lstStyle/>
          <a:p>
            <a:pPr marL="0" indent="0" algn="l">
              <a:buNone/>
            </a:pPr>
            <a:r>
              <a:rPr lang="en-US" sz="1600" i="1" dirty="0">
                <a:solidFill>
                  <a:srgbClr val="1C7293"/>
                </a:solidFill>
                <a:latin typeface="Calibri" pitchFamily="34" charset="0"/>
                <a:ea typeface="Calibri" pitchFamily="34" charset="-122"/>
                <a:cs typeface="Calibri" pitchFamily="34" charset="-120"/>
              </a:rPr>
              <a:t>La règle d'or : un walled garden pour mesurer chez lui, un neutre pour orchestrer entre plusieurs.</a:t>
            </a:r>
            <a:endParaRPr lang="en-US" sz="16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1064240" cy="3803904"/>
        </p:xfrm>
        <a:graphic>
          <a:graphicData uri="http://schemas.openxmlformats.org/drawingml/2006/table">
            <a:tbl>
              <a:tblPr/>
              <a:tblGrid>
                <a:gridCol w="192024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gridCol w="2194560">
                  <a:extLst>
                    <a:ext uri="{9D8B030D-6E8A-4147-A177-3AD203B41FA5}">
                      <a16:colId xmlns:a16="http://schemas.microsoft.com/office/drawing/2014/main" val="20004"/>
                    </a:ext>
                  </a:extLst>
                </a:gridCol>
              </a:tblGrid>
              <a:tr h="475488">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Provider</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F3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Type</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F3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Quand l'utiliser</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F3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Accès inventaire</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F3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Limite</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F3A"/>
                    </a:solidFill>
                  </a:tcPr>
                </a:tc>
                <a:extLst>
                  <a:ext uri="{0D108BD9-81ED-4DB2-BD59-A6C34878D82A}">
                    <a16:rowId xmlns:a16="http://schemas.microsoft.com/office/drawing/2014/main" val="10000"/>
                  </a:ext>
                </a:extLst>
              </a:tr>
              <a:tr h="475488">
                <a:tc>
                  <a:txBody>
                    <a:bodyPr/>
                    <a:lstStyle/>
                    <a:p>
                      <a:pPr marL="0" indent="0">
                        <a:buNone/>
                      </a:pPr>
                      <a:r>
                        <a:rPr lang="en-US" sz="1100" b="1" dirty="0">
                          <a:solidFill>
                            <a:srgbClr val="065A82"/>
                          </a:solidFill>
                          <a:latin typeface="Calibri" pitchFamily="34" charset="0"/>
                          <a:ea typeface="Calibri" pitchFamily="34" charset="-122"/>
                          <a:cs typeface="Calibri" pitchFamily="34" charset="-120"/>
                        </a:rPr>
                        <a:t>Meta AA</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Walled garden</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Mesure campagnes Meta</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Meta (FB/IG)</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Invite-only</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100" b="1" dirty="0">
                          <a:solidFill>
                            <a:srgbClr val="065A82"/>
                          </a:solidFill>
                          <a:latin typeface="Calibri" pitchFamily="34" charset="0"/>
                          <a:ea typeface="Calibri" pitchFamily="34" charset="-122"/>
                          <a:cs typeface="Calibri" pitchFamily="34" charset="-120"/>
                        </a:rPr>
                        <a:t>Amazon AMC</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8FC"/>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Walled garden</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8FC"/>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Mesure campagnes Amazon</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8FC"/>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Amazon + Prime</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8FC"/>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Amazon only</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8FC"/>
                    </a:solidFill>
                  </a:tcPr>
                </a:tc>
                <a:extLst>
                  <a:ext uri="{0D108BD9-81ED-4DB2-BD59-A6C34878D82A}">
                    <a16:rowId xmlns:a16="http://schemas.microsoft.com/office/drawing/2014/main" val="10002"/>
                  </a:ext>
                </a:extLst>
              </a:tr>
              <a:tr h="475488">
                <a:tc>
                  <a:txBody>
                    <a:bodyPr/>
                    <a:lstStyle/>
                    <a:p>
                      <a:pPr marL="0" indent="0">
                        <a:buNone/>
                      </a:pPr>
                      <a:r>
                        <a:rPr lang="en-US" sz="1100" b="1" dirty="0">
                          <a:solidFill>
                            <a:srgbClr val="065A82"/>
                          </a:solidFill>
                          <a:latin typeface="Calibri" pitchFamily="34" charset="0"/>
                          <a:ea typeface="Calibri" pitchFamily="34" charset="-122"/>
                          <a:cs typeface="Calibri" pitchFamily="34" charset="-120"/>
                        </a:rPr>
                        <a:t>TTD / UID 2.0</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Ads + Identity</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Activation cookieless CTV</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Écosystème open</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Adoption en cours</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100" b="1" dirty="0">
                          <a:solidFill>
                            <a:srgbClr val="065A82"/>
                          </a:solidFill>
                          <a:latin typeface="Calibri" pitchFamily="34" charset="0"/>
                          <a:ea typeface="Calibri" pitchFamily="34" charset="-122"/>
                          <a:cs typeface="Calibri" pitchFamily="34" charset="-120"/>
                        </a:rPr>
                        <a:t>LiveRamp</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8FC"/>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Neutre</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8FC"/>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Retail media + identity</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8FC"/>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100+ partenaires</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8FC"/>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Licence €€€</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8FC"/>
                    </a:solidFill>
                  </a:tcPr>
                </a:tc>
                <a:extLst>
                  <a:ext uri="{0D108BD9-81ED-4DB2-BD59-A6C34878D82A}">
                    <a16:rowId xmlns:a16="http://schemas.microsoft.com/office/drawing/2014/main" val="10004"/>
                  </a:ext>
                </a:extLst>
              </a:tr>
              <a:tr h="475488">
                <a:tc>
                  <a:txBody>
                    <a:bodyPr/>
                    <a:lstStyle/>
                    <a:p>
                      <a:pPr marL="0" indent="0">
                        <a:buNone/>
                      </a:pPr>
                      <a:r>
                        <a:rPr lang="en-US" sz="1100" b="1" dirty="0">
                          <a:solidFill>
                            <a:srgbClr val="065A82"/>
                          </a:solidFill>
                          <a:latin typeface="Calibri" pitchFamily="34" charset="0"/>
                          <a:ea typeface="Calibri" pitchFamily="34" charset="-122"/>
                          <a:cs typeface="Calibri" pitchFamily="34" charset="-120"/>
                        </a:rPr>
                        <a:t>Habu</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Cross-cloud</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Collab multi-DCR</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Tous clouds</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Intégré LiveRamp</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100" b="1" dirty="0">
                          <a:solidFill>
                            <a:srgbClr val="065A82"/>
                          </a:solidFill>
                          <a:latin typeface="Calibri" pitchFamily="34" charset="0"/>
                          <a:ea typeface="Calibri" pitchFamily="34" charset="-122"/>
                          <a:cs typeface="Calibri" pitchFamily="34" charset="-120"/>
                        </a:rPr>
                        <a:t>InfoSum</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8FC"/>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Neutre</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8FC"/>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TV + broadcasters</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8FC"/>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UK/EU premium</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8FC"/>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Moins de connectors</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8FC"/>
                    </a:solidFill>
                  </a:tcPr>
                </a:tc>
                <a:extLst>
                  <a:ext uri="{0D108BD9-81ED-4DB2-BD59-A6C34878D82A}">
                    <a16:rowId xmlns:a16="http://schemas.microsoft.com/office/drawing/2014/main" val="10006"/>
                  </a:ext>
                </a:extLst>
              </a:tr>
              <a:tr h="475488">
                <a:tc>
                  <a:txBody>
                    <a:bodyPr/>
                    <a:lstStyle/>
                    <a:p>
                      <a:pPr marL="0" indent="0">
                        <a:buNone/>
                      </a:pPr>
                      <a:r>
                        <a:rPr lang="en-US" sz="1100" b="1" dirty="0">
                          <a:solidFill>
                            <a:srgbClr val="065A82"/>
                          </a:solidFill>
                          <a:latin typeface="Calibri" pitchFamily="34" charset="0"/>
                          <a:ea typeface="Calibri" pitchFamily="34" charset="-122"/>
                          <a:cs typeface="Calibri" pitchFamily="34" charset="-120"/>
                        </a:rPr>
                        <a:t>Decentriq</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Neutre + SGX</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Secteurs régulés</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Multi-cloud</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Coût compute</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Shape 3"/>
          <p:cNvSpPr/>
          <p:nvPr/>
        </p:nvSpPr>
        <p:spPr>
          <a:xfrm>
            <a:off x="640080" y="5715000"/>
            <a:ext cx="11064240" cy="685800"/>
          </a:xfrm>
          <a:prstGeom prst="rect">
            <a:avLst/>
          </a:prstGeom>
          <a:solidFill>
            <a:srgbClr val="0B1F3A"/>
          </a:solidFill>
          <a:ln w="12700">
            <a:solidFill>
              <a:srgbClr val="0B1F3A"/>
            </a:solidFill>
            <a:prstDash val="solid"/>
          </a:ln>
          <a:effectLst>
            <a:outerShdw blurRad="76200" dist="25400" dir="8100000" algn="bl" rotWithShape="0">
              <a:srgbClr val="000000">
                <a:alpha val="12000"/>
              </a:srgbClr>
            </a:outerShdw>
          </a:effectLst>
        </p:spPr>
      </p:sp>
      <p:sp>
        <p:nvSpPr>
          <p:cNvPr id="7" name="Shape 4"/>
          <p:cNvSpPr/>
          <p:nvPr/>
        </p:nvSpPr>
        <p:spPr>
          <a:xfrm>
            <a:off x="640080" y="5715000"/>
            <a:ext cx="109728" cy="685800"/>
          </a:xfrm>
          <a:prstGeom prst="rect">
            <a:avLst/>
          </a:prstGeom>
          <a:solidFill>
            <a:srgbClr val="F96167"/>
          </a:solidFill>
          <a:ln w="12700">
            <a:solidFill>
              <a:srgbClr val="F96167"/>
            </a:solidFill>
            <a:prstDash val="solid"/>
          </a:ln>
        </p:spPr>
      </p:sp>
      <p:sp>
        <p:nvSpPr>
          <p:cNvPr id="8" name="Text 5"/>
          <p:cNvSpPr/>
          <p:nvPr/>
        </p:nvSpPr>
        <p:spPr>
          <a:xfrm>
            <a:off x="868680" y="5760720"/>
            <a:ext cx="4572000" cy="274320"/>
          </a:xfrm>
          <a:prstGeom prst="rect">
            <a:avLst/>
          </a:prstGeom>
          <a:noFill/>
          <a:ln/>
        </p:spPr>
        <p:txBody>
          <a:bodyPr wrap="square" lIns="0" tIns="0" rIns="0" bIns="0" rtlCol="0" anchor="ctr"/>
          <a:lstStyle/>
          <a:p>
            <a:pPr marL="0" indent="0">
              <a:buNone/>
            </a:pPr>
            <a:r>
              <a:rPr lang="en-US" sz="1100" b="1" kern="0" spc="150" dirty="0">
                <a:solidFill>
                  <a:srgbClr val="F9B233"/>
                </a:solidFill>
                <a:latin typeface="Calibri" pitchFamily="34" charset="0"/>
                <a:ea typeface="Calibri" pitchFamily="34" charset="-122"/>
                <a:cs typeface="Calibri" pitchFamily="34" charset="-120"/>
              </a:rPr>
              <a:t>STRATÉGIE TYPIQUE EN 2026</a:t>
            </a:r>
            <a:endParaRPr lang="en-US" sz="1100" dirty="0"/>
          </a:p>
        </p:txBody>
      </p:sp>
      <p:sp>
        <p:nvSpPr>
          <p:cNvPr id="9" name="Text 6"/>
          <p:cNvSpPr/>
          <p:nvPr/>
        </p:nvSpPr>
        <p:spPr>
          <a:xfrm>
            <a:off x="868680" y="5989320"/>
            <a:ext cx="10789920" cy="3657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Un stack hybride : Walled garden (Meta/Amazon) pour mesurer chez eux + un neutre (LiveRamp/Snowflake) pour orchestrer.</a:t>
            </a:r>
            <a:endParaRPr lang="en-US" sz="1200" dirty="0"/>
          </a:p>
        </p:txBody>
      </p:sp>
      <p:sp>
        <p:nvSpPr>
          <p:cNvPr id="10" name="Shape 7"/>
          <p:cNvSpPr/>
          <p:nvPr/>
        </p:nvSpPr>
        <p:spPr>
          <a:xfrm>
            <a:off x="0" y="6583680"/>
            <a:ext cx="12191695" cy="274320"/>
          </a:xfrm>
          <a:prstGeom prst="rect">
            <a:avLst/>
          </a:prstGeom>
          <a:solidFill>
            <a:srgbClr val="0B1F3A"/>
          </a:solidFill>
          <a:ln w="12700">
            <a:solidFill>
              <a:srgbClr val="0B1F3A"/>
            </a:solidFill>
            <a:prstDash val="solid"/>
          </a:ln>
        </p:spPr>
      </p:sp>
      <p:sp>
        <p:nvSpPr>
          <p:cNvPr id="11" name="Text 8"/>
          <p:cNvSpPr/>
          <p:nvPr/>
        </p:nvSpPr>
        <p:spPr>
          <a:xfrm>
            <a:off x="365760" y="6601968"/>
            <a:ext cx="822960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Session 3  Ads &amp; Neutres</a:t>
            </a:r>
            <a:endParaRPr lang="en-US" sz="1000" dirty="0"/>
          </a:p>
        </p:txBody>
      </p:sp>
      <p:sp>
        <p:nvSpPr>
          <p:cNvPr id="12" name="Text 9"/>
          <p:cNvSpPr/>
          <p:nvPr/>
        </p:nvSpPr>
        <p:spPr>
          <a:xfrm>
            <a:off x="11551615" y="6601968"/>
            <a:ext cx="365760" cy="237744"/>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40</a:t>
            </a:r>
            <a:endParaRPr lang="en-US" sz="10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42">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8229600" y="-2743200"/>
            <a:ext cx="7315200" cy="7315200"/>
          </a:xfrm>
          <a:prstGeom prst="ellipse">
            <a:avLst/>
          </a:prstGeom>
          <a:solidFill>
            <a:srgbClr val="F96167">
              <a:alpha val="15000"/>
            </a:srgbClr>
          </a:solidFill>
          <a:ln w="12700">
            <a:solidFill>
              <a:srgbClr val="F96167">
                <a:alpha val="15000"/>
              </a:srgbClr>
            </a:solidFill>
            <a:prstDash val="solid"/>
          </a:ln>
        </p:spPr>
      </p:sp>
      <p:sp>
        <p:nvSpPr>
          <p:cNvPr id="3" name="Shape 1"/>
          <p:cNvSpPr/>
          <p:nvPr/>
        </p:nvSpPr>
        <p:spPr>
          <a:xfrm>
            <a:off x="548640" y="822960"/>
            <a:ext cx="137160" cy="914400"/>
          </a:xfrm>
          <a:prstGeom prst="rect">
            <a:avLst/>
          </a:prstGeom>
          <a:solidFill>
            <a:srgbClr val="F96167"/>
          </a:solidFill>
          <a:ln w="12700">
            <a:solidFill>
              <a:srgbClr val="F96167"/>
            </a:solidFill>
            <a:prstDash val="solid"/>
          </a:ln>
        </p:spPr>
      </p:sp>
      <p:sp>
        <p:nvSpPr>
          <p:cNvPr id="4" name="Text 2"/>
          <p:cNvSpPr/>
          <p:nvPr/>
        </p:nvSpPr>
        <p:spPr>
          <a:xfrm>
            <a:off x="548640" y="457200"/>
            <a:ext cx="9144000" cy="365760"/>
          </a:xfrm>
          <a:prstGeom prst="rect">
            <a:avLst/>
          </a:prstGeom>
          <a:noFill/>
          <a:ln/>
        </p:spPr>
        <p:txBody>
          <a:bodyPr wrap="square" lIns="0" tIns="0" rIns="0" bIns="0" rtlCol="0" anchor="ctr"/>
          <a:lstStyle/>
          <a:p>
            <a:pPr marL="0" indent="0">
              <a:buNone/>
            </a:pPr>
            <a:r>
              <a:rPr lang="en-US" sz="1400" b="1" kern="0" spc="300" dirty="0">
                <a:solidFill>
                  <a:srgbClr val="F9B233"/>
                </a:solidFill>
                <a:latin typeface="Calibri" pitchFamily="34" charset="0"/>
                <a:ea typeface="Calibri" pitchFamily="34" charset="-122"/>
                <a:cs typeface="Calibri" pitchFamily="34" charset="-120"/>
              </a:rPr>
              <a:t>RÉCAP SESSION 3</a:t>
            </a:r>
            <a:endParaRPr lang="en-US" sz="1400" dirty="0"/>
          </a:p>
        </p:txBody>
      </p:sp>
      <p:sp>
        <p:nvSpPr>
          <p:cNvPr id="5" name="Text 3"/>
          <p:cNvSpPr/>
          <p:nvPr/>
        </p:nvSpPr>
        <p:spPr>
          <a:xfrm>
            <a:off x="548640" y="914400"/>
            <a:ext cx="10972800" cy="73152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7 acteurs à retenir</a:t>
            </a:r>
            <a:endParaRPr lang="en-US" sz="4000" dirty="0"/>
          </a:p>
        </p:txBody>
      </p:sp>
      <p:sp>
        <p:nvSpPr>
          <p:cNvPr id="6" name="Shape 4"/>
          <p:cNvSpPr/>
          <p:nvPr/>
        </p:nvSpPr>
        <p:spPr>
          <a:xfrm>
            <a:off x="548640" y="1920240"/>
            <a:ext cx="5486400" cy="914400"/>
          </a:xfrm>
          <a:prstGeom prst="rect">
            <a:avLst/>
          </a:prstGeom>
          <a:solidFill>
            <a:srgbClr val="FFFFFF">
              <a:alpha val="8000"/>
            </a:srgbClr>
          </a:solidFill>
          <a:ln w="6350">
            <a:solidFill>
              <a:srgbClr val="1C7293"/>
            </a:solidFill>
            <a:prstDash val="solid"/>
          </a:ln>
        </p:spPr>
      </p:sp>
      <p:sp>
        <p:nvSpPr>
          <p:cNvPr id="7" name="Shape 5"/>
          <p:cNvSpPr/>
          <p:nvPr/>
        </p:nvSpPr>
        <p:spPr>
          <a:xfrm>
            <a:off x="548640" y="1920240"/>
            <a:ext cx="73152" cy="914400"/>
          </a:xfrm>
          <a:prstGeom prst="rect">
            <a:avLst/>
          </a:prstGeom>
          <a:solidFill>
            <a:srgbClr val="F96167"/>
          </a:solidFill>
          <a:ln w="12700">
            <a:solidFill>
              <a:srgbClr val="F96167"/>
            </a:solidFill>
            <a:prstDash val="solid"/>
          </a:ln>
        </p:spPr>
      </p:sp>
      <p:sp>
        <p:nvSpPr>
          <p:cNvPr id="8" name="Text 6"/>
          <p:cNvSpPr/>
          <p:nvPr/>
        </p:nvSpPr>
        <p:spPr>
          <a:xfrm>
            <a:off x="731520" y="2029968"/>
            <a:ext cx="5212080" cy="320040"/>
          </a:xfrm>
          <a:prstGeom prst="rect">
            <a:avLst/>
          </a:prstGeom>
          <a:noFill/>
          <a:ln/>
        </p:spPr>
        <p:txBody>
          <a:bodyPr wrap="square" lIns="0" tIns="0" rIns="0" bIns="0" rtlCol="0" anchor="ctr"/>
          <a:lstStyle/>
          <a:p>
            <a:pPr marL="0" indent="0">
              <a:buNone/>
            </a:pPr>
            <a:r>
              <a:rPr lang="en-US" sz="1400" b="1" dirty="0">
                <a:solidFill>
                  <a:srgbClr val="F9B233"/>
                </a:solidFill>
                <a:latin typeface="Calibri" pitchFamily="34" charset="0"/>
                <a:ea typeface="Calibri" pitchFamily="34" charset="-122"/>
                <a:cs typeface="Calibri" pitchFamily="34" charset="-120"/>
              </a:rPr>
              <a:t>Meta Advanced Analytics</a:t>
            </a:r>
            <a:endParaRPr lang="en-US" sz="1400" dirty="0"/>
          </a:p>
        </p:txBody>
      </p:sp>
      <p:sp>
        <p:nvSpPr>
          <p:cNvPr id="9" name="Text 7"/>
          <p:cNvSpPr/>
          <p:nvPr/>
        </p:nvSpPr>
        <p:spPr>
          <a:xfrm>
            <a:off x="731520" y="2350008"/>
            <a:ext cx="5212080" cy="457200"/>
          </a:xfrm>
          <a:prstGeom prst="rect">
            <a:avLst/>
          </a:prstGeom>
          <a:noFill/>
          <a:ln/>
        </p:spPr>
        <p:txBody>
          <a:bodyPr wrap="square" lIns="0" tIns="0" rIns="0" bIns="0" rtlCol="0" anchor="t"/>
          <a:lstStyle/>
          <a:p>
            <a:pPr marL="0" indent="0">
              <a:buNone/>
            </a:pPr>
            <a:r>
              <a:rPr lang="en-US" sz="1100" dirty="0">
                <a:solidFill>
                  <a:srgbClr val="FFFFFF"/>
                </a:solidFill>
                <a:latin typeface="Calibri" pitchFamily="34" charset="0"/>
                <a:ea typeface="Calibri" pitchFamily="34" charset="-122"/>
                <a:cs typeface="Calibri" pitchFamily="34" charset="-120"/>
              </a:rPr>
              <a:t>Mesure sérieuse des campagnes Meta + lift.</a:t>
            </a:r>
            <a:endParaRPr lang="en-US" sz="1100" dirty="0"/>
          </a:p>
        </p:txBody>
      </p:sp>
      <p:sp>
        <p:nvSpPr>
          <p:cNvPr id="10" name="Shape 8"/>
          <p:cNvSpPr/>
          <p:nvPr/>
        </p:nvSpPr>
        <p:spPr>
          <a:xfrm>
            <a:off x="6126480" y="1920240"/>
            <a:ext cx="5486400" cy="914400"/>
          </a:xfrm>
          <a:prstGeom prst="rect">
            <a:avLst/>
          </a:prstGeom>
          <a:solidFill>
            <a:srgbClr val="FFFFFF">
              <a:alpha val="8000"/>
            </a:srgbClr>
          </a:solidFill>
          <a:ln w="6350">
            <a:solidFill>
              <a:srgbClr val="1C7293"/>
            </a:solidFill>
            <a:prstDash val="solid"/>
          </a:ln>
        </p:spPr>
      </p:sp>
      <p:sp>
        <p:nvSpPr>
          <p:cNvPr id="11" name="Shape 9"/>
          <p:cNvSpPr/>
          <p:nvPr/>
        </p:nvSpPr>
        <p:spPr>
          <a:xfrm>
            <a:off x="6126480" y="1920240"/>
            <a:ext cx="73152" cy="914400"/>
          </a:xfrm>
          <a:prstGeom prst="rect">
            <a:avLst/>
          </a:prstGeom>
          <a:solidFill>
            <a:srgbClr val="F96167"/>
          </a:solidFill>
          <a:ln w="12700">
            <a:solidFill>
              <a:srgbClr val="F96167"/>
            </a:solidFill>
            <a:prstDash val="solid"/>
          </a:ln>
        </p:spPr>
      </p:sp>
      <p:sp>
        <p:nvSpPr>
          <p:cNvPr id="12" name="Text 10"/>
          <p:cNvSpPr/>
          <p:nvPr/>
        </p:nvSpPr>
        <p:spPr>
          <a:xfrm>
            <a:off x="6309360" y="2029968"/>
            <a:ext cx="5212080" cy="320040"/>
          </a:xfrm>
          <a:prstGeom prst="rect">
            <a:avLst/>
          </a:prstGeom>
          <a:noFill/>
          <a:ln/>
        </p:spPr>
        <p:txBody>
          <a:bodyPr wrap="square" lIns="0" tIns="0" rIns="0" bIns="0" rtlCol="0" anchor="ctr"/>
          <a:lstStyle/>
          <a:p>
            <a:pPr marL="0" indent="0">
              <a:buNone/>
            </a:pPr>
            <a:r>
              <a:rPr lang="en-US" sz="1400" b="1" dirty="0">
                <a:solidFill>
                  <a:srgbClr val="F9B233"/>
                </a:solidFill>
                <a:latin typeface="Calibri" pitchFamily="34" charset="0"/>
                <a:ea typeface="Calibri" pitchFamily="34" charset="-122"/>
                <a:cs typeface="Calibri" pitchFamily="34" charset="-120"/>
              </a:rPr>
              <a:t>Amazon Marketing Cloud</a:t>
            </a:r>
            <a:endParaRPr lang="en-US" sz="1400" dirty="0"/>
          </a:p>
        </p:txBody>
      </p:sp>
      <p:sp>
        <p:nvSpPr>
          <p:cNvPr id="13" name="Text 11"/>
          <p:cNvSpPr/>
          <p:nvPr/>
        </p:nvSpPr>
        <p:spPr>
          <a:xfrm>
            <a:off x="6309360" y="2350008"/>
            <a:ext cx="5212080" cy="457200"/>
          </a:xfrm>
          <a:prstGeom prst="rect">
            <a:avLst/>
          </a:prstGeom>
          <a:noFill/>
          <a:ln/>
        </p:spPr>
        <p:txBody>
          <a:bodyPr wrap="square" lIns="0" tIns="0" rIns="0" bIns="0" rtlCol="0" anchor="t"/>
          <a:lstStyle/>
          <a:p>
            <a:pPr marL="0" indent="0">
              <a:buNone/>
            </a:pPr>
            <a:r>
              <a:rPr lang="en-US" sz="1100" dirty="0">
                <a:solidFill>
                  <a:srgbClr val="FFFFFF"/>
                </a:solidFill>
                <a:latin typeface="Calibri" pitchFamily="34" charset="0"/>
                <a:ea typeface="Calibri" pitchFamily="34" charset="-122"/>
                <a:cs typeface="Calibri" pitchFamily="34" charset="-120"/>
              </a:rPr>
              <a:t>Halo-effect Amazon Ads → retail physique.</a:t>
            </a:r>
            <a:endParaRPr lang="en-US" sz="1100" dirty="0"/>
          </a:p>
        </p:txBody>
      </p:sp>
      <p:sp>
        <p:nvSpPr>
          <p:cNvPr id="14" name="Shape 12"/>
          <p:cNvSpPr/>
          <p:nvPr/>
        </p:nvSpPr>
        <p:spPr>
          <a:xfrm>
            <a:off x="548640" y="2971800"/>
            <a:ext cx="5486400" cy="914400"/>
          </a:xfrm>
          <a:prstGeom prst="rect">
            <a:avLst/>
          </a:prstGeom>
          <a:solidFill>
            <a:srgbClr val="FFFFFF">
              <a:alpha val="8000"/>
            </a:srgbClr>
          </a:solidFill>
          <a:ln w="6350">
            <a:solidFill>
              <a:srgbClr val="1C7293"/>
            </a:solidFill>
            <a:prstDash val="solid"/>
          </a:ln>
        </p:spPr>
      </p:sp>
      <p:sp>
        <p:nvSpPr>
          <p:cNvPr id="15" name="Shape 13"/>
          <p:cNvSpPr/>
          <p:nvPr/>
        </p:nvSpPr>
        <p:spPr>
          <a:xfrm>
            <a:off x="548640" y="2971800"/>
            <a:ext cx="73152" cy="914400"/>
          </a:xfrm>
          <a:prstGeom prst="rect">
            <a:avLst/>
          </a:prstGeom>
          <a:solidFill>
            <a:srgbClr val="F96167"/>
          </a:solidFill>
          <a:ln w="12700">
            <a:solidFill>
              <a:srgbClr val="F96167"/>
            </a:solidFill>
            <a:prstDash val="solid"/>
          </a:ln>
        </p:spPr>
      </p:sp>
      <p:sp>
        <p:nvSpPr>
          <p:cNvPr id="16" name="Text 14"/>
          <p:cNvSpPr/>
          <p:nvPr/>
        </p:nvSpPr>
        <p:spPr>
          <a:xfrm>
            <a:off x="731520" y="3081528"/>
            <a:ext cx="5212080" cy="320040"/>
          </a:xfrm>
          <a:prstGeom prst="rect">
            <a:avLst/>
          </a:prstGeom>
          <a:noFill/>
          <a:ln/>
        </p:spPr>
        <p:txBody>
          <a:bodyPr wrap="square" lIns="0" tIns="0" rIns="0" bIns="0" rtlCol="0" anchor="ctr"/>
          <a:lstStyle/>
          <a:p>
            <a:pPr marL="0" indent="0">
              <a:buNone/>
            </a:pPr>
            <a:r>
              <a:rPr lang="en-US" sz="1400" b="1" dirty="0">
                <a:solidFill>
                  <a:srgbClr val="F9B233"/>
                </a:solidFill>
                <a:latin typeface="Calibri" pitchFamily="34" charset="0"/>
                <a:ea typeface="Calibri" pitchFamily="34" charset="-122"/>
                <a:cs typeface="Calibri" pitchFamily="34" charset="-120"/>
              </a:rPr>
              <a:t>TTD + UID 2.0</a:t>
            </a:r>
            <a:endParaRPr lang="en-US" sz="1400" dirty="0"/>
          </a:p>
        </p:txBody>
      </p:sp>
      <p:sp>
        <p:nvSpPr>
          <p:cNvPr id="17" name="Text 15"/>
          <p:cNvSpPr/>
          <p:nvPr/>
        </p:nvSpPr>
        <p:spPr>
          <a:xfrm>
            <a:off x="731520" y="3401568"/>
            <a:ext cx="5212080" cy="457200"/>
          </a:xfrm>
          <a:prstGeom prst="rect">
            <a:avLst/>
          </a:prstGeom>
          <a:noFill/>
          <a:ln/>
        </p:spPr>
        <p:txBody>
          <a:bodyPr wrap="square" lIns="0" tIns="0" rIns="0" bIns="0" rtlCol="0" anchor="t"/>
          <a:lstStyle/>
          <a:p>
            <a:pPr marL="0" indent="0">
              <a:buNone/>
            </a:pPr>
            <a:r>
              <a:rPr lang="en-US" sz="1100" dirty="0">
                <a:solidFill>
                  <a:srgbClr val="FFFFFF"/>
                </a:solidFill>
                <a:latin typeface="Calibri" pitchFamily="34" charset="0"/>
                <a:ea typeface="Calibri" pitchFamily="34" charset="-122"/>
                <a:cs typeface="Calibri" pitchFamily="34" charset="-120"/>
              </a:rPr>
              <a:t>Activation CTV cookieless via éditeurs premium.</a:t>
            </a:r>
            <a:endParaRPr lang="en-US" sz="1100" dirty="0"/>
          </a:p>
        </p:txBody>
      </p:sp>
      <p:sp>
        <p:nvSpPr>
          <p:cNvPr id="18" name="Shape 16"/>
          <p:cNvSpPr/>
          <p:nvPr/>
        </p:nvSpPr>
        <p:spPr>
          <a:xfrm>
            <a:off x="6126480" y="2971800"/>
            <a:ext cx="5486400" cy="914400"/>
          </a:xfrm>
          <a:prstGeom prst="rect">
            <a:avLst/>
          </a:prstGeom>
          <a:solidFill>
            <a:srgbClr val="FFFFFF">
              <a:alpha val="8000"/>
            </a:srgbClr>
          </a:solidFill>
          <a:ln w="6350">
            <a:solidFill>
              <a:srgbClr val="1C7293"/>
            </a:solidFill>
            <a:prstDash val="solid"/>
          </a:ln>
        </p:spPr>
      </p:sp>
      <p:sp>
        <p:nvSpPr>
          <p:cNvPr id="19" name="Shape 17"/>
          <p:cNvSpPr/>
          <p:nvPr/>
        </p:nvSpPr>
        <p:spPr>
          <a:xfrm>
            <a:off x="6126480" y="2971800"/>
            <a:ext cx="73152" cy="914400"/>
          </a:xfrm>
          <a:prstGeom prst="rect">
            <a:avLst/>
          </a:prstGeom>
          <a:solidFill>
            <a:srgbClr val="F96167"/>
          </a:solidFill>
          <a:ln w="12700">
            <a:solidFill>
              <a:srgbClr val="F96167"/>
            </a:solidFill>
            <a:prstDash val="solid"/>
          </a:ln>
        </p:spPr>
      </p:sp>
      <p:sp>
        <p:nvSpPr>
          <p:cNvPr id="20" name="Text 18"/>
          <p:cNvSpPr/>
          <p:nvPr/>
        </p:nvSpPr>
        <p:spPr>
          <a:xfrm>
            <a:off x="6309360" y="3081528"/>
            <a:ext cx="5212080" cy="320040"/>
          </a:xfrm>
          <a:prstGeom prst="rect">
            <a:avLst/>
          </a:prstGeom>
          <a:noFill/>
          <a:ln/>
        </p:spPr>
        <p:txBody>
          <a:bodyPr wrap="square" lIns="0" tIns="0" rIns="0" bIns="0" rtlCol="0" anchor="ctr"/>
          <a:lstStyle/>
          <a:p>
            <a:pPr marL="0" indent="0">
              <a:buNone/>
            </a:pPr>
            <a:r>
              <a:rPr lang="en-US" sz="1400" b="1" dirty="0">
                <a:solidFill>
                  <a:srgbClr val="F9B233"/>
                </a:solidFill>
                <a:latin typeface="Calibri" pitchFamily="34" charset="0"/>
                <a:ea typeface="Calibri" pitchFamily="34" charset="-122"/>
                <a:cs typeface="Calibri" pitchFamily="34" charset="-120"/>
              </a:rPr>
              <a:t>LiveRamp Safe Haven</a:t>
            </a:r>
            <a:endParaRPr lang="en-US" sz="1400" dirty="0"/>
          </a:p>
        </p:txBody>
      </p:sp>
      <p:sp>
        <p:nvSpPr>
          <p:cNvPr id="21" name="Text 19"/>
          <p:cNvSpPr/>
          <p:nvPr/>
        </p:nvSpPr>
        <p:spPr>
          <a:xfrm>
            <a:off x="6309360" y="3401568"/>
            <a:ext cx="5212080" cy="457200"/>
          </a:xfrm>
          <a:prstGeom prst="rect">
            <a:avLst/>
          </a:prstGeom>
          <a:noFill/>
          <a:ln/>
        </p:spPr>
        <p:txBody>
          <a:bodyPr wrap="square" lIns="0" tIns="0" rIns="0" bIns="0" rtlCol="0" anchor="t"/>
          <a:lstStyle/>
          <a:p>
            <a:pPr marL="0" indent="0">
              <a:buNone/>
            </a:pPr>
            <a:r>
              <a:rPr lang="en-US" sz="1100" dirty="0">
                <a:solidFill>
                  <a:srgbClr val="FFFFFF"/>
                </a:solidFill>
                <a:latin typeface="Calibri" pitchFamily="34" charset="0"/>
                <a:ea typeface="Calibri" pitchFamily="34" charset="-122"/>
                <a:cs typeface="Calibri" pitchFamily="34" charset="-120"/>
              </a:rPr>
              <a:t>Infrastructure du retail media FR/EU.</a:t>
            </a:r>
            <a:endParaRPr lang="en-US" sz="1100" dirty="0"/>
          </a:p>
        </p:txBody>
      </p:sp>
      <p:sp>
        <p:nvSpPr>
          <p:cNvPr id="22" name="Shape 20"/>
          <p:cNvSpPr/>
          <p:nvPr/>
        </p:nvSpPr>
        <p:spPr>
          <a:xfrm>
            <a:off x="548640" y="4023360"/>
            <a:ext cx="5486400" cy="914400"/>
          </a:xfrm>
          <a:prstGeom prst="rect">
            <a:avLst/>
          </a:prstGeom>
          <a:solidFill>
            <a:srgbClr val="FFFFFF">
              <a:alpha val="8000"/>
            </a:srgbClr>
          </a:solidFill>
          <a:ln w="6350">
            <a:solidFill>
              <a:srgbClr val="1C7293"/>
            </a:solidFill>
            <a:prstDash val="solid"/>
          </a:ln>
        </p:spPr>
      </p:sp>
      <p:sp>
        <p:nvSpPr>
          <p:cNvPr id="23" name="Shape 21"/>
          <p:cNvSpPr/>
          <p:nvPr/>
        </p:nvSpPr>
        <p:spPr>
          <a:xfrm>
            <a:off x="548640" y="4023360"/>
            <a:ext cx="73152" cy="914400"/>
          </a:xfrm>
          <a:prstGeom prst="rect">
            <a:avLst/>
          </a:prstGeom>
          <a:solidFill>
            <a:srgbClr val="F96167"/>
          </a:solidFill>
          <a:ln w="12700">
            <a:solidFill>
              <a:srgbClr val="F96167"/>
            </a:solidFill>
            <a:prstDash val="solid"/>
          </a:ln>
        </p:spPr>
      </p:sp>
      <p:sp>
        <p:nvSpPr>
          <p:cNvPr id="24" name="Text 22"/>
          <p:cNvSpPr/>
          <p:nvPr/>
        </p:nvSpPr>
        <p:spPr>
          <a:xfrm>
            <a:off x="731520" y="4133088"/>
            <a:ext cx="5212080" cy="320040"/>
          </a:xfrm>
          <a:prstGeom prst="rect">
            <a:avLst/>
          </a:prstGeom>
          <a:noFill/>
          <a:ln/>
        </p:spPr>
        <p:txBody>
          <a:bodyPr wrap="square" lIns="0" tIns="0" rIns="0" bIns="0" rtlCol="0" anchor="ctr"/>
          <a:lstStyle/>
          <a:p>
            <a:pPr marL="0" indent="0">
              <a:buNone/>
            </a:pPr>
            <a:r>
              <a:rPr lang="en-US" sz="1400" b="1" dirty="0">
                <a:solidFill>
                  <a:srgbClr val="F9B233"/>
                </a:solidFill>
                <a:latin typeface="Calibri" pitchFamily="34" charset="0"/>
                <a:ea typeface="Calibri" pitchFamily="34" charset="-122"/>
                <a:cs typeface="Calibri" pitchFamily="34" charset="-120"/>
              </a:rPr>
              <a:t>Habu</a:t>
            </a:r>
            <a:endParaRPr lang="en-US" sz="1400" dirty="0"/>
          </a:p>
        </p:txBody>
      </p:sp>
      <p:sp>
        <p:nvSpPr>
          <p:cNvPr id="25" name="Text 23"/>
          <p:cNvSpPr/>
          <p:nvPr/>
        </p:nvSpPr>
        <p:spPr>
          <a:xfrm>
            <a:off x="731520" y="4453128"/>
            <a:ext cx="5212080" cy="457200"/>
          </a:xfrm>
          <a:prstGeom prst="rect">
            <a:avLst/>
          </a:prstGeom>
          <a:noFill/>
          <a:ln/>
        </p:spPr>
        <p:txBody>
          <a:bodyPr wrap="square" lIns="0" tIns="0" rIns="0" bIns="0" rtlCol="0" anchor="t"/>
          <a:lstStyle/>
          <a:p>
            <a:pPr marL="0" indent="0">
              <a:buNone/>
            </a:pPr>
            <a:r>
              <a:rPr lang="en-US" sz="1100" dirty="0">
                <a:solidFill>
                  <a:srgbClr val="FFFFFF"/>
                </a:solidFill>
                <a:latin typeface="Calibri" pitchFamily="34" charset="0"/>
                <a:ea typeface="Calibri" pitchFamily="34" charset="-122"/>
                <a:cs typeface="Calibri" pitchFamily="34" charset="-120"/>
              </a:rPr>
              <a:t>Orchestration cross-DCR si multi-partenaires.</a:t>
            </a:r>
            <a:endParaRPr lang="en-US" sz="1100" dirty="0"/>
          </a:p>
        </p:txBody>
      </p:sp>
      <p:sp>
        <p:nvSpPr>
          <p:cNvPr id="26" name="Shape 24"/>
          <p:cNvSpPr/>
          <p:nvPr/>
        </p:nvSpPr>
        <p:spPr>
          <a:xfrm>
            <a:off x="6126480" y="4023360"/>
            <a:ext cx="5486400" cy="914400"/>
          </a:xfrm>
          <a:prstGeom prst="rect">
            <a:avLst/>
          </a:prstGeom>
          <a:solidFill>
            <a:srgbClr val="FFFFFF">
              <a:alpha val="8000"/>
            </a:srgbClr>
          </a:solidFill>
          <a:ln w="6350">
            <a:solidFill>
              <a:srgbClr val="1C7293"/>
            </a:solidFill>
            <a:prstDash val="solid"/>
          </a:ln>
        </p:spPr>
      </p:sp>
      <p:sp>
        <p:nvSpPr>
          <p:cNvPr id="27" name="Shape 25"/>
          <p:cNvSpPr/>
          <p:nvPr/>
        </p:nvSpPr>
        <p:spPr>
          <a:xfrm>
            <a:off x="6126480" y="4023360"/>
            <a:ext cx="73152" cy="914400"/>
          </a:xfrm>
          <a:prstGeom prst="rect">
            <a:avLst/>
          </a:prstGeom>
          <a:solidFill>
            <a:srgbClr val="F96167"/>
          </a:solidFill>
          <a:ln w="12700">
            <a:solidFill>
              <a:srgbClr val="F96167"/>
            </a:solidFill>
            <a:prstDash val="solid"/>
          </a:ln>
        </p:spPr>
      </p:sp>
      <p:sp>
        <p:nvSpPr>
          <p:cNvPr id="28" name="Text 26"/>
          <p:cNvSpPr/>
          <p:nvPr/>
        </p:nvSpPr>
        <p:spPr>
          <a:xfrm>
            <a:off x="6309360" y="4133088"/>
            <a:ext cx="5212080" cy="320040"/>
          </a:xfrm>
          <a:prstGeom prst="rect">
            <a:avLst/>
          </a:prstGeom>
          <a:noFill/>
          <a:ln/>
        </p:spPr>
        <p:txBody>
          <a:bodyPr wrap="square" lIns="0" tIns="0" rIns="0" bIns="0" rtlCol="0" anchor="ctr"/>
          <a:lstStyle/>
          <a:p>
            <a:pPr marL="0" indent="0">
              <a:buNone/>
            </a:pPr>
            <a:r>
              <a:rPr lang="en-US" sz="1400" b="1" dirty="0">
                <a:solidFill>
                  <a:srgbClr val="F9B233"/>
                </a:solidFill>
                <a:latin typeface="Calibri" pitchFamily="34" charset="0"/>
                <a:ea typeface="Calibri" pitchFamily="34" charset="-122"/>
                <a:cs typeface="Calibri" pitchFamily="34" charset="-120"/>
              </a:rPr>
              <a:t>InfoSum</a:t>
            </a:r>
            <a:endParaRPr lang="en-US" sz="1400" dirty="0"/>
          </a:p>
        </p:txBody>
      </p:sp>
      <p:sp>
        <p:nvSpPr>
          <p:cNvPr id="29" name="Text 27"/>
          <p:cNvSpPr/>
          <p:nvPr/>
        </p:nvSpPr>
        <p:spPr>
          <a:xfrm>
            <a:off x="6309360" y="4453128"/>
            <a:ext cx="5212080" cy="457200"/>
          </a:xfrm>
          <a:prstGeom prst="rect">
            <a:avLst/>
          </a:prstGeom>
          <a:noFill/>
          <a:ln/>
        </p:spPr>
        <p:txBody>
          <a:bodyPr wrap="square" lIns="0" tIns="0" rIns="0" bIns="0" rtlCol="0" anchor="t"/>
          <a:lstStyle/>
          <a:p>
            <a:pPr marL="0" indent="0">
              <a:buNone/>
            </a:pPr>
            <a:r>
              <a:rPr lang="en-US" sz="1100" dirty="0">
                <a:solidFill>
                  <a:srgbClr val="FFFFFF"/>
                </a:solidFill>
                <a:latin typeface="Calibri" pitchFamily="34" charset="0"/>
                <a:ea typeface="Calibri" pitchFamily="34" charset="-122"/>
                <a:cs typeface="Calibri" pitchFamily="34" charset="-120"/>
              </a:rPr>
              <a:t>Federated privacy  broadcasters UK/EU.</a:t>
            </a:r>
            <a:endParaRPr lang="en-US" sz="1100" dirty="0"/>
          </a:p>
        </p:txBody>
      </p:sp>
      <p:sp>
        <p:nvSpPr>
          <p:cNvPr id="30" name="Shape 28"/>
          <p:cNvSpPr/>
          <p:nvPr/>
        </p:nvSpPr>
        <p:spPr>
          <a:xfrm>
            <a:off x="548640" y="5074920"/>
            <a:ext cx="5486400" cy="914400"/>
          </a:xfrm>
          <a:prstGeom prst="rect">
            <a:avLst/>
          </a:prstGeom>
          <a:solidFill>
            <a:srgbClr val="FFFFFF">
              <a:alpha val="8000"/>
            </a:srgbClr>
          </a:solidFill>
          <a:ln w="6350">
            <a:solidFill>
              <a:srgbClr val="1C7293"/>
            </a:solidFill>
            <a:prstDash val="solid"/>
          </a:ln>
        </p:spPr>
      </p:sp>
      <p:sp>
        <p:nvSpPr>
          <p:cNvPr id="31" name="Shape 29"/>
          <p:cNvSpPr/>
          <p:nvPr/>
        </p:nvSpPr>
        <p:spPr>
          <a:xfrm>
            <a:off x="548640" y="5074920"/>
            <a:ext cx="73152" cy="914400"/>
          </a:xfrm>
          <a:prstGeom prst="rect">
            <a:avLst/>
          </a:prstGeom>
          <a:solidFill>
            <a:srgbClr val="F96167"/>
          </a:solidFill>
          <a:ln w="12700">
            <a:solidFill>
              <a:srgbClr val="F96167"/>
            </a:solidFill>
            <a:prstDash val="solid"/>
          </a:ln>
        </p:spPr>
      </p:sp>
      <p:sp>
        <p:nvSpPr>
          <p:cNvPr id="32" name="Text 30"/>
          <p:cNvSpPr/>
          <p:nvPr/>
        </p:nvSpPr>
        <p:spPr>
          <a:xfrm>
            <a:off x="731520" y="5184648"/>
            <a:ext cx="5212080" cy="320040"/>
          </a:xfrm>
          <a:prstGeom prst="rect">
            <a:avLst/>
          </a:prstGeom>
          <a:noFill/>
          <a:ln/>
        </p:spPr>
        <p:txBody>
          <a:bodyPr wrap="square" lIns="0" tIns="0" rIns="0" bIns="0" rtlCol="0" anchor="ctr"/>
          <a:lstStyle/>
          <a:p>
            <a:pPr marL="0" indent="0">
              <a:buNone/>
            </a:pPr>
            <a:r>
              <a:rPr lang="en-US" sz="1400" b="1" dirty="0">
                <a:solidFill>
                  <a:srgbClr val="F9B233"/>
                </a:solidFill>
                <a:latin typeface="Calibri" pitchFamily="34" charset="0"/>
                <a:ea typeface="Calibri" pitchFamily="34" charset="-122"/>
                <a:cs typeface="Calibri" pitchFamily="34" charset="-120"/>
              </a:rPr>
              <a:t>Decentriq</a:t>
            </a:r>
            <a:endParaRPr lang="en-US" sz="1400" dirty="0"/>
          </a:p>
        </p:txBody>
      </p:sp>
      <p:sp>
        <p:nvSpPr>
          <p:cNvPr id="33" name="Text 31"/>
          <p:cNvSpPr/>
          <p:nvPr/>
        </p:nvSpPr>
        <p:spPr>
          <a:xfrm>
            <a:off x="731520" y="5504688"/>
            <a:ext cx="5212080" cy="457200"/>
          </a:xfrm>
          <a:prstGeom prst="rect">
            <a:avLst/>
          </a:prstGeom>
          <a:noFill/>
          <a:ln/>
        </p:spPr>
        <p:txBody>
          <a:bodyPr wrap="square" lIns="0" tIns="0" rIns="0" bIns="0" rtlCol="0" anchor="t"/>
          <a:lstStyle/>
          <a:p>
            <a:pPr marL="0" indent="0">
              <a:buNone/>
            </a:pPr>
            <a:r>
              <a:rPr lang="en-US" sz="1100" dirty="0">
                <a:solidFill>
                  <a:srgbClr val="FFFFFF"/>
                </a:solidFill>
                <a:latin typeface="Calibri" pitchFamily="34" charset="0"/>
                <a:ea typeface="Calibri" pitchFamily="34" charset="-122"/>
                <a:cs typeface="Calibri" pitchFamily="34" charset="-120"/>
              </a:rPr>
              <a:t>Confidential computing  secteurs régulés.</a:t>
            </a:r>
            <a:endParaRPr lang="en-US" sz="1100" dirty="0"/>
          </a:p>
        </p:txBody>
      </p:sp>
      <p:sp>
        <p:nvSpPr>
          <p:cNvPr id="34" name="Text 32"/>
          <p:cNvSpPr/>
          <p:nvPr/>
        </p:nvSpPr>
        <p:spPr>
          <a:xfrm>
            <a:off x="548640" y="6355080"/>
            <a:ext cx="11430000" cy="320040"/>
          </a:xfrm>
          <a:prstGeom prst="rect">
            <a:avLst/>
          </a:prstGeom>
          <a:noFill/>
          <a:ln/>
        </p:spPr>
        <p:txBody>
          <a:bodyPr wrap="square" lIns="0" tIns="0" rIns="0" bIns="0" rtlCol="0" anchor="ctr"/>
          <a:lstStyle/>
          <a:p>
            <a:pPr marL="0" indent="0">
              <a:buNone/>
            </a:pPr>
            <a:r>
              <a:rPr lang="en-US" sz="1300" i="1" dirty="0">
                <a:solidFill>
                  <a:srgbClr val="F9B233"/>
                </a:solidFill>
                <a:latin typeface="Calibri" pitchFamily="34" charset="0"/>
                <a:ea typeface="Calibri" pitchFamily="34" charset="-122"/>
                <a:cs typeface="Calibri" pitchFamily="34" charset="-120"/>
              </a:rPr>
              <a:t>Prochaine session : comment CHOISIR, PITCHER et ACTIVER un DCR dans votre stratégie.</a:t>
            </a:r>
            <a:endParaRPr lang="en-US" sz="13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43">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2743200" y="-2743200"/>
            <a:ext cx="9144000" cy="9144000"/>
          </a:xfrm>
          <a:prstGeom prst="ellipse">
            <a:avLst/>
          </a:prstGeom>
          <a:solidFill>
            <a:srgbClr val="F9B233">
              <a:alpha val="15000"/>
            </a:srgbClr>
          </a:solidFill>
          <a:ln w="12700">
            <a:solidFill>
              <a:srgbClr val="F9B233">
                <a:alpha val="15000"/>
              </a:srgbClr>
            </a:solidFill>
            <a:prstDash val="solid"/>
          </a:ln>
        </p:spPr>
      </p:sp>
      <p:sp>
        <p:nvSpPr>
          <p:cNvPr id="3" name="Shape 1"/>
          <p:cNvSpPr/>
          <p:nvPr/>
        </p:nvSpPr>
        <p:spPr>
          <a:xfrm>
            <a:off x="548640" y="2743200"/>
            <a:ext cx="137160" cy="1188720"/>
          </a:xfrm>
          <a:prstGeom prst="rect">
            <a:avLst/>
          </a:prstGeom>
          <a:solidFill>
            <a:srgbClr val="F96167"/>
          </a:solidFill>
          <a:ln w="12700">
            <a:solidFill>
              <a:srgbClr val="F96167"/>
            </a:solidFill>
            <a:prstDash val="solid"/>
          </a:ln>
        </p:spPr>
      </p:sp>
      <p:sp>
        <p:nvSpPr>
          <p:cNvPr id="4" name="Text 2"/>
          <p:cNvSpPr/>
          <p:nvPr/>
        </p:nvSpPr>
        <p:spPr>
          <a:xfrm>
            <a:off x="548640" y="2103120"/>
            <a:ext cx="7315200" cy="457200"/>
          </a:xfrm>
          <a:prstGeom prst="rect">
            <a:avLst/>
          </a:prstGeom>
          <a:noFill/>
          <a:ln/>
        </p:spPr>
        <p:txBody>
          <a:bodyPr wrap="square" lIns="0" tIns="0" rIns="0" bIns="0" rtlCol="0" anchor="ctr"/>
          <a:lstStyle/>
          <a:p>
            <a:pPr marL="0" indent="0">
              <a:buNone/>
            </a:pPr>
            <a:r>
              <a:rPr lang="en-US" sz="1600" b="1" kern="0" spc="300" dirty="0">
                <a:solidFill>
                  <a:srgbClr val="F9B233"/>
                </a:solidFill>
                <a:latin typeface="Calibri" pitchFamily="34" charset="0"/>
                <a:ea typeface="Calibri" pitchFamily="34" charset="-122"/>
                <a:cs typeface="Calibri" pitchFamily="34" charset="-120"/>
              </a:rPr>
              <a:t>SESSION 4 / 4</a:t>
            </a:r>
            <a:endParaRPr lang="en-US" sz="1600" dirty="0"/>
          </a:p>
        </p:txBody>
      </p:sp>
      <p:sp>
        <p:nvSpPr>
          <p:cNvPr id="5" name="Text 3"/>
          <p:cNvSpPr/>
          <p:nvPr/>
        </p:nvSpPr>
        <p:spPr>
          <a:xfrm>
            <a:off x="548640" y="2651760"/>
            <a:ext cx="10972800" cy="1371600"/>
          </a:xfrm>
          <a:prstGeom prst="rect">
            <a:avLst/>
          </a:prstGeom>
          <a:noFill/>
          <a:ln/>
        </p:spPr>
        <p:txBody>
          <a:bodyPr wrap="square" lIns="0" tIns="0" rIns="0" bIns="0" rtlCol="0" anchor="ctr"/>
          <a:lstStyle/>
          <a:p>
            <a:pPr marL="0" indent="0">
              <a:buNone/>
            </a:pPr>
            <a:r>
              <a:rPr lang="en-US" sz="5400" b="1" dirty="0">
                <a:solidFill>
                  <a:srgbClr val="FFFFFF"/>
                </a:solidFill>
                <a:latin typeface="Calibri" pitchFamily="34" charset="0"/>
                <a:ea typeface="Calibri" pitchFamily="34" charset="-122"/>
                <a:cs typeface="Calibri" pitchFamily="34" charset="-120"/>
              </a:rPr>
              <a:t>Activer &amp; Implémenter</a:t>
            </a:r>
            <a:endParaRPr lang="en-US" sz="5400" dirty="0"/>
          </a:p>
        </p:txBody>
      </p:sp>
      <p:sp>
        <p:nvSpPr>
          <p:cNvPr id="6" name="Text 4"/>
          <p:cNvSpPr/>
          <p:nvPr/>
        </p:nvSpPr>
        <p:spPr>
          <a:xfrm>
            <a:off x="548640" y="4846320"/>
            <a:ext cx="10972800" cy="457200"/>
          </a:xfrm>
          <a:prstGeom prst="rect">
            <a:avLst/>
          </a:prstGeom>
          <a:noFill/>
          <a:ln/>
        </p:spPr>
        <p:txBody>
          <a:bodyPr wrap="square" lIns="0" tIns="0" rIns="0" bIns="0" rtlCol="0" anchor="ctr"/>
          <a:lstStyle/>
          <a:p>
            <a:pPr marL="0" indent="0">
              <a:buNone/>
            </a:pPr>
            <a:r>
              <a:rPr lang="en-US" sz="1700" i="1" dirty="0">
                <a:solidFill>
                  <a:srgbClr val="1C7293"/>
                </a:solidFill>
                <a:latin typeface="Calibri" pitchFamily="34" charset="0"/>
                <a:ea typeface="Calibri" pitchFamily="34" charset="-122"/>
                <a:cs typeface="Calibri" pitchFamily="34" charset="-120"/>
              </a:rPr>
              <a:t>Choisir, pitcher, briefer, piloter : transformer la théorie en actions concrètes dans votre job.</a:t>
            </a:r>
            <a:endParaRPr lang="en-US" sz="1700" dirty="0"/>
          </a:p>
        </p:txBody>
      </p:sp>
      <p:sp>
        <p:nvSpPr>
          <p:cNvPr id="7" name="Text 5"/>
          <p:cNvSpPr/>
          <p:nvPr/>
        </p:nvSpPr>
        <p:spPr>
          <a:xfrm>
            <a:off x="548640" y="5760720"/>
            <a:ext cx="9144000" cy="365760"/>
          </a:xfrm>
          <a:prstGeom prst="rect">
            <a:avLst/>
          </a:prstGeom>
          <a:noFill/>
          <a:ln/>
        </p:spPr>
        <p:txBody>
          <a:bodyPr wrap="square" lIns="0" tIns="0" rIns="0" bIns="0" rtlCol="0" anchor="ctr"/>
          <a:lstStyle/>
          <a:p>
            <a:pPr marL="0" indent="0">
              <a:buNone/>
            </a:pPr>
            <a:r>
              <a:rPr lang="en-US" sz="1300" dirty="0">
                <a:solidFill>
                  <a:srgbClr val="E2E8F0"/>
                </a:solidFill>
                <a:latin typeface="Calibri" pitchFamily="34" charset="0"/>
                <a:ea typeface="Calibri" pitchFamily="34" charset="-122"/>
                <a:cs typeface="Calibri" pitchFamily="34" charset="-120"/>
              </a:rPr>
              <a:t>Durée : 3h30  inclut case study ModeVerte + QCM</a:t>
            </a:r>
            <a:endParaRPr lang="en-US" sz="13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44">
    <p:bg>
      <p:bgPr>
        <a:solidFill>
          <a:srgbClr val="F5F8FC"/>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731520"/>
          </a:xfrm>
          <a:prstGeom prst="rect">
            <a:avLst/>
          </a:prstGeom>
          <a:noFill/>
          <a:ln/>
        </p:spPr>
        <p:txBody>
          <a:bodyPr wrap="square" lIns="0" tIns="0" rIns="0" bIns="0" rtlCol="0" anchor="ctr"/>
          <a:lstStyle/>
          <a:p>
            <a:pPr marL="0" indent="0" algn="l">
              <a:buNone/>
            </a:pPr>
            <a:r>
              <a:rPr lang="en-US" sz="3200" b="1" dirty="0">
                <a:solidFill>
                  <a:srgbClr val="0B1F3A"/>
                </a:solidFill>
                <a:latin typeface="Calibri" pitchFamily="34" charset="0"/>
                <a:ea typeface="Calibri" pitchFamily="34" charset="-122"/>
                <a:cs typeface="Calibri" pitchFamily="34" charset="-120"/>
              </a:rPr>
              <a:t>Choisir son DCR  matrice de décision</a:t>
            </a:r>
            <a:endParaRPr lang="en-US" sz="3200" dirty="0"/>
          </a:p>
        </p:txBody>
      </p:sp>
      <p:sp>
        <p:nvSpPr>
          <p:cNvPr id="3" name="Shape 1"/>
          <p:cNvSpPr/>
          <p:nvPr/>
        </p:nvSpPr>
        <p:spPr>
          <a:xfrm>
            <a:off x="548640" y="1005840"/>
            <a:ext cx="548640" cy="73152"/>
          </a:xfrm>
          <a:prstGeom prst="rect">
            <a:avLst/>
          </a:prstGeom>
          <a:solidFill>
            <a:srgbClr val="F96167"/>
          </a:solidFill>
          <a:ln w="12700">
            <a:solidFill>
              <a:srgbClr val="F96167"/>
            </a:solidFill>
            <a:prstDash val="solid"/>
          </a:ln>
        </p:spPr>
      </p:sp>
      <p:sp>
        <p:nvSpPr>
          <p:cNvPr id="4" name="Text 2"/>
          <p:cNvSpPr/>
          <p:nvPr/>
        </p:nvSpPr>
        <p:spPr>
          <a:xfrm>
            <a:off x="548640" y="1143000"/>
            <a:ext cx="11064240" cy="411480"/>
          </a:xfrm>
          <a:prstGeom prst="rect">
            <a:avLst/>
          </a:prstGeom>
          <a:noFill/>
          <a:ln/>
        </p:spPr>
        <p:txBody>
          <a:bodyPr wrap="square" lIns="0" tIns="0" rIns="0" bIns="0" rtlCol="0" anchor="ctr"/>
          <a:lstStyle/>
          <a:p>
            <a:pPr marL="0" indent="0" algn="l">
              <a:buNone/>
            </a:pPr>
            <a:r>
              <a:rPr lang="en-US" sz="1600" i="1" dirty="0">
                <a:solidFill>
                  <a:srgbClr val="1C7293"/>
                </a:solidFill>
                <a:latin typeface="Calibri" pitchFamily="34" charset="0"/>
                <a:ea typeface="Calibri" pitchFamily="34" charset="-122"/>
                <a:cs typeface="Calibri" pitchFamily="34" charset="-120"/>
              </a:rPr>
              <a:t>Posez-vous ces 4 questions dans l'ordre. La réponse vous donne votre short-list.</a:t>
            </a:r>
            <a:endParaRPr lang="en-US" sz="1600" dirty="0"/>
          </a:p>
        </p:txBody>
      </p:sp>
      <p:sp>
        <p:nvSpPr>
          <p:cNvPr id="5" name="Shape 3"/>
          <p:cNvSpPr/>
          <p:nvPr/>
        </p:nvSpPr>
        <p:spPr>
          <a:xfrm>
            <a:off x="640080" y="1783080"/>
            <a:ext cx="11064240" cy="100584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6" name="Shape 4"/>
          <p:cNvSpPr/>
          <p:nvPr/>
        </p:nvSpPr>
        <p:spPr>
          <a:xfrm>
            <a:off x="640080" y="1783080"/>
            <a:ext cx="109728" cy="1005840"/>
          </a:xfrm>
          <a:prstGeom prst="rect">
            <a:avLst/>
          </a:prstGeom>
          <a:solidFill>
            <a:srgbClr val="065A82"/>
          </a:solidFill>
          <a:ln w="12700">
            <a:solidFill>
              <a:srgbClr val="065A82"/>
            </a:solidFill>
            <a:prstDash val="solid"/>
          </a:ln>
        </p:spPr>
      </p:sp>
      <p:sp>
        <p:nvSpPr>
          <p:cNvPr id="7" name="Text 5"/>
          <p:cNvSpPr/>
          <p:nvPr/>
        </p:nvSpPr>
        <p:spPr>
          <a:xfrm>
            <a:off x="868680" y="1947672"/>
            <a:ext cx="10515600" cy="365760"/>
          </a:xfrm>
          <a:prstGeom prst="rect">
            <a:avLst/>
          </a:prstGeom>
          <a:noFill/>
          <a:ln/>
        </p:spPr>
        <p:txBody>
          <a:bodyPr wrap="square" lIns="0" tIns="0" rIns="0" bIns="0" rtlCol="0" anchor="ctr"/>
          <a:lstStyle/>
          <a:p>
            <a:pPr marL="0" indent="0">
              <a:buNone/>
            </a:pPr>
            <a:r>
              <a:rPr lang="en-US" sz="1600" b="1" dirty="0">
                <a:solidFill>
                  <a:srgbClr val="0B1F3A"/>
                </a:solidFill>
                <a:latin typeface="Calibri" pitchFamily="34" charset="0"/>
                <a:ea typeface="Calibri" pitchFamily="34" charset="-122"/>
                <a:cs typeface="Calibri" pitchFamily="34" charset="-120"/>
              </a:rPr>
              <a:t>Q1  Quelle est votre stack cloud dominante ?</a:t>
            </a:r>
            <a:endParaRPr lang="en-US" sz="1600" dirty="0"/>
          </a:p>
        </p:txBody>
      </p:sp>
      <p:sp>
        <p:nvSpPr>
          <p:cNvPr id="8" name="Text 6"/>
          <p:cNvSpPr/>
          <p:nvPr/>
        </p:nvSpPr>
        <p:spPr>
          <a:xfrm>
            <a:off x="868680" y="2313432"/>
            <a:ext cx="10698480" cy="457200"/>
          </a:xfrm>
          <a:prstGeom prst="rect">
            <a:avLst/>
          </a:prstGeom>
          <a:noFill/>
          <a:ln/>
        </p:spPr>
        <p:txBody>
          <a:bodyPr wrap="square" lIns="0" tIns="0" rIns="0" bIns="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AWS → AWS Clean Rooms. GCP → BigQuery CR. Azure → Snowflake. Multi-cloud → Snowflake ou Habu.</a:t>
            </a:r>
            <a:endParaRPr lang="en-US" sz="1300" dirty="0"/>
          </a:p>
        </p:txBody>
      </p:sp>
      <p:sp>
        <p:nvSpPr>
          <p:cNvPr id="9" name="Shape 7"/>
          <p:cNvSpPr/>
          <p:nvPr/>
        </p:nvSpPr>
        <p:spPr>
          <a:xfrm>
            <a:off x="640080" y="2926080"/>
            <a:ext cx="11064240" cy="100584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10" name="Shape 8"/>
          <p:cNvSpPr/>
          <p:nvPr/>
        </p:nvSpPr>
        <p:spPr>
          <a:xfrm>
            <a:off x="640080" y="2926080"/>
            <a:ext cx="109728" cy="1005840"/>
          </a:xfrm>
          <a:prstGeom prst="rect">
            <a:avLst/>
          </a:prstGeom>
          <a:solidFill>
            <a:srgbClr val="065A82"/>
          </a:solidFill>
          <a:ln w="12700">
            <a:solidFill>
              <a:srgbClr val="065A82"/>
            </a:solidFill>
            <a:prstDash val="solid"/>
          </a:ln>
        </p:spPr>
      </p:sp>
      <p:sp>
        <p:nvSpPr>
          <p:cNvPr id="11" name="Text 9"/>
          <p:cNvSpPr/>
          <p:nvPr/>
        </p:nvSpPr>
        <p:spPr>
          <a:xfrm>
            <a:off x="868680" y="3090672"/>
            <a:ext cx="10515600" cy="365760"/>
          </a:xfrm>
          <a:prstGeom prst="rect">
            <a:avLst/>
          </a:prstGeom>
          <a:noFill/>
          <a:ln/>
        </p:spPr>
        <p:txBody>
          <a:bodyPr wrap="square" lIns="0" tIns="0" rIns="0" bIns="0" rtlCol="0" anchor="ctr"/>
          <a:lstStyle/>
          <a:p>
            <a:pPr marL="0" indent="0">
              <a:buNone/>
            </a:pPr>
            <a:r>
              <a:rPr lang="en-US" sz="1600" b="1" dirty="0">
                <a:solidFill>
                  <a:srgbClr val="0B1F3A"/>
                </a:solidFill>
                <a:latin typeface="Calibri" pitchFamily="34" charset="0"/>
                <a:ea typeface="Calibri" pitchFamily="34" charset="-122"/>
                <a:cs typeface="Calibri" pitchFamily="34" charset="-120"/>
              </a:rPr>
              <a:t>Q2  Achetez-vous du média à l'échelle chez un walled garden ?</a:t>
            </a:r>
            <a:endParaRPr lang="en-US" sz="1600" dirty="0"/>
          </a:p>
        </p:txBody>
      </p:sp>
      <p:sp>
        <p:nvSpPr>
          <p:cNvPr id="12" name="Text 10"/>
          <p:cNvSpPr/>
          <p:nvPr/>
        </p:nvSpPr>
        <p:spPr>
          <a:xfrm>
            <a:off x="868680" y="3456432"/>
            <a:ext cx="10698480" cy="457200"/>
          </a:xfrm>
          <a:prstGeom prst="rect">
            <a:avLst/>
          </a:prstGeom>
          <a:noFill/>
          <a:ln/>
        </p:spPr>
        <p:txBody>
          <a:bodyPr wrap="square" lIns="0" tIns="0" rIns="0" bIns="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Beaucoup de Google → ADH. Beaucoup de Meta → Meta AA. Beaucoup d'Amazon → AMC. Sinon → providers neutres.</a:t>
            </a:r>
            <a:endParaRPr lang="en-US" sz="1300" dirty="0"/>
          </a:p>
        </p:txBody>
      </p:sp>
      <p:sp>
        <p:nvSpPr>
          <p:cNvPr id="13" name="Shape 11"/>
          <p:cNvSpPr/>
          <p:nvPr/>
        </p:nvSpPr>
        <p:spPr>
          <a:xfrm>
            <a:off x="640080" y="4069080"/>
            <a:ext cx="11064240" cy="100584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14" name="Shape 12"/>
          <p:cNvSpPr/>
          <p:nvPr/>
        </p:nvSpPr>
        <p:spPr>
          <a:xfrm>
            <a:off x="640080" y="4069080"/>
            <a:ext cx="109728" cy="1005840"/>
          </a:xfrm>
          <a:prstGeom prst="rect">
            <a:avLst/>
          </a:prstGeom>
          <a:solidFill>
            <a:srgbClr val="065A82"/>
          </a:solidFill>
          <a:ln w="12700">
            <a:solidFill>
              <a:srgbClr val="065A82"/>
            </a:solidFill>
            <a:prstDash val="solid"/>
          </a:ln>
        </p:spPr>
      </p:sp>
      <p:sp>
        <p:nvSpPr>
          <p:cNvPr id="15" name="Text 13"/>
          <p:cNvSpPr/>
          <p:nvPr/>
        </p:nvSpPr>
        <p:spPr>
          <a:xfrm>
            <a:off x="868680" y="4233672"/>
            <a:ext cx="10515600" cy="365760"/>
          </a:xfrm>
          <a:prstGeom prst="rect">
            <a:avLst/>
          </a:prstGeom>
          <a:noFill/>
          <a:ln/>
        </p:spPr>
        <p:txBody>
          <a:bodyPr wrap="square" lIns="0" tIns="0" rIns="0" bIns="0" rtlCol="0" anchor="ctr"/>
          <a:lstStyle/>
          <a:p>
            <a:pPr marL="0" indent="0">
              <a:buNone/>
            </a:pPr>
            <a:r>
              <a:rPr lang="en-US" sz="1600" b="1" dirty="0">
                <a:solidFill>
                  <a:srgbClr val="0B1F3A"/>
                </a:solidFill>
                <a:latin typeface="Calibri" pitchFamily="34" charset="0"/>
                <a:ea typeface="Calibri" pitchFamily="34" charset="-122"/>
                <a:cs typeface="Calibri" pitchFamily="34" charset="-120"/>
              </a:rPr>
              <a:t>Q3  Votre cas d'usage principal ?</a:t>
            </a:r>
            <a:endParaRPr lang="en-US" sz="1600" dirty="0"/>
          </a:p>
        </p:txBody>
      </p:sp>
      <p:sp>
        <p:nvSpPr>
          <p:cNvPr id="16" name="Text 14"/>
          <p:cNvSpPr/>
          <p:nvPr/>
        </p:nvSpPr>
        <p:spPr>
          <a:xfrm>
            <a:off x="868680" y="4599432"/>
            <a:ext cx="10698480" cy="457200"/>
          </a:xfrm>
          <a:prstGeom prst="rect">
            <a:avLst/>
          </a:prstGeom>
          <a:noFill/>
          <a:ln/>
        </p:spPr>
        <p:txBody>
          <a:bodyPr wrap="square" lIns="0" tIns="0" rIns="0" bIns="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Retail media → LiveRamp. CTV cookieless → TTD/UID 2.0. Régulés → Decentriq. ML/AI → Databricks.</a:t>
            </a:r>
            <a:endParaRPr lang="en-US" sz="1300" dirty="0"/>
          </a:p>
        </p:txBody>
      </p:sp>
      <p:sp>
        <p:nvSpPr>
          <p:cNvPr id="17" name="Shape 15"/>
          <p:cNvSpPr/>
          <p:nvPr/>
        </p:nvSpPr>
        <p:spPr>
          <a:xfrm>
            <a:off x="640080" y="5212080"/>
            <a:ext cx="11064240" cy="100584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18" name="Shape 16"/>
          <p:cNvSpPr/>
          <p:nvPr/>
        </p:nvSpPr>
        <p:spPr>
          <a:xfrm>
            <a:off x="640080" y="5212080"/>
            <a:ext cx="109728" cy="1005840"/>
          </a:xfrm>
          <a:prstGeom prst="rect">
            <a:avLst/>
          </a:prstGeom>
          <a:solidFill>
            <a:srgbClr val="065A82"/>
          </a:solidFill>
          <a:ln w="12700">
            <a:solidFill>
              <a:srgbClr val="065A82"/>
            </a:solidFill>
            <a:prstDash val="solid"/>
          </a:ln>
        </p:spPr>
      </p:sp>
      <p:sp>
        <p:nvSpPr>
          <p:cNvPr id="19" name="Text 17"/>
          <p:cNvSpPr/>
          <p:nvPr/>
        </p:nvSpPr>
        <p:spPr>
          <a:xfrm>
            <a:off x="868680" y="5376672"/>
            <a:ext cx="10515600" cy="365760"/>
          </a:xfrm>
          <a:prstGeom prst="rect">
            <a:avLst/>
          </a:prstGeom>
          <a:noFill/>
          <a:ln/>
        </p:spPr>
        <p:txBody>
          <a:bodyPr wrap="square" lIns="0" tIns="0" rIns="0" bIns="0" rtlCol="0" anchor="ctr"/>
          <a:lstStyle/>
          <a:p>
            <a:pPr marL="0" indent="0">
              <a:buNone/>
            </a:pPr>
            <a:r>
              <a:rPr lang="en-US" sz="1600" b="1" dirty="0">
                <a:solidFill>
                  <a:srgbClr val="0B1F3A"/>
                </a:solidFill>
                <a:latin typeface="Calibri" pitchFamily="34" charset="0"/>
                <a:ea typeface="Calibri" pitchFamily="34" charset="-122"/>
                <a:cs typeface="Calibri" pitchFamily="34" charset="-120"/>
              </a:rPr>
              <a:t>Q4  Votre maturité data interne ?</a:t>
            </a:r>
            <a:endParaRPr lang="en-US" sz="1600" dirty="0"/>
          </a:p>
        </p:txBody>
      </p:sp>
      <p:sp>
        <p:nvSpPr>
          <p:cNvPr id="20" name="Text 18"/>
          <p:cNvSpPr/>
          <p:nvPr/>
        </p:nvSpPr>
        <p:spPr>
          <a:xfrm>
            <a:off x="868680" y="5742432"/>
            <a:ext cx="10698480" cy="457200"/>
          </a:xfrm>
          <a:prstGeom prst="rect">
            <a:avLst/>
          </a:prstGeom>
          <a:noFill/>
          <a:ln/>
        </p:spPr>
        <p:txBody>
          <a:bodyPr wrap="square" lIns="0" tIns="0" rIns="0" bIns="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Faible (pas d'équipe data) → Samooha, InfoSum, Habu. Forte → Snowflake, Databricks, AWS natifs.</a:t>
            </a:r>
            <a:endParaRPr lang="en-US" sz="1300" dirty="0"/>
          </a:p>
        </p:txBody>
      </p:sp>
      <p:sp>
        <p:nvSpPr>
          <p:cNvPr id="21" name="Shape 19"/>
          <p:cNvSpPr/>
          <p:nvPr/>
        </p:nvSpPr>
        <p:spPr>
          <a:xfrm>
            <a:off x="0" y="6583680"/>
            <a:ext cx="12191695" cy="274320"/>
          </a:xfrm>
          <a:prstGeom prst="rect">
            <a:avLst/>
          </a:prstGeom>
          <a:solidFill>
            <a:srgbClr val="0B1F3A"/>
          </a:solidFill>
          <a:ln w="12700">
            <a:solidFill>
              <a:srgbClr val="0B1F3A"/>
            </a:solidFill>
            <a:prstDash val="solid"/>
          </a:ln>
        </p:spPr>
      </p:sp>
      <p:sp>
        <p:nvSpPr>
          <p:cNvPr id="22" name="Text 20"/>
          <p:cNvSpPr/>
          <p:nvPr/>
        </p:nvSpPr>
        <p:spPr>
          <a:xfrm>
            <a:off x="365760" y="6601968"/>
            <a:ext cx="822960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Session 4  Activer &amp; Implémenter</a:t>
            </a:r>
            <a:endParaRPr lang="en-US" sz="1000" dirty="0"/>
          </a:p>
        </p:txBody>
      </p:sp>
      <p:sp>
        <p:nvSpPr>
          <p:cNvPr id="23" name="Text 21"/>
          <p:cNvSpPr/>
          <p:nvPr/>
        </p:nvSpPr>
        <p:spPr>
          <a:xfrm>
            <a:off x="11551615" y="6601968"/>
            <a:ext cx="365760" cy="237744"/>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43</a:t>
            </a:r>
            <a:endParaRPr lang="en-US" sz="10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45">
    <p:bg>
      <p:bgPr>
        <a:solidFill>
          <a:srgbClr val="F5F8FC"/>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731520"/>
          </a:xfrm>
          <a:prstGeom prst="rect">
            <a:avLst/>
          </a:prstGeom>
          <a:noFill/>
          <a:ln/>
        </p:spPr>
        <p:txBody>
          <a:bodyPr wrap="square" lIns="0" tIns="0" rIns="0" bIns="0" rtlCol="0" anchor="ctr"/>
          <a:lstStyle/>
          <a:p>
            <a:pPr marL="0" indent="0" algn="l">
              <a:buNone/>
            </a:pPr>
            <a:r>
              <a:rPr lang="en-US" sz="3200" b="1" dirty="0">
                <a:solidFill>
                  <a:srgbClr val="0B1F3A"/>
                </a:solidFill>
                <a:latin typeface="Calibri" pitchFamily="34" charset="0"/>
                <a:ea typeface="Calibri" pitchFamily="34" charset="-122"/>
                <a:cs typeface="Calibri" pitchFamily="34" charset="-120"/>
              </a:rPr>
              <a:t>Arbre de </a:t>
            </a:r>
            <a:r>
              <a:rPr lang="en-US" sz="3200" b="1" dirty="0" err="1">
                <a:solidFill>
                  <a:srgbClr val="0B1F3A"/>
                </a:solidFill>
                <a:latin typeface="Calibri" pitchFamily="34" charset="0"/>
                <a:ea typeface="Calibri" pitchFamily="34" charset="-122"/>
                <a:cs typeface="Calibri" pitchFamily="34" charset="-120"/>
              </a:rPr>
              <a:t>décision</a:t>
            </a:r>
            <a:r>
              <a:rPr lang="en-US" sz="3200" b="1" dirty="0">
                <a:solidFill>
                  <a:srgbClr val="0B1F3A"/>
                </a:solidFill>
                <a:latin typeface="Calibri" pitchFamily="34" charset="0"/>
                <a:ea typeface="Calibri" pitchFamily="34" charset="-122"/>
                <a:cs typeface="Calibri" pitchFamily="34" charset="-120"/>
              </a:rPr>
              <a:t>  quel DCR pour quel cas ?</a:t>
            </a:r>
            <a:endParaRPr lang="en-US" sz="3200" dirty="0"/>
          </a:p>
        </p:txBody>
      </p:sp>
      <p:sp>
        <p:nvSpPr>
          <p:cNvPr id="3" name="Shape 1"/>
          <p:cNvSpPr/>
          <p:nvPr/>
        </p:nvSpPr>
        <p:spPr>
          <a:xfrm>
            <a:off x="548640" y="1005840"/>
            <a:ext cx="548640" cy="73152"/>
          </a:xfrm>
          <a:prstGeom prst="rect">
            <a:avLst/>
          </a:prstGeom>
          <a:solidFill>
            <a:srgbClr val="F96167"/>
          </a:solidFill>
          <a:ln w="12700">
            <a:solidFill>
              <a:srgbClr val="F96167"/>
            </a:solidFill>
            <a:prstDash val="solid"/>
          </a:ln>
        </p:spPr>
      </p:sp>
      <p:sp>
        <p:nvSpPr>
          <p:cNvPr id="4" name="Text 2"/>
          <p:cNvSpPr/>
          <p:nvPr/>
        </p:nvSpPr>
        <p:spPr>
          <a:xfrm>
            <a:off x="548640" y="1143000"/>
            <a:ext cx="11064240" cy="411480"/>
          </a:xfrm>
          <a:prstGeom prst="rect">
            <a:avLst/>
          </a:prstGeom>
          <a:noFill/>
          <a:ln/>
        </p:spPr>
        <p:txBody>
          <a:bodyPr wrap="square" lIns="0" tIns="0" rIns="0" bIns="0" rtlCol="0" anchor="ctr"/>
          <a:lstStyle/>
          <a:p>
            <a:pPr marL="0" indent="0" algn="l">
              <a:buNone/>
            </a:pPr>
            <a:r>
              <a:rPr lang="en-US" sz="1600" i="1" dirty="0">
                <a:solidFill>
                  <a:srgbClr val="1C7293"/>
                </a:solidFill>
                <a:latin typeface="Calibri" pitchFamily="34" charset="0"/>
                <a:ea typeface="Calibri" pitchFamily="34" charset="-122"/>
                <a:cs typeface="Calibri" pitchFamily="34" charset="-120"/>
              </a:rPr>
              <a:t>Lisez de gauche à droite : besoin → contrainte → provider recommandé.</a:t>
            </a:r>
            <a:endParaRPr lang="en-US" sz="1600" dirty="0"/>
          </a:p>
        </p:txBody>
      </p:sp>
      <p:sp>
        <p:nvSpPr>
          <p:cNvPr id="5" name="Shape 3"/>
          <p:cNvSpPr/>
          <p:nvPr/>
        </p:nvSpPr>
        <p:spPr>
          <a:xfrm>
            <a:off x="640080" y="1783080"/>
            <a:ext cx="3657600" cy="502920"/>
          </a:xfrm>
          <a:prstGeom prst="rect">
            <a:avLst/>
          </a:prstGeom>
          <a:solidFill>
            <a:srgbClr val="FFFFFF"/>
          </a:solidFill>
          <a:ln w="6350">
            <a:solidFill>
              <a:srgbClr val="E2E8F0"/>
            </a:solidFill>
            <a:prstDash val="solid"/>
          </a:ln>
        </p:spPr>
      </p:sp>
      <p:sp>
        <p:nvSpPr>
          <p:cNvPr id="6" name="Shape 4"/>
          <p:cNvSpPr/>
          <p:nvPr/>
        </p:nvSpPr>
        <p:spPr>
          <a:xfrm>
            <a:off x="640080" y="1783080"/>
            <a:ext cx="91440" cy="502920"/>
          </a:xfrm>
          <a:prstGeom prst="rect">
            <a:avLst/>
          </a:prstGeom>
          <a:solidFill>
            <a:srgbClr val="065A82"/>
          </a:solidFill>
          <a:ln w="12700">
            <a:solidFill>
              <a:srgbClr val="065A82"/>
            </a:solidFill>
            <a:prstDash val="solid"/>
          </a:ln>
        </p:spPr>
      </p:sp>
      <p:sp>
        <p:nvSpPr>
          <p:cNvPr id="7" name="Text 5"/>
          <p:cNvSpPr/>
          <p:nvPr/>
        </p:nvSpPr>
        <p:spPr>
          <a:xfrm>
            <a:off x="822960" y="1901952"/>
            <a:ext cx="3474720" cy="274320"/>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Retail media France</a:t>
            </a:r>
            <a:endParaRPr lang="en-US" sz="1200" dirty="0"/>
          </a:p>
        </p:txBody>
      </p:sp>
      <p:sp>
        <p:nvSpPr>
          <p:cNvPr id="8" name="Shape 6"/>
          <p:cNvSpPr/>
          <p:nvPr/>
        </p:nvSpPr>
        <p:spPr>
          <a:xfrm rot="1800000">
            <a:off x="4343400" y="1947672"/>
            <a:ext cx="182880" cy="182880"/>
          </a:xfrm>
          <a:prstGeom prst="rtTriangle">
            <a:avLst/>
          </a:prstGeom>
          <a:solidFill>
            <a:srgbClr val="065A82"/>
          </a:solidFill>
          <a:ln w="12700">
            <a:solidFill>
              <a:srgbClr val="065A82"/>
            </a:solidFill>
            <a:prstDash val="solid"/>
          </a:ln>
        </p:spPr>
      </p:sp>
      <p:sp>
        <p:nvSpPr>
          <p:cNvPr id="9" name="Shape 7"/>
          <p:cNvSpPr/>
          <p:nvPr/>
        </p:nvSpPr>
        <p:spPr>
          <a:xfrm>
            <a:off x="4572000" y="1783080"/>
            <a:ext cx="3474720" cy="502920"/>
          </a:xfrm>
          <a:prstGeom prst="rect">
            <a:avLst/>
          </a:prstGeom>
          <a:solidFill>
            <a:srgbClr val="F5F8FC"/>
          </a:solidFill>
          <a:ln w="6350">
            <a:solidFill>
              <a:srgbClr val="E2E8F0"/>
            </a:solidFill>
            <a:prstDash val="solid"/>
          </a:ln>
        </p:spPr>
      </p:sp>
      <p:sp>
        <p:nvSpPr>
          <p:cNvPr id="10" name="Text 8"/>
          <p:cNvSpPr/>
          <p:nvPr/>
        </p:nvSpPr>
        <p:spPr>
          <a:xfrm>
            <a:off x="4709160" y="1901952"/>
            <a:ext cx="3291840" cy="274320"/>
          </a:xfrm>
          <a:prstGeom prst="rect">
            <a:avLst/>
          </a:prstGeom>
          <a:noFill/>
          <a:ln/>
        </p:spPr>
        <p:txBody>
          <a:bodyPr wrap="square" lIns="0" tIns="0" rIns="0" bIns="0" rtlCol="0" anchor="ctr"/>
          <a:lstStyle/>
          <a:p>
            <a:pPr marL="0" indent="0">
              <a:buNone/>
            </a:pPr>
            <a:r>
              <a:rPr lang="en-US" sz="1100" i="1" dirty="0">
                <a:solidFill>
                  <a:srgbClr val="1E293B"/>
                </a:solidFill>
                <a:latin typeface="Calibri" pitchFamily="34" charset="0"/>
                <a:ea typeface="Calibri" pitchFamily="34" charset="-122"/>
                <a:cs typeface="Calibri" pitchFamily="34" charset="-120"/>
              </a:rPr>
              <a:t>Carrefour, Casino, Auchan</a:t>
            </a:r>
            <a:endParaRPr lang="en-US" sz="1100" dirty="0"/>
          </a:p>
        </p:txBody>
      </p:sp>
      <p:sp>
        <p:nvSpPr>
          <p:cNvPr id="11" name="Shape 9"/>
          <p:cNvSpPr/>
          <p:nvPr/>
        </p:nvSpPr>
        <p:spPr>
          <a:xfrm rot="1800000">
            <a:off x="8092440" y="1947672"/>
            <a:ext cx="182880" cy="182880"/>
          </a:xfrm>
          <a:prstGeom prst="rtTriangle">
            <a:avLst/>
          </a:prstGeom>
          <a:solidFill>
            <a:srgbClr val="065A82"/>
          </a:solidFill>
          <a:ln w="12700">
            <a:solidFill>
              <a:srgbClr val="065A82"/>
            </a:solidFill>
            <a:prstDash val="solid"/>
          </a:ln>
        </p:spPr>
      </p:sp>
      <p:sp>
        <p:nvSpPr>
          <p:cNvPr id="12" name="Shape 10"/>
          <p:cNvSpPr/>
          <p:nvPr/>
        </p:nvSpPr>
        <p:spPr>
          <a:xfrm>
            <a:off x="8321040" y="1783080"/>
            <a:ext cx="3383280" cy="502920"/>
          </a:xfrm>
          <a:prstGeom prst="rect">
            <a:avLst/>
          </a:prstGeom>
          <a:solidFill>
            <a:srgbClr val="0B1F3A"/>
          </a:solidFill>
          <a:ln w="12700">
            <a:solidFill>
              <a:srgbClr val="0B1F3A"/>
            </a:solidFill>
            <a:prstDash val="solid"/>
          </a:ln>
        </p:spPr>
      </p:sp>
      <p:sp>
        <p:nvSpPr>
          <p:cNvPr id="13" name="Text 11"/>
          <p:cNvSpPr/>
          <p:nvPr/>
        </p:nvSpPr>
        <p:spPr>
          <a:xfrm>
            <a:off x="8458200" y="1901952"/>
            <a:ext cx="3200400" cy="274320"/>
          </a:xfrm>
          <a:prstGeom prst="rect">
            <a:avLst/>
          </a:prstGeom>
          <a:noFill/>
          <a:ln/>
        </p:spPr>
        <p:txBody>
          <a:bodyPr wrap="square" lIns="0" tIns="0" rIns="0" bIns="0" rtlCol="0" anchor="ctr"/>
          <a:lstStyle/>
          <a:p>
            <a:pPr marL="0" indent="0">
              <a:buNone/>
            </a:pPr>
            <a:r>
              <a:rPr lang="en-US" sz="1100" b="1" dirty="0">
                <a:solidFill>
                  <a:srgbClr val="F9B233"/>
                </a:solidFill>
                <a:latin typeface="Calibri" pitchFamily="34" charset="0"/>
                <a:ea typeface="Calibri" pitchFamily="34" charset="-122"/>
                <a:cs typeface="Calibri" pitchFamily="34" charset="-120"/>
              </a:rPr>
              <a:t>LiveRamp Safe Haven</a:t>
            </a:r>
            <a:endParaRPr lang="en-US" sz="1100" dirty="0"/>
          </a:p>
        </p:txBody>
      </p:sp>
      <p:sp>
        <p:nvSpPr>
          <p:cNvPr id="14" name="Shape 12"/>
          <p:cNvSpPr/>
          <p:nvPr/>
        </p:nvSpPr>
        <p:spPr>
          <a:xfrm>
            <a:off x="640080" y="2350008"/>
            <a:ext cx="3657600" cy="502920"/>
          </a:xfrm>
          <a:prstGeom prst="rect">
            <a:avLst/>
          </a:prstGeom>
          <a:solidFill>
            <a:srgbClr val="FFFFFF"/>
          </a:solidFill>
          <a:ln w="6350">
            <a:solidFill>
              <a:srgbClr val="E2E8F0"/>
            </a:solidFill>
            <a:prstDash val="solid"/>
          </a:ln>
        </p:spPr>
      </p:sp>
      <p:sp>
        <p:nvSpPr>
          <p:cNvPr id="15" name="Shape 13"/>
          <p:cNvSpPr/>
          <p:nvPr/>
        </p:nvSpPr>
        <p:spPr>
          <a:xfrm>
            <a:off x="640080" y="2350008"/>
            <a:ext cx="91440" cy="502920"/>
          </a:xfrm>
          <a:prstGeom prst="rect">
            <a:avLst/>
          </a:prstGeom>
          <a:solidFill>
            <a:srgbClr val="1C7293"/>
          </a:solidFill>
          <a:ln w="12700">
            <a:solidFill>
              <a:srgbClr val="1C7293"/>
            </a:solidFill>
            <a:prstDash val="solid"/>
          </a:ln>
        </p:spPr>
      </p:sp>
      <p:sp>
        <p:nvSpPr>
          <p:cNvPr id="16" name="Text 14"/>
          <p:cNvSpPr/>
          <p:nvPr/>
        </p:nvSpPr>
        <p:spPr>
          <a:xfrm>
            <a:off x="822960" y="2468880"/>
            <a:ext cx="3474720" cy="274320"/>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Attribution YouTube</a:t>
            </a:r>
            <a:endParaRPr lang="en-US" sz="1200" dirty="0"/>
          </a:p>
        </p:txBody>
      </p:sp>
      <p:sp>
        <p:nvSpPr>
          <p:cNvPr id="17" name="Shape 15"/>
          <p:cNvSpPr/>
          <p:nvPr/>
        </p:nvSpPr>
        <p:spPr>
          <a:xfrm rot="1800000">
            <a:off x="4343400" y="2514600"/>
            <a:ext cx="182880" cy="182880"/>
          </a:xfrm>
          <a:prstGeom prst="rtTriangle">
            <a:avLst/>
          </a:prstGeom>
          <a:solidFill>
            <a:srgbClr val="1C7293"/>
          </a:solidFill>
          <a:ln w="12700">
            <a:solidFill>
              <a:srgbClr val="1C7293"/>
            </a:solidFill>
            <a:prstDash val="solid"/>
          </a:ln>
        </p:spPr>
      </p:sp>
      <p:sp>
        <p:nvSpPr>
          <p:cNvPr id="18" name="Shape 16"/>
          <p:cNvSpPr/>
          <p:nvPr/>
        </p:nvSpPr>
        <p:spPr>
          <a:xfrm>
            <a:off x="4572000" y="2350008"/>
            <a:ext cx="3474720" cy="502920"/>
          </a:xfrm>
          <a:prstGeom prst="rect">
            <a:avLst/>
          </a:prstGeom>
          <a:solidFill>
            <a:srgbClr val="F5F8FC"/>
          </a:solidFill>
          <a:ln w="6350">
            <a:solidFill>
              <a:srgbClr val="E2E8F0"/>
            </a:solidFill>
            <a:prstDash val="solid"/>
          </a:ln>
        </p:spPr>
      </p:sp>
      <p:sp>
        <p:nvSpPr>
          <p:cNvPr id="19" name="Text 17"/>
          <p:cNvSpPr/>
          <p:nvPr/>
        </p:nvSpPr>
        <p:spPr>
          <a:xfrm>
            <a:off x="4709160" y="2468880"/>
            <a:ext cx="3291840" cy="274320"/>
          </a:xfrm>
          <a:prstGeom prst="rect">
            <a:avLst/>
          </a:prstGeom>
          <a:noFill/>
          <a:ln/>
        </p:spPr>
        <p:txBody>
          <a:bodyPr wrap="square" lIns="0" tIns="0" rIns="0" bIns="0" rtlCol="0" anchor="ctr"/>
          <a:lstStyle/>
          <a:p>
            <a:pPr marL="0" indent="0">
              <a:buNone/>
            </a:pPr>
            <a:r>
              <a:rPr lang="en-US" sz="1100" i="1" dirty="0">
                <a:solidFill>
                  <a:srgbClr val="1E293B"/>
                </a:solidFill>
                <a:latin typeface="Calibri" pitchFamily="34" charset="0"/>
                <a:ea typeface="Calibri" pitchFamily="34" charset="-122"/>
                <a:cs typeface="Calibri" pitchFamily="34" charset="-120"/>
              </a:rPr>
              <a:t>Vous achetez sur Google Ads</a:t>
            </a:r>
            <a:endParaRPr lang="en-US" sz="1100" dirty="0"/>
          </a:p>
        </p:txBody>
      </p:sp>
      <p:sp>
        <p:nvSpPr>
          <p:cNvPr id="20" name="Shape 18"/>
          <p:cNvSpPr/>
          <p:nvPr/>
        </p:nvSpPr>
        <p:spPr>
          <a:xfrm rot="1800000">
            <a:off x="8092440" y="2514600"/>
            <a:ext cx="182880" cy="182880"/>
          </a:xfrm>
          <a:prstGeom prst="rtTriangle">
            <a:avLst/>
          </a:prstGeom>
          <a:solidFill>
            <a:srgbClr val="1C7293"/>
          </a:solidFill>
          <a:ln w="12700">
            <a:solidFill>
              <a:srgbClr val="1C7293"/>
            </a:solidFill>
            <a:prstDash val="solid"/>
          </a:ln>
        </p:spPr>
      </p:sp>
      <p:sp>
        <p:nvSpPr>
          <p:cNvPr id="21" name="Shape 19"/>
          <p:cNvSpPr/>
          <p:nvPr/>
        </p:nvSpPr>
        <p:spPr>
          <a:xfrm>
            <a:off x="8321040" y="2350008"/>
            <a:ext cx="3383280" cy="502920"/>
          </a:xfrm>
          <a:prstGeom prst="rect">
            <a:avLst/>
          </a:prstGeom>
          <a:solidFill>
            <a:srgbClr val="0B1F3A"/>
          </a:solidFill>
          <a:ln w="12700">
            <a:solidFill>
              <a:srgbClr val="0B1F3A"/>
            </a:solidFill>
            <a:prstDash val="solid"/>
          </a:ln>
        </p:spPr>
      </p:sp>
      <p:sp>
        <p:nvSpPr>
          <p:cNvPr id="22" name="Text 20"/>
          <p:cNvSpPr/>
          <p:nvPr/>
        </p:nvSpPr>
        <p:spPr>
          <a:xfrm>
            <a:off x="8458200" y="2468880"/>
            <a:ext cx="3200400" cy="274320"/>
          </a:xfrm>
          <a:prstGeom prst="rect">
            <a:avLst/>
          </a:prstGeom>
          <a:noFill/>
          <a:ln/>
        </p:spPr>
        <p:txBody>
          <a:bodyPr wrap="square" lIns="0" tIns="0" rIns="0" bIns="0" rtlCol="0" anchor="ctr"/>
          <a:lstStyle/>
          <a:p>
            <a:pPr marL="0" indent="0">
              <a:buNone/>
            </a:pPr>
            <a:r>
              <a:rPr lang="en-US" sz="1100" b="1" dirty="0">
                <a:solidFill>
                  <a:srgbClr val="F9B233"/>
                </a:solidFill>
                <a:latin typeface="Calibri" pitchFamily="34" charset="0"/>
                <a:ea typeface="Calibri" pitchFamily="34" charset="-122"/>
                <a:cs typeface="Calibri" pitchFamily="34" charset="-120"/>
              </a:rPr>
              <a:t>Google Ads Data Hub</a:t>
            </a:r>
            <a:endParaRPr lang="en-US" sz="1100" dirty="0"/>
          </a:p>
        </p:txBody>
      </p:sp>
      <p:sp>
        <p:nvSpPr>
          <p:cNvPr id="23" name="Shape 21"/>
          <p:cNvSpPr/>
          <p:nvPr/>
        </p:nvSpPr>
        <p:spPr>
          <a:xfrm>
            <a:off x="640080" y="2916936"/>
            <a:ext cx="3657600" cy="502920"/>
          </a:xfrm>
          <a:prstGeom prst="rect">
            <a:avLst/>
          </a:prstGeom>
          <a:solidFill>
            <a:srgbClr val="FFFFFF"/>
          </a:solidFill>
          <a:ln w="6350">
            <a:solidFill>
              <a:srgbClr val="E2E8F0"/>
            </a:solidFill>
            <a:prstDash val="solid"/>
          </a:ln>
        </p:spPr>
      </p:sp>
      <p:sp>
        <p:nvSpPr>
          <p:cNvPr id="24" name="Shape 22"/>
          <p:cNvSpPr/>
          <p:nvPr/>
        </p:nvSpPr>
        <p:spPr>
          <a:xfrm>
            <a:off x="640080" y="2916936"/>
            <a:ext cx="91440" cy="502920"/>
          </a:xfrm>
          <a:prstGeom prst="rect">
            <a:avLst/>
          </a:prstGeom>
          <a:solidFill>
            <a:srgbClr val="F96167"/>
          </a:solidFill>
          <a:ln w="12700">
            <a:solidFill>
              <a:srgbClr val="F96167"/>
            </a:solidFill>
            <a:prstDash val="solid"/>
          </a:ln>
        </p:spPr>
      </p:sp>
      <p:sp>
        <p:nvSpPr>
          <p:cNvPr id="25" name="Text 23"/>
          <p:cNvSpPr/>
          <p:nvPr/>
        </p:nvSpPr>
        <p:spPr>
          <a:xfrm>
            <a:off x="822960" y="3035808"/>
            <a:ext cx="3474720" cy="274320"/>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Mesure Meta lift</a:t>
            </a:r>
            <a:endParaRPr lang="en-US" sz="1200" dirty="0"/>
          </a:p>
        </p:txBody>
      </p:sp>
      <p:sp>
        <p:nvSpPr>
          <p:cNvPr id="26" name="Shape 24"/>
          <p:cNvSpPr/>
          <p:nvPr/>
        </p:nvSpPr>
        <p:spPr>
          <a:xfrm rot="1800000">
            <a:off x="4343400" y="3081528"/>
            <a:ext cx="182880" cy="182880"/>
          </a:xfrm>
          <a:prstGeom prst="rtTriangle">
            <a:avLst/>
          </a:prstGeom>
          <a:solidFill>
            <a:srgbClr val="F96167"/>
          </a:solidFill>
          <a:ln w="12700">
            <a:solidFill>
              <a:srgbClr val="F96167"/>
            </a:solidFill>
            <a:prstDash val="solid"/>
          </a:ln>
        </p:spPr>
      </p:sp>
      <p:sp>
        <p:nvSpPr>
          <p:cNvPr id="27" name="Shape 25"/>
          <p:cNvSpPr/>
          <p:nvPr/>
        </p:nvSpPr>
        <p:spPr>
          <a:xfrm>
            <a:off x="4572000" y="2916936"/>
            <a:ext cx="3474720" cy="502920"/>
          </a:xfrm>
          <a:prstGeom prst="rect">
            <a:avLst/>
          </a:prstGeom>
          <a:solidFill>
            <a:srgbClr val="F5F8FC"/>
          </a:solidFill>
          <a:ln w="6350">
            <a:solidFill>
              <a:srgbClr val="E2E8F0"/>
            </a:solidFill>
            <a:prstDash val="solid"/>
          </a:ln>
        </p:spPr>
      </p:sp>
      <p:sp>
        <p:nvSpPr>
          <p:cNvPr id="28" name="Text 26"/>
          <p:cNvSpPr/>
          <p:nvPr/>
        </p:nvSpPr>
        <p:spPr>
          <a:xfrm>
            <a:off x="4709160" y="3035808"/>
            <a:ext cx="3291840" cy="274320"/>
          </a:xfrm>
          <a:prstGeom prst="rect">
            <a:avLst/>
          </a:prstGeom>
          <a:noFill/>
          <a:ln/>
        </p:spPr>
        <p:txBody>
          <a:bodyPr wrap="square" lIns="0" tIns="0" rIns="0" bIns="0" rtlCol="0" anchor="ctr"/>
          <a:lstStyle/>
          <a:p>
            <a:pPr marL="0" indent="0">
              <a:buNone/>
            </a:pPr>
            <a:r>
              <a:rPr lang="en-US" sz="1100" i="1" dirty="0">
                <a:solidFill>
                  <a:srgbClr val="1E293B"/>
                </a:solidFill>
                <a:latin typeface="Calibri" pitchFamily="34" charset="0"/>
                <a:ea typeface="Calibri" pitchFamily="34" charset="-122"/>
                <a:cs typeface="Calibri" pitchFamily="34" charset="-120"/>
              </a:rPr>
              <a:t>Gros budgets Meta</a:t>
            </a:r>
            <a:endParaRPr lang="en-US" sz="1100" dirty="0"/>
          </a:p>
        </p:txBody>
      </p:sp>
      <p:sp>
        <p:nvSpPr>
          <p:cNvPr id="29" name="Shape 27"/>
          <p:cNvSpPr/>
          <p:nvPr/>
        </p:nvSpPr>
        <p:spPr>
          <a:xfrm rot="1800000">
            <a:off x="8092440" y="3081528"/>
            <a:ext cx="182880" cy="182880"/>
          </a:xfrm>
          <a:prstGeom prst="rtTriangle">
            <a:avLst/>
          </a:prstGeom>
          <a:solidFill>
            <a:srgbClr val="F96167"/>
          </a:solidFill>
          <a:ln w="12700">
            <a:solidFill>
              <a:srgbClr val="F96167"/>
            </a:solidFill>
            <a:prstDash val="solid"/>
          </a:ln>
        </p:spPr>
      </p:sp>
      <p:sp>
        <p:nvSpPr>
          <p:cNvPr id="30" name="Shape 28"/>
          <p:cNvSpPr/>
          <p:nvPr/>
        </p:nvSpPr>
        <p:spPr>
          <a:xfrm>
            <a:off x="8321040" y="2916936"/>
            <a:ext cx="3383280" cy="502920"/>
          </a:xfrm>
          <a:prstGeom prst="rect">
            <a:avLst/>
          </a:prstGeom>
          <a:solidFill>
            <a:srgbClr val="0B1F3A"/>
          </a:solidFill>
          <a:ln w="12700">
            <a:solidFill>
              <a:srgbClr val="0B1F3A"/>
            </a:solidFill>
            <a:prstDash val="solid"/>
          </a:ln>
        </p:spPr>
      </p:sp>
      <p:sp>
        <p:nvSpPr>
          <p:cNvPr id="31" name="Text 29"/>
          <p:cNvSpPr/>
          <p:nvPr/>
        </p:nvSpPr>
        <p:spPr>
          <a:xfrm>
            <a:off x="8458200" y="3035808"/>
            <a:ext cx="3200400" cy="274320"/>
          </a:xfrm>
          <a:prstGeom prst="rect">
            <a:avLst/>
          </a:prstGeom>
          <a:noFill/>
          <a:ln/>
        </p:spPr>
        <p:txBody>
          <a:bodyPr wrap="square" lIns="0" tIns="0" rIns="0" bIns="0" rtlCol="0" anchor="ctr"/>
          <a:lstStyle/>
          <a:p>
            <a:pPr marL="0" indent="0">
              <a:buNone/>
            </a:pPr>
            <a:r>
              <a:rPr lang="en-US" sz="1100" b="1" dirty="0">
                <a:solidFill>
                  <a:srgbClr val="F9B233"/>
                </a:solidFill>
                <a:latin typeface="Calibri" pitchFamily="34" charset="0"/>
                <a:ea typeface="Calibri" pitchFamily="34" charset="-122"/>
                <a:cs typeface="Calibri" pitchFamily="34" charset="-120"/>
              </a:rPr>
              <a:t>Meta Advanced Analytics</a:t>
            </a:r>
            <a:endParaRPr lang="en-US" sz="1100" dirty="0"/>
          </a:p>
        </p:txBody>
      </p:sp>
      <p:sp>
        <p:nvSpPr>
          <p:cNvPr id="32" name="Shape 30"/>
          <p:cNvSpPr/>
          <p:nvPr/>
        </p:nvSpPr>
        <p:spPr>
          <a:xfrm>
            <a:off x="640080" y="3483864"/>
            <a:ext cx="3657600" cy="502920"/>
          </a:xfrm>
          <a:prstGeom prst="rect">
            <a:avLst/>
          </a:prstGeom>
          <a:solidFill>
            <a:srgbClr val="FFFFFF"/>
          </a:solidFill>
          <a:ln w="6350">
            <a:solidFill>
              <a:srgbClr val="E2E8F0"/>
            </a:solidFill>
            <a:prstDash val="solid"/>
          </a:ln>
        </p:spPr>
      </p:sp>
      <p:sp>
        <p:nvSpPr>
          <p:cNvPr id="33" name="Shape 31"/>
          <p:cNvSpPr/>
          <p:nvPr/>
        </p:nvSpPr>
        <p:spPr>
          <a:xfrm>
            <a:off x="640080" y="3483864"/>
            <a:ext cx="91440" cy="502920"/>
          </a:xfrm>
          <a:prstGeom prst="rect">
            <a:avLst/>
          </a:prstGeom>
          <a:solidFill>
            <a:srgbClr val="065A82"/>
          </a:solidFill>
          <a:ln w="12700">
            <a:solidFill>
              <a:srgbClr val="065A82"/>
            </a:solidFill>
            <a:prstDash val="solid"/>
          </a:ln>
        </p:spPr>
      </p:sp>
      <p:sp>
        <p:nvSpPr>
          <p:cNvPr id="34" name="Text 32"/>
          <p:cNvSpPr/>
          <p:nvPr/>
        </p:nvSpPr>
        <p:spPr>
          <a:xfrm>
            <a:off x="822960" y="3602736"/>
            <a:ext cx="3474720" cy="274320"/>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Collab multi-partenaires</a:t>
            </a:r>
            <a:endParaRPr lang="en-US" sz="1200" dirty="0"/>
          </a:p>
        </p:txBody>
      </p:sp>
      <p:sp>
        <p:nvSpPr>
          <p:cNvPr id="35" name="Shape 33"/>
          <p:cNvSpPr/>
          <p:nvPr/>
        </p:nvSpPr>
        <p:spPr>
          <a:xfrm rot="1800000">
            <a:off x="4343400" y="3648456"/>
            <a:ext cx="182880" cy="182880"/>
          </a:xfrm>
          <a:prstGeom prst="rtTriangle">
            <a:avLst/>
          </a:prstGeom>
          <a:solidFill>
            <a:srgbClr val="065A82"/>
          </a:solidFill>
          <a:ln w="12700">
            <a:solidFill>
              <a:srgbClr val="065A82"/>
            </a:solidFill>
            <a:prstDash val="solid"/>
          </a:ln>
        </p:spPr>
      </p:sp>
      <p:sp>
        <p:nvSpPr>
          <p:cNvPr id="36" name="Shape 34"/>
          <p:cNvSpPr/>
          <p:nvPr/>
        </p:nvSpPr>
        <p:spPr>
          <a:xfrm>
            <a:off x="4572000" y="3483864"/>
            <a:ext cx="3474720" cy="502920"/>
          </a:xfrm>
          <a:prstGeom prst="rect">
            <a:avLst/>
          </a:prstGeom>
          <a:solidFill>
            <a:srgbClr val="F5F8FC"/>
          </a:solidFill>
          <a:ln w="6350">
            <a:solidFill>
              <a:srgbClr val="E2E8F0"/>
            </a:solidFill>
            <a:prstDash val="solid"/>
          </a:ln>
        </p:spPr>
      </p:sp>
      <p:sp>
        <p:nvSpPr>
          <p:cNvPr id="37" name="Text 35"/>
          <p:cNvSpPr/>
          <p:nvPr/>
        </p:nvSpPr>
        <p:spPr>
          <a:xfrm>
            <a:off x="4709160" y="3602736"/>
            <a:ext cx="3291840" cy="274320"/>
          </a:xfrm>
          <a:prstGeom prst="rect">
            <a:avLst/>
          </a:prstGeom>
          <a:noFill/>
          <a:ln/>
        </p:spPr>
        <p:txBody>
          <a:bodyPr wrap="square" lIns="0" tIns="0" rIns="0" bIns="0" rtlCol="0" anchor="ctr"/>
          <a:lstStyle/>
          <a:p>
            <a:pPr marL="0" indent="0">
              <a:buNone/>
            </a:pPr>
            <a:r>
              <a:rPr lang="en-US" sz="1100" i="1" dirty="0">
                <a:solidFill>
                  <a:srgbClr val="1E293B"/>
                </a:solidFill>
                <a:latin typeface="Calibri" pitchFamily="34" charset="0"/>
                <a:ea typeface="Calibri" pitchFamily="34" charset="-122"/>
                <a:cs typeface="Calibri" pitchFamily="34" charset="-120"/>
              </a:rPr>
              <a:t>3+ partenaires cross-cloud</a:t>
            </a:r>
            <a:endParaRPr lang="en-US" sz="1100" dirty="0"/>
          </a:p>
        </p:txBody>
      </p:sp>
      <p:sp>
        <p:nvSpPr>
          <p:cNvPr id="38" name="Shape 36"/>
          <p:cNvSpPr/>
          <p:nvPr/>
        </p:nvSpPr>
        <p:spPr>
          <a:xfrm rot="1800000">
            <a:off x="8092440" y="3648456"/>
            <a:ext cx="182880" cy="182880"/>
          </a:xfrm>
          <a:prstGeom prst="rtTriangle">
            <a:avLst/>
          </a:prstGeom>
          <a:solidFill>
            <a:srgbClr val="065A82"/>
          </a:solidFill>
          <a:ln w="12700">
            <a:solidFill>
              <a:srgbClr val="065A82"/>
            </a:solidFill>
            <a:prstDash val="solid"/>
          </a:ln>
        </p:spPr>
      </p:sp>
      <p:sp>
        <p:nvSpPr>
          <p:cNvPr id="39" name="Shape 37"/>
          <p:cNvSpPr/>
          <p:nvPr/>
        </p:nvSpPr>
        <p:spPr>
          <a:xfrm>
            <a:off x="8321040" y="3483864"/>
            <a:ext cx="3383280" cy="502920"/>
          </a:xfrm>
          <a:prstGeom prst="rect">
            <a:avLst/>
          </a:prstGeom>
          <a:solidFill>
            <a:srgbClr val="0B1F3A"/>
          </a:solidFill>
          <a:ln w="12700">
            <a:solidFill>
              <a:srgbClr val="0B1F3A"/>
            </a:solidFill>
            <a:prstDash val="solid"/>
          </a:ln>
        </p:spPr>
      </p:sp>
      <p:sp>
        <p:nvSpPr>
          <p:cNvPr id="40" name="Text 38"/>
          <p:cNvSpPr/>
          <p:nvPr/>
        </p:nvSpPr>
        <p:spPr>
          <a:xfrm>
            <a:off x="8458200" y="3602736"/>
            <a:ext cx="3200400" cy="274320"/>
          </a:xfrm>
          <a:prstGeom prst="rect">
            <a:avLst/>
          </a:prstGeom>
          <a:noFill/>
          <a:ln/>
        </p:spPr>
        <p:txBody>
          <a:bodyPr wrap="square" lIns="0" tIns="0" rIns="0" bIns="0" rtlCol="0" anchor="ctr"/>
          <a:lstStyle/>
          <a:p>
            <a:pPr marL="0" indent="0">
              <a:buNone/>
            </a:pPr>
            <a:r>
              <a:rPr lang="en-US" sz="1100" b="1" dirty="0">
                <a:solidFill>
                  <a:srgbClr val="F9B233"/>
                </a:solidFill>
                <a:latin typeface="Calibri" pitchFamily="34" charset="0"/>
                <a:ea typeface="Calibri" pitchFamily="34" charset="-122"/>
                <a:cs typeface="Calibri" pitchFamily="34" charset="-120"/>
              </a:rPr>
              <a:t>Habu (LiveRamp)</a:t>
            </a:r>
            <a:endParaRPr lang="en-US" sz="1100" dirty="0"/>
          </a:p>
        </p:txBody>
      </p:sp>
      <p:sp>
        <p:nvSpPr>
          <p:cNvPr id="41" name="Shape 39"/>
          <p:cNvSpPr/>
          <p:nvPr/>
        </p:nvSpPr>
        <p:spPr>
          <a:xfrm>
            <a:off x="640080" y="4050792"/>
            <a:ext cx="3657600" cy="502920"/>
          </a:xfrm>
          <a:prstGeom prst="rect">
            <a:avLst/>
          </a:prstGeom>
          <a:solidFill>
            <a:srgbClr val="FFFFFF"/>
          </a:solidFill>
          <a:ln w="6350">
            <a:solidFill>
              <a:srgbClr val="E2E8F0"/>
            </a:solidFill>
            <a:prstDash val="solid"/>
          </a:ln>
        </p:spPr>
      </p:sp>
      <p:sp>
        <p:nvSpPr>
          <p:cNvPr id="42" name="Shape 40"/>
          <p:cNvSpPr/>
          <p:nvPr/>
        </p:nvSpPr>
        <p:spPr>
          <a:xfrm>
            <a:off x="640080" y="4050792"/>
            <a:ext cx="91440" cy="502920"/>
          </a:xfrm>
          <a:prstGeom prst="rect">
            <a:avLst/>
          </a:prstGeom>
          <a:solidFill>
            <a:srgbClr val="1C7293"/>
          </a:solidFill>
          <a:ln w="12700">
            <a:solidFill>
              <a:srgbClr val="1C7293"/>
            </a:solidFill>
            <a:prstDash val="solid"/>
          </a:ln>
        </p:spPr>
      </p:sp>
      <p:sp>
        <p:nvSpPr>
          <p:cNvPr id="43" name="Text 41"/>
          <p:cNvSpPr/>
          <p:nvPr/>
        </p:nvSpPr>
        <p:spPr>
          <a:xfrm>
            <a:off x="822960" y="4169664"/>
            <a:ext cx="3474720" cy="274320"/>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CTV cookieless</a:t>
            </a:r>
            <a:endParaRPr lang="en-US" sz="1200" dirty="0"/>
          </a:p>
        </p:txBody>
      </p:sp>
      <p:sp>
        <p:nvSpPr>
          <p:cNvPr id="44" name="Shape 42"/>
          <p:cNvSpPr/>
          <p:nvPr/>
        </p:nvSpPr>
        <p:spPr>
          <a:xfrm rot="1800000">
            <a:off x="4343400" y="4215384"/>
            <a:ext cx="182880" cy="182880"/>
          </a:xfrm>
          <a:prstGeom prst="rtTriangle">
            <a:avLst/>
          </a:prstGeom>
          <a:solidFill>
            <a:srgbClr val="1C7293"/>
          </a:solidFill>
          <a:ln w="12700">
            <a:solidFill>
              <a:srgbClr val="1C7293"/>
            </a:solidFill>
            <a:prstDash val="solid"/>
          </a:ln>
        </p:spPr>
      </p:sp>
      <p:sp>
        <p:nvSpPr>
          <p:cNvPr id="45" name="Shape 43"/>
          <p:cNvSpPr/>
          <p:nvPr/>
        </p:nvSpPr>
        <p:spPr>
          <a:xfrm>
            <a:off x="4572000" y="4050792"/>
            <a:ext cx="3474720" cy="502920"/>
          </a:xfrm>
          <a:prstGeom prst="rect">
            <a:avLst/>
          </a:prstGeom>
          <a:solidFill>
            <a:srgbClr val="F5F8FC"/>
          </a:solidFill>
          <a:ln w="6350">
            <a:solidFill>
              <a:srgbClr val="E2E8F0"/>
            </a:solidFill>
            <a:prstDash val="solid"/>
          </a:ln>
        </p:spPr>
      </p:sp>
      <p:sp>
        <p:nvSpPr>
          <p:cNvPr id="46" name="Text 44"/>
          <p:cNvSpPr/>
          <p:nvPr/>
        </p:nvSpPr>
        <p:spPr>
          <a:xfrm>
            <a:off x="4709160" y="4169664"/>
            <a:ext cx="3291840" cy="274320"/>
          </a:xfrm>
          <a:prstGeom prst="rect">
            <a:avLst/>
          </a:prstGeom>
          <a:noFill/>
          <a:ln/>
        </p:spPr>
        <p:txBody>
          <a:bodyPr wrap="square" lIns="0" tIns="0" rIns="0" bIns="0" rtlCol="0" anchor="ctr"/>
          <a:lstStyle/>
          <a:p>
            <a:pPr marL="0" indent="0">
              <a:buNone/>
            </a:pPr>
            <a:r>
              <a:rPr lang="en-US" sz="1100" i="1" dirty="0">
                <a:solidFill>
                  <a:srgbClr val="1E293B"/>
                </a:solidFill>
                <a:latin typeface="Calibri" pitchFamily="34" charset="0"/>
                <a:ea typeface="Calibri" pitchFamily="34" charset="-122"/>
                <a:cs typeface="Calibri" pitchFamily="34" charset="-120"/>
              </a:rPr>
              <a:t>Éditeurs premium</a:t>
            </a:r>
            <a:endParaRPr lang="en-US" sz="1100" dirty="0"/>
          </a:p>
        </p:txBody>
      </p:sp>
      <p:sp>
        <p:nvSpPr>
          <p:cNvPr id="47" name="Shape 45"/>
          <p:cNvSpPr/>
          <p:nvPr/>
        </p:nvSpPr>
        <p:spPr>
          <a:xfrm rot="1800000">
            <a:off x="8092440" y="4215384"/>
            <a:ext cx="182880" cy="182880"/>
          </a:xfrm>
          <a:prstGeom prst="rtTriangle">
            <a:avLst/>
          </a:prstGeom>
          <a:solidFill>
            <a:srgbClr val="1C7293"/>
          </a:solidFill>
          <a:ln w="12700">
            <a:solidFill>
              <a:srgbClr val="1C7293"/>
            </a:solidFill>
            <a:prstDash val="solid"/>
          </a:ln>
        </p:spPr>
      </p:sp>
      <p:sp>
        <p:nvSpPr>
          <p:cNvPr id="48" name="Shape 46"/>
          <p:cNvSpPr/>
          <p:nvPr/>
        </p:nvSpPr>
        <p:spPr>
          <a:xfrm>
            <a:off x="8321040" y="4050792"/>
            <a:ext cx="3383280" cy="502920"/>
          </a:xfrm>
          <a:prstGeom prst="rect">
            <a:avLst/>
          </a:prstGeom>
          <a:solidFill>
            <a:srgbClr val="0B1F3A"/>
          </a:solidFill>
          <a:ln w="12700">
            <a:solidFill>
              <a:srgbClr val="0B1F3A"/>
            </a:solidFill>
            <a:prstDash val="solid"/>
          </a:ln>
        </p:spPr>
      </p:sp>
      <p:sp>
        <p:nvSpPr>
          <p:cNvPr id="49" name="Text 47"/>
          <p:cNvSpPr/>
          <p:nvPr/>
        </p:nvSpPr>
        <p:spPr>
          <a:xfrm>
            <a:off x="8458200" y="4169664"/>
            <a:ext cx="3200400" cy="274320"/>
          </a:xfrm>
          <a:prstGeom prst="rect">
            <a:avLst/>
          </a:prstGeom>
          <a:noFill/>
          <a:ln/>
        </p:spPr>
        <p:txBody>
          <a:bodyPr wrap="square" lIns="0" tIns="0" rIns="0" bIns="0" rtlCol="0" anchor="ctr"/>
          <a:lstStyle/>
          <a:p>
            <a:pPr marL="0" indent="0">
              <a:buNone/>
            </a:pPr>
            <a:r>
              <a:rPr lang="en-US" sz="1100" b="1" dirty="0">
                <a:solidFill>
                  <a:srgbClr val="F9B233"/>
                </a:solidFill>
                <a:latin typeface="Calibri" pitchFamily="34" charset="0"/>
                <a:ea typeface="Calibri" pitchFamily="34" charset="-122"/>
                <a:cs typeface="Calibri" pitchFamily="34" charset="-120"/>
              </a:rPr>
              <a:t>The Trade Desk + UID 2.0</a:t>
            </a:r>
            <a:endParaRPr lang="en-US" sz="1100" dirty="0"/>
          </a:p>
        </p:txBody>
      </p:sp>
      <p:sp>
        <p:nvSpPr>
          <p:cNvPr id="50" name="Shape 48"/>
          <p:cNvSpPr/>
          <p:nvPr/>
        </p:nvSpPr>
        <p:spPr>
          <a:xfrm>
            <a:off x="640080" y="4617720"/>
            <a:ext cx="3657600" cy="502920"/>
          </a:xfrm>
          <a:prstGeom prst="rect">
            <a:avLst/>
          </a:prstGeom>
          <a:solidFill>
            <a:srgbClr val="FFFFFF"/>
          </a:solidFill>
          <a:ln w="6350">
            <a:solidFill>
              <a:srgbClr val="E2E8F0"/>
            </a:solidFill>
            <a:prstDash val="solid"/>
          </a:ln>
        </p:spPr>
      </p:sp>
      <p:sp>
        <p:nvSpPr>
          <p:cNvPr id="51" name="Shape 49"/>
          <p:cNvSpPr/>
          <p:nvPr/>
        </p:nvSpPr>
        <p:spPr>
          <a:xfrm>
            <a:off x="640080" y="4617720"/>
            <a:ext cx="91440" cy="502920"/>
          </a:xfrm>
          <a:prstGeom prst="rect">
            <a:avLst/>
          </a:prstGeom>
          <a:solidFill>
            <a:srgbClr val="F96167"/>
          </a:solidFill>
          <a:ln w="12700">
            <a:solidFill>
              <a:srgbClr val="F96167"/>
            </a:solidFill>
            <a:prstDash val="solid"/>
          </a:ln>
        </p:spPr>
      </p:sp>
      <p:sp>
        <p:nvSpPr>
          <p:cNvPr id="52" name="Text 50"/>
          <p:cNvSpPr/>
          <p:nvPr/>
        </p:nvSpPr>
        <p:spPr>
          <a:xfrm>
            <a:off x="822960" y="4736592"/>
            <a:ext cx="3474720" cy="274320"/>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Modèles ML croisés</a:t>
            </a:r>
            <a:endParaRPr lang="en-US" sz="1200" dirty="0"/>
          </a:p>
        </p:txBody>
      </p:sp>
      <p:sp>
        <p:nvSpPr>
          <p:cNvPr id="53" name="Shape 51"/>
          <p:cNvSpPr/>
          <p:nvPr/>
        </p:nvSpPr>
        <p:spPr>
          <a:xfrm rot="1800000">
            <a:off x="4343400" y="4782312"/>
            <a:ext cx="182880" cy="182880"/>
          </a:xfrm>
          <a:prstGeom prst="rtTriangle">
            <a:avLst/>
          </a:prstGeom>
          <a:solidFill>
            <a:srgbClr val="F96167"/>
          </a:solidFill>
          <a:ln w="12700">
            <a:solidFill>
              <a:srgbClr val="F96167"/>
            </a:solidFill>
            <a:prstDash val="solid"/>
          </a:ln>
        </p:spPr>
      </p:sp>
      <p:sp>
        <p:nvSpPr>
          <p:cNvPr id="54" name="Shape 52"/>
          <p:cNvSpPr/>
          <p:nvPr/>
        </p:nvSpPr>
        <p:spPr>
          <a:xfrm>
            <a:off x="4572000" y="4617720"/>
            <a:ext cx="3474720" cy="502920"/>
          </a:xfrm>
          <a:prstGeom prst="rect">
            <a:avLst/>
          </a:prstGeom>
          <a:solidFill>
            <a:srgbClr val="F5F8FC"/>
          </a:solidFill>
          <a:ln w="6350">
            <a:solidFill>
              <a:srgbClr val="E2E8F0"/>
            </a:solidFill>
            <a:prstDash val="solid"/>
          </a:ln>
        </p:spPr>
      </p:sp>
      <p:sp>
        <p:nvSpPr>
          <p:cNvPr id="55" name="Text 53"/>
          <p:cNvSpPr/>
          <p:nvPr/>
        </p:nvSpPr>
        <p:spPr>
          <a:xfrm>
            <a:off x="4709160" y="4736592"/>
            <a:ext cx="3291840" cy="274320"/>
          </a:xfrm>
          <a:prstGeom prst="rect">
            <a:avLst/>
          </a:prstGeom>
          <a:noFill/>
          <a:ln/>
        </p:spPr>
        <p:txBody>
          <a:bodyPr wrap="square" lIns="0" tIns="0" rIns="0" bIns="0" rtlCol="0" anchor="ctr"/>
          <a:lstStyle/>
          <a:p>
            <a:pPr marL="0" indent="0">
              <a:buNone/>
            </a:pPr>
            <a:r>
              <a:rPr lang="en-US" sz="1100" i="1" dirty="0">
                <a:solidFill>
                  <a:srgbClr val="1E293B"/>
                </a:solidFill>
                <a:latin typeface="Calibri" pitchFamily="34" charset="0"/>
                <a:ea typeface="Calibri" pitchFamily="34" charset="-122"/>
                <a:cs typeface="Calibri" pitchFamily="34" charset="-120"/>
              </a:rPr>
              <a:t>Équipe data science</a:t>
            </a:r>
            <a:endParaRPr lang="en-US" sz="1100" dirty="0"/>
          </a:p>
        </p:txBody>
      </p:sp>
      <p:sp>
        <p:nvSpPr>
          <p:cNvPr id="56" name="Shape 54"/>
          <p:cNvSpPr/>
          <p:nvPr/>
        </p:nvSpPr>
        <p:spPr>
          <a:xfrm rot="1800000">
            <a:off x="8092440" y="4782312"/>
            <a:ext cx="182880" cy="182880"/>
          </a:xfrm>
          <a:prstGeom prst="rtTriangle">
            <a:avLst/>
          </a:prstGeom>
          <a:solidFill>
            <a:srgbClr val="F96167"/>
          </a:solidFill>
          <a:ln w="12700">
            <a:solidFill>
              <a:srgbClr val="F96167"/>
            </a:solidFill>
            <a:prstDash val="solid"/>
          </a:ln>
        </p:spPr>
      </p:sp>
      <p:sp>
        <p:nvSpPr>
          <p:cNvPr id="57" name="Shape 55"/>
          <p:cNvSpPr/>
          <p:nvPr/>
        </p:nvSpPr>
        <p:spPr>
          <a:xfrm>
            <a:off x="8321040" y="4617720"/>
            <a:ext cx="3383280" cy="502920"/>
          </a:xfrm>
          <a:prstGeom prst="rect">
            <a:avLst/>
          </a:prstGeom>
          <a:solidFill>
            <a:srgbClr val="0B1F3A"/>
          </a:solidFill>
          <a:ln w="12700">
            <a:solidFill>
              <a:srgbClr val="0B1F3A"/>
            </a:solidFill>
            <a:prstDash val="solid"/>
          </a:ln>
        </p:spPr>
      </p:sp>
      <p:sp>
        <p:nvSpPr>
          <p:cNvPr id="58" name="Text 56"/>
          <p:cNvSpPr/>
          <p:nvPr/>
        </p:nvSpPr>
        <p:spPr>
          <a:xfrm>
            <a:off x="8458200" y="4736592"/>
            <a:ext cx="3200400" cy="274320"/>
          </a:xfrm>
          <a:prstGeom prst="rect">
            <a:avLst/>
          </a:prstGeom>
          <a:noFill/>
          <a:ln/>
        </p:spPr>
        <p:txBody>
          <a:bodyPr wrap="square" lIns="0" tIns="0" rIns="0" bIns="0" rtlCol="0" anchor="ctr"/>
          <a:lstStyle/>
          <a:p>
            <a:pPr marL="0" indent="0">
              <a:buNone/>
            </a:pPr>
            <a:r>
              <a:rPr lang="en-US" sz="1100" b="1" dirty="0">
                <a:solidFill>
                  <a:srgbClr val="F9B233"/>
                </a:solidFill>
                <a:latin typeface="Calibri" pitchFamily="34" charset="0"/>
                <a:ea typeface="Calibri" pitchFamily="34" charset="-122"/>
                <a:cs typeface="Calibri" pitchFamily="34" charset="-120"/>
              </a:rPr>
              <a:t>Databricks Clean Rooms</a:t>
            </a:r>
            <a:endParaRPr lang="en-US" sz="1100" dirty="0"/>
          </a:p>
        </p:txBody>
      </p:sp>
      <p:sp>
        <p:nvSpPr>
          <p:cNvPr id="59" name="Shape 57"/>
          <p:cNvSpPr/>
          <p:nvPr/>
        </p:nvSpPr>
        <p:spPr>
          <a:xfrm>
            <a:off x="640080" y="5184648"/>
            <a:ext cx="3657600" cy="502920"/>
          </a:xfrm>
          <a:prstGeom prst="rect">
            <a:avLst/>
          </a:prstGeom>
          <a:solidFill>
            <a:srgbClr val="FFFFFF"/>
          </a:solidFill>
          <a:ln w="6350">
            <a:solidFill>
              <a:srgbClr val="E2E8F0"/>
            </a:solidFill>
            <a:prstDash val="solid"/>
          </a:ln>
        </p:spPr>
      </p:sp>
      <p:sp>
        <p:nvSpPr>
          <p:cNvPr id="60" name="Shape 58"/>
          <p:cNvSpPr/>
          <p:nvPr/>
        </p:nvSpPr>
        <p:spPr>
          <a:xfrm>
            <a:off x="640080" y="5184648"/>
            <a:ext cx="91440" cy="502920"/>
          </a:xfrm>
          <a:prstGeom prst="rect">
            <a:avLst/>
          </a:prstGeom>
          <a:solidFill>
            <a:srgbClr val="065A82"/>
          </a:solidFill>
          <a:ln w="12700">
            <a:solidFill>
              <a:srgbClr val="065A82"/>
            </a:solidFill>
            <a:prstDash val="solid"/>
          </a:ln>
        </p:spPr>
      </p:sp>
      <p:sp>
        <p:nvSpPr>
          <p:cNvPr id="61" name="Text 59"/>
          <p:cNvSpPr/>
          <p:nvPr/>
        </p:nvSpPr>
        <p:spPr>
          <a:xfrm>
            <a:off x="822960" y="5303520"/>
            <a:ext cx="3474720" cy="274320"/>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Secteur régulé (santé)</a:t>
            </a:r>
            <a:endParaRPr lang="en-US" sz="1200" dirty="0"/>
          </a:p>
        </p:txBody>
      </p:sp>
      <p:sp>
        <p:nvSpPr>
          <p:cNvPr id="62" name="Shape 60"/>
          <p:cNvSpPr/>
          <p:nvPr/>
        </p:nvSpPr>
        <p:spPr>
          <a:xfrm rot="1800000">
            <a:off x="4343400" y="5349240"/>
            <a:ext cx="182880" cy="182880"/>
          </a:xfrm>
          <a:prstGeom prst="rtTriangle">
            <a:avLst/>
          </a:prstGeom>
          <a:solidFill>
            <a:srgbClr val="065A82"/>
          </a:solidFill>
          <a:ln w="12700">
            <a:solidFill>
              <a:srgbClr val="065A82"/>
            </a:solidFill>
            <a:prstDash val="solid"/>
          </a:ln>
        </p:spPr>
      </p:sp>
      <p:sp>
        <p:nvSpPr>
          <p:cNvPr id="63" name="Shape 61"/>
          <p:cNvSpPr/>
          <p:nvPr/>
        </p:nvSpPr>
        <p:spPr>
          <a:xfrm>
            <a:off x="4572000" y="5184648"/>
            <a:ext cx="3474720" cy="502920"/>
          </a:xfrm>
          <a:prstGeom prst="rect">
            <a:avLst/>
          </a:prstGeom>
          <a:solidFill>
            <a:srgbClr val="F5F8FC"/>
          </a:solidFill>
          <a:ln w="6350">
            <a:solidFill>
              <a:srgbClr val="E2E8F0"/>
            </a:solidFill>
            <a:prstDash val="solid"/>
          </a:ln>
        </p:spPr>
      </p:sp>
      <p:sp>
        <p:nvSpPr>
          <p:cNvPr id="64" name="Text 62"/>
          <p:cNvSpPr/>
          <p:nvPr/>
        </p:nvSpPr>
        <p:spPr>
          <a:xfrm>
            <a:off x="4709160" y="5303520"/>
            <a:ext cx="3291840" cy="274320"/>
          </a:xfrm>
          <a:prstGeom prst="rect">
            <a:avLst/>
          </a:prstGeom>
          <a:noFill/>
          <a:ln/>
        </p:spPr>
        <p:txBody>
          <a:bodyPr wrap="square" lIns="0" tIns="0" rIns="0" bIns="0" rtlCol="0" anchor="ctr"/>
          <a:lstStyle/>
          <a:p>
            <a:pPr marL="0" indent="0">
              <a:buNone/>
            </a:pPr>
            <a:r>
              <a:rPr lang="en-US" sz="1100" i="1" dirty="0">
                <a:solidFill>
                  <a:srgbClr val="1E293B"/>
                </a:solidFill>
                <a:latin typeface="Calibri" pitchFamily="34" charset="0"/>
                <a:ea typeface="Calibri" pitchFamily="34" charset="-122"/>
                <a:cs typeface="Calibri" pitchFamily="34" charset="-120"/>
              </a:rPr>
              <a:t>Compliance forte</a:t>
            </a:r>
            <a:endParaRPr lang="en-US" sz="1100" dirty="0"/>
          </a:p>
        </p:txBody>
      </p:sp>
      <p:sp>
        <p:nvSpPr>
          <p:cNvPr id="65" name="Shape 63"/>
          <p:cNvSpPr/>
          <p:nvPr/>
        </p:nvSpPr>
        <p:spPr>
          <a:xfrm rot="1800000">
            <a:off x="8092440" y="5349240"/>
            <a:ext cx="182880" cy="182880"/>
          </a:xfrm>
          <a:prstGeom prst="rtTriangle">
            <a:avLst/>
          </a:prstGeom>
          <a:solidFill>
            <a:srgbClr val="065A82"/>
          </a:solidFill>
          <a:ln w="12700">
            <a:solidFill>
              <a:srgbClr val="065A82"/>
            </a:solidFill>
            <a:prstDash val="solid"/>
          </a:ln>
        </p:spPr>
      </p:sp>
      <p:sp>
        <p:nvSpPr>
          <p:cNvPr id="66" name="Shape 64"/>
          <p:cNvSpPr/>
          <p:nvPr/>
        </p:nvSpPr>
        <p:spPr>
          <a:xfrm>
            <a:off x="8321040" y="5184648"/>
            <a:ext cx="3383280" cy="502920"/>
          </a:xfrm>
          <a:prstGeom prst="rect">
            <a:avLst/>
          </a:prstGeom>
          <a:solidFill>
            <a:srgbClr val="0B1F3A"/>
          </a:solidFill>
          <a:ln w="12700">
            <a:solidFill>
              <a:srgbClr val="0B1F3A"/>
            </a:solidFill>
            <a:prstDash val="solid"/>
          </a:ln>
        </p:spPr>
      </p:sp>
      <p:sp>
        <p:nvSpPr>
          <p:cNvPr id="67" name="Text 65"/>
          <p:cNvSpPr/>
          <p:nvPr/>
        </p:nvSpPr>
        <p:spPr>
          <a:xfrm>
            <a:off x="8458200" y="5303520"/>
            <a:ext cx="3200400" cy="274320"/>
          </a:xfrm>
          <a:prstGeom prst="rect">
            <a:avLst/>
          </a:prstGeom>
          <a:noFill/>
          <a:ln/>
        </p:spPr>
        <p:txBody>
          <a:bodyPr wrap="square" lIns="0" tIns="0" rIns="0" bIns="0" rtlCol="0" anchor="ctr"/>
          <a:lstStyle/>
          <a:p>
            <a:pPr marL="0" indent="0">
              <a:buNone/>
            </a:pPr>
            <a:r>
              <a:rPr lang="en-US" sz="1100" b="1" dirty="0">
                <a:solidFill>
                  <a:srgbClr val="F9B233"/>
                </a:solidFill>
                <a:latin typeface="Calibri" pitchFamily="34" charset="0"/>
                <a:ea typeface="Calibri" pitchFamily="34" charset="-122"/>
                <a:cs typeface="Calibri" pitchFamily="34" charset="-120"/>
              </a:rPr>
              <a:t>Decentriq</a:t>
            </a:r>
            <a:endParaRPr lang="en-US" sz="1100" dirty="0"/>
          </a:p>
        </p:txBody>
      </p:sp>
      <p:sp>
        <p:nvSpPr>
          <p:cNvPr id="68" name="Shape 66"/>
          <p:cNvSpPr/>
          <p:nvPr/>
        </p:nvSpPr>
        <p:spPr>
          <a:xfrm>
            <a:off x="640080" y="5751576"/>
            <a:ext cx="3657600" cy="502920"/>
          </a:xfrm>
          <a:prstGeom prst="rect">
            <a:avLst/>
          </a:prstGeom>
          <a:solidFill>
            <a:srgbClr val="FFFFFF"/>
          </a:solidFill>
          <a:ln w="6350">
            <a:solidFill>
              <a:srgbClr val="E2E8F0"/>
            </a:solidFill>
            <a:prstDash val="solid"/>
          </a:ln>
        </p:spPr>
      </p:sp>
      <p:sp>
        <p:nvSpPr>
          <p:cNvPr id="69" name="Shape 67"/>
          <p:cNvSpPr/>
          <p:nvPr/>
        </p:nvSpPr>
        <p:spPr>
          <a:xfrm>
            <a:off x="640080" y="5751576"/>
            <a:ext cx="91440" cy="502920"/>
          </a:xfrm>
          <a:prstGeom prst="rect">
            <a:avLst/>
          </a:prstGeom>
          <a:solidFill>
            <a:srgbClr val="1C7293"/>
          </a:solidFill>
          <a:ln w="12700">
            <a:solidFill>
              <a:srgbClr val="1C7293"/>
            </a:solidFill>
            <a:prstDash val="solid"/>
          </a:ln>
        </p:spPr>
      </p:sp>
      <p:sp>
        <p:nvSpPr>
          <p:cNvPr id="70" name="Text 68"/>
          <p:cNvSpPr/>
          <p:nvPr/>
        </p:nvSpPr>
        <p:spPr>
          <a:xfrm>
            <a:off x="822960" y="5870448"/>
            <a:ext cx="3474720" cy="274320"/>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POC rapide no-code</a:t>
            </a:r>
            <a:endParaRPr lang="en-US" sz="1200" dirty="0"/>
          </a:p>
        </p:txBody>
      </p:sp>
      <p:sp>
        <p:nvSpPr>
          <p:cNvPr id="71" name="Shape 69"/>
          <p:cNvSpPr/>
          <p:nvPr/>
        </p:nvSpPr>
        <p:spPr>
          <a:xfrm rot="1800000">
            <a:off x="4343400" y="5916168"/>
            <a:ext cx="182880" cy="182880"/>
          </a:xfrm>
          <a:prstGeom prst="rtTriangle">
            <a:avLst/>
          </a:prstGeom>
          <a:solidFill>
            <a:srgbClr val="1C7293"/>
          </a:solidFill>
          <a:ln w="12700">
            <a:solidFill>
              <a:srgbClr val="1C7293"/>
            </a:solidFill>
            <a:prstDash val="solid"/>
          </a:ln>
        </p:spPr>
      </p:sp>
      <p:sp>
        <p:nvSpPr>
          <p:cNvPr id="72" name="Shape 70"/>
          <p:cNvSpPr/>
          <p:nvPr/>
        </p:nvSpPr>
        <p:spPr>
          <a:xfrm>
            <a:off x="4572000" y="5751576"/>
            <a:ext cx="3474720" cy="502920"/>
          </a:xfrm>
          <a:prstGeom prst="rect">
            <a:avLst/>
          </a:prstGeom>
          <a:solidFill>
            <a:srgbClr val="F5F8FC"/>
          </a:solidFill>
          <a:ln w="6350">
            <a:solidFill>
              <a:srgbClr val="E2E8F0"/>
            </a:solidFill>
            <a:prstDash val="solid"/>
          </a:ln>
        </p:spPr>
      </p:sp>
      <p:sp>
        <p:nvSpPr>
          <p:cNvPr id="73" name="Text 71"/>
          <p:cNvSpPr/>
          <p:nvPr/>
        </p:nvSpPr>
        <p:spPr>
          <a:xfrm>
            <a:off x="4709160" y="5870448"/>
            <a:ext cx="3291840" cy="274320"/>
          </a:xfrm>
          <a:prstGeom prst="rect">
            <a:avLst/>
          </a:prstGeom>
          <a:noFill/>
          <a:ln/>
        </p:spPr>
        <p:txBody>
          <a:bodyPr wrap="square" lIns="0" tIns="0" rIns="0" bIns="0" rtlCol="0" anchor="ctr"/>
          <a:lstStyle/>
          <a:p>
            <a:pPr marL="0" indent="0">
              <a:buNone/>
            </a:pPr>
            <a:r>
              <a:rPr lang="en-US" sz="1100" i="1" dirty="0">
                <a:solidFill>
                  <a:srgbClr val="1E293B"/>
                </a:solidFill>
                <a:latin typeface="Calibri" pitchFamily="34" charset="0"/>
                <a:ea typeface="Calibri" pitchFamily="34" charset="-122"/>
                <a:cs typeface="Calibri" pitchFamily="34" charset="-120"/>
              </a:rPr>
              <a:t>Pas de DSI interne</a:t>
            </a:r>
            <a:endParaRPr lang="en-US" sz="1100" dirty="0"/>
          </a:p>
        </p:txBody>
      </p:sp>
      <p:sp>
        <p:nvSpPr>
          <p:cNvPr id="74" name="Shape 72"/>
          <p:cNvSpPr/>
          <p:nvPr/>
        </p:nvSpPr>
        <p:spPr>
          <a:xfrm rot="1800000">
            <a:off x="8092440" y="5916168"/>
            <a:ext cx="182880" cy="182880"/>
          </a:xfrm>
          <a:prstGeom prst="rtTriangle">
            <a:avLst/>
          </a:prstGeom>
          <a:solidFill>
            <a:srgbClr val="1C7293"/>
          </a:solidFill>
          <a:ln w="12700">
            <a:solidFill>
              <a:srgbClr val="1C7293"/>
            </a:solidFill>
            <a:prstDash val="solid"/>
          </a:ln>
        </p:spPr>
      </p:sp>
      <p:sp>
        <p:nvSpPr>
          <p:cNvPr id="75" name="Shape 73"/>
          <p:cNvSpPr/>
          <p:nvPr/>
        </p:nvSpPr>
        <p:spPr>
          <a:xfrm>
            <a:off x="8321040" y="5751576"/>
            <a:ext cx="3383280" cy="502920"/>
          </a:xfrm>
          <a:prstGeom prst="rect">
            <a:avLst/>
          </a:prstGeom>
          <a:solidFill>
            <a:srgbClr val="0B1F3A"/>
          </a:solidFill>
          <a:ln w="12700">
            <a:solidFill>
              <a:srgbClr val="0B1F3A"/>
            </a:solidFill>
            <a:prstDash val="solid"/>
          </a:ln>
        </p:spPr>
      </p:sp>
      <p:sp>
        <p:nvSpPr>
          <p:cNvPr id="76" name="Text 74"/>
          <p:cNvSpPr/>
          <p:nvPr/>
        </p:nvSpPr>
        <p:spPr>
          <a:xfrm>
            <a:off x="8458200" y="5870448"/>
            <a:ext cx="3200400" cy="274320"/>
          </a:xfrm>
          <a:prstGeom prst="rect">
            <a:avLst/>
          </a:prstGeom>
          <a:noFill/>
          <a:ln/>
        </p:spPr>
        <p:txBody>
          <a:bodyPr wrap="square" lIns="0" tIns="0" rIns="0" bIns="0" rtlCol="0" anchor="ctr"/>
          <a:lstStyle/>
          <a:p>
            <a:pPr marL="0" indent="0">
              <a:buNone/>
            </a:pPr>
            <a:r>
              <a:rPr lang="en-US" sz="1100" b="1" dirty="0">
                <a:solidFill>
                  <a:srgbClr val="F9B233"/>
                </a:solidFill>
                <a:latin typeface="Calibri" pitchFamily="34" charset="0"/>
                <a:ea typeface="Calibri" pitchFamily="34" charset="-122"/>
                <a:cs typeface="Calibri" pitchFamily="34" charset="-120"/>
              </a:rPr>
              <a:t>Samooha (Snowflake)</a:t>
            </a:r>
            <a:endParaRPr lang="en-US" sz="1100" dirty="0"/>
          </a:p>
        </p:txBody>
      </p:sp>
      <p:sp>
        <p:nvSpPr>
          <p:cNvPr id="77" name="Shape 75"/>
          <p:cNvSpPr/>
          <p:nvPr/>
        </p:nvSpPr>
        <p:spPr>
          <a:xfrm>
            <a:off x="0" y="6583680"/>
            <a:ext cx="12191695" cy="274320"/>
          </a:xfrm>
          <a:prstGeom prst="rect">
            <a:avLst/>
          </a:prstGeom>
          <a:solidFill>
            <a:srgbClr val="0B1F3A"/>
          </a:solidFill>
          <a:ln w="12700">
            <a:solidFill>
              <a:srgbClr val="0B1F3A"/>
            </a:solidFill>
            <a:prstDash val="solid"/>
          </a:ln>
        </p:spPr>
      </p:sp>
      <p:sp>
        <p:nvSpPr>
          <p:cNvPr id="78" name="Text 76"/>
          <p:cNvSpPr/>
          <p:nvPr/>
        </p:nvSpPr>
        <p:spPr>
          <a:xfrm>
            <a:off x="365760" y="6601968"/>
            <a:ext cx="822960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Session 4  Activer &amp; Implémenter</a:t>
            </a:r>
            <a:endParaRPr lang="en-US" sz="1000" dirty="0"/>
          </a:p>
        </p:txBody>
      </p:sp>
      <p:sp>
        <p:nvSpPr>
          <p:cNvPr id="79" name="Text 77"/>
          <p:cNvSpPr/>
          <p:nvPr/>
        </p:nvSpPr>
        <p:spPr>
          <a:xfrm>
            <a:off x="11551615" y="6601968"/>
            <a:ext cx="365760" cy="237744"/>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44</a:t>
            </a:r>
            <a:endParaRPr lang="en-US" sz="10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46">
    <p:bg>
      <p:bgPr>
        <a:solidFill>
          <a:srgbClr val="F5F8FC"/>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731520"/>
          </a:xfrm>
          <a:prstGeom prst="rect">
            <a:avLst/>
          </a:prstGeom>
          <a:noFill/>
          <a:ln/>
        </p:spPr>
        <p:txBody>
          <a:bodyPr wrap="square" lIns="0" tIns="0" rIns="0" bIns="0" rtlCol="0" anchor="ctr"/>
          <a:lstStyle/>
          <a:p>
            <a:pPr marL="0" indent="0" algn="l">
              <a:buNone/>
            </a:pPr>
            <a:r>
              <a:rPr lang="en-US" sz="3200" b="1" dirty="0">
                <a:solidFill>
                  <a:srgbClr val="0B1F3A"/>
                </a:solidFill>
                <a:latin typeface="Calibri" pitchFamily="34" charset="0"/>
                <a:ea typeface="Calibri" pitchFamily="34" charset="-122"/>
                <a:cs typeface="Calibri" pitchFamily="34" charset="-120"/>
              </a:rPr>
              <a:t>Pitcher un projet DCR à votre direction</a:t>
            </a:r>
            <a:endParaRPr lang="en-US" sz="3200" dirty="0"/>
          </a:p>
        </p:txBody>
      </p:sp>
      <p:sp>
        <p:nvSpPr>
          <p:cNvPr id="3" name="Shape 1"/>
          <p:cNvSpPr/>
          <p:nvPr/>
        </p:nvSpPr>
        <p:spPr>
          <a:xfrm>
            <a:off x="548640" y="1005840"/>
            <a:ext cx="548640" cy="73152"/>
          </a:xfrm>
          <a:prstGeom prst="rect">
            <a:avLst/>
          </a:prstGeom>
          <a:solidFill>
            <a:srgbClr val="F96167"/>
          </a:solidFill>
          <a:ln w="12700">
            <a:solidFill>
              <a:srgbClr val="F96167"/>
            </a:solidFill>
            <a:prstDash val="solid"/>
          </a:ln>
        </p:spPr>
      </p:sp>
      <p:sp>
        <p:nvSpPr>
          <p:cNvPr id="4" name="Text 2"/>
          <p:cNvSpPr/>
          <p:nvPr/>
        </p:nvSpPr>
        <p:spPr>
          <a:xfrm>
            <a:off x="548640" y="1143000"/>
            <a:ext cx="11064240" cy="411480"/>
          </a:xfrm>
          <a:prstGeom prst="rect">
            <a:avLst/>
          </a:prstGeom>
          <a:noFill/>
          <a:ln/>
        </p:spPr>
        <p:txBody>
          <a:bodyPr wrap="square" lIns="0" tIns="0" rIns="0" bIns="0" rtlCol="0" anchor="ctr"/>
          <a:lstStyle/>
          <a:p>
            <a:pPr marL="0" indent="0" algn="l">
              <a:buNone/>
            </a:pPr>
            <a:r>
              <a:rPr lang="en-US" sz="1600" i="1" dirty="0">
                <a:solidFill>
                  <a:srgbClr val="1C7293"/>
                </a:solidFill>
                <a:latin typeface="Calibri" pitchFamily="34" charset="0"/>
                <a:ea typeface="Calibri" pitchFamily="34" charset="-122"/>
                <a:cs typeface="Calibri" pitchFamily="34" charset="-120"/>
              </a:rPr>
              <a:t>La structure pour faire passer le budget POC.</a:t>
            </a:r>
            <a:endParaRPr lang="en-US" sz="1600" dirty="0"/>
          </a:p>
        </p:txBody>
      </p:sp>
      <p:sp>
        <p:nvSpPr>
          <p:cNvPr id="5" name="Shape 3"/>
          <p:cNvSpPr/>
          <p:nvPr/>
        </p:nvSpPr>
        <p:spPr>
          <a:xfrm>
            <a:off x="640080" y="1783080"/>
            <a:ext cx="11064240" cy="804672"/>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6" name="Shape 4"/>
          <p:cNvSpPr/>
          <p:nvPr/>
        </p:nvSpPr>
        <p:spPr>
          <a:xfrm>
            <a:off x="822960" y="1965960"/>
            <a:ext cx="457200" cy="457200"/>
          </a:xfrm>
          <a:prstGeom prst="ellipse">
            <a:avLst/>
          </a:prstGeom>
          <a:solidFill>
            <a:srgbClr val="F96167"/>
          </a:solidFill>
          <a:ln w="12700">
            <a:solidFill>
              <a:srgbClr val="F96167"/>
            </a:solidFill>
            <a:prstDash val="solid"/>
          </a:ln>
        </p:spPr>
      </p:sp>
      <p:sp>
        <p:nvSpPr>
          <p:cNvPr id="7" name="Text 5"/>
          <p:cNvSpPr/>
          <p:nvPr/>
        </p:nvSpPr>
        <p:spPr>
          <a:xfrm>
            <a:off x="822960" y="1984248"/>
            <a:ext cx="45720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Text 6"/>
          <p:cNvSpPr/>
          <p:nvPr/>
        </p:nvSpPr>
        <p:spPr>
          <a:xfrm>
            <a:off x="1417320" y="1874520"/>
            <a:ext cx="3200400" cy="320040"/>
          </a:xfrm>
          <a:prstGeom prst="rect">
            <a:avLst/>
          </a:prstGeom>
          <a:noFill/>
          <a:ln/>
        </p:spPr>
        <p:txBody>
          <a:bodyPr wrap="square" lIns="0" tIns="0" rIns="0" bIns="0" rtlCol="0" anchor="ctr"/>
          <a:lstStyle/>
          <a:p>
            <a:pPr marL="0" indent="0">
              <a:buNone/>
            </a:pPr>
            <a:r>
              <a:rPr lang="en-US" sz="1300" b="1" kern="0" spc="150" dirty="0">
                <a:solidFill>
                  <a:srgbClr val="065A82"/>
                </a:solidFill>
                <a:latin typeface="Calibri" pitchFamily="34" charset="0"/>
                <a:ea typeface="Calibri" pitchFamily="34" charset="-122"/>
                <a:cs typeface="Calibri" pitchFamily="34" charset="-120"/>
              </a:rPr>
              <a:t>LE PROBLÈME</a:t>
            </a:r>
            <a:endParaRPr lang="en-US" sz="1300" dirty="0"/>
          </a:p>
        </p:txBody>
      </p:sp>
      <p:sp>
        <p:nvSpPr>
          <p:cNvPr id="9" name="Text 7"/>
          <p:cNvSpPr/>
          <p:nvPr/>
        </p:nvSpPr>
        <p:spPr>
          <a:xfrm>
            <a:off x="1417320" y="2148840"/>
            <a:ext cx="10149840" cy="438912"/>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Notre attribution cross-canal est cassée depuis la mort du cookie. On dépense X M€ à l'aveugle.</a:t>
            </a:r>
            <a:endParaRPr lang="en-US" sz="1200" dirty="0"/>
          </a:p>
        </p:txBody>
      </p:sp>
      <p:sp>
        <p:nvSpPr>
          <p:cNvPr id="10" name="Shape 8"/>
          <p:cNvSpPr/>
          <p:nvPr/>
        </p:nvSpPr>
        <p:spPr>
          <a:xfrm>
            <a:off x="640080" y="2697480"/>
            <a:ext cx="11064240" cy="804672"/>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11" name="Shape 9"/>
          <p:cNvSpPr/>
          <p:nvPr/>
        </p:nvSpPr>
        <p:spPr>
          <a:xfrm>
            <a:off x="822960" y="2880360"/>
            <a:ext cx="457200" cy="457200"/>
          </a:xfrm>
          <a:prstGeom prst="ellipse">
            <a:avLst/>
          </a:prstGeom>
          <a:solidFill>
            <a:srgbClr val="F96167"/>
          </a:solidFill>
          <a:ln w="12700">
            <a:solidFill>
              <a:srgbClr val="F96167"/>
            </a:solidFill>
            <a:prstDash val="solid"/>
          </a:ln>
        </p:spPr>
      </p:sp>
      <p:sp>
        <p:nvSpPr>
          <p:cNvPr id="12" name="Text 10"/>
          <p:cNvSpPr/>
          <p:nvPr/>
        </p:nvSpPr>
        <p:spPr>
          <a:xfrm>
            <a:off x="822960" y="2898648"/>
            <a:ext cx="45720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1"/>
          <p:cNvSpPr/>
          <p:nvPr/>
        </p:nvSpPr>
        <p:spPr>
          <a:xfrm>
            <a:off x="1417320" y="2788920"/>
            <a:ext cx="3200400" cy="320040"/>
          </a:xfrm>
          <a:prstGeom prst="rect">
            <a:avLst/>
          </a:prstGeom>
          <a:noFill/>
          <a:ln/>
        </p:spPr>
        <p:txBody>
          <a:bodyPr wrap="square" lIns="0" tIns="0" rIns="0" bIns="0" rtlCol="0" anchor="ctr"/>
          <a:lstStyle/>
          <a:p>
            <a:pPr marL="0" indent="0">
              <a:buNone/>
            </a:pPr>
            <a:r>
              <a:rPr lang="en-US" sz="1300" b="1" kern="0" spc="150" dirty="0">
                <a:solidFill>
                  <a:srgbClr val="065A82"/>
                </a:solidFill>
                <a:latin typeface="Calibri" pitchFamily="34" charset="0"/>
                <a:ea typeface="Calibri" pitchFamily="34" charset="-122"/>
                <a:cs typeface="Calibri" pitchFamily="34" charset="-120"/>
              </a:rPr>
              <a:t>L'OPPORTUNITÉ</a:t>
            </a:r>
            <a:endParaRPr lang="en-US" sz="1300" dirty="0"/>
          </a:p>
        </p:txBody>
      </p:sp>
      <p:sp>
        <p:nvSpPr>
          <p:cNvPr id="14" name="Text 12"/>
          <p:cNvSpPr/>
          <p:nvPr/>
        </p:nvSpPr>
        <p:spPr>
          <a:xfrm>
            <a:off x="1417320" y="3063240"/>
            <a:ext cx="10149840" cy="438912"/>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Un partenaire (retailer / média / marque) possède la donnée qui nous manque. Collaborer = débloquer.</a:t>
            </a:r>
            <a:endParaRPr lang="en-US" sz="1200" dirty="0"/>
          </a:p>
        </p:txBody>
      </p:sp>
      <p:sp>
        <p:nvSpPr>
          <p:cNvPr id="15" name="Shape 13"/>
          <p:cNvSpPr/>
          <p:nvPr/>
        </p:nvSpPr>
        <p:spPr>
          <a:xfrm>
            <a:off x="640080" y="3611880"/>
            <a:ext cx="11064240" cy="804672"/>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16" name="Shape 14"/>
          <p:cNvSpPr/>
          <p:nvPr/>
        </p:nvSpPr>
        <p:spPr>
          <a:xfrm>
            <a:off x="822960" y="3794760"/>
            <a:ext cx="457200" cy="457200"/>
          </a:xfrm>
          <a:prstGeom prst="ellipse">
            <a:avLst/>
          </a:prstGeom>
          <a:solidFill>
            <a:srgbClr val="F96167"/>
          </a:solidFill>
          <a:ln w="12700">
            <a:solidFill>
              <a:srgbClr val="F96167"/>
            </a:solidFill>
            <a:prstDash val="solid"/>
          </a:ln>
        </p:spPr>
      </p:sp>
      <p:sp>
        <p:nvSpPr>
          <p:cNvPr id="17" name="Text 15"/>
          <p:cNvSpPr/>
          <p:nvPr/>
        </p:nvSpPr>
        <p:spPr>
          <a:xfrm>
            <a:off x="822960" y="3813048"/>
            <a:ext cx="45720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8" name="Text 16"/>
          <p:cNvSpPr/>
          <p:nvPr/>
        </p:nvSpPr>
        <p:spPr>
          <a:xfrm>
            <a:off x="1417320" y="3703320"/>
            <a:ext cx="3200400" cy="320040"/>
          </a:xfrm>
          <a:prstGeom prst="rect">
            <a:avLst/>
          </a:prstGeom>
          <a:noFill/>
          <a:ln/>
        </p:spPr>
        <p:txBody>
          <a:bodyPr wrap="square" lIns="0" tIns="0" rIns="0" bIns="0" rtlCol="0" anchor="ctr"/>
          <a:lstStyle/>
          <a:p>
            <a:pPr marL="0" indent="0">
              <a:buNone/>
            </a:pPr>
            <a:r>
              <a:rPr lang="en-US" sz="1300" b="1" kern="0" spc="150" dirty="0">
                <a:solidFill>
                  <a:srgbClr val="065A82"/>
                </a:solidFill>
                <a:latin typeface="Calibri" pitchFamily="34" charset="0"/>
                <a:ea typeface="Calibri" pitchFamily="34" charset="-122"/>
                <a:cs typeface="Calibri" pitchFamily="34" charset="-120"/>
              </a:rPr>
              <a:t>LA SOLUTION</a:t>
            </a:r>
            <a:endParaRPr lang="en-US" sz="1300" dirty="0"/>
          </a:p>
        </p:txBody>
      </p:sp>
      <p:sp>
        <p:nvSpPr>
          <p:cNvPr id="19" name="Text 17"/>
          <p:cNvSpPr/>
          <p:nvPr/>
        </p:nvSpPr>
        <p:spPr>
          <a:xfrm>
            <a:off x="1417320" y="3977640"/>
            <a:ext cx="10149840" cy="438912"/>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Une DCR. Pas de transfert de données. RGPD-safe. POC 12 semaines, provider X (adapté à notre stack).</a:t>
            </a:r>
            <a:endParaRPr lang="en-US" sz="1200" dirty="0"/>
          </a:p>
        </p:txBody>
      </p:sp>
      <p:sp>
        <p:nvSpPr>
          <p:cNvPr id="20" name="Shape 18"/>
          <p:cNvSpPr/>
          <p:nvPr/>
        </p:nvSpPr>
        <p:spPr>
          <a:xfrm>
            <a:off x="640080" y="4526280"/>
            <a:ext cx="11064240" cy="804672"/>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21" name="Shape 19"/>
          <p:cNvSpPr/>
          <p:nvPr/>
        </p:nvSpPr>
        <p:spPr>
          <a:xfrm>
            <a:off x="822960" y="4709160"/>
            <a:ext cx="457200" cy="457200"/>
          </a:xfrm>
          <a:prstGeom prst="ellipse">
            <a:avLst/>
          </a:prstGeom>
          <a:solidFill>
            <a:srgbClr val="F96167"/>
          </a:solidFill>
          <a:ln w="12700">
            <a:solidFill>
              <a:srgbClr val="F96167"/>
            </a:solidFill>
            <a:prstDash val="solid"/>
          </a:ln>
        </p:spPr>
      </p:sp>
      <p:sp>
        <p:nvSpPr>
          <p:cNvPr id="22" name="Text 20"/>
          <p:cNvSpPr/>
          <p:nvPr/>
        </p:nvSpPr>
        <p:spPr>
          <a:xfrm>
            <a:off x="822960" y="4727448"/>
            <a:ext cx="45720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3" name="Text 21"/>
          <p:cNvSpPr/>
          <p:nvPr/>
        </p:nvSpPr>
        <p:spPr>
          <a:xfrm>
            <a:off x="1417320" y="4617720"/>
            <a:ext cx="3200400" cy="320040"/>
          </a:xfrm>
          <a:prstGeom prst="rect">
            <a:avLst/>
          </a:prstGeom>
          <a:noFill/>
          <a:ln/>
        </p:spPr>
        <p:txBody>
          <a:bodyPr wrap="square" lIns="0" tIns="0" rIns="0" bIns="0" rtlCol="0" anchor="ctr"/>
          <a:lstStyle/>
          <a:p>
            <a:pPr marL="0" indent="0">
              <a:buNone/>
            </a:pPr>
            <a:r>
              <a:rPr lang="en-US" sz="1300" b="1" kern="0" spc="150" dirty="0">
                <a:solidFill>
                  <a:srgbClr val="065A82"/>
                </a:solidFill>
                <a:latin typeface="Calibri" pitchFamily="34" charset="0"/>
                <a:ea typeface="Calibri" pitchFamily="34" charset="-122"/>
                <a:cs typeface="Calibri" pitchFamily="34" charset="-120"/>
              </a:rPr>
              <a:t>LE BUSINESS CASE</a:t>
            </a:r>
            <a:endParaRPr lang="en-US" sz="1300" dirty="0"/>
          </a:p>
        </p:txBody>
      </p:sp>
      <p:sp>
        <p:nvSpPr>
          <p:cNvPr id="24" name="Text 22"/>
          <p:cNvSpPr/>
          <p:nvPr/>
        </p:nvSpPr>
        <p:spPr>
          <a:xfrm>
            <a:off x="1417320" y="4892040"/>
            <a:ext cx="10149840" cy="438912"/>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Budget POC : 40-80k€. Gain attendu : +15-25 % d'efficacité média sur 2 M€ de spend. Payback : &lt; 6 mois.</a:t>
            </a:r>
            <a:endParaRPr lang="en-US" sz="1200" dirty="0"/>
          </a:p>
        </p:txBody>
      </p:sp>
      <p:sp>
        <p:nvSpPr>
          <p:cNvPr id="25" name="Shape 23"/>
          <p:cNvSpPr/>
          <p:nvPr/>
        </p:nvSpPr>
        <p:spPr>
          <a:xfrm>
            <a:off x="640080" y="5440680"/>
            <a:ext cx="11064240" cy="804672"/>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26" name="Shape 24"/>
          <p:cNvSpPr/>
          <p:nvPr/>
        </p:nvSpPr>
        <p:spPr>
          <a:xfrm>
            <a:off x="822960" y="5623560"/>
            <a:ext cx="457200" cy="457200"/>
          </a:xfrm>
          <a:prstGeom prst="ellipse">
            <a:avLst/>
          </a:prstGeom>
          <a:solidFill>
            <a:srgbClr val="F96167"/>
          </a:solidFill>
          <a:ln w="12700">
            <a:solidFill>
              <a:srgbClr val="F96167"/>
            </a:solidFill>
            <a:prstDash val="solid"/>
          </a:ln>
        </p:spPr>
      </p:sp>
      <p:sp>
        <p:nvSpPr>
          <p:cNvPr id="27" name="Text 25"/>
          <p:cNvSpPr/>
          <p:nvPr/>
        </p:nvSpPr>
        <p:spPr>
          <a:xfrm>
            <a:off x="822960" y="5641848"/>
            <a:ext cx="45720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8" name="Text 26"/>
          <p:cNvSpPr/>
          <p:nvPr/>
        </p:nvSpPr>
        <p:spPr>
          <a:xfrm>
            <a:off x="1417320" y="5532120"/>
            <a:ext cx="3200400" cy="320040"/>
          </a:xfrm>
          <a:prstGeom prst="rect">
            <a:avLst/>
          </a:prstGeom>
          <a:noFill/>
          <a:ln/>
        </p:spPr>
        <p:txBody>
          <a:bodyPr wrap="square" lIns="0" tIns="0" rIns="0" bIns="0" rtlCol="0" anchor="ctr"/>
          <a:lstStyle/>
          <a:p>
            <a:pPr marL="0" indent="0">
              <a:buNone/>
            </a:pPr>
            <a:r>
              <a:rPr lang="en-US" sz="1300" b="1" kern="0" spc="150" dirty="0">
                <a:solidFill>
                  <a:srgbClr val="065A82"/>
                </a:solidFill>
                <a:latin typeface="Calibri" pitchFamily="34" charset="0"/>
                <a:ea typeface="Calibri" pitchFamily="34" charset="-122"/>
                <a:cs typeface="Calibri" pitchFamily="34" charset="-120"/>
              </a:rPr>
              <a:t>LE PLAN</a:t>
            </a:r>
            <a:endParaRPr lang="en-US" sz="1300" dirty="0"/>
          </a:p>
        </p:txBody>
      </p:sp>
      <p:sp>
        <p:nvSpPr>
          <p:cNvPr id="29" name="Text 27"/>
          <p:cNvSpPr/>
          <p:nvPr/>
        </p:nvSpPr>
        <p:spPr>
          <a:xfrm>
            <a:off x="1417320" y="5806440"/>
            <a:ext cx="10149840" cy="438912"/>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Semaines 1-3 cadrage, 4-6 contractualisation, 7-10 montée en charge, 11-12 résultats + décision scale.</a:t>
            </a:r>
            <a:endParaRPr lang="en-US" sz="1200" dirty="0"/>
          </a:p>
        </p:txBody>
      </p:sp>
      <p:sp>
        <p:nvSpPr>
          <p:cNvPr id="30" name="Text 28"/>
          <p:cNvSpPr/>
          <p:nvPr/>
        </p:nvSpPr>
        <p:spPr>
          <a:xfrm>
            <a:off x="640080" y="6355080"/>
            <a:ext cx="10972800" cy="274320"/>
          </a:xfrm>
          <a:prstGeom prst="rect">
            <a:avLst/>
          </a:prstGeom>
          <a:noFill/>
          <a:ln/>
        </p:spPr>
        <p:txBody>
          <a:bodyPr wrap="square" lIns="0" tIns="0" rIns="0" bIns="0" rtlCol="0" anchor="ctr"/>
          <a:lstStyle/>
          <a:p>
            <a:pPr marL="0" indent="0" algn="ctr">
              <a:buNone/>
            </a:pPr>
            <a:r>
              <a:rPr lang="en-US" sz="1200" i="1" dirty="0">
                <a:solidFill>
                  <a:srgbClr val="065A82"/>
                </a:solidFill>
                <a:latin typeface="Calibri" pitchFamily="34" charset="0"/>
                <a:ea typeface="Calibri" pitchFamily="34" charset="-122"/>
                <a:cs typeface="Calibri" pitchFamily="34" charset="-120"/>
              </a:rPr>
              <a:t>Astuce : tenez le pitch en 5 minutes. La direction veut entendre « impact » avant « technologie ».</a:t>
            </a:r>
            <a:endParaRPr lang="en-US" sz="1200" dirty="0"/>
          </a:p>
        </p:txBody>
      </p:sp>
      <p:sp>
        <p:nvSpPr>
          <p:cNvPr id="31" name="Shape 29"/>
          <p:cNvSpPr/>
          <p:nvPr/>
        </p:nvSpPr>
        <p:spPr>
          <a:xfrm>
            <a:off x="0" y="6583680"/>
            <a:ext cx="12191695" cy="274320"/>
          </a:xfrm>
          <a:prstGeom prst="rect">
            <a:avLst/>
          </a:prstGeom>
          <a:solidFill>
            <a:srgbClr val="0B1F3A"/>
          </a:solidFill>
          <a:ln w="12700">
            <a:solidFill>
              <a:srgbClr val="0B1F3A"/>
            </a:solidFill>
            <a:prstDash val="solid"/>
          </a:ln>
        </p:spPr>
      </p:sp>
      <p:sp>
        <p:nvSpPr>
          <p:cNvPr id="32" name="Text 30"/>
          <p:cNvSpPr/>
          <p:nvPr/>
        </p:nvSpPr>
        <p:spPr>
          <a:xfrm>
            <a:off x="365760" y="6601968"/>
            <a:ext cx="822960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Session 4  Activer &amp; Implémenter</a:t>
            </a:r>
            <a:endParaRPr lang="en-US" sz="1000" dirty="0"/>
          </a:p>
        </p:txBody>
      </p:sp>
      <p:sp>
        <p:nvSpPr>
          <p:cNvPr id="33" name="Text 31"/>
          <p:cNvSpPr/>
          <p:nvPr/>
        </p:nvSpPr>
        <p:spPr>
          <a:xfrm>
            <a:off x="11551615" y="6601968"/>
            <a:ext cx="365760" cy="237744"/>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45</a:t>
            </a:r>
            <a:endParaRPr lang="en-US" sz="10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47">
    <p:bg>
      <p:bgPr>
        <a:solidFill>
          <a:srgbClr val="F5F8FC"/>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731520"/>
          </a:xfrm>
          <a:prstGeom prst="rect">
            <a:avLst/>
          </a:prstGeom>
          <a:noFill/>
          <a:ln/>
        </p:spPr>
        <p:txBody>
          <a:bodyPr wrap="square" lIns="0" tIns="0" rIns="0" bIns="0" rtlCol="0" anchor="ctr"/>
          <a:lstStyle/>
          <a:p>
            <a:pPr marL="0" indent="0" algn="l">
              <a:buNone/>
            </a:pPr>
            <a:r>
              <a:rPr lang="en-US" sz="3200" b="1" dirty="0">
                <a:solidFill>
                  <a:srgbClr val="0B1F3A"/>
                </a:solidFill>
                <a:latin typeface="Calibri" pitchFamily="34" charset="0"/>
                <a:ea typeface="Calibri" pitchFamily="34" charset="-122"/>
                <a:cs typeface="Calibri" pitchFamily="34" charset="-120"/>
              </a:rPr>
              <a:t>Business case  la formule de ROI d'une DCR</a:t>
            </a:r>
            <a:endParaRPr lang="en-US" sz="3200" dirty="0"/>
          </a:p>
        </p:txBody>
      </p:sp>
      <p:sp>
        <p:nvSpPr>
          <p:cNvPr id="3" name="Shape 1"/>
          <p:cNvSpPr/>
          <p:nvPr/>
        </p:nvSpPr>
        <p:spPr>
          <a:xfrm>
            <a:off x="548640" y="1005840"/>
            <a:ext cx="548640" cy="73152"/>
          </a:xfrm>
          <a:prstGeom prst="rect">
            <a:avLst/>
          </a:prstGeom>
          <a:solidFill>
            <a:srgbClr val="F96167"/>
          </a:solidFill>
          <a:ln w="12700">
            <a:solidFill>
              <a:srgbClr val="F96167"/>
            </a:solidFill>
            <a:prstDash val="solid"/>
          </a:ln>
        </p:spPr>
      </p:sp>
      <p:sp>
        <p:nvSpPr>
          <p:cNvPr id="4" name="Text 2"/>
          <p:cNvSpPr/>
          <p:nvPr/>
        </p:nvSpPr>
        <p:spPr>
          <a:xfrm>
            <a:off x="548640" y="1143000"/>
            <a:ext cx="11064240" cy="411480"/>
          </a:xfrm>
          <a:prstGeom prst="rect">
            <a:avLst/>
          </a:prstGeom>
          <a:noFill/>
          <a:ln/>
        </p:spPr>
        <p:txBody>
          <a:bodyPr wrap="square" lIns="0" tIns="0" rIns="0" bIns="0" rtlCol="0" anchor="ctr"/>
          <a:lstStyle/>
          <a:p>
            <a:pPr marL="0" indent="0" algn="l">
              <a:buNone/>
            </a:pPr>
            <a:r>
              <a:rPr lang="en-US" sz="1600" i="1" dirty="0">
                <a:solidFill>
                  <a:srgbClr val="1C7293"/>
                </a:solidFill>
                <a:latin typeface="Calibri" pitchFamily="34" charset="0"/>
                <a:ea typeface="Calibri" pitchFamily="34" charset="-122"/>
                <a:cs typeface="Calibri" pitchFamily="34" charset="-120"/>
              </a:rPr>
              <a:t>Un template que vous pouvez coller dans votre prochain deck.</a:t>
            </a:r>
            <a:endParaRPr lang="en-US" sz="1600" dirty="0"/>
          </a:p>
        </p:txBody>
      </p:sp>
      <p:sp>
        <p:nvSpPr>
          <p:cNvPr id="5" name="Shape 3"/>
          <p:cNvSpPr/>
          <p:nvPr/>
        </p:nvSpPr>
        <p:spPr>
          <a:xfrm>
            <a:off x="640080" y="1737360"/>
            <a:ext cx="11064240" cy="1234440"/>
          </a:xfrm>
          <a:prstGeom prst="rect">
            <a:avLst/>
          </a:prstGeom>
          <a:solidFill>
            <a:srgbClr val="0B1F3A"/>
          </a:solidFill>
          <a:ln w="12700">
            <a:solidFill>
              <a:srgbClr val="0B1F3A"/>
            </a:solidFill>
            <a:prstDash val="solid"/>
          </a:ln>
          <a:effectLst>
            <a:outerShdw blurRad="127000" dist="38100" dir="8100000" algn="bl" rotWithShape="0">
              <a:srgbClr val="000000">
                <a:alpha val="10000"/>
              </a:srgbClr>
            </a:outerShdw>
          </a:effectLst>
        </p:spPr>
      </p:sp>
      <p:sp>
        <p:nvSpPr>
          <p:cNvPr id="6" name="Shape 4"/>
          <p:cNvSpPr/>
          <p:nvPr/>
        </p:nvSpPr>
        <p:spPr>
          <a:xfrm>
            <a:off x="640080" y="1737360"/>
            <a:ext cx="109728" cy="1234440"/>
          </a:xfrm>
          <a:prstGeom prst="rect">
            <a:avLst/>
          </a:prstGeom>
          <a:solidFill>
            <a:srgbClr val="F96167"/>
          </a:solidFill>
          <a:ln w="12700">
            <a:solidFill>
              <a:srgbClr val="F96167"/>
            </a:solidFill>
            <a:prstDash val="solid"/>
          </a:ln>
        </p:spPr>
      </p:sp>
      <p:sp>
        <p:nvSpPr>
          <p:cNvPr id="7" name="Text 5"/>
          <p:cNvSpPr/>
          <p:nvPr/>
        </p:nvSpPr>
        <p:spPr>
          <a:xfrm>
            <a:off x="868680" y="1828800"/>
            <a:ext cx="2743200" cy="274320"/>
          </a:xfrm>
          <a:prstGeom prst="rect">
            <a:avLst/>
          </a:prstGeom>
          <a:noFill/>
          <a:ln/>
        </p:spPr>
        <p:txBody>
          <a:bodyPr wrap="square" lIns="0" tIns="0" rIns="0" bIns="0" rtlCol="0" anchor="ctr"/>
          <a:lstStyle/>
          <a:p>
            <a:pPr marL="0" indent="0">
              <a:buNone/>
            </a:pPr>
            <a:r>
              <a:rPr lang="en-US" sz="1100" b="1" kern="0" spc="150" dirty="0">
                <a:solidFill>
                  <a:srgbClr val="F9B233"/>
                </a:solidFill>
                <a:latin typeface="Calibri" pitchFamily="34" charset="0"/>
                <a:ea typeface="Calibri" pitchFamily="34" charset="-122"/>
                <a:cs typeface="Calibri" pitchFamily="34" charset="-120"/>
              </a:rPr>
              <a:t>FORMULE</a:t>
            </a:r>
            <a:endParaRPr lang="en-US" sz="1100" dirty="0"/>
          </a:p>
        </p:txBody>
      </p:sp>
      <p:sp>
        <p:nvSpPr>
          <p:cNvPr id="8" name="Text 6"/>
          <p:cNvSpPr/>
          <p:nvPr/>
        </p:nvSpPr>
        <p:spPr>
          <a:xfrm>
            <a:off x="868680" y="2103120"/>
            <a:ext cx="10789920"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ROI  =  (Spend adressé × Gain d'efficacité)  −  Coût DCR  −  Coût intégration</a:t>
            </a:r>
            <a:endParaRPr lang="en-US" sz="2000" dirty="0"/>
          </a:p>
        </p:txBody>
      </p:sp>
      <p:sp>
        <p:nvSpPr>
          <p:cNvPr id="9" name="Text 7"/>
          <p:cNvSpPr/>
          <p:nvPr/>
        </p:nvSpPr>
        <p:spPr>
          <a:xfrm>
            <a:off x="868680" y="2560320"/>
            <a:ext cx="10789920" cy="365760"/>
          </a:xfrm>
          <a:prstGeom prst="rect">
            <a:avLst/>
          </a:prstGeom>
          <a:noFill/>
          <a:ln/>
        </p:spPr>
        <p:txBody>
          <a:bodyPr wrap="square" lIns="0" tIns="0" rIns="0" bIns="0" rtlCol="0" anchor="ctr"/>
          <a:lstStyle/>
          <a:p>
            <a:pPr marL="0" indent="0">
              <a:buNone/>
            </a:pPr>
            <a:r>
              <a:rPr lang="en-US" sz="1200" i="1" dirty="0">
                <a:solidFill>
                  <a:srgbClr val="1C7293"/>
                </a:solidFill>
                <a:latin typeface="Calibri" pitchFamily="34" charset="0"/>
                <a:ea typeface="Calibri" pitchFamily="34" charset="-122"/>
                <a:cs typeface="Calibri" pitchFamily="34" charset="-120"/>
              </a:rPr>
              <a:t>Gain d'efficacité typique : 12-25 % (retail media), 15-30 % (attribution), 8-15 % (activation audience).</a:t>
            </a:r>
            <a:endParaRPr lang="en-US" sz="1200" dirty="0"/>
          </a:p>
        </p:txBody>
      </p:sp>
      <p:sp>
        <p:nvSpPr>
          <p:cNvPr id="10" name="Text 8"/>
          <p:cNvSpPr/>
          <p:nvPr/>
        </p:nvSpPr>
        <p:spPr>
          <a:xfrm>
            <a:off x="640080" y="3200400"/>
            <a:ext cx="10972800" cy="320040"/>
          </a:xfrm>
          <a:prstGeom prst="rect">
            <a:avLst/>
          </a:prstGeom>
          <a:noFill/>
          <a:ln/>
        </p:spPr>
        <p:txBody>
          <a:bodyPr wrap="square" lIns="0" tIns="0" rIns="0" bIns="0" rtlCol="0" anchor="ctr"/>
          <a:lstStyle/>
          <a:p>
            <a:pPr marL="0" indent="0">
              <a:buNone/>
            </a:pPr>
            <a:r>
              <a:rPr lang="en-US" sz="1200" b="1" kern="0" spc="150" dirty="0">
                <a:solidFill>
                  <a:srgbClr val="F96167"/>
                </a:solidFill>
                <a:latin typeface="Calibri" pitchFamily="34" charset="0"/>
                <a:ea typeface="Calibri" pitchFamily="34" charset="-122"/>
                <a:cs typeface="Calibri" pitchFamily="34" charset="-120"/>
              </a:rPr>
              <a:t>EXEMPLE CHIFFRÉ  MARQUE FMCG EN RETAIL MEDIA</a:t>
            </a:r>
            <a:endParaRPr lang="en-US" sz="1200" dirty="0"/>
          </a:p>
        </p:txBody>
      </p:sp>
      <p:sp>
        <p:nvSpPr>
          <p:cNvPr id="11" name="Shape 9"/>
          <p:cNvSpPr/>
          <p:nvPr/>
        </p:nvSpPr>
        <p:spPr>
          <a:xfrm>
            <a:off x="640080" y="3566160"/>
            <a:ext cx="11064240" cy="347472"/>
          </a:xfrm>
          <a:prstGeom prst="rect">
            <a:avLst/>
          </a:prstGeom>
          <a:solidFill>
            <a:srgbClr val="FFFFFF"/>
          </a:solidFill>
          <a:ln w="3810">
            <a:solidFill>
              <a:srgbClr val="E2E8F0"/>
            </a:solidFill>
            <a:prstDash val="solid"/>
          </a:ln>
        </p:spPr>
      </p:sp>
      <p:sp>
        <p:nvSpPr>
          <p:cNvPr id="12" name="Text 10"/>
          <p:cNvSpPr/>
          <p:nvPr/>
        </p:nvSpPr>
        <p:spPr>
          <a:xfrm>
            <a:off x="914400" y="3611880"/>
            <a:ext cx="7315200" cy="2743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Spend média annuel adressé DCR</a:t>
            </a:r>
            <a:endParaRPr lang="en-US" sz="1200" dirty="0"/>
          </a:p>
        </p:txBody>
      </p:sp>
      <p:sp>
        <p:nvSpPr>
          <p:cNvPr id="13" name="Text 11"/>
          <p:cNvSpPr/>
          <p:nvPr/>
        </p:nvSpPr>
        <p:spPr>
          <a:xfrm>
            <a:off x="8686800" y="3611880"/>
            <a:ext cx="2926080" cy="274320"/>
          </a:xfrm>
          <a:prstGeom prst="rect">
            <a:avLst/>
          </a:prstGeom>
          <a:noFill/>
          <a:ln/>
        </p:spPr>
        <p:txBody>
          <a:bodyPr wrap="square" lIns="0" tIns="0" rIns="0" bIns="0" rtlCol="0" anchor="ctr"/>
          <a:lstStyle/>
          <a:p>
            <a:pPr marL="0" indent="0" algn="r">
              <a:buNone/>
            </a:pPr>
            <a:r>
              <a:rPr lang="en-US" sz="1300" b="1" dirty="0">
                <a:solidFill>
                  <a:srgbClr val="065A82"/>
                </a:solidFill>
                <a:latin typeface="Calibri" pitchFamily="34" charset="0"/>
                <a:ea typeface="Calibri" pitchFamily="34" charset="-122"/>
                <a:cs typeface="Calibri" pitchFamily="34" charset="-120"/>
              </a:rPr>
              <a:t>2 000 000 €</a:t>
            </a:r>
            <a:endParaRPr lang="en-US" sz="1300" dirty="0"/>
          </a:p>
        </p:txBody>
      </p:sp>
      <p:sp>
        <p:nvSpPr>
          <p:cNvPr id="14" name="Shape 12"/>
          <p:cNvSpPr/>
          <p:nvPr/>
        </p:nvSpPr>
        <p:spPr>
          <a:xfrm>
            <a:off x="640080" y="3931920"/>
            <a:ext cx="11064240" cy="347472"/>
          </a:xfrm>
          <a:prstGeom prst="rect">
            <a:avLst/>
          </a:prstGeom>
          <a:solidFill>
            <a:srgbClr val="F5F8FC"/>
          </a:solidFill>
          <a:ln w="3810">
            <a:solidFill>
              <a:srgbClr val="E2E8F0"/>
            </a:solidFill>
            <a:prstDash val="solid"/>
          </a:ln>
        </p:spPr>
      </p:sp>
      <p:sp>
        <p:nvSpPr>
          <p:cNvPr id="15" name="Text 13"/>
          <p:cNvSpPr/>
          <p:nvPr/>
        </p:nvSpPr>
        <p:spPr>
          <a:xfrm>
            <a:off x="914400" y="3977640"/>
            <a:ext cx="7315200" cy="2743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Gain d'efficacité observé (mesure lift)</a:t>
            </a:r>
            <a:endParaRPr lang="en-US" sz="1200" dirty="0"/>
          </a:p>
        </p:txBody>
      </p:sp>
      <p:sp>
        <p:nvSpPr>
          <p:cNvPr id="16" name="Text 14"/>
          <p:cNvSpPr/>
          <p:nvPr/>
        </p:nvSpPr>
        <p:spPr>
          <a:xfrm>
            <a:off x="8686800" y="3977640"/>
            <a:ext cx="2926080" cy="274320"/>
          </a:xfrm>
          <a:prstGeom prst="rect">
            <a:avLst/>
          </a:prstGeom>
          <a:noFill/>
          <a:ln/>
        </p:spPr>
        <p:txBody>
          <a:bodyPr wrap="square" lIns="0" tIns="0" rIns="0" bIns="0" rtlCol="0" anchor="ctr"/>
          <a:lstStyle/>
          <a:p>
            <a:pPr marL="0" indent="0" algn="r">
              <a:buNone/>
            </a:pPr>
            <a:r>
              <a:rPr lang="en-US" sz="1300" b="1" dirty="0">
                <a:solidFill>
                  <a:srgbClr val="065A82"/>
                </a:solidFill>
                <a:latin typeface="Calibri" pitchFamily="34" charset="0"/>
                <a:ea typeface="Calibri" pitchFamily="34" charset="-122"/>
                <a:cs typeface="Calibri" pitchFamily="34" charset="-120"/>
              </a:rPr>
              <a:t>+18 %</a:t>
            </a:r>
            <a:endParaRPr lang="en-US" sz="1300" dirty="0"/>
          </a:p>
        </p:txBody>
      </p:sp>
      <p:sp>
        <p:nvSpPr>
          <p:cNvPr id="17" name="Shape 15"/>
          <p:cNvSpPr/>
          <p:nvPr/>
        </p:nvSpPr>
        <p:spPr>
          <a:xfrm>
            <a:off x="640080" y="4297680"/>
            <a:ext cx="11064240" cy="347472"/>
          </a:xfrm>
          <a:prstGeom prst="rect">
            <a:avLst/>
          </a:prstGeom>
          <a:solidFill>
            <a:srgbClr val="0B1F3A"/>
          </a:solidFill>
          <a:ln w="3810">
            <a:solidFill>
              <a:srgbClr val="E2E8F0"/>
            </a:solidFill>
            <a:prstDash val="solid"/>
          </a:ln>
        </p:spPr>
      </p:sp>
      <p:sp>
        <p:nvSpPr>
          <p:cNvPr id="18" name="Text 16"/>
          <p:cNvSpPr/>
          <p:nvPr/>
        </p:nvSpPr>
        <p:spPr>
          <a:xfrm>
            <a:off x="914400" y="4343400"/>
            <a:ext cx="731520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Valeur générée</a:t>
            </a:r>
            <a:endParaRPr lang="en-US" sz="1200" dirty="0"/>
          </a:p>
        </p:txBody>
      </p:sp>
      <p:sp>
        <p:nvSpPr>
          <p:cNvPr id="19" name="Text 17"/>
          <p:cNvSpPr/>
          <p:nvPr/>
        </p:nvSpPr>
        <p:spPr>
          <a:xfrm>
            <a:off x="8686800" y="4343400"/>
            <a:ext cx="2926080" cy="274320"/>
          </a:xfrm>
          <a:prstGeom prst="rect">
            <a:avLst/>
          </a:prstGeom>
          <a:noFill/>
          <a:ln/>
        </p:spPr>
        <p:txBody>
          <a:bodyPr wrap="square" lIns="0" tIns="0" rIns="0" bIns="0" rtlCol="0" anchor="ctr"/>
          <a:lstStyle/>
          <a:p>
            <a:pPr marL="0" indent="0" algn="r">
              <a:buNone/>
            </a:pPr>
            <a:r>
              <a:rPr lang="en-US" sz="1300" b="1" dirty="0">
                <a:solidFill>
                  <a:srgbClr val="F9B233"/>
                </a:solidFill>
                <a:latin typeface="Calibri" pitchFamily="34" charset="0"/>
                <a:ea typeface="Calibri" pitchFamily="34" charset="-122"/>
                <a:cs typeface="Calibri" pitchFamily="34" charset="-120"/>
              </a:rPr>
              <a:t>360 000 €</a:t>
            </a:r>
            <a:endParaRPr lang="en-US" sz="1300" dirty="0"/>
          </a:p>
        </p:txBody>
      </p:sp>
      <p:sp>
        <p:nvSpPr>
          <p:cNvPr id="20" name="Shape 18"/>
          <p:cNvSpPr/>
          <p:nvPr/>
        </p:nvSpPr>
        <p:spPr>
          <a:xfrm>
            <a:off x="640080" y="4663440"/>
            <a:ext cx="11064240" cy="347472"/>
          </a:xfrm>
          <a:prstGeom prst="rect">
            <a:avLst/>
          </a:prstGeom>
          <a:solidFill>
            <a:srgbClr val="F5F8FC"/>
          </a:solidFill>
          <a:ln w="3810">
            <a:solidFill>
              <a:srgbClr val="E2E8F0"/>
            </a:solidFill>
            <a:prstDash val="solid"/>
          </a:ln>
        </p:spPr>
      </p:sp>
      <p:sp>
        <p:nvSpPr>
          <p:cNvPr id="21" name="Text 19"/>
          <p:cNvSpPr/>
          <p:nvPr/>
        </p:nvSpPr>
        <p:spPr>
          <a:xfrm>
            <a:off x="914400" y="4709160"/>
            <a:ext cx="7315200" cy="2743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 Licence DCR (LiveRamp/an)</a:t>
            </a:r>
            <a:endParaRPr lang="en-US" sz="1200" dirty="0"/>
          </a:p>
        </p:txBody>
      </p:sp>
      <p:sp>
        <p:nvSpPr>
          <p:cNvPr id="22" name="Text 20"/>
          <p:cNvSpPr/>
          <p:nvPr/>
        </p:nvSpPr>
        <p:spPr>
          <a:xfrm>
            <a:off x="8686800" y="4709160"/>
            <a:ext cx="2926080" cy="274320"/>
          </a:xfrm>
          <a:prstGeom prst="rect">
            <a:avLst/>
          </a:prstGeom>
          <a:noFill/>
          <a:ln/>
        </p:spPr>
        <p:txBody>
          <a:bodyPr wrap="square" lIns="0" tIns="0" rIns="0" bIns="0" rtlCol="0" anchor="ctr"/>
          <a:lstStyle/>
          <a:p>
            <a:pPr marL="0" indent="0" algn="r">
              <a:buNone/>
            </a:pPr>
            <a:r>
              <a:rPr lang="en-US" sz="1300" b="1" dirty="0">
                <a:solidFill>
                  <a:srgbClr val="DC2626"/>
                </a:solidFill>
                <a:latin typeface="Calibri" pitchFamily="34" charset="0"/>
                <a:ea typeface="Calibri" pitchFamily="34" charset="-122"/>
                <a:cs typeface="Calibri" pitchFamily="34" charset="-120"/>
              </a:rPr>
              <a:t>- 95 000 €</a:t>
            </a:r>
            <a:endParaRPr lang="en-US" sz="1300" dirty="0"/>
          </a:p>
        </p:txBody>
      </p:sp>
      <p:sp>
        <p:nvSpPr>
          <p:cNvPr id="23" name="Shape 21"/>
          <p:cNvSpPr/>
          <p:nvPr/>
        </p:nvSpPr>
        <p:spPr>
          <a:xfrm>
            <a:off x="640080" y="5029200"/>
            <a:ext cx="11064240" cy="347472"/>
          </a:xfrm>
          <a:prstGeom prst="rect">
            <a:avLst/>
          </a:prstGeom>
          <a:solidFill>
            <a:srgbClr val="FFFFFF"/>
          </a:solidFill>
          <a:ln w="3810">
            <a:solidFill>
              <a:srgbClr val="E2E8F0"/>
            </a:solidFill>
            <a:prstDash val="solid"/>
          </a:ln>
        </p:spPr>
      </p:sp>
      <p:sp>
        <p:nvSpPr>
          <p:cNvPr id="24" name="Text 22"/>
          <p:cNvSpPr/>
          <p:nvPr/>
        </p:nvSpPr>
        <p:spPr>
          <a:xfrm>
            <a:off x="914400" y="5074920"/>
            <a:ext cx="7315200" cy="2743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 Intégration + ops (1 ETP x 6 mois)</a:t>
            </a:r>
            <a:endParaRPr lang="en-US" sz="1200" dirty="0"/>
          </a:p>
        </p:txBody>
      </p:sp>
      <p:sp>
        <p:nvSpPr>
          <p:cNvPr id="25" name="Text 23"/>
          <p:cNvSpPr/>
          <p:nvPr/>
        </p:nvSpPr>
        <p:spPr>
          <a:xfrm>
            <a:off x="8686800" y="5074920"/>
            <a:ext cx="2926080" cy="274320"/>
          </a:xfrm>
          <a:prstGeom prst="rect">
            <a:avLst/>
          </a:prstGeom>
          <a:noFill/>
          <a:ln/>
        </p:spPr>
        <p:txBody>
          <a:bodyPr wrap="square" lIns="0" tIns="0" rIns="0" bIns="0" rtlCol="0" anchor="ctr"/>
          <a:lstStyle/>
          <a:p>
            <a:pPr marL="0" indent="0" algn="r">
              <a:buNone/>
            </a:pPr>
            <a:r>
              <a:rPr lang="en-US" sz="1300" b="1" dirty="0">
                <a:solidFill>
                  <a:srgbClr val="DC2626"/>
                </a:solidFill>
                <a:latin typeface="Calibri" pitchFamily="34" charset="0"/>
                <a:ea typeface="Calibri" pitchFamily="34" charset="-122"/>
                <a:cs typeface="Calibri" pitchFamily="34" charset="-120"/>
              </a:rPr>
              <a:t>- 55 000 €</a:t>
            </a:r>
            <a:endParaRPr lang="en-US" sz="1300" dirty="0"/>
          </a:p>
        </p:txBody>
      </p:sp>
      <p:sp>
        <p:nvSpPr>
          <p:cNvPr id="26" name="Shape 24"/>
          <p:cNvSpPr/>
          <p:nvPr/>
        </p:nvSpPr>
        <p:spPr>
          <a:xfrm>
            <a:off x="640080" y="5394960"/>
            <a:ext cx="11064240" cy="347472"/>
          </a:xfrm>
          <a:prstGeom prst="rect">
            <a:avLst/>
          </a:prstGeom>
          <a:solidFill>
            <a:srgbClr val="0B1F3A"/>
          </a:solidFill>
          <a:ln w="3810">
            <a:solidFill>
              <a:srgbClr val="E2E8F0"/>
            </a:solidFill>
            <a:prstDash val="solid"/>
          </a:ln>
        </p:spPr>
      </p:sp>
      <p:sp>
        <p:nvSpPr>
          <p:cNvPr id="27" name="Text 25"/>
          <p:cNvSpPr/>
          <p:nvPr/>
        </p:nvSpPr>
        <p:spPr>
          <a:xfrm>
            <a:off x="914400" y="5440680"/>
            <a:ext cx="731520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ROI net année 1</a:t>
            </a:r>
            <a:endParaRPr lang="en-US" sz="1200" dirty="0"/>
          </a:p>
        </p:txBody>
      </p:sp>
      <p:sp>
        <p:nvSpPr>
          <p:cNvPr id="28" name="Text 26"/>
          <p:cNvSpPr/>
          <p:nvPr/>
        </p:nvSpPr>
        <p:spPr>
          <a:xfrm>
            <a:off x="8686800" y="5440680"/>
            <a:ext cx="2926080" cy="274320"/>
          </a:xfrm>
          <a:prstGeom prst="rect">
            <a:avLst/>
          </a:prstGeom>
          <a:noFill/>
          <a:ln/>
        </p:spPr>
        <p:txBody>
          <a:bodyPr wrap="square" lIns="0" tIns="0" rIns="0" bIns="0" rtlCol="0" anchor="ctr"/>
          <a:lstStyle/>
          <a:p>
            <a:pPr marL="0" indent="0" algn="r">
              <a:buNone/>
            </a:pPr>
            <a:r>
              <a:rPr lang="en-US" sz="1300" b="1" dirty="0">
                <a:solidFill>
                  <a:srgbClr val="F9B233"/>
                </a:solidFill>
                <a:latin typeface="Calibri" pitchFamily="34" charset="0"/>
                <a:ea typeface="Calibri" pitchFamily="34" charset="-122"/>
                <a:cs typeface="Calibri" pitchFamily="34" charset="-120"/>
              </a:rPr>
              <a:t>+210 000 €</a:t>
            </a:r>
            <a:endParaRPr lang="en-US" sz="1300" dirty="0"/>
          </a:p>
        </p:txBody>
      </p:sp>
      <p:sp>
        <p:nvSpPr>
          <p:cNvPr id="29" name="Shape 27"/>
          <p:cNvSpPr/>
          <p:nvPr/>
        </p:nvSpPr>
        <p:spPr>
          <a:xfrm>
            <a:off x="640080" y="5760720"/>
            <a:ext cx="11064240" cy="347472"/>
          </a:xfrm>
          <a:prstGeom prst="rect">
            <a:avLst/>
          </a:prstGeom>
          <a:solidFill>
            <a:srgbClr val="FFFFFF"/>
          </a:solidFill>
          <a:ln w="3810">
            <a:solidFill>
              <a:srgbClr val="E2E8F0"/>
            </a:solidFill>
            <a:prstDash val="solid"/>
          </a:ln>
        </p:spPr>
      </p:sp>
      <p:sp>
        <p:nvSpPr>
          <p:cNvPr id="30" name="Text 28"/>
          <p:cNvSpPr/>
          <p:nvPr/>
        </p:nvSpPr>
        <p:spPr>
          <a:xfrm>
            <a:off x="914400" y="5806440"/>
            <a:ext cx="7315200" cy="2743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Payback</a:t>
            </a:r>
            <a:endParaRPr lang="en-US" sz="1200" dirty="0"/>
          </a:p>
        </p:txBody>
      </p:sp>
      <p:sp>
        <p:nvSpPr>
          <p:cNvPr id="31" name="Text 29"/>
          <p:cNvSpPr/>
          <p:nvPr/>
        </p:nvSpPr>
        <p:spPr>
          <a:xfrm>
            <a:off x="8686800" y="5806440"/>
            <a:ext cx="2926080" cy="274320"/>
          </a:xfrm>
          <a:prstGeom prst="rect">
            <a:avLst/>
          </a:prstGeom>
          <a:noFill/>
          <a:ln/>
        </p:spPr>
        <p:txBody>
          <a:bodyPr wrap="square" lIns="0" tIns="0" rIns="0" bIns="0" rtlCol="0" anchor="ctr"/>
          <a:lstStyle/>
          <a:p>
            <a:pPr marL="0" indent="0" algn="r">
              <a:buNone/>
            </a:pPr>
            <a:r>
              <a:rPr lang="en-US" sz="1300" b="1" dirty="0">
                <a:solidFill>
                  <a:srgbClr val="065A82"/>
                </a:solidFill>
                <a:latin typeface="Calibri" pitchFamily="34" charset="0"/>
                <a:ea typeface="Calibri" pitchFamily="34" charset="-122"/>
                <a:cs typeface="Calibri" pitchFamily="34" charset="-120"/>
              </a:rPr>
              <a:t>5,1 mois</a:t>
            </a:r>
            <a:endParaRPr lang="en-US" sz="1300" dirty="0"/>
          </a:p>
        </p:txBody>
      </p:sp>
      <p:sp>
        <p:nvSpPr>
          <p:cNvPr id="32" name="Shape 30"/>
          <p:cNvSpPr/>
          <p:nvPr/>
        </p:nvSpPr>
        <p:spPr>
          <a:xfrm>
            <a:off x="0" y="6583680"/>
            <a:ext cx="12191695" cy="274320"/>
          </a:xfrm>
          <a:prstGeom prst="rect">
            <a:avLst/>
          </a:prstGeom>
          <a:solidFill>
            <a:srgbClr val="0B1F3A"/>
          </a:solidFill>
          <a:ln w="12700">
            <a:solidFill>
              <a:srgbClr val="0B1F3A"/>
            </a:solidFill>
            <a:prstDash val="solid"/>
          </a:ln>
        </p:spPr>
      </p:sp>
      <p:sp>
        <p:nvSpPr>
          <p:cNvPr id="33" name="Text 31"/>
          <p:cNvSpPr/>
          <p:nvPr/>
        </p:nvSpPr>
        <p:spPr>
          <a:xfrm>
            <a:off x="365760" y="6601968"/>
            <a:ext cx="822960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Session 4  Activer &amp; Implémenter</a:t>
            </a:r>
            <a:endParaRPr lang="en-US" sz="1000" dirty="0"/>
          </a:p>
        </p:txBody>
      </p:sp>
      <p:sp>
        <p:nvSpPr>
          <p:cNvPr id="34" name="Text 32"/>
          <p:cNvSpPr/>
          <p:nvPr/>
        </p:nvSpPr>
        <p:spPr>
          <a:xfrm>
            <a:off x="11551615" y="6601968"/>
            <a:ext cx="365760" cy="237744"/>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46</a:t>
            </a:r>
            <a:endParaRPr lang="en-US" sz="10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48">
    <p:bg>
      <p:bgPr>
        <a:solidFill>
          <a:srgbClr val="F5F8FC"/>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731520"/>
          </a:xfrm>
          <a:prstGeom prst="rect">
            <a:avLst/>
          </a:prstGeom>
          <a:noFill/>
          <a:ln/>
        </p:spPr>
        <p:txBody>
          <a:bodyPr wrap="square" lIns="0" tIns="0" rIns="0" bIns="0" rtlCol="0" anchor="ctr"/>
          <a:lstStyle/>
          <a:p>
            <a:pPr marL="0" indent="0" algn="l">
              <a:buNone/>
            </a:pPr>
            <a:r>
              <a:rPr lang="en-US" sz="3200" b="1" dirty="0">
                <a:solidFill>
                  <a:srgbClr val="0B1F3A"/>
                </a:solidFill>
                <a:latin typeface="Calibri" pitchFamily="34" charset="0"/>
                <a:ea typeface="Calibri" pitchFamily="34" charset="-122"/>
                <a:cs typeface="Calibri" pitchFamily="34" charset="-120"/>
              </a:rPr>
              <a:t>Briefer une agence / partenaire data  checklist</a:t>
            </a:r>
            <a:endParaRPr lang="en-US" sz="3200" dirty="0"/>
          </a:p>
        </p:txBody>
      </p:sp>
      <p:sp>
        <p:nvSpPr>
          <p:cNvPr id="3" name="Shape 1"/>
          <p:cNvSpPr/>
          <p:nvPr/>
        </p:nvSpPr>
        <p:spPr>
          <a:xfrm>
            <a:off x="548640" y="1005840"/>
            <a:ext cx="548640" cy="73152"/>
          </a:xfrm>
          <a:prstGeom prst="rect">
            <a:avLst/>
          </a:prstGeom>
          <a:solidFill>
            <a:srgbClr val="F96167"/>
          </a:solidFill>
          <a:ln w="12700">
            <a:solidFill>
              <a:srgbClr val="F96167"/>
            </a:solidFill>
            <a:prstDash val="solid"/>
          </a:ln>
        </p:spPr>
      </p:sp>
      <p:sp>
        <p:nvSpPr>
          <p:cNvPr id="4" name="Text 2"/>
          <p:cNvSpPr/>
          <p:nvPr/>
        </p:nvSpPr>
        <p:spPr>
          <a:xfrm>
            <a:off x="548640" y="1143000"/>
            <a:ext cx="11064240" cy="411480"/>
          </a:xfrm>
          <a:prstGeom prst="rect">
            <a:avLst/>
          </a:prstGeom>
          <a:noFill/>
          <a:ln/>
        </p:spPr>
        <p:txBody>
          <a:bodyPr wrap="square" lIns="0" tIns="0" rIns="0" bIns="0" rtlCol="0" anchor="ctr"/>
          <a:lstStyle/>
          <a:p>
            <a:pPr marL="0" indent="0" algn="l">
              <a:buNone/>
            </a:pPr>
            <a:r>
              <a:rPr lang="en-US" sz="1600" i="1" dirty="0">
                <a:solidFill>
                  <a:srgbClr val="1C7293"/>
                </a:solidFill>
                <a:latin typeface="Calibri" pitchFamily="34" charset="0"/>
                <a:ea typeface="Calibri" pitchFamily="34" charset="-122"/>
                <a:cs typeface="Calibri" pitchFamily="34" charset="-120"/>
              </a:rPr>
              <a:t>Les 10 points à exiger dans le brief avant de signer.</a:t>
            </a:r>
            <a:endParaRPr lang="en-US" sz="1600" dirty="0"/>
          </a:p>
        </p:txBody>
      </p:sp>
      <p:sp>
        <p:nvSpPr>
          <p:cNvPr id="5" name="Shape 3"/>
          <p:cNvSpPr/>
          <p:nvPr/>
        </p:nvSpPr>
        <p:spPr>
          <a:xfrm>
            <a:off x="640080" y="1737360"/>
            <a:ext cx="5440680" cy="804672"/>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6" name="Shape 4"/>
          <p:cNvSpPr/>
          <p:nvPr/>
        </p:nvSpPr>
        <p:spPr>
          <a:xfrm>
            <a:off x="640080" y="1737360"/>
            <a:ext cx="73152" cy="804672"/>
          </a:xfrm>
          <a:prstGeom prst="rect">
            <a:avLst/>
          </a:prstGeom>
          <a:solidFill>
            <a:srgbClr val="F96167"/>
          </a:solidFill>
          <a:ln w="12700">
            <a:solidFill>
              <a:srgbClr val="F96167"/>
            </a:solidFill>
            <a:prstDash val="solid"/>
          </a:ln>
        </p:spPr>
      </p:sp>
      <p:sp>
        <p:nvSpPr>
          <p:cNvPr id="7" name="Text 5"/>
          <p:cNvSpPr/>
          <p:nvPr/>
        </p:nvSpPr>
        <p:spPr>
          <a:xfrm>
            <a:off x="822960" y="1828800"/>
            <a:ext cx="548640" cy="320040"/>
          </a:xfrm>
          <a:prstGeom prst="rect">
            <a:avLst/>
          </a:prstGeom>
          <a:noFill/>
          <a:ln/>
        </p:spPr>
        <p:txBody>
          <a:bodyPr wrap="square" lIns="0" tIns="0" rIns="0" bIns="0"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01</a:t>
            </a:r>
            <a:endParaRPr lang="en-US" sz="1400" dirty="0"/>
          </a:p>
        </p:txBody>
      </p:sp>
      <p:sp>
        <p:nvSpPr>
          <p:cNvPr id="8" name="Text 6"/>
          <p:cNvSpPr/>
          <p:nvPr/>
        </p:nvSpPr>
        <p:spPr>
          <a:xfrm>
            <a:off x="1371600" y="1828800"/>
            <a:ext cx="4572000" cy="32004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Objectif business</a:t>
            </a:r>
            <a:endParaRPr lang="en-US" sz="1300" dirty="0"/>
          </a:p>
        </p:txBody>
      </p:sp>
      <p:sp>
        <p:nvSpPr>
          <p:cNvPr id="9" name="Text 7"/>
          <p:cNvSpPr/>
          <p:nvPr/>
        </p:nvSpPr>
        <p:spPr>
          <a:xfrm>
            <a:off x="1371600" y="2121408"/>
            <a:ext cx="4663440" cy="411480"/>
          </a:xfrm>
          <a:prstGeom prst="rect">
            <a:avLst/>
          </a:prstGeom>
          <a:noFill/>
          <a:ln/>
        </p:spPr>
        <p:txBody>
          <a:bodyPr wrap="square" lIns="0" tIns="0" rIns="0" bIns="0" rtlCol="0" anchor="ctr"/>
          <a:lstStyle/>
          <a:p>
            <a:r>
              <a:rPr lang="en-US" sz="1100" dirty="0">
                <a:solidFill>
                  <a:srgbClr val="1E293B"/>
                </a:solidFill>
                <a:latin typeface="Calibri" pitchFamily="34" charset="0"/>
                <a:ea typeface="Calibri" pitchFamily="34" charset="-122"/>
                <a:cs typeface="Calibri" pitchFamily="34" charset="-120"/>
              </a:rPr>
              <a:t>Un chiffre SMART (</a:t>
            </a:r>
            <a:r>
              <a:rPr lang="en-US" sz="1100" dirty="0"/>
              <a:t>Specific, Measurable, Achievable, Relevant, Time-bound )</a:t>
            </a:r>
          </a:p>
          <a:p>
            <a:r>
              <a:rPr lang="en-US" sz="1100" dirty="0">
                <a:solidFill>
                  <a:srgbClr val="1E293B"/>
                </a:solidFill>
                <a:latin typeface="Calibri" pitchFamily="34" charset="0"/>
                <a:ea typeface="Calibri" pitchFamily="34" charset="-122"/>
                <a:cs typeface="Calibri" pitchFamily="34" charset="-120"/>
              </a:rPr>
              <a:t>ex : +15 % de ROAS.</a:t>
            </a:r>
            <a:endParaRPr lang="en-US" sz="1100" dirty="0"/>
          </a:p>
        </p:txBody>
      </p:sp>
      <p:sp>
        <p:nvSpPr>
          <p:cNvPr id="10" name="Shape 8"/>
          <p:cNvSpPr/>
          <p:nvPr/>
        </p:nvSpPr>
        <p:spPr>
          <a:xfrm>
            <a:off x="640080" y="2651760"/>
            <a:ext cx="5440680" cy="804672"/>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11" name="Shape 9"/>
          <p:cNvSpPr/>
          <p:nvPr/>
        </p:nvSpPr>
        <p:spPr>
          <a:xfrm>
            <a:off x="640080" y="2651760"/>
            <a:ext cx="73152" cy="804672"/>
          </a:xfrm>
          <a:prstGeom prst="rect">
            <a:avLst/>
          </a:prstGeom>
          <a:solidFill>
            <a:srgbClr val="F96167"/>
          </a:solidFill>
          <a:ln w="12700">
            <a:solidFill>
              <a:srgbClr val="F96167"/>
            </a:solidFill>
            <a:prstDash val="solid"/>
          </a:ln>
        </p:spPr>
      </p:sp>
      <p:sp>
        <p:nvSpPr>
          <p:cNvPr id="12" name="Text 10"/>
          <p:cNvSpPr/>
          <p:nvPr/>
        </p:nvSpPr>
        <p:spPr>
          <a:xfrm>
            <a:off x="822960" y="2743200"/>
            <a:ext cx="548640" cy="320040"/>
          </a:xfrm>
          <a:prstGeom prst="rect">
            <a:avLst/>
          </a:prstGeom>
          <a:noFill/>
          <a:ln/>
        </p:spPr>
        <p:txBody>
          <a:bodyPr wrap="square" lIns="0" tIns="0" rIns="0" bIns="0"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02</a:t>
            </a:r>
            <a:endParaRPr lang="en-US" sz="1400" dirty="0"/>
          </a:p>
        </p:txBody>
      </p:sp>
      <p:sp>
        <p:nvSpPr>
          <p:cNvPr id="13" name="Text 11"/>
          <p:cNvSpPr/>
          <p:nvPr/>
        </p:nvSpPr>
        <p:spPr>
          <a:xfrm>
            <a:off x="1371600" y="2743200"/>
            <a:ext cx="4572000" cy="32004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Cas d'usage précis</a:t>
            </a:r>
            <a:endParaRPr lang="en-US" sz="1300" dirty="0"/>
          </a:p>
        </p:txBody>
      </p:sp>
      <p:sp>
        <p:nvSpPr>
          <p:cNvPr id="14" name="Text 12"/>
          <p:cNvSpPr/>
          <p:nvPr/>
        </p:nvSpPr>
        <p:spPr>
          <a:xfrm>
            <a:off x="1371600" y="3035808"/>
            <a:ext cx="4663440" cy="41148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Audience, attribution, incrémentalité, insights.</a:t>
            </a:r>
            <a:endParaRPr lang="en-US" sz="1100" dirty="0"/>
          </a:p>
        </p:txBody>
      </p:sp>
      <p:sp>
        <p:nvSpPr>
          <p:cNvPr id="15" name="Shape 13"/>
          <p:cNvSpPr/>
          <p:nvPr/>
        </p:nvSpPr>
        <p:spPr>
          <a:xfrm>
            <a:off x="640080" y="3566160"/>
            <a:ext cx="5440680" cy="804672"/>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16" name="Shape 14"/>
          <p:cNvSpPr/>
          <p:nvPr/>
        </p:nvSpPr>
        <p:spPr>
          <a:xfrm>
            <a:off x="640080" y="3566160"/>
            <a:ext cx="73152" cy="804672"/>
          </a:xfrm>
          <a:prstGeom prst="rect">
            <a:avLst/>
          </a:prstGeom>
          <a:solidFill>
            <a:srgbClr val="F96167"/>
          </a:solidFill>
          <a:ln w="12700">
            <a:solidFill>
              <a:srgbClr val="F96167"/>
            </a:solidFill>
            <a:prstDash val="solid"/>
          </a:ln>
        </p:spPr>
      </p:sp>
      <p:sp>
        <p:nvSpPr>
          <p:cNvPr id="17" name="Text 15"/>
          <p:cNvSpPr/>
          <p:nvPr/>
        </p:nvSpPr>
        <p:spPr>
          <a:xfrm>
            <a:off x="822960" y="3657600"/>
            <a:ext cx="548640" cy="320040"/>
          </a:xfrm>
          <a:prstGeom prst="rect">
            <a:avLst/>
          </a:prstGeom>
          <a:noFill/>
          <a:ln/>
        </p:spPr>
        <p:txBody>
          <a:bodyPr wrap="square" lIns="0" tIns="0" rIns="0" bIns="0"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03</a:t>
            </a:r>
            <a:endParaRPr lang="en-US" sz="1400" dirty="0"/>
          </a:p>
        </p:txBody>
      </p:sp>
      <p:sp>
        <p:nvSpPr>
          <p:cNvPr id="18" name="Text 16"/>
          <p:cNvSpPr/>
          <p:nvPr/>
        </p:nvSpPr>
        <p:spPr>
          <a:xfrm>
            <a:off x="1371600" y="3657600"/>
            <a:ext cx="4572000" cy="32004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Partenaire data</a:t>
            </a:r>
            <a:endParaRPr lang="en-US" sz="1300" dirty="0"/>
          </a:p>
        </p:txBody>
      </p:sp>
      <p:sp>
        <p:nvSpPr>
          <p:cNvPr id="19" name="Text 17"/>
          <p:cNvSpPr/>
          <p:nvPr/>
        </p:nvSpPr>
        <p:spPr>
          <a:xfrm>
            <a:off x="1371600" y="3950208"/>
            <a:ext cx="4663440" cy="41148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Nom + rôle + base légale RGPD.</a:t>
            </a:r>
            <a:endParaRPr lang="en-US" sz="1100" dirty="0"/>
          </a:p>
        </p:txBody>
      </p:sp>
      <p:sp>
        <p:nvSpPr>
          <p:cNvPr id="20" name="Shape 18"/>
          <p:cNvSpPr/>
          <p:nvPr/>
        </p:nvSpPr>
        <p:spPr>
          <a:xfrm>
            <a:off x="640080" y="4480560"/>
            <a:ext cx="5440680" cy="804672"/>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21" name="Shape 19"/>
          <p:cNvSpPr/>
          <p:nvPr/>
        </p:nvSpPr>
        <p:spPr>
          <a:xfrm>
            <a:off x="640080" y="4480560"/>
            <a:ext cx="73152" cy="804672"/>
          </a:xfrm>
          <a:prstGeom prst="rect">
            <a:avLst/>
          </a:prstGeom>
          <a:solidFill>
            <a:srgbClr val="F96167"/>
          </a:solidFill>
          <a:ln w="12700">
            <a:solidFill>
              <a:srgbClr val="F96167"/>
            </a:solidFill>
            <a:prstDash val="solid"/>
          </a:ln>
        </p:spPr>
      </p:sp>
      <p:sp>
        <p:nvSpPr>
          <p:cNvPr id="22" name="Text 20"/>
          <p:cNvSpPr/>
          <p:nvPr/>
        </p:nvSpPr>
        <p:spPr>
          <a:xfrm>
            <a:off x="822960" y="4572000"/>
            <a:ext cx="548640" cy="320040"/>
          </a:xfrm>
          <a:prstGeom prst="rect">
            <a:avLst/>
          </a:prstGeom>
          <a:noFill/>
          <a:ln/>
        </p:spPr>
        <p:txBody>
          <a:bodyPr wrap="square" lIns="0" tIns="0" rIns="0" bIns="0"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04</a:t>
            </a:r>
            <a:endParaRPr lang="en-US" sz="1400" dirty="0"/>
          </a:p>
        </p:txBody>
      </p:sp>
      <p:sp>
        <p:nvSpPr>
          <p:cNvPr id="23" name="Text 21"/>
          <p:cNvSpPr/>
          <p:nvPr/>
        </p:nvSpPr>
        <p:spPr>
          <a:xfrm>
            <a:off x="1371600" y="4572000"/>
            <a:ext cx="4572000" cy="32004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Provider DCR cible</a:t>
            </a:r>
            <a:endParaRPr lang="en-US" sz="1300" dirty="0"/>
          </a:p>
        </p:txBody>
      </p:sp>
      <p:sp>
        <p:nvSpPr>
          <p:cNvPr id="24" name="Text 22"/>
          <p:cNvSpPr/>
          <p:nvPr/>
        </p:nvSpPr>
        <p:spPr>
          <a:xfrm>
            <a:off x="1371600" y="4864608"/>
            <a:ext cx="4663440" cy="41148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Avec rationnel (stack, budget, délai).</a:t>
            </a:r>
            <a:endParaRPr lang="en-US" sz="1100" dirty="0"/>
          </a:p>
        </p:txBody>
      </p:sp>
      <p:sp>
        <p:nvSpPr>
          <p:cNvPr id="25" name="Shape 23"/>
          <p:cNvSpPr/>
          <p:nvPr/>
        </p:nvSpPr>
        <p:spPr>
          <a:xfrm>
            <a:off x="640080" y="5394960"/>
            <a:ext cx="5440680" cy="804672"/>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26" name="Shape 24"/>
          <p:cNvSpPr/>
          <p:nvPr/>
        </p:nvSpPr>
        <p:spPr>
          <a:xfrm>
            <a:off x="640080" y="5394960"/>
            <a:ext cx="73152" cy="804672"/>
          </a:xfrm>
          <a:prstGeom prst="rect">
            <a:avLst/>
          </a:prstGeom>
          <a:solidFill>
            <a:srgbClr val="F96167"/>
          </a:solidFill>
          <a:ln w="12700">
            <a:solidFill>
              <a:srgbClr val="F96167"/>
            </a:solidFill>
            <a:prstDash val="solid"/>
          </a:ln>
        </p:spPr>
      </p:sp>
      <p:sp>
        <p:nvSpPr>
          <p:cNvPr id="27" name="Text 25"/>
          <p:cNvSpPr/>
          <p:nvPr/>
        </p:nvSpPr>
        <p:spPr>
          <a:xfrm>
            <a:off x="822960" y="5486400"/>
            <a:ext cx="548640" cy="320040"/>
          </a:xfrm>
          <a:prstGeom prst="rect">
            <a:avLst/>
          </a:prstGeom>
          <a:noFill/>
          <a:ln/>
        </p:spPr>
        <p:txBody>
          <a:bodyPr wrap="square" lIns="0" tIns="0" rIns="0" bIns="0"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05</a:t>
            </a:r>
            <a:endParaRPr lang="en-US" sz="1400" dirty="0"/>
          </a:p>
        </p:txBody>
      </p:sp>
      <p:sp>
        <p:nvSpPr>
          <p:cNvPr id="28" name="Text 26"/>
          <p:cNvSpPr/>
          <p:nvPr/>
        </p:nvSpPr>
        <p:spPr>
          <a:xfrm>
            <a:off x="1371600" y="5486400"/>
            <a:ext cx="4572000" cy="32004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Périmètre data</a:t>
            </a:r>
            <a:endParaRPr lang="en-US" sz="1300" dirty="0"/>
          </a:p>
        </p:txBody>
      </p:sp>
      <p:sp>
        <p:nvSpPr>
          <p:cNvPr id="29" name="Text 27"/>
          <p:cNvSpPr/>
          <p:nvPr/>
        </p:nvSpPr>
        <p:spPr>
          <a:xfrm>
            <a:off x="1371600" y="5779008"/>
            <a:ext cx="4663440" cy="41148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Colonnes, volumes, fraîcheur, rétention.</a:t>
            </a:r>
            <a:endParaRPr lang="en-US" sz="1100" dirty="0"/>
          </a:p>
        </p:txBody>
      </p:sp>
      <p:sp>
        <p:nvSpPr>
          <p:cNvPr id="30" name="Shape 28"/>
          <p:cNvSpPr/>
          <p:nvPr/>
        </p:nvSpPr>
        <p:spPr>
          <a:xfrm>
            <a:off x="6263640" y="1737360"/>
            <a:ext cx="5440680" cy="804672"/>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31" name="Shape 29"/>
          <p:cNvSpPr/>
          <p:nvPr/>
        </p:nvSpPr>
        <p:spPr>
          <a:xfrm>
            <a:off x="6263640" y="1737360"/>
            <a:ext cx="73152" cy="804672"/>
          </a:xfrm>
          <a:prstGeom prst="rect">
            <a:avLst/>
          </a:prstGeom>
          <a:solidFill>
            <a:srgbClr val="F96167"/>
          </a:solidFill>
          <a:ln w="12700">
            <a:solidFill>
              <a:srgbClr val="F96167"/>
            </a:solidFill>
            <a:prstDash val="solid"/>
          </a:ln>
        </p:spPr>
      </p:sp>
      <p:sp>
        <p:nvSpPr>
          <p:cNvPr id="32" name="Text 30"/>
          <p:cNvSpPr/>
          <p:nvPr/>
        </p:nvSpPr>
        <p:spPr>
          <a:xfrm>
            <a:off x="6446520" y="1828800"/>
            <a:ext cx="548640" cy="320040"/>
          </a:xfrm>
          <a:prstGeom prst="rect">
            <a:avLst/>
          </a:prstGeom>
          <a:noFill/>
          <a:ln/>
        </p:spPr>
        <p:txBody>
          <a:bodyPr wrap="square" lIns="0" tIns="0" rIns="0" bIns="0"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06</a:t>
            </a:r>
            <a:endParaRPr lang="en-US" sz="1400" dirty="0"/>
          </a:p>
        </p:txBody>
      </p:sp>
      <p:sp>
        <p:nvSpPr>
          <p:cNvPr id="33" name="Text 31"/>
          <p:cNvSpPr/>
          <p:nvPr/>
        </p:nvSpPr>
        <p:spPr>
          <a:xfrm>
            <a:off x="6995160" y="1828800"/>
            <a:ext cx="4572000" cy="32004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Règles DCR</a:t>
            </a:r>
            <a:endParaRPr lang="en-US" sz="1300" dirty="0"/>
          </a:p>
        </p:txBody>
      </p:sp>
      <p:sp>
        <p:nvSpPr>
          <p:cNvPr id="34" name="Text 32"/>
          <p:cNvSpPr/>
          <p:nvPr/>
        </p:nvSpPr>
        <p:spPr>
          <a:xfrm>
            <a:off x="6995160" y="2121408"/>
            <a:ext cx="4663440" cy="41148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k-anonymat, masking, seuils, colonnes autorisées.</a:t>
            </a:r>
            <a:endParaRPr lang="en-US" sz="1100" dirty="0"/>
          </a:p>
        </p:txBody>
      </p:sp>
      <p:sp>
        <p:nvSpPr>
          <p:cNvPr id="35" name="Shape 33"/>
          <p:cNvSpPr/>
          <p:nvPr/>
        </p:nvSpPr>
        <p:spPr>
          <a:xfrm>
            <a:off x="6263640" y="2651760"/>
            <a:ext cx="5440680" cy="804672"/>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36" name="Shape 34"/>
          <p:cNvSpPr/>
          <p:nvPr/>
        </p:nvSpPr>
        <p:spPr>
          <a:xfrm>
            <a:off x="6263640" y="2651760"/>
            <a:ext cx="73152" cy="804672"/>
          </a:xfrm>
          <a:prstGeom prst="rect">
            <a:avLst/>
          </a:prstGeom>
          <a:solidFill>
            <a:srgbClr val="F96167"/>
          </a:solidFill>
          <a:ln w="12700">
            <a:solidFill>
              <a:srgbClr val="F96167"/>
            </a:solidFill>
            <a:prstDash val="solid"/>
          </a:ln>
        </p:spPr>
      </p:sp>
      <p:sp>
        <p:nvSpPr>
          <p:cNvPr id="37" name="Text 35"/>
          <p:cNvSpPr/>
          <p:nvPr/>
        </p:nvSpPr>
        <p:spPr>
          <a:xfrm>
            <a:off x="6446520" y="2743200"/>
            <a:ext cx="548640" cy="320040"/>
          </a:xfrm>
          <a:prstGeom prst="rect">
            <a:avLst/>
          </a:prstGeom>
          <a:noFill/>
          <a:ln/>
        </p:spPr>
        <p:txBody>
          <a:bodyPr wrap="square" lIns="0" tIns="0" rIns="0" bIns="0"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07</a:t>
            </a:r>
            <a:endParaRPr lang="en-US" sz="1400" dirty="0"/>
          </a:p>
        </p:txBody>
      </p:sp>
      <p:sp>
        <p:nvSpPr>
          <p:cNvPr id="38" name="Text 36"/>
          <p:cNvSpPr/>
          <p:nvPr/>
        </p:nvSpPr>
        <p:spPr>
          <a:xfrm>
            <a:off x="6995160" y="2743200"/>
            <a:ext cx="4572000" cy="32004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Livrables attendus</a:t>
            </a:r>
            <a:endParaRPr lang="en-US" sz="1300" dirty="0"/>
          </a:p>
        </p:txBody>
      </p:sp>
      <p:sp>
        <p:nvSpPr>
          <p:cNvPr id="39" name="Text 37"/>
          <p:cNvSpPr/>
          <p:nvPr/>
        </p:nvSpPr>
        <p:spPr>
          <a:xfrm>
            <a:off x="6995160" y="3035808"/>
            <a:ext cx="4663440" cy="41148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Requêtes, segments, rapport, recommandations.</a:t>
            </a:r>
            <a:endParaRPr lang="en-US" sz="1100" dirty="0"/>
          </a:p>
        </p:txBody>
      </p:sp>
      <p:sp>
        <p:nvSpPr>
          <p:cNvPr id="40" name="Shape 38"/>
          <p:cNvSpPr/>
          <p:nvPr/>
        </p:nvSpPr>
        <p:spPr>
          <a:xfrm>
            <a:off x="6263640" y="3566160"/>
            <a:ext cx="5440680" cy="804672"/>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41" name="Shape 39"/>
          <p:cNvSpPr/>
          <p:nvPr/>
        </p:nvSpPr>
        <p:spPr>
          <a:xfrm>
            <a:off x="6263640" y="3566160"/>
            <a:ext cx="73152" cy="804672"/>
          </a:xfrm>
          <a:prstGeom prst="rect">
            <a:avLst/>
          </a:prstGeom>
          <a:solidFill>
            <a:srgbClr val="F96167"/>
          </a:solidFill>
          <a:ln w="12700">
            <a:solidFill>
              <a:srgbClr val="F96167"/>
            </a:solidFill>
            <a:prstDash val="solid"/>
          </a:ln>
        </p:spPr>
      </p:sp>
      <p:sp>
        <p:nvSpPr>
          <p:cNvPr id="42" name="Text 40"/>
          <p:cNvSpPr/>
          <p:nvPr/>
        </p:nvSpPr>
        <p:spPr>
          <a:xfrm>
            <a:off x="6446520" y="3657600"/>
            <a:ext cx="548640" cy="320040"/>
          </a:xfrm>
          <a:prstGeom prst="rect">
            <a:avLst/>
          </a:prstGeom>
          <a:noFill/>
          <a:ln/>
        </p:spPr>
        <p:txBody>
          <a:bodyPr wrap="square" lIns="0" tIns="0" rIns="0" bIns="0"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08</a:t>
            </a:r>
            <a:endParaRPr lang="en-US" sz="1400" dirty="0"/>
          </a:p>
        </p:txBody>
      </p:sp>
      <p:sp>
        <p:nvSpPr>
          <p:cNvPr id="43" name="Text 41"/>
          <p:cNvSpPr/>
          <p:nvPr/>
        </p:nvSpPr>
        <p:spPr>
          <a:xfrm>
            <a:off x="6995160" y="3657600"/>
            <a:ext cx="4572000" cy="32004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Planning</a:t>
            </a:r>
            <a:endParaRPr lang="en-US" sz="1300" dirty="0"/>
          </a:p>
        </p:txBody>
      </p:sp>
      <p:sp>
        <p:nvSpPr>
          <p:cNvPr id="44" name="Text 42"/>
          <p:cNvSpPr/>
          <p:nvPr/>
        </p:nvSpPr>
        <p:spPr>
          <a:xfrm>
            <a:off x="6995160" y="3950208"/>
            <a:ext cx="4663440" cy="41148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12 semaines type, jalons hebdo.</a:t>
            </a:r>
            <a:endParaRPr lang="en-US" sz="1100" dirty="0"/>
          </a:p>
        </p:txBody>
      </p:sp>
      <p:sp>
        <p:nvSpPr>
          <p:cNvPr id="45" name="Shape 43"/>
          <p:cNvSpPr/>
          <p:nvPr/>
        </p:nvSpPr>
        <p:spPr>
          <a:xfrm>
            <a:off x="6263640" y="4480560"/>
            <a:ext cx="5440680" cy="804672"/>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46" name="Shape 44"/>
          <p:cNvSpPr/>
          <p:nvPr/>
        </p:nvSpPr>
        <p:spPr>
          <a:xfrm>
            <a:off x="6263640" y="4480560"/>
            <a:ext cx="73152" cy="804672"/>
          </a:xfrm>
          <a:prstGeom prst="rect">
            <a:avLst/>
          </a:prstGeom>
          <a:solidFill>
            <a:srgbClr val="F96167"/>
          </a:solidFill>
          <a:ln w="12700">
            <a:solidFill>
              <a:srgbClr val="F96167"/>
            </a:solidFill>
            <a:prstDash val="solid"/>
          </a:ln>
        </p:spPr>
      </p:sp>
      <p:sp>
        <p:nvSpPr>
          <p:cNvPr id="47" name="Text 45"/>
          <p:cNvSpPr/>
          <p:nvPr/>
        </p:nvSpPr>
        <p:spPr>
          <a:xfrm>
            <a:off x="6446520" y="4572000"/>
            <a:ext cx="548640" cy="320040"/>
          </a:xfrm>
          <a:prstGeom prst="rect">
            <a:avLst/>
          </a:prstGeom>
          <a:noFill/>
          <a:ln/>
        </p:spPr>
        <p:txBody>
          <a:bodyPr wrap="square" lIns="0" tIns="0" rIns="0" bIns="0"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09</a:t>
            </a:r>
            <a:endParaRPr lang="en-US" sz="1400" dirty="0"/>
          </a:p>
        </p:txBody>
      </p:sp>
      <p:sp>
        <p:nvSpPr>
          <p:cNvPr id="48" name="Text 46"/>
          <p:cNvSpPr/>
          <p:nvPr/>
        </p:nvSpPr>
        <p:spPr>
          <a:xfrm>
            <a:off x="6995160" y="4572000"/>
            <a:ext cx="4572000" cy="32004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Budget</a:t>
            </a:r>
            <a:endParaRPr lang="en-US" sz="1300" dirty="0"/>
          </a:p>
        </p:txBody>
      </p:sp>
      <p:sp>
        <p:nvSpPr>
          <p:cNvPr id="49" name="Text 47"/>
          <p:cNvSpPr/>
          <p:nvPr/>
        </p:nvSpPr>
        <p:spPr>
          <a:xfrm>
            <a:off x="6995160" y="4864608"/>
            <a:ext cx="4663440" cy="41148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License, compute, ETP, intégration.</a:t>
            </a:r>
            <a:endParaRPr lang="en-US" sz="1100" dirty="0"/>
          </a:p>
        </p:txBody>
      </p:sp>
      <p:sp>
        <p:nvSpPr>
          <p:cNvPr id="50" name="Shape 48"/>
          <p:cNvSpPr/>
          <p:nvPr/>
        </p:nvSpPr>
        <p:spPr>
          <a:xfrm>
            <a:off x="6263640" y="5394960"/>
            <a:ext cx="5440680" cy="804672"/>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51" name="Shape 49"/>
          <p:cNvSpPr/>
          <p:nvPr/>
        </p:nvSpPr>
        <p:spPr>
          <a:xfrm>
            <a:off x="6263640" y="5394960"/>
            <a:ext cx="73152" cy="804672"/>
          </a:xfrm>
          <a:prstGeom prst="rect">
            <a:avLst/>
          </a:prstGeom>
          <a:solidFill>
            <a:srgbClr val="F96167"/>
          </a:solidFill>
          <a:ln w="12700">
            <a:solidFill>
              <a:srgbClr val="F96167"/>
            </a:solidFill>
            <a:prstDash val="solid"/>
          </a:ln>
        </p:spPr>
      </p:sp>
      <p:sp>
        <p:nvSpPr>
          <p:cNvPr id="52" name="Text 50"/>
          <p:cNvSpPr/>
          <p:nvPr/>
        </p:nvSpPr>
        <p:spPr>
          <a:xfrm>
            <a:off x="6446520" y="5486400"/>
            <a:ext cx="548640" cy="320040"/>
          </a:xfrm>
          <a:prstGeom prst="rect">
            <a:avLst/>
          </a:prstGeom>
          <a:noFill/>
          <a:ln/>
        </p:spPr>
        <p:txBody>
          <a:bodyPr wrap="square" lIns="0" tIns="0" rIns="0" bIns="0"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10</a:t>
            </a:r>
            <a:endParaRPr lang="en-US" sz="1400" dirty="0"/>
          </a:p>
        </p:txBody>
      </p:sp>
      <p:sp>
        <p:nvSpPr>
          <p:cNvPr id="53" name="Text 51"/>
          <p:cNvSpPr/>
          <p:nvPr/>
        </p:nvSpPr>
        <p:spPr>
          <a:xfrm>
            <a:off x="6995160" y="5486400"/>
            <a:ext cx="4572000" cy="32004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Critères de succès</a:t>
            </a:r>
            <a:endParaRPr lang="en-US" sz="1300" dirty="0"/>
          </a:p>
        </p:txBody>
      </p:sp>
      <p:sp>
        <p:nvSpPr>
          <p:cNvPr id="54" name="Text 52"/>
          <p:cNvSpPr/>
          <p:nvPr/>
        </p:nvSpPr>
        <p:spPr>
          <a:xfrm>
            <a:off x="6995160" y="5779008"/>
            <a:ext cx="4663440" cy="41148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KPI quantitatifs + décision scale/stop.</a:t>
            </a:r>
            <a:endParaRPr lang="en-US" sz="1100" dirty="0"/>
          </a:p>
        </p:txBody>
      </p:sp>
      <p:sp>
        <p:nvSpPr>
          <p:cNvPr id="55" name="Shape 53"/>
          <p:cNvSpPr/>
          <p:nvPr/>
        </p:nvSpPr>
        <p:spPr>
          <a:xfrm>
            <a:off x="0" y="6583680"/>
            <a:ext cx="12191695" cy="274320"/>
          </a:xfrm>
          <a:prstGeom prst="rect">
            <a:avLst/>
          </a:prstGeom>
          <a:solidFill>
            <a:srgbClr val="0B1F3A"/>
          </a:solidFill>
          <a:ln w="12700">
            <a:solidFill>
              <a:srgbClr val="0B1F3A"/>
            </a:solidFill>
            <a:prstDash val="solid"/>
          </a:ln>
        </p:spPr>
      </p:sp>
      <p:sp>
        <p:nvSpPr>
          <p:cNvPr id="56" name="Text 54"/>
          <p:cNvSpPr/>
          <p:nvPr/>
        </p:nvSpPr>
        <p:spPr>
          <a:xfrm>
            <a:off x="365760" y="6601968"/>
            <a:ext cx="822960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Session 4  Activer &amp; Implémenter</a:t>
            </a:r>
            <a:endParaRPr lang="en-US" sz="1000" dirty="0"/>
          </a:p>
        </p:txBody>
      </p:sp>
      <p:sp>
        <p:nvSpPr>
          <p:cNvPr id="57" name="Text 55"/>
          <p:cNvSpPr/>
          <p:nvPr/>
        </p:nvSpPr>
        <p:spPr>
          <a:xfrm>
            <a:off x="11551615" y="6601968"/>
            <a:ext cx="365760" cy="237744"/>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47</a:t>
            </a:r>
            <a:endParaRPr lang="en-US" sz="10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49">
    <p:bg>
      <p:bgPr>
        <a:solidFill>
          <a:srgbClr val="F5F8FC"/>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731520"/>
          </a:xfrm>
          <a:prstGeom prst="rect">
            <a:avLst/>
          </a:prstGeom>
          <a:noFill/>
          <a:ln/>
        </p:spPr>
        <p:txBody>
          <a:bodyPr wrap="square" lIns="0" tIns="0" rIns="0" bIns="0" rtlCol="0" anchor="ctr"/>
          <a:lstStyle/>
          <a:p>
            <a:pPr marL="0" indent="0" algn="l">
              <a:buNone/>
            </a:pPr>
            <a:r>
              <a:rPr lang="en-US" sz="3200" b="1" dirty="0">
                <a:solidFill>
                  <a:srgbClr val="0B1F3A"/>
                </a:solidFill>
                <a:latin typeface="Calibri" pitchFamily="34" charset="0"/>
                <a:ea typeface="Calibri" pitchFamily="34" charset="-122"/>
                <a:cs typeface="Calibri" pitchFamily="34" charset="-120"/>
              </a:rPr>
              <a:t>Piloter un POC DCR  planning 12 semaines</a:t>
            </a:r>
            <a:endParaRPr lang="en-US" sz="3200" dirty="0"/>
          </a:p>
        </p:txBody>
      </p:sp>
      <p:sp>
        <p:nvSpPr>
          <p:cNvPr id="3" name="Shape 1"/>
          <p:cNvSpPr/>
          <p:nvPr/>
        </p:nvSpPr>
        <p:spPr>
          <a:xfrm>
            <a:off x="548640" y="1005840"/>
            <a:ext cx="548640" cy="73152"/>
          </a:xfrm>
          <a:prstGeom prst="rect">
            <a:avLst/>
          </a:prstGeom>
          <a:solidFill>
            <a:srgbClr val="F96167"/>
          </a:solidFill>
          <a:ln w="12700">
            <a:solidFill>
              <a:srgbClr val="F96167"/>
            </a:solidFill>
            <a:prstDash val="solid"/>
          </a:ln>
        </p:spPr>
      </p:sp>
      <p:sp>
        <p:nvSpPr>
          <p:cNvPr id="4" name="Text 2"/>
          <p:cNvSpPr/>
          <p:nvPr/>
        </p:nvSpPr>
        <p:spPr>
          <a:xfrm>
            <a:off x="548640" y="1143000"/>
            <a:ext cx="11064240" cy="411480"/>
          </a:xfrm>
          <a:prstGeom prst="rect">
            <a:avLst/>
          </a:prstGeom>
          <a:noFill/>
          <a:ln/>
        </p:spPr>
        <p:txBody>
          <a:bodyPr wrap="square" lIns="0" tIns="0" rIns="0" bIns="0" rtlCol="0" anchor="ctr"/>
          <a:lstStyle/>
          <a:p>
            <a:pPr marL="0" indent="0" algn="l">
              <a:buNone/>
            </a:pPr>
            <a:r>
              <a:rPr lang="en-US" sz="1600" i="1" dirty="0">
                <a:solidFill>
                  <a:srgbClr val="1C7293"/>
                </a:solidFill>
                <a:latin typeface="Calibri" pitchFamily="34" charset="0"/>
                <a:ea typeface="Calibri" pitchFamily="34" charset="-122"/>
                <a:cs typeface="Calibri" pitchFamily="34" charset="-120"/>
              </a:rPr>
              <a:t>Le rythme réaliste d'un POC DCR bien mené.</a:t>
            </a:r>
            <a:endParaRPr lang="en-US" sz="1600" dirty="0"/>
          </a:p>
        </p:txBody>
      </p:sp>
      <p:sp>
        <p:nvSpPr>
          <p:cNvPr id="5" name="Shape 3"/>
          <p:cNvSpPr/>
          <p:nvPr/>
        </p:nvSpPr>
        <p:spPr>
          <a:xfrm>
            <a:off x="640080" y="1783080"/>
            <a:ext cx="2651760" cy="448056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6" name="Shape 4"/>
          <p:cNvSpPr/>
          <p:nvPr/>
        </p:nvSpPr>
        <p:spPr>
          <a:xfrm>
            <a:off x="640080" y="1783080"/>
            <a:ext cx="2651760" cy="548640"/>
          </a:xfrm>
          <a:prstGeom prst="rect">
            <a:avLst/>
          </a:prstGeom>
          <a:solidFill>
            <a:srgbClr val="065A82"/>
          </a:solidFill>
          <a:ln w="12700">
            <a:solidFill>
              <a:srgbClr val="065A82"/>
            </a:solidFill>
            <a:prstDash val="solid"/>
          </a:ln>
        </p:spPr>
      </p:sp>
      <p:sp>
        <p:nvSpPr>
          <p:cNvPr id="7" name="Text 5"/>
          <p:cNvSpPr/>
          <p:nvPr/>
        </p:nvSpPr>
        <p:spPr>
          <a:xfrm>
            <a:off x="822960" y="1874520"/>
            <a:ext cx="228600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CADRAGE</a:t>
            </a:r>
            <a:endParaRPr lang="en-US" sz="1500" dirty="0"/>
          </a:p>
        </p:txBody>
      </p:sp>
      <p:sp>
        <p:nvSpPr>
          <p:cNvPr id="8" name="Text 6"/>
          <p:cNvSpPr/>
          <p:nvPr/>
        </p:nvSpPr>
        <p:spPr>
          <a:xfrm>
            <a:off x="822960" y="2468880"/>
            <a:ext cx="2286000" cy="320040"/>
          </a:xfrm>
          <a:prstGeom prst="rect">
            <a:avLst/>
          </a:prstGeom>
          <a:noFill/>
          <a:ln/>
        </p:spPr>
        <p:txBody>
          <a:bodyPr wrap="square" lIns="0" tIns="0" rIns="0" bIns="0" rtlCol="0" anchor="ctr"/>
          <a:lstStyle/>
          <a:p>
            <a:pPr marL="0" indent="0">
              <a:buNone/>
            </a:pPr>
            <a:r>
              <a:rPr lang="en-US" sz="1800" b="1" dirty="0">
                <a:solidFill>
                  <a:srgbClr val="065A82"/>
                </a:solidFill>
                <a:latin typeface="Calibri" pitchFamily="34" charset="0"/>
                <a:ea typeface="Calibri" pitchFamily="34" charset="-122"/>
                <a:cs typeface="Calibri" pitchFamily="34" charset="-120"/>
              </a:rPr>
              <a:t>S1</a:t>
            </a:r>
            <a:endParaRPr lang="en-US" sz="1800" dirty="0"/>
          </a:p>
        </p:txBody>
      </p:sp>
      <p:sp>
        <p:nvSpPr>
          <p:cNvPr id="9" name="Text 7"/>
          <p:cNvSpPr/>
          <p:nvPr/>
        </p:nvSpPr>
        <p:spPr>
          <a:xfrm>
            <a:off x="822960" y="2880360"/>
            <a:ext cx="2377440" cy="3246120"/>
          </a:xfrm>
          <a:prstGeom prst="rect">
            <a:avLst/>
          </a:prstGeom>
          <a:noFill/>
          <a:ln/>
        </p:spPr>
        <p:txBody>
          <a:bodyPr wrap="square" lIns="0" tIns="0" rIns="0" bIns="0" rtlCol="0" anchor="t"/>
          <a:lstStyle/>
          <a:p>
            <a:pPr marL="0" indent="0">
              <a:buNone/>
            </a:pPr>
            <a:r>
              <a:rPr lang="en-US" sz="1200" dirty="0">
                <a:solidFill>
                  <a:srgbClr val="1E293B"/>
                </a:solidFill>
                <a:latin typeface="Calibri" pitchFamily="34" charset="0"/>
                <a:ea typeface="Calibri" pitchFamily="34" charset="-122"/>
                <a:cs typeface="Calibri" pitchFamily="34" charset="-120"/>
              </a:rPr>
              <a:t>Définir besoin business, choisir provider, identifier partenaire, base légale RGPD, DPO signé.</a:t>
            </a:r>
            <a:endParaRPr lang="en-US" sz="1200" dirty="0"/>
          </a:p>
        </p:txBody>
      </p:sp>
      <p:sp>
        <p:nvSpPr>
          <p:cNvPr id="10" name="Shape 8"/>
          <p:cNvSpPr/>
          <p:nvPr/>
        </p:nvSpPr>
        <p:spPr>
          <a:xfrm>
            <a:off x="3456432" y="1783080"/>
            <a:ext cx="2651760" cy="448056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11" name="Shape 9"/>
          <p:cNvSpPr/>
          <p:nvPr/>
        </p:nvSpPr>
        <p:spPr>
          <a:xfrm>
            <a:off x="3456432" y="1783080"/>
            <a:ext cx="2651760" cy="548640"/>
          </a:xfrm>
          <a:prstGeom prst="rect">
            <a:avLst/>
          </a:prstGeom>
          <a:solidFill>
            <a:srgbClr val="1C7293"/>
          </a:solidFill>
          <a:ln w="12700">
            <a:solidFill>
              <a:srgbClr val="1C7293"/>
            </a:solidFill>
            <a:prstDash val="solid"/>
          </a:ln>
        </p:spPr>
      </p:sp>
      <p:sp>
        <p:nvSpPr>
          <p:cNvPr id="12" name="Text 10"/>
          <p:cNvSpPr/>
          <p:nvPr/>
        </p:nvSpPr>
        <p:spPr>
          <a:xfrm>
            <a:off x="3639312" y="1874520"/>
            <a:ext cx="228600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CONTRACT</a:t>
            </a:r>
            <a:endParaRPr lang="en-US" sz="1500" dirty="0"/>
          </a:p>
        </p:txBody>
      </p:sp>
      <p:sp>
        <p:nvSpPr>
          <p:cNvPr id="13" name="Text 11"/>
          <p:cNvSpPr/>
          <p:nvPr/>
        </p:nvSpPr>
        <p:spPr>
          <a:xfrm>
            <a:off x="3639312" y="2468880"/>
            <a:ext cx="2286000" cy="320040"/>
          </a:xfrm>
          <a:prstGeom prst="rect">
            <a:avLst/>
          </a:prstGeom>
          <a:noFill/>
          <a:ln/>
        </p:spPr>
        <p:txBody>
          <a:bodyPr wrap="square" lIns="0" tIns="0" rIns="0" bIns="0" rtlCol="0" anchor="ctr"/>
          <a:lstStyle/>
          <a:p>
            <a:pPr marL="0" indent="0">
              <a:buNone/>
            </a:pPr>
            <a:r>
              <a:rPr lang="en-US" sz="1800" b="1" dirty="0">
                <a:solidFill>
                  <a:srgbClr val="1C7293"/>
                </a:solidFill>
                <a:latin typeface="Calibri" pitchFamily="34" charset="0"/>
                <a:ea typeface="Calibri" pitchFamily="34" charset="-122"/>
                <a:cs typeface="Calibri" pitchFamily="34" charset="-120"/>
              </a:rPr>
              <a:t>S2-S3</a:t>
            </a:r>
            <a:endParaRPr lang="en-US" sz="1800" dirty="0"/>
          </a:p>
        </p:txBody>
      </p:sp>
      <p:sp>
        <p:nvSpPr>
          <p:cNvPr id="14" name="Text 12"/>
          <p:cNvSpPr/>
          <p:nvPr/>
        </p:nvSpPr>
        <p:spPr>
          <a:xfrm>
            <a:off x="3639312" y="2880360"/>
            <a:ext cx="2377440" cy="3246120"/>
          </a:xfrm>
          <a:prstGeom prst="rect">
            <a:avLst/>
          </a:prstGeom>
          <a:noFill/>
          <a:ln/>
        </p:spPr>
        <p:txBody>
          <a:bodyPr wrap="square" lIns="0" tIns="0" rIns="0" bIns="0" rtlCol="0" anchor="t"/>
          <a:lstStyle/>
          <a:p>
            <a:pPr marL="0" indent="0">
              <a:buNone/>
            </a:pPr>
            <a:r>
              <a:rPr lang="en-US" sz="1200" dirty="0">
                <a:solidFill>
                  <a:srgbClr val="1E293B"/>
                </a:solidFill>
                <a:latin typeface="Calibri" pitchFamily="34" charset="0"/>
                <a:ea typeface="Calibri" pitchFamily="34" charset="-122"/>
                <a:cs typeface="Calibri" pitchFamily="34" charset="-120"/>
              </a:rPr>
              <a:t>Contrats (DPA + MSA), provisioning DCR, hashing keys, règles d'analyse, tests techniques.</a:t>
            </a:r>
            <a:endParaRPr lang="en-US" sz="1200" dirty="0"/>
          </a:p>
        </p:txBody>
      </p:sp>
      <p:sp>
        <p:nvSpPr>
          <p:cNvPr id="15" name="Shape 13"/>
          <p:cNvSpPr/>
          <p:nvPr/>
        </p:nvSpPr>
        <p:spPr>
          <a:xfrm>
            <a:off x="6272784" y="1783080"/>
            <a:ext cx="2651760" cy="448056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16" name="Shape 14"/>
          <p:cNvSpPr/>
          <p:nvPr/>
        </p:nvSpPr>
        <p:spPr>
          <a:xfrm>
            <a:off x="6272784" y="1783080"/>
            <a:ext cx="2651760" cy="548640"/>
          </a:xfrm>
          <a:prstGeom prst="rect">
            <a:avLst/>
          </a:prstGeom>
          <a:solidFill>
            <a:srgbClr val="F96167"/>
          </a:solidFill>
          <a:ln w="12700">
            <a:solidFill>
              <a:srgbClr val="F96167"/>
            </a:solidFill>
            <a:prstDash val="solid"/>
          </a:ln>
        </p:spPr>
      </p:sp>
      <p:sp>
        <p:nvSpPr>
          <p:cNvPr id="17" name="Text 15"/>
          <p:cNvSpPr/>
          <p:nvPr/>
        </p:nvSpPr>
        <p:spPr>
          <a:xfrm>
            <a:off x="6455664" y="1874520"/>
            <a:ext cx="228600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PRODUCTION</a:t>
            </a:r>
            <a:endParaRPr lang="en-US" sz="1500" dirty="0"/>
          </a:p>
        </p:txBody>
      </p:sp>
      <p:sp>
        <p:nvSpPr>
          <p:cNvPr id="18" name="Text 16"/>
          <p:cNvSpPr/>
          <p:nvPr/>
        </p:nvSpPr>
        <p:spPr>
          <a:xfrm>
            <a:off x="6455664" y="2468880"/>
            <a:ext cx="2286000" cy="320040"/>
          </a:xfrm>
          <a:prstGeom prst="rect">
            <a:avLst/>
          </a:prstGeom>
          <a:noFill/>
          <a:ln/>
        </p:spPr>
        <p:txBody>
          <a:bodyPr wrap="square" lIns="0" tIns="0" rIns="0" bIns="0" rtlCol="0" anchor="ctr"/>
          <a:lstStyle/>
          <a:p>
            <a:pPr marL="0" indent="0">
              <a:buNone/>
            </a:pPr>
            <a:r>
              <a:rPr lang="en-US" sz="1800" b="1" dirty="0">
                <a:solidFill>
                  <a:srgbClr val="F96167"/>
                </a:solidFill>
                <a:latin typeface="Calibri" pitchFamily="34" charset="0"/>
                <a:ea typeface="Calibri" pitchFamily="34" charset="-122"/>
                <a:cs typeface="Calibri" pitchFamily="34" charset="-120"/>
              </a:rPr>
              <a:t>S4-S5</a:t>
            </a:r>
            <a:endParaRPr lang="en-US" sz="1800" dirty="0"/>
          </a:p>
        </p:txBody>
      </p:sp>
      <p:sp>
        <p:nvSpPr>
          <p:cNvPr id="19" name="Text 17"/>
          <p:cNvSpPr/>
          <p:nvPr/>
        </p:nvSpPr>
        <p:spPr>
          <a:xfrm>
            <a:off x="6455664" y="2880360"/>
            <a:ext cx="2377440" cy="3246120"/>
          </a:xfrm>
          <a:prstGeom prst="rect">
            <a:avLst/>
          </a:prstGeom>
          <a:noFill/>
          <a:ln/>
        </p:spPr>
        <p:txBody>
          <a:bodyPr wrap="square" lIns="0" tIns="0" rIns="0" bIns="0" rtlCol="0" anchor="t"/>
          <a:lstStyle/>
          <a:p>
            <a:pPr marL="0" indent="0">
              <a:buNone/>
            </a:pPr>
            <a:r>
              <a:rPr lang="en-US" sz="1200" dirty="0">
                <a:solidFill>
                  <a:srgbClr val="1E293B"/>
                </a:solidFill>
                <a:latin typeface="Calibri" pitchFamily="34" charset="0"/>
                <a:ea typeface="Calibri" pitchFamily="34" charset="-122"/>
                <a:cs typeface="Calibri" pitchFamily="34" charset="-120"/>
              </a:rPr>
              <a:t>Upload data, requêtes, itérations, mesure, activation segment, suivi KPI hebdo.</a:t>
            </a:r>
            <a:endParaRPr lang="en-US" sz="1200" dirty="0"/>
          </a:p>
        </p:txBody>
      </p:sp>
      <p:sp>
        <p:nvSpPr>
          <p:cNvPr id="20" name="Shape 18"/>
          <p:cNvSpPr/>
          <p:nvPr/>
        </p:nvSpPr>
        <p:spPr>
          <a:xfrm>
            <a:off x="9089136" y="1783080"/>
            <a:ext cx="2651760" cy="448056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21" name="Shape 19"/>
          <p:cNvSpPr/>
          <p:nvPr/>
        </p:nvSpPr>
        <p:spPr>
          <a:xfrm>
            <a:off x="9089136" y="1783080"/>
            <a:ext cx="2651760" cy="548640"/>
          </a:xfrm>
          <a:prstGeom prst="rect">
            <a:avLst/>
          </a:prstGeom>
          <a:solidFill>
            <a:srgbClr val="21295C"/>
          </a:solidFill>
          <a:ln w="12700">
            <a:solidFill>
              <a:srgbClr val="21295C"/>
            </a:solidFill>
            <a:prstDash val="solid"/>
          </a:ln>
        </p:spPr>
      </p:sp>
      <p:sp>
        <p:nvSpPr>
          <p:cNvPr id="22" name="Text 20"/>
          <p:cNvSpPr/>
          <p:nvPr/>
        </p:nvSpPr>
        <p:spPr>
          <a:xfrm>
            <a:off x="9272016" y="1874520"/>
            <a:ext cx="228600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DÉCISION</a:t>
            </a:r>
            <a:endParaRPr lang="en-US" sz="1500" dirty="0"/>
          </a:p>
        </p:txBody>
      </p:sp>
      <p:sp>
        <p:nvSpPr>
          <p:cNvPr id="23" name="Text 21"/>
          <p:cNvSpPr/>
          <p:nvPr/>
        </p:nvSpPr>
        <p:spPr>
          <a:xfrm>
            <a:off x="9272016" y="2468880"/>
            <a:ext cx="2286000" cy="320040"/>
          </a:xfrm>
          <a:prstGeom prst="rect">
            <a:avLst/>
          </a:prstGeom>
          <a:noFill/>
          <a:ln/>
        </p:spPr>
        <p:txBody>
          <a:bodyPr wrap="square" lIns="0" tIns="0" rIns="0" bIns="0" rtlCol="0" anchor="ctr"/>
          <a:lstStyle/>
          <a:p>
            <a:pPr marL="0" indent="0">
              <a:buNone/>
            </a:pPr>
            <a:r>
              <a:rPr lang="en-US" sz="1800" b="1" dirty="0">
                <a:solidFill>
                  <a:srgbClr val="21295C"/>
                </a:solidFill>
                <a:latin typeface="Calibri" pitchFamily="34" charset="0"/>
                <a:ea typeface="Calibri" pitchFamily="34" charset="-122"/>
                <a:cs typeface="Calibri" pitchFamily="34" charset="-120"/>
              </a:rPr>
              <a:t>S6</a:t>
            </a:r>
            <a:endParaRPr lang="en-US" sz="1800" dirty="0"/>
          </a:p>
        </p:txBody>
      </p:sp>
      <p:sp>
        <p:nvSpPr>
          <p:cNvPr id="24" name="Text 22"/>
          <p:cNvSpPr/>
          <p:nvPr/>
        </p:nvSpPr>
        <p:spPr>
          <a:xfrm>
            <a:off x="9272016" y="2880360"/>
            <a:ext cx="2377440" cy="3246120"/>
          </a:xfrm>
          <a:prstGeom prst="rect">
            <a:avLst/>
          </a:prstGeom>
          <a:noFill/>
          <a:ln/>
        </p:spPr>
        <p:txBody>
          <a:bodyPr wrap="square" lIns="0" tIns="0" rIns="0" bIns="0" rtlCol="0" anchor="t"/>
          <a:lstStyle/>
          <a:p>
            <a:pPr marL="0" indent="0">
              <a:buNone/>
            </a:pPr>
            <a:r>
              <a:rPr lang="en-US" sz="1200" dirty="0">
                <a:solidFill>
                  <a:srgbClr val="1E293B"/>
                </a:solidFill>
                <a:latin typeface="Calibri" pitchFamily="34" charset="0"/>
                <a:ea typeface="Calibri" pitchFamily="34" charset="-122"/>
                <a:cs typeface="Calibri" pitchFamily="34" charset="-120"/>
              </a:rPr>
              <a:t>Résultats, ROI, rapport, go/no-go scale, roadmap année 1, ressources.</a:t>
            </a:r>
            <a:endParaRPr lang="en-US" sz="1200" dirty="0"/>
          </a:p>
        </p:txBody>
      </p:sp>
      <p:sp>
        <p:nvSpPr>
          <p:cNvPr id="25" name="Shape 23"/>
          <p:cNvSpPr/>
          <p:nvPr/>
        </p:nvSpPr>
        <p:spPr>
          <a:xfrm>
            <a:off x="640080" y="6309360"/>
            <a:ext cx="11064240" cy="320040"/>
          </a:xfrm>
          <a:prstGeom prst="rect">
            <a:avLst/>
          </a:prstGeom>
          <a:solidFill>
            <a:srgbClr val="0B1F3A"/>
          </a:solidFill>
          <a:ln w="12700">
            <a:solidFill>
              <a:srgbClr val="0B1F3A"/>
            </a:solidFill>
            <a:prstDash val="solid"/>
          </a:ln>
        </p:spPr>
      </p:sp>
      <p:sp>
        <p:nvSpPr>
          <p:cNvPr id="26" name="Text 24"/>
          <p:cNvSpPr/>
          <p:nvPr/>
        </p:nvSpPr>
        <p:spPr>
          <a:xfrm>
            <a:off x="822960" y="6309360"/>
            <a:ext cx="10972800" cy="320040"/>
          </a:xfrm>
          <a:prstGeom prst="rect">
            <a:avLst/>
          </a:prstGeom>
          <a:noFill/>
          <a:ln/>
        </p:spPr>
        <p:txBody>
          <a:bodyPr wrap="square" lIns="0" tIns="0" rIns="0" bIns="0" rtlCol="0" anchor="ctr"/>
          <a:lstStyle/>
          <a:p>
            <a:pPr marL="0" indent="0">
              <a:buNone/>
            </a:pPr>
            <a:r>
              <a:rPr lang="en-US" sz="1100" i="1" dirty="0">
                <a:solidFill>
                  <a:srgbClr val="F9B233"/>
                </a:solidFill>
                <a:latin typeface="Calibri" pitchFamily="34" charset="0"/>
                <a:ea typeface="Calibri" pitchFamily="34" charset="-122"/>
                <a:cs typeface="Calibri" pitchFamily="34" charset="-120"/>
              </a:rPr>
              <a:t>KPIs POC : overlap (%), segment size, lift test, coût/audience, time-to-insight, ROI estimé.</a:t>
            </a:r>
            <a:endParaRPr lang="en-US" sz="1100" dirty="0"/>
          </a:p>
        </p:txBody>
      </p:sp>
      <p:sp>
        <p:nvSpPr>
          <p:cNvPr id="27" name="Shape 25"/>
          <p:cNvSpPr/>
          <p:nvPr/>
        </p:nvSpPr>
        <p:spPr>
          <a:xfrm>
            <a:off x="0" y="6583680"/>
            <a:ext cx="12191695" cy="274320"/>
          </a:xfrm>
          <a:prstGeom prst="rect">
            <a:avLst/>
          </a:prstGeom>
          <a:solidFill>
            <a:srgbClr val="0B1F3A"/>
          </a:solidFill>
          <a:ln w="12700">
            <a:solidFill>
              <a:srgbClr val="0B1F3A"/>
            </a:solidFill>
            <a:prstDash val="solid"/>
          </a:ln>
        </p:spPr>
      </p:sp>
      <p:sp>
        <p:nvSpPr>
          <p:cNvPr id="28" name="Text 26"/>
          <p:cNvSpPr/>
          <p:nvPr/>
        </p:nvSpPr>
        <p:spPr>
          <a:xfrm>
            <a:off x="365760" y="6601968"/>
            <a:ext cx="822960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Session 4  Activer &amp; Implémenter</a:t>
            </a:r>
            <a:endParaRPr lang="en-US" sz="1000" dirty="0"/>
          </a:p>
        </p:txBody>
      </p:sp>
      <p:sp>
        <p:nvSpPr>
          <p:cNvPr id="29" name="Text 27"/>
          <p:cNvSpPr/>
          <p:nvPr/>
        </p:nvSpPr>
        <p:spPr>
          <a:xfrm>
            <a:off x="11551615" y="6601968"/>
            <a:ext cx="365760" cy="237744"/>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48</a:t>
            </a:r>
            <a:endParaRPr lang="en-US" sz="10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50">
    <p:bg>
      <p:bgPr>
        <a:solidFill>
          <a:srgbClr val="F5F8FC"/>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731520"/>
          </a:xfrm>
          <a:prstGeom prst="rect">
            <a:avLst/>
          </a:prstGeom>
          <a:noFill/>
          <a:ln/>
        </p:spPr>
        <p:txBody>
          <a:bodyPr wrap="square" lIns="0" tIns="0" rIns="0" bIns="0" rtlCol="0" anchor="ctr"/>
          <a:lstStyle/>
          <a:p>
            <a:pPr marL="0" indent="0" algn="l">
              <a:buNone/>
            </a:pPr>
            <a:r>
              <a:rPr lang="en-US" sz="3200" b="1" dirty="0">
                <a:solidFill>
                  <a:srgbClr val="0B1F3A"/>
                </a:solidFill>
                <a:latin typeface="Calibri" pitchFamily="34" charset="0"/>
                <a:ea typeface="Calibri" pitchFamily="34" charset="-122"/>
                <a:cs typeface="Calibri" pitchFamily="34" charset="-120"/>
              </a:rPr>
              <a:t>Les 6 pièges à éviter</a:t>
            </a:r>
            <a:endParaRPr lang="en-US" sz="3200" dirty="0"/>
          </a:p>
        </p:txBody>
      </p:sp>
      <p:sp>
        <p:nvSpPr>
          <p:cNvPr id="3" name="Shape 1"/>
          <p:cNvSpPr/>
          <p:nvPr/>
        </p:nvSpPr>
        <p:spPr>
          <a:xfrm>
            <a:off x="548640" y="1005840"/>
            <a:ext cx="548640" cy="73152"/>
          </a:xfrm>
          <a:prstGeom prst="rect">
            <a:avLst/>
          </a:prstGeom>
          <a:solidFill>
            <a:srgbClr val="F96167"/>
          </a:solidFill>
          <a:ln w="12700">
            <a:solidFill>
              <a:srgbClr val="F96167"/>
            </a:solidFill>
            <a:prstDash val="solid"/>
          </a:ln>
        </p:spPr>
      </p:sp>
      <p:sp>
        <p:nvSpPr>
          <p:cNvPr id="4" name="Text 2"/>
          <p:cNvSpPr/>
          <p:nvPr/>
        </p:nvSpPr>
        <p:spPr>
          <a:xfrm>
            <a:off x="548640" y="1143000"/>
            <a:ext cx="11064240" cy="411480"/>
          </a:xfrm>
          <a:prstGeom prst="rect">
            <a:avLst/>
          </a:prstGeom>
          <a:noFill/>
          <a:ln/>
        </p:spPr>
        <p:txBody>
          <a:bodyPr wrap="square" lIns="0" tIns="0" rIns="0" bIns="0" rtlCol="0" anchor="ctr"/>
          <a:lstStyle/>
          <a:p>
            <a:pPr marL="0" indent="0" algn="l">
              <a:buNone/>
            </a:pPr>
            <a:r>
              <a:rPr lang="en-US" sz="1600" i="1" dirty="0">
                <a:solidFill>
                  <a:srgbClr val="1C7293"/>
                </a:solidFill>
                <a:latin typeface="Calibri" pitchFamily="34" charset="0"/>
                <a:ea typeface="Calibri" pitchFamily="34" charset="-122"/>
                <a:cs typeface="Calibri" pitchFamily="34" charset="-120"/>
              </a:rPr>
              <a:t>Les erreurs les plus </a:t>
            </a:r>
            <a:r>
              <a:rPr lang="en-US" sz="1600" i="1" dirty="0" err="1">
                <a:solidFill>
                  <a:srgbClr val="1C7293"/>
                </a:solidFill>
                <a:latin typeface="Calibri" pitchFamily="34" charset="0"/>
                <a:ea typeface="Calibri" pitchFamily="34" charset="-122"/>
                <a:cs typeface="Calibri" pitchFamily="34" charset="-120"/>
              </a:rPr>
              <a:t>coûteuses</a:t>
            </a:r>
            <a:r>
              <a:rPr lang="en-US" sz="1600" i="1" dirty="0">
                <a:solidFill>
                  <a:srgbClr val="1C7293"/>
                </a:solidFill>
                <a:latin typeface="Calibri" pitchFamily="34" charset="0"/>
                <a:ea typeface="Calibri" pitchFamily="34" charset="-122"/>
                <a:cs typeface="Calibri" pitchFamily="34" charset="-120"/>
              </a:rPr>
              <a:t> sur des projets DCR.</a:t>
            </a:r>
            <a:endParaRPr lang="en-US" sz="1600" dirty="0"/>
          </a:p>
        </p:txBody>
      </p:sp>
      <p:sp>
        <p:nvSpPr>
          <p:cNvPr id="5" name="Shape 3"/>
          <p:cNvSpPr/>
          <p:nvPr/>
        </p:nvSpPr>
        <p:spPr>
          <a:xfrm>
            <a:off x="640080" y="1783080"/>
            <a:ext cx="3611880" cy="210312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6" name="Shape 4"/>
          <p:cNvSpPr/>
          <p:nvPr/>
        </p:nvSpPr>
        <p:spPr>
          <a:xfrm>
            <a:off x="640080" y="1783080"/>
            <a:ext cx="3611880" cy="109728"/>
          </a:xfrm>
          <a:prstGeom prst="rect">
            <a:avLst/>
          </a:prstGeom>
          <a:solidFill>
            <a:srgbClr val="DC2626"/>
          </a:solidFill>
          <a:ln w="12700">
            <a:solidFill>
              <a:srgbClr val="DC2626"/>
            </a:solidFill>
            <a:prstDash val="solid"/>
          </a:ln>
        </p:spPr>
      </p:sp>
      <p:sp>
        <p:nvSpPr>
          <p:cNvPr id="7" name="Text 5"/>
          <p:cNvSpPr/>
          <p:nvPr/>
        </p:nvSpPr>
        <p:spPr>
          <a:xfrm>
            <a:off x="822960" y="1965960"/>
            <a:ext cx="548640" cy="320040"/>
          </a:xfrm>
          <a:prstGeom prst="rect">
            <a:avLst/>
          </a:prstGeom>
          <a:noFill/>
          <a:ln/>
        </p:spPr>
        <p:txBody>
          <a:bodyPr wrap="square" lIns="0" tIns="0" rIns="0" bIns="0" rtlCol="0" anchor="ctr"/>
          <a:lstStyle/>
          <a:p>
            <a:pPr marL="0" indent="0">
              <a:buNone/>
            </a:pPr>
            <a:r>
              <a:rPr lang="en-US" sz="1400" b="1" dirty="0">
                <a:solidFill>
                  <a:srgbClr val="DC2626"/>
                </a:solidFill>
                <a:latin typeface="Calibri" pitchFamily="34" charset="0"/>
                <a:ea typeface="Calibri" pitchFamily="34" charset="-122"/>
                <a:cs typeface="Calibri" pitchFamily="34" charset="-120"/>
              </a:rPr>
              <a:t>01</a:t>
            </a:r>
            <a:endParaRPr lang="en-US" sz="1400" dirty="0"/>
          </a:p>
        </p:txBody>
      </p:sp>
      <p:sp>
        <p:nvSpPr>
          <p:cNvPr id="8" name="Text 6"/>
          <p:cNvSpPr/>
          <p:nvPr/>
        </p:nvSpPr>
        <p:spPr>
          <a:xfrm>
            <a:off x="1371600" y="1965960"/>
            <a:ext cx="2834640" cy="64008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Lancer sans cas d'usage</a:t>
            </a:r>
            <a:endParaRPr lang="en-US" sz="1400" dirty="0"/>
          </a:p>
        </p:txBody>
      </p:sp>
      <p:sp>
        <p:nvSpPr>
          <p:cNvPr id="9" name="Text 7"/>
          <p:cNvSpPr/>
          <p:nvPr/>
        </p:nvSpPr>
        <p:spPr>
          <a:xfrm>
            <a:off x="822960" y="2651760"/>
            <a:ext cx="3337560" cy="118872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 On veut faire une DCR » n'est pas un projet. Partez d'un problème marketing précis.</a:t>
            </a:r>
            <a:endParaRPr lang="en-US" sz="1100" dirty="0"/>
          </a:p>
        </p:txBody>
      </p:sp>
      <p:sp>
        <p:nvSpPr>
          <p:cNvPr id="10" name="Shape 8"/>
          <p:cNvSpPr/>
          <p:nvPr/>
        </p:nvSpPr>
        <p:spPr>
          <a:xfrm>
            <a:off x="4434840" y="1783080"/>
            <a:ext cx="3611880" cy="210312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11" name="Shape 9"/>
          <p:cNvSpPr/>
          <p:nvPr/>
        </p:nvSpPr>
        <p:spPr>
          <a:xfrm>
            <a:off x="4434840" y="1783080"/>
            <a:ext cx="3611880" cy="109728"/>
          </a:xfrm>
          <a:prstGeom prst="rect">
            <a:avLst/>
          </a:prstGeom>
          <a:solidFill>
            <a:srgbClr val="DC2626"/>
          </a:solidFill>
          <a:ln w="12700">
            <a:solidFill>
              <a:srgbClr val="DC2626"/>
            </a:solidFill>
            <a:prstDash val="solid"/>
          </a:ln>
        </p:spPr>
      </p:sp>
      <p:sp>
        <p:nvSpPr>
          <p:cNvPr id="12" name="Text 10"/>
          <p:cNvSpPr/>
          <p:nvPr/>
        </p:nvSpPr>
        <p:spPr>
          <a:xfrm>
            <a:off x="4617720" y="1965960"/>
            <a:ext cx="548640" cy="320040"/>
          </a:xfrm>
          <a:prstGeom prst="rect">
            <a:avLst/>
          </a:prstGeom>
          <a:noFill/>
          <a:ln/>
        </p:spPr>
        <p:txBody>
          <a:bodyPr wrap="square" lIns="0" tIns="0" rIns="0" bIns="0" rtlCol="0" anchor="ctr"/>
          <a:lstStyle/>
          <a:p>
            <a:pPr marL="0" indent="0">
              <a:buNone/>
            </a:pPr>
            <a:r>
              <a:rPr lang="en-US" sz="1400" b="1" dirty="0">
                <a:solidFill>
                  <a:srgbClr val="DC2626"/>
                </a:solidFill>
                <a:latin typeface="Calibri" pitchFamily="34" charset="0"/>
                <a:ea typeface="Calibri" pitchFamily="34" charset="-122"/>
                <a:cs typeface="Calibri" pitchFamily="34" charset="-120"/>
              </a:rPr>
              <a:t>02</a:t>
            </a:r>
            <a:endParaRPr lang="en-US" sz="1400" dirty="0"/>
          </a:p>
        </p:txBody>
      </p:sp>
      <p:sp>
        <p:nvSpPr>
          <p:cNvPr id="13" name="Text 11"/>
          <p:cNvSpPr/>
          <p:nvPr/>
        </p:nvSpPr>
        <p:spPr>
          <a:xfrm>
            <a:off x="5166360" y="1965960"/>
            <a:ext cx="2834640" cy="64008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Oublier la base légale</a:t>
            </a:r>
            <a:endParaRPr lang="en-US" sz="1400" dirty="0"/>
          </a:p>
        </p:txBody>
      </p:sp>
      <p:sp>
        <p:nvSpPr>
          <p:cNvPr id="14" name="Text 12"/>
          <p:cNvSpPr/>
          <p:nvPr/>
        </p:nvSpPr>
        <p:spPr>
          <a:xfrm>
            <a:off x="4617720" y="2651760"/>
            <a:ext cx="3337560" cy="118872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RGPD Art. 28/6.1.f : DPO signé AVANT toute ligne de code. Sinon projet bloqué en J+30.</a:t>
            </a:r>
            <a:endParaRPr lang="en-US" sz="1100" dirty="0"/>
          </a:p>
        </p:txBody>
      </p:sp>
      <p:sp>
        <p:nvSpPr>
          <p:cNvPr id="15" name="Shape 13"/>
          <p:cNvSpPr/>
          <p:nvPr/>
        </p:nvSpPr>
        <p:spPr>
          <a:xfrm>
            <a:off x="8229600" y="1783080"/>
            <a:ext cx="3611880" cy="210312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16" name="Shape 14"/>
          <p:cNvSpPr/>
          <p:nvPr/>
        </p:nvSpPr>
        <p:spPr>
          <a:xfrm>
            <a:off x="8229600" y="1783080"/>
            <a:ext cx="3611880" cy="109728"/>
          </a:xfrm>
          <a:prstGeom prst="rect">
            <a:avLst/>
          </a:prstGeom>
          <a:solidFill>
            <a:srgbClr val="DC2626"/>
          </a:solidFill>
          <a:ln w="12700">
            <a:solidFill>
              <a:srgbClr val="DC2626"/>
            </a:solidFill>
            <a:prstDash val="solid"/>
          </a:ln>
        </p:spPr>
      </p:sp>
      <p:sp>
        <p:nvSpPr>
          <p:cNvPr id="17" name="Text 15"/>
          <p:cNvSpPr/>
          <p:nvPr/>
        </p:nvSpPr>
        <p:spPr>
          <a:xfrm>
            <a:off x="8412480" y="1965960"/>
            <a:ext cx="548640" cy="320040"/>
          </a:xfrm>
          <a:prstGeom prst="rect">
            <a:avLst/>
          </a:prstGeom>
          <a:noFill/>
          <a:ln/>
        </p:spPr>
        <p:txBody>
          <a:bodyPr wrap="square" lIns="0" tIns="0" rIns="0" bIns="0" rtlCol="0" anchor="ctr"/>
          <a:lstStyle/>
          <a:p>
            <a:pPr marL="0" indent="0">
              <a:buNone/>
            </a:pPr>
            <a:r>
              <a:rPr lang="en-US" sz="1400" b="1" dirty="0">
                <a:solidFill>
                  <a:srgbClr val="DC2626"/>
                </a:solidFill>
                <a:latin typeface="Calibri" pitchFamily="34" charset="0"/>
                <a:ea typeface="Calibri" pitchFamily="34" charset="-122"/>
                <a:cs typeface="Calibri" pitchFamily="34" charset="-120"/>
              </a:rPr>
              <a:t>03</a:t>
            </a:r>
            <a:endParaRPr lang="en-US" sz="1400" dirty="0"/>
          </a:p>
        </p:txBody>
      </p:sp>
      <p:sp>
        <p:nvSpPr>
          <p:cNvPr id="18" name="Text 16"/>
          <p:cNvSpPr/>
          <p:nvPr/>
        </p:nvSpPr>
        <p:spPr>
          <a:xfrm>
            <a:off x="8961120" y="1965960"/>
            <a:ext cx="2834640" cy="64008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Sous-estimer la qualité first-party</a:t>
            </a:r>
            <a:endParaRPr lang="en-US" sz="1400" dirty="0"/>
          </a:p>
        </p:txBody>
      </p:sp>
      <p:sp>
        <p:nvSpPr>
          <p:cNvPr id="19" name="Text 17"/>
          <p:cNvSpPr/>
          <p:nvPr/>
        </p:nvSpPr>
        <p:spPr>
          <a:xfrm>
            <a:off x="8412480" y="2651760"/>
            <a:ext cx="3337560" cy="118872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Si votre CRM est sale, data de </a:t>
            </a:r>
            <a:r>
              <a:rPr lang="en-US" sz="1100" dirty="0" err="1">
                <a:solidFill>
                  <a:srgbClr val="1E293B"/>
                </a:solidFill>
                <a:latin typeface="Calibri" pitchFamily="34" charset="0"/>
                <a:ea typeface="Calibri" pitchFamily="34" charset="-122"/>
                <a:cs typeface="Calibri" pitchFamily="34" charset="-120"/>
              </a:rPr>
              <a:t>mauvaise</a:t>
            </a:r>
            <a:r>
              <a:rPr lang="en-US" sz="1100" dirty="0">
                <a:solidFill>
                  <a:srgbClr val="1E293B"/>
                </a:solidFill>
                <a:latin typeface="Calibri" pitchFamily="34" charset="0"/>
                <a:ea typeface="Calibri" pitchFamily="34" charset="-122"/>
                <a:cs typeface="Calibri" pitchFamily="34" charset="-120"/>
              </a:rPr>
              <a:t> </a:t>
            </a:r>
            <a:r>
              <a:rPr lang="en-US" sz="1100" dirty="0" err="1">
                <a:solidFill>
                  <a:srgbClr val="1E293B"/>
                </a:solidFill>
                <a:latin typeface="Calibri" pitchFamily="34" charset="0"/>
                <a:ea typeface="Calibri" pitchFamily="34" charset="-122"/>
                <a:cs typeface="Calibri" pitchFamily="34" charset="-120"/>
              </a:rPr>
              <a:t>qualité</a:t>
            </a:r>
            <a:r>
              <a:rPr lang="en-US" sz="1100" dirty="0">
                <a:solidFill>
                  <a:srgbClr val="1E293B"/>
                </a:solidFill>
                <a:latin typeface="Calibri" pitchFamily="34" charset="0"/>
                <a:ea typeface="Calibri" pitchFamily="34" charset="-122"/>
                <a:cs typeface="Calibri" pitchFamily="34" charset="-120"/>
              </a:rPr>
              <a:t>, la DCR ne fera pas de miracle. Garbage in, garbage out.</a:t>
            </a:r>
            <a:endParaRPr lang="en-US" sz="1100" dirty="0"/>
          </a:p>
        </p:txBody>
      </p:sp>
      <p:sp>
        <p:nvSpPr>
          <p:cNvPr id="20" name="Shape 18"/>
          <p:cNvSpPr/>
          <p:nvPr/>
        </p:nvSpPr>
        <p:spPr>
          <a:xfrm>
            <a:off x="640080" y="4069080"/>
            <a:ext cx="3611880" cy="210312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21" name="Shape 19"/>
          <p:cNvSpPr/>
          <p:nvPr/>
        </p:nvSpPr>
        <p:spPr>
          <a:xfrm>
            <a:off x="640080" y="4069080"/>
            <a:ext cx="3611880" cy="109728"/>
          </a:xfrm>
          <a:prstGeom prst="rect">
            <a:avLst/>
          </a:prstGeom>
          <a:solidFill>
            <a:srgbClr val="DC2626"/>
          </a:solidFill>
          <a:ln w="12700">
            <a:solidFill>
              <a:srgbClr val="DC2626"/>
            </a:solidFill>
            <a:prstDash val="solid"/>
          </a:ln>
        </p:spPr>
      </p:sp>
      <p:sp>
        <p:nvSpPr>
          <p:cNvPr id="22" name="Text 20"/>
          <p:cNvSpPr/>
          <p:nvPr/>
        </p:nvSpPr>
        <p:spPr>
          <a:xfrm>
            <a:off x="822960" y="4251960"/>
            <a:ext cx="548640" cy="320040"/>
          </a:xfrm>
          <a:prstGeom prst="rect">
            <a:avLst/>
          </a:prstGeom>
          <a:noFill/>
          <a:ln/>
        </p:spPr>
        <p:txBody>
          <a:bodyPr wrap="square" lIns="0" tIns="0" rIns="0" bIns="0" rtlCol="0" anchor="ctr"/>
          <a:lstStyle/>
          <a:p>
            <a:pPr marL="0" indent="0">
              <a:buNone/>
            </a:pPr>
            <a:r>
              <a:rPr lang="en-US" sz="1400" b="1" dirty="0">
                <a:solidFill>
                  <a:srgbClr val="DC2626"/>
                </a:solidFill>
                <a:latin typeface="Calibri" pitchFamily="34" charset="0"/>
                <a:ea typeface="Calibri" pitchFamily="34" charset="-122"/>
                <a:cs typeface="Calibri" pitchFamily="34" charset="-120"/>
              </a:rPr>
              <a:t>04</a:t>
            </a:r>
            <a:endParaRPr lang="en-US" sz="1400" dirty="0"/>
          </a:p>
        </p:txBody>
      </p:sp>
      <p:sp>
        <p:nvSpPr>
          <p:cNvPr id="23" name="Text 21"/>
          <p:cNvSpPr/>
          <p:nvPr/>
        </p:nvSpPr>
        <p:spPr>
          <a:xfrm>
            <a:off x="1371600" y="4251960"/>
            <a:ext cx="2834640" cy="64008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Choisir la techno avant le besoin</a:t>
            </a:r>
            <a:endParaRPr lang="en-US" sz="1400" dirty="0"/>
          </a:p>
        </p:txBody>
      </p:sp>
      <p:sp>
        <p:nvSpPr>
          <p:cNvPr id="24" name="Text 22"/>
          <p:cNvSpPr/>
          <p:nvPr/>
        </p:nvSpPr>
        <p:spPr>
          <a:xfrm>
            <a:off x="822960" y="4937760"/>
            <a:ext cx="3337560" cy="118872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Ne commencez pas par « on prend Snowflake ». Commencez par le cas, la techno vient après.</a:t>
            </a:r>
            <a:endParaRPr lang="en-US" sz="1100" dirty="0"/>
          </a:p>
        </p:txBody>
      </p:sp>
      <p:sp>
        <p:nvSpPr>
          <p:cNvPr id="25" name="Shape 23"/>
          <p:cNvSpPr/>
          <p:nvPr/>
        </p:nvSpPr>
        <p:spPr>
          <a:xfrm>
            <a:off x="4434840" y="4069080"/>
            <a:ext cx="3611880" cy="210312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26" name="Shape 24"/>
          <p:cNvSpPr/>
          <p:nvPr/>
        </p:nvSpPr>
        <p:spPr>
          <a:xfrm>
            <a:off x="4434840" y="4069080"/>
            <a:ext cx="3611880" cy="109728"/>
          </a:xfrm>
          <a:prstGeom prst="rect">
            <a:avLst/>
          </a:prstGeom>
          <a:solidFill>
            <a:srgbClr val="DC2626"/>
          </a:solidFill>
          <a:ln w="12700">
            <a:solidFill>
              <a:srgbClr val="DC2626"/>
            </a:solidFill>
            <a:prstDash val="solid"/>
          </a:ln>
        </p:spPr>
      </p:sp>
      <p:sp>
        <p:nvSpPr>
          <p:cNvPr id="27" name="Text 25"/>
          <p:cNvSpPr/>
          <p:nvPr/>
        </p:nvSpPr>
        <p:spPr>
          <a:xfrm>
            <a:off x="4617720" y="4251960"/>
            <a:ext cx="548640" cy="320040"/>
          </a:xfrm>
          <a:prstGeom prst="rect">
            <a:avLst/>
          </a:prstGeom>
          <a:noFill/>
          <a:ln/>
        </p:spPr>
        <p:txBody>
          <a:bodyPr wrap="square" lIns="0" tIns="0" rIns="0" bIns="0" rtlCol="0" anchor="ctr"/>
          <a:lstStyle/>
          <a:p>
            <a:pPr marL="0" indent="0">
              <a:buNone/>
            </a:pPr>
            <a:r>
              <a:rPr lang="en-US" sz="1400" b="1" dirty="0">
                <a:solidFill>
                  <a:srgbClr val="DC2626"/>
                </a:solidFill>
                <a:latin typeface="Calibri" pitchFamily="34" charset="0"/>
                <a:ea typeface="Calibri" pitchFamily="34" charset="-122"/>
                <a:cs typeface="Calibri" pitchFamily="34" charset="-120"/>
              </a:rPr>
              <a:t>05</a:t>
            </a:r>
            <a:endParaRPr lang="en-US" sz="1400" dirty="0"/>
          </a:p>
        </p:txBody>
      </p:sp>
      <p:sp>
        <p:nvSpPr>
          <p:cNvPr id="28" name="Text 26"/>
          <p:cNvSpPr/>
          <p:nvPr/>
        </p:nvSpPr>
        <p:spPr>
          <a:xfrm>
            <a:off x="5166360" y="4251960"/>
            <a:ext cx="2834640" cy="64008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Ignorer le partenaire humain</a:t>
            </a:r>
            <a:endParaRPr lang="en-US" sz="1400" dirty="0"/>
          </a:p>
        </p:txBody>
      </p:sp>
      <p:sp>
        <p:nvSpPr>
          <p:cNvPr id="29" name="Text 27"/>
          <p:cNvSpPr/>
          <p:nvPr/>
        </p:nvSpPr>
        <p:spPr>
          <a:xfrm>
            <a:off x="4617720" y="4937760"/>
            <a:ext cx="3337560" cy="118872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Une DCR c'est 20 % tech, 80 % relation partenaire. Investissez dans le contract + l'align.</a:t>
            </a:r>
            <a:endParaRPr lang="en-US" sz="1100" dirty="0"/>
          </a:p>
        </p:txBody>
      </p:sp>
      <p:sp>
        <p:nvSpPr>
          <p:cNvPr id="30" name="Shape 28"/>
          <p:cNvSpPr/>
          <p:nvPr/>
        </p:nvSpPr>
        <p:spPr>
          <a:xfrm>
            <a:off x="8229600" y="4069080"/>
            <a:ext cx="3611880" cy="210312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31" name="Shape 29"/>
          <p:cNvSpPr/>
          <p:nvPr/>
        </p:nvSpPr>
        <p:spPr>
          <a:xfrm>
            <a:off x="8229600" y="4069080"/>
            <a:ext cx="3611880" cy="109728"/>
          </a:xfrm>
          <a:prstGeom prst="rect">
            <a:avLst/>
          </a:prstGeom>
          <a:solidFill>
            <a:srgbClr val="DC2626"/>
          </a:solidFill>
          <a:ln w="12700">
            <a:solidFill>
              <a:srgbClr val="DC2626"/>
            </a:solidFill>
            <a:prstDash val="solid"/>
          </a:ln>
        </p:spPr>
      </p:sp>
      <p:sp>
        <p:nvSpPr>
          <p:cNvPr id="32" name="Text 30"/>
          <p:cNvSpPr/>
          <p:nvPr/>
        </p:nvSpPr>
        <p:spPr>
          <a:xfrm>
            <a:off x="8412480" y="4251960"/>
            <a:ext cx="548640" cy="320040"/>
          </a:xfrm>
          <a:prstGeom prst="rect">
            <a:avLst/>
          </a:prstGeom>
          <a:noFill/>
          <a:ln/>
        </p:spPr>
        <p:txBody>
          <a:bodyPr wrap="square" lIns="0" tIns="0" rIns="0" bIns="0" rtlCol="0" anchor="ctr"/>
          <a:lstStyle/>
          <a:p>
            <a:pPr marL="0" indent="0">
              <a:buNone/>
            </a:pPr>
            <a:r>
              <a:rPr lang="en-US" sz="1400" b="1" dirty="0">
                <a:solidFill>
                  <a:srgbClr val="DC2626"/>
                </a:solidFill>
                <a:latin typeface="Calibri" pitchFamily="34" charset="0"/>
                <a:ea typeface="Calibri" pitchFamily="34" charset="-122"/>
                <a:cs typeface="Calibri" pitchFamily="34" charset="-120"/>
              </a:rPr>
              <a:t>06</a:t>
            </a:r>
            <a:endParaRPr lang="en-US" sz="1400" dirty="0"/>
          </a:p>
        </p:txBody>
      </p:sp>
      <p:sp>
        <p:nvSpPr>
          <p:cNvPr id="33" name="Text 31"/>
          <p:cNvSpPr/>
          <p:nvPr/>
        </p:nvSpPr>
        <p:spPr>
          <a:xfrm>
            <a:off x="8961120" y="4251960"/>
            <a:ext cx="2834640" cy="64008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Ne pas prévoir le scale-up</a:t>
            </a:r>
            <a:endParaRPr lang="en-US" sz="1400" dirty="0"/>
          </a:p>
        </p:txBody>
      </p:sp>
      <p:sp>
        <p:nvSpPr>
          <p:cNvPr id="34" name="Text 32"/>
          <p:cNvSpPr/>
          <p:nvPr/>
        </p:nvSpPr>
        <p:spPr>
          <a:xfrm>
            <a:off x="8412480" y="4937760"/>
            <a:ext cx="3337560" cy="118872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Un POC qui marche doit avoir un chemin vers la prod. Anticipez budget, équipe, roadmap.</a:t>
            </a:r>
            <a:endParaRPr lang="en-US" sz="1100" dirty="0"/>
          </a:p>
        </p:txBody>
      </p:sp>
      <p:sp>
        <p:nvSpPr>
          <p:cNvPr id="35" name="Shape 33"/>
          <p:cNvSpPr/>
          <p:nvPr/>
        </p:nvSpPr>
        <p:spPr>
          <a:xfrm>
            <a:off x="0" y="6583680"/>
            <a:ext cx="12191695" cy="274320"/>
          </a:xfrm>
          <a:prstGeom prst="rect">
            <a:avLst/>
          </a:prstGeom>
          <a:solidFill>
            <a:srgbClr val="0B1F3A"/>
          </a:solidFill>
          <a:ln w="12700">
            <a:solidFill>
              <a:srgbClr val="0B1F3A"/>
            </a:solidFill>
            <a:prstDash val="solid"/>
          </a:ln>
        </p:spPr>
      </p:sp>
      <p:sp>
        <p:nvSpPr>
          <p:cNvPr id="36" name="Text 34"/>
          <p:cNvSpPr/>
          <p:nvPr/>
        </p:nvSpPr>
        <p:spPr>
          <a:xfrm>
            <a:off x="365760" y="6601968"/>
            <a:ext cx="822960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Session 4  Activer &amp; Implémenter</a:t>
            </a:r>
            <a:endParaRPr lang="en-US" sz="1000" dirty="0"/>
          </a:p>
        </p:txBody>
      </p:sp>
      <p:sp>
        <p:nvSpPr>
          <p:cNvPr id="37" name="Text 35"/>
          <p:cNvSpPr/>
          <p:nvPr/>
        </p:nvSpPr>
        <p:spPr>
          <a:xfrm>
            <a:off x="11551615" y="6601968"/>
            <a:ext cx="365760" cy="237744"/>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49</a:t>
            </a:r>
            <a:endParaRPr lang="en-US" sz="10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51">
    <p:bg>
      <p:bgPr>
        <a:solidFill>
          <a:srgbClr val="F5F8FC"/>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731520"/>
          </a:xfrm>
          <a:prstGeom prst="rect">
            <a:avLst/>
          </a:prstGeom>
          <a:noFill/>
          <a:ln/>
        </p:spPr>
        <p:txBody>
          <a:bodyPr wrap="square" lIns="0" tIns="0" rIns="0" bIns="0" rtlCol="0" anchor="ctr"/>
          <a:lstStyle/>
          <a:p>
            <a:pPr marL="0" indent="0" algn="l">
              <a:buNone/>
            </a:pPr>
            <a:r>
              <a:rPr lang="en-US" sz="3200" b="1" dirty="0">
                <a:solidFill>
                  <a:srgbClr val="0B1F3A"/>
                </a:solidFill>
                <a:latin typeface="Calibri" pitchFamily="34" charset="0"/>
                <a:ea typeface="Calibri" pitchFamily="34" charset="-122"/>
                <a:cs typeface="Calibri" pitchFamily="34" charset="-120"/>
              </a:rPr>
              <a:t>Le cadre juridique en 1 slide</a:t>
            </a:r>
            <a:endParaRPr lang="en-US" sz="3200" dirty="0"/>
          </a:p>
        </p:txBody>
      </p:sp>
      <p:sp>
        <p:nvSpPr>
          <p:cNvPr id="3" name="Shape 1"/>
          <p:cNvSpPr/>
          <p:nvPr/>
        </p:nvSpPr>
        <p:spPr>
          <a:xfrm>
            <a:off x="548640" y="1005840"/>
            <a:ext cx="548640" cy="73152"/>
          </a:xfrm>
          <a:prstGeom prst="rect">
            <a:avLst/>
          </a:prstGeom>
          <a:solidFill>
            <a:srgbClr val="F96167"/>
          </a:solidFill>
          <a:ln w="12700">
            <a:solidFill>
              <a:srgbClr val="F96167"/>
            </a:solidFill>
            <a:prstDash val="solid"/>
          </a:ln>
        </p:spPr>
      </p:sp>
      <p:sp>
        <p:nvSpPr>
          <p:cNvPr id="4" name="Text 2"/>
          <p:cNvSpPr/>
          <p:nvPr/>
        </p:nvSpPr>
        <p:spPr>
          <a:xfrm>
            <a:off x="548640" y="1143000"/>
            <a:ext cx="11064240" cy="411480"/>
          </a:xfrm>
          <a:prstGeom prst="rect">
            <a:avLst/>
          </a:prstGeom>
          <a:noFill/>
          <a:ln/>
        </p:spPr>
        <p:txBody>
          <a:bodyPr wrap="square" lIns="0" tIns="0" rIns="0" bIns="0" rtlCol="0" anchor="ctr"/>
          <a:lstStyle/>
          <a:p>
            <a:pPr marL="0" indent="0" algn="l">
              <a:buNone/>
            </a:pPr>
            <a:r>
              <a:rPr lang="en-US" sz="1600" i="1" dirty="0">
                <a:solidFill>
                  <a:srgbClr val="1C7293"/>
                </a:solidFill>
                <a:latin typeface="Calibri" pitchFamily="34" charset="0"/>
                <a:ea typeface="Calibri" pitchFamily="34" charset="-122"/>
                <a:cs typeface="Calibri" pitchFamily="34" charset="-120"/>
              </a:rPr>
              <a:t>Ce que votre DPO veut entendre quand vous arrivez avec un projet DCR.</a:t>
            </a:r>
            <a:endParaRPr lang="en-US" sz="1600" dirty="0"/>
          </a:p>
        </p:txBody>
      </p:sp>
      <p:sp>
        <p:nvSpPr>
          <p:cNvPr id="5" name="Shape 3"/>
          <p:cNvSpPr/>
          <p:nvPr/>
        </p:nvSpPr>
        <p:spPr>
          <a:xfrm>
            <a:off x="640080" y="1783080"/>
            <a:ext cx="5440680" cy="137160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6" name="Shape 4"/>
          <p:cNvSpPr/>
          <p:nvPr/>
        </p:nvSpPr>
        <p:spPr>
          <a:xfrm>
            <a:off x="640080" y="1783080"/>
            <a:ext cx="109728" cy="1371600"/>
          </a:xfrm>
          <a:prstGeom prst="rect">
            <a:avLst/>
          </a:prstGeom>
          <a:solidFill>
            <a:srgbClr val="065A82"/>
          </a:solidFill>
          <a:ln w="12700">
            <a:solidFill>
              <a:srgbClr val="065A82"/>
            </a:solidFill>
            <a:prstDash val="solid"/>
          </a:ln>
        </p:spPr>
      </p:sp>
      <p:sp>
        <p:nvSpPr>
          <p:cNvPr id="7" name="Text 5"/>
          <p:cNvSpPr/>
          <p:nvPr/>
        </p:nvSpPr>
        <p:spPr>
          <a:xfrm>
            <a:off x="868680" y="1920240"/>
            <a:ext cx="5120640" cy="365760"/>
          </a:xfrm>
          <a:prstGeom prst="rect">
            <a:avLst/>
          </a:prstGeom>
          <a:noFill/>
          <a:ln/>
        </p:spPr>
        <p:txBody>
          <a:bodyPr wrap="square" lIns="0" tIns="0" rIns="0" bIns="0" rtlCol="0" anchor="ctr"/>
          <a:lstStyle/>
          <a:p>
            <a:pPr marL="0" indent="0">
              <a:buNone/>
            </a:pPr>
            <a:r>
              <a:rPr lang="en-US" sz="1400" b="1" kern="0" spc="100" dirty="0">
                <a:solidFill>
                  <a:srgbClr val="065A82"/>
                </a:solidFill>
                <a:latin typeface="Calibri" pitchFamily="34" charset="0"/>
                <a:ea typeface="Calibri" pitchFamily="34" charset="-122"/>
                <a:cs typeface="Calibri" pitchFamily="34" charset="-120"/>
              </a:rPr>
              <a:t>RGPD Art. 28</a:t>
            </a:r>
            <a:endParaRPr lang="en-US" sz="1400" dirty="0"/>
          </a:p>
        </p:txBody>
      </p:sp>
      <p:sp>
        <p:nvSpPr>
          <p:cNvPr id="8" name="Text 6"/>
          <p:cNvSpPr/>
          <p:nvPr/>
        </p:nvSpPr>
        <p:spPr>
          <a:xfrm>
            <a:off x="868680" y="2286000"/>
            <a:ext cx="5120640" cy="822960"/>
          </a:xfrm>
          <a:prstGeom prst="rect">
            <a:avLst/>
          </a:prstGeom>
          <a:noFill/>
          <a:ln/>
        </p:spPr>
        <p:txBody>
          <a:bodyPr wrap="square" lIns="0" tIns="0" rIns="0" bIns="0" rtlCol="0" anchor="t"/>
          <a:lstStyle/>
          <a:p>
            <a:pPr marL="0" indent="0">
              <a:buNone/>
            </a:pPr>
            <a:r>
              <a:rPr lang="en-US" sz="1200" dirty="0">
                <a:solidFill>
                  <a:srgbClr val="1E293B"/>
                </a:solidFill>
                <a:latin typeface="Calibri" pitchFamily="34" charset="0"/>
                <a:ea typeface="Calibri" pitchFamily="34" charset="-122"/>
                <a:cs typeface="Calibri" pitchFamily="34" charset="-120"/>
              </a:rPr>
              <a:t>Le provider DCR est votre « processeur ». Exige un DPA signé qui précise rôle, périmètre et sécurité.</a:t>
            </a:r>
            <a:endParaRPr lang="en-US" sz="1200" dirty="0"/>
          </a:p>
        </p:txBody>
      </p:sp>
      <p:sp>
        <p:nvSpPr>
          <p:cNvPr id="9" name="Shape 7"/>
          <p:cNvSpPr/>
          <p:nvPr/>
        </p:nvSpPr>
        <p:spPr>
          <a:xfrm>
            <a:off x="6263640" y="1783080"/>
            <a:ext cx="5440680" cy="137160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10" name="Shape 8"/>
          <p:cNvSpPr/>
          <p:nvPr/>
        </p:nvSpPr>
        <p:spPr>
          <a:xfrm>
            <a:off x="6263640" y="1783080"/>
            <a:ext cx="109728" cy="1371600"/>
          </a:xfrm>
          <a:prstGeom prst="rect">
            <a:avLst/>
          </a:prstGeom>
          <a:solidFill>
            <a:srgbClr val="065A82"/>
          </a:solidFill>
          <a:ln w="12700">
            <a:solidFill>
              <a:srgbClr val="065A82"/>
            </a:solidFill>
            <a:prstDash val="solid"/>
          </a:ln>
        </p:spPr>
      </p:sp>
      <p:sp>
        <p:nvSpPr>
          <p:cNvPr id="11" name="Text 9"/>
          <p:cNvSpPr/>
          <p:nvPr/>
        </p:nvSpPr>
        <p:spPr>
          <a:xfrm>
            <a:off x="6492240" y="1920240"/>
            <a:ext cx="5120640" cy="365760"/>
          </a:xfrm>
          <a:prstGeom prst="rect">
            <a:avLst/>
          </a:prstGeom>
          <a:noFill/>
          <a:ln/>
        </p:spPr>
        <p:txBody>
          <a:bodyPr wrap="square" lIns="0" tIns="0" rIns="0" bIns="0" rtlCol="0" anchor="ctr"/>
          <a:lstStyle/>
          <a:p>
            <a:pPr marL="0" indent="0">
              <a:buNone/>
            </a:pPr>
            <a:r>
              <a:rPr lang="en-US" sz="1400" b="1" kern="0" spc="100" dirty="0">
                <a:solidFill>
                  <a:srgbClr val="065A82"/>
                </a:solidFill>
                <a:latin typeface="Calibri" pitchFamily="34" charset="0"/>
                <a:ea typeface="Calibri" pitchFamily="34" charset="-122"/>
                <a:cs typeface="Calibri" pitchFamily="34" charset="-120"/>
              </a:rPr>
              <a:t>RGPD Art. 6.1.f</a:t>
            </a:r>
            <a:endParaRPr lang="en-US" sz="1400" dirty="0"/>
          </a:p>
        </p:txBody>
      </p:sp>
      <p:sp>
        <p:nvSpPr>
          <p:cNvPr id="12" name="Text 10"/>
          <p:cNvSpPr/>
          <p:nvPr/>
        </p:nvSpPr>
        <p:spPr>
          <a:xfrm>
            <a:off x="6492240" y="2286000"/>
            <a:ext cx="5120640" cy="822960"/>
          </a:xfrm>
          <a:prstGeom prst="rect">
            <a:avLst/>
          </a:prstGeom>
          <a:noFill/>
          <a:ln/>
        </p:spPr>
        <p:txBody>
          <a:bodyPr wrap="square" lIns="0" tIns="0" rIns="0" bIns="0" rtlCol="0" anchor="t"/>
          <a:lstStyle/>
          <a:p>
            <a:pPr marL="0" indent="0">
              <a:buNone/>
            </a:pPr>
            <a:r>
              <a:rPr lang="en-US" sz="1200" dirty="0">
                <a:solidFill>
                  <a:srgbClr val="1E293B"/>
                </a:solidFill>
                <a:latin typeface="Calibri" pitchFamily="34" charset="0"/>
                <a:ea typeface="Calibri" pitchFamily="34" charset="-122"/>
                <a:cs typeface="Calibri" pitchFamily="34" charset="-120"/>
              </a:rPr>
              <a:t>Base légale : intérêt légitime. À documenter dans un LIA (Legitimate Interest Assessment).</a:t>
            </a:r>
            <a:endParaRPr lang="en-US" sz="1200" dirty="0"/>
          </a:p>
        </p:txBody>
      </p:sp>
      <p:sp>
        <p:nvSpPr>
          <p:cNvPr id="13" name="Shape 11"/>
          <p:cNvSpPr/>
          <p:nvPr/>
        </p:nvSpPr>
        <p:spPr>
          <a:xfrm>
            <a:off x="640080" y="3291840"/>
            <a:ext cx="5440680" cy="137160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14" name="Shape 12"/>
          <p:cNvSpPr/>
          <p:nvPr/>
        </p:nvSpPr>
        <p:spPr>
          <a:xfrm>
            <a:off x="640080" y="3291840"/>
            <a:ext cx="109728" cy="1371600"/>
          </a:xfrm>
          <a:prstGeom prst="rect">
            <a:avLst/>
          </a:prstGeom>
          <a:solidFill>
            <a:srgbClr val="065A82"/>
          </a:solidFill>
          <a:ln w="12700">
            <a:solidFill>
              <a:srgbClr val="065A82"/>
            </a:solidFill>
            <a:prstDash val="solid"/>
          </a:ln>
        </p:spPr>
      </p:sp>
      <p:sp>
        <p:nvSpPr>
          <p:cNvPr id="15" name="Text 13"/>
          <p:cNvSpPr/>
          <p:nvPr/>
        </p:nvSpPr>
        <p:spPr>
          <a:xfrm>
            <a:off x="868680" y="3429000"/>
            <a:ext cx="5120640" cy="365760"/>
          </a:xfrm>
          <a:prstGeom prst="rect">
            <a:avLst/>
          </a:prstGeom>
          <a:noFill/>
          <a:ln/>
        </p:spPr>
        <p:txBody>
          <a:bodyPr wrap="square" lIns="0" tIns="0" rIns="0" bIns="0" rtlCol="0" anchor="ctr"/>
          <a:lstStyle/>
          <a:p>
            <a:pPr marL="0" indent="0">
              <a:buNone/>
            </a:pPr>
            <a:r>
              <a:rPr lang="en-US" sz="1400" b="1" kern="0" spc="100" dirty="0">
                <a:solidFill>
                  <a:srgbClr val="065A82"/>
                </a:solidFill>
                <a:latin typeface="Calibri" pitchFamily="34" charset="0"/>
                <a:ea typeface="Calibri" pitchFamily="34" charset="-122"/>
                <a:cs typeface="Calibri" pitchFamily="34" charset="-120"/>
              </a:rPr>
              <a:t>k-</a:t>
            </a:r>
            <a:r>
              <a:rPr lang="en-US" sz="1400" b="1" kern="0" spc="100" dirty="0" err="1">
                <a:solidFill>
                  <a:srgbClr val="065A82"/>
                </a:solidFill>
                <a:latin typeface="Calibri" pitchFamily="34" charset="0"/>
                <a:ea typeface="Calibri" pitchFamily="34" charset="-122"/>
                <a:cs typeface="Calibri" pitchFamily="34" charset="-120"/>
              </a:rPr>
              <a:t>anonymat</a:t>
            </a:r>
            <a:r>
              <a:rPr lang="en-US" sz="1400" b="1" kern="0" spc="100" dirty="0">
                <a:solidFill>
                  <a:srgbClr val="065A82"/>
                </a:solidFill>
                <a:latin typeface="Calibri" pitchFamily="34" charset="0"/>
                <a:ea typeface="Calibri" pitchFamily="34" charset="-122"/>
                <a:cs typeface="Calibri" pitchFamily="34" charset="-120"/>
              </a:rPr>
              <a:t> &gt; 50</a:t>
            </a:r>
            <a:endParaRPr lang="en-US" sz="1400" dirty="0"/>
          </a:p>
        </p:txBody>
      </p:sp>
      <p:sp>
        <p:nvSpPr>
          <p:cNvPr id="16" name="Text 14"/>
          <p:cNvSpPr/>
          <p:nvPr/>
        </p:nvSpPr>
        <p:spPr>
          <a:xfrm>
            <a:off x="868680" y="3794760"/>
            <a:ext cx="5120640" cy="822960"/>
          </a:xfrm>
          <a:prstGeom prst="rect">
            <a:avLst/>
          </a:prstGeom>
          <a:noFill/>
          <a:ln/>
        </p:spPr>
        <p:txBody>
          <a:bodyPr wrap="square" lIns="0" tIns="0" rIns="0" bIns="0" rtlCol="0" anchor="t"/>
          <a:lstStyle/>
          <a:p>
            <a:pPr marL="0" indent="0">
              <a:buNone/>
            </a:pPr>
            <a:r>
              <a:rPr lang="en-US" sz="1200" dirty="0">
                <a:solidFill>
                  <a:srgbClr val="1E293B"/>
                </a:solidFill>
                <a:latin typeface="Calibri" pitchFamily="34" charset="0"/>
                <a:ea typeface="Calibri" pitchFamily="34" charset="-122"/>
                <a:cs typeface="Calibri" pitchFamily="34" charset="-120"/>
              </a:rPr>
              <a:t>Aucun agrégat avec moins de 50 individus (souvent 100). Paramétré dans les analysis rules.</a:t>
            </a:r>
            <a:endParaRPr lang="en-US" sz="1200" dirty="0"/>
          </a:p>
        </p:txBody>
      </p:sp>
      <p:sp>
        <p:nvSpPr>
          <p:cNvPr id="17" name="Shape 15"/>
          <p:cNvSpPr/>
          <p:nvPr/>
        </p:nvSpPr>
        <p:spPr>
          <a:xfrm>
            <a:off x="6263640" y="3291840"/>
            <a:ext cx="5440680" cy="137160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18" name="Shape 16"/>
          <p:cNvSpPr/>
          <p:nvPr/>
        </p:nvSpPr>
        <p:spPr>
          <a:xfrm>
            <a:off x="6263640" y="3291840"/>
            <a:ext cx="109728" cy="1371600"/>
          </a:xfrm>
          <a:prstGeom prst="rect">
            <a:avLst/>
          </a:prstGeom>
          <a:solidFill>
            <a:srgbClr val="065A82"/>
          </a:solidFill>
          <a:ln w="12700">
            <a:solidFill>
              <a:srgbClr val="065A82"/>
            </a:solidFill>
            <a:prstDash val="solid"/>
          </a:ln>
        </p:spPr>
      </p:sp>
      <p:sp>
        <p:nvSpPr>
          <p:cNvPr id="19" name="Text 17"/>
          <p:cNvSpPr/>
          <p:nvPr/>
        </p:nvSpPr>
        <p:spPr>
          <a:xfrm>
            <a:off x="6492240" y="3429000"/>
            <a:ext cx="5120640" cy="365760"/>
          </a:xfrm>
          <a:prstGeom prst="rect">
            <a:avLst/>
          </a:prstGeom>
          <a:noFill/>
          <a:ln/>
        </p:spPr>
        <p:txBody>
          <a:bodyPr wrap="square" lIns="0" tIns="0" rIns="0" bIns="0" rtlCol="0" anchor="ctr"/>
          <a:lstStyle/>
          <a:p>
            <a:pPr marL="0" indent="0">
              <a:buNone/>
            </a:pPr>
            <a:r>
              <a:rPr lang="en-US" sz="1400" b="1" kern="0" spc="100" dirty="0">
                <a:solidFill>
                  <a:srgbClr val="065A82"/>
                </a:solidFill>
                <a:latin typeface="Calibri" pitchFamily="34" charset="0"/>
                <a:ea typeface="Calibri" pitchFamily="34" charset="-122"/>
                <a:cs typeface="Calibri" pitchFamily="34" charset="-120"/>
              </a:rPr>
              <a:t>Pas de données spéciales</a:t>
            </a:r>
            <a:endParaRPr lang="en-US" sz="1400" dirty="0"/>
          </a:p>
        </p:txBody>
      </p:sp>
      <p:sp>
        <p:nvSpPr>
          <p:cNvPr id="20" name="Text 18"/>
          <p:cNvSpPr/>
          <p:nvPr/>
        </p:nvSpPr>
        <p:spPr>
          <a:xfrm>
            <a:off x="6492240" y="3794760"/>
            <a:ext cx="5120640" cy="822960"/>
          </a:xfrm>
          <a:prstGeom prst="rect">
            <a:avLst/>
          </a:prstGeom>
          <a:noFill/>
          <a:ln/>
        </p:spPr>
        <p:txBody>
          <a:bodyPr wrap="square" lIns="0" tIns="0" rIns="0" bIns="0" rtlCol="0" anchor="t"/>
          <a:lstStyle/>
          <a:p>
            <a:pPr marL="0" indent="0">
              <a:buNone/>
            </a:pPr>
            <a:r>
              <a:rPr lang="en-US" sz="1200" dirty="0">
                <a:solidFill>
                  <a:srgbClr val="1E293B"/>
                </a:solidFill>
                <a:latin typeface="Calibri" pitchFamily="34" charset="0"/>
                <a:ea typeface="Calibri" pitchFamily="34" charset="-122"/>
                <a:cs typeface="Calibri" pitchFamily="34" charset="-120"/>
              </a:rPr>
              <a:t>Pas de santé, religion, orientation... sauf base légale explicite (rarement le cas en marketing).</a:t>
            </a:r>
            <a:endParaRPr lang="en-US" sz="1200" dirty="0"/>
          </a:p>
        </p:txBody>
      </p:sp>
      <p:sp>
        <p:nvSpPr>
          <p:cNvPr id="21" name="Shape 19"/>
          <p:cNvSpPr/>
          <p:nvPr/>
        </p:nvSpPr>
        <p:spPr>
          <a:xfrm>
            <a:off x="640080" y="4800600"/>
            <a:ext cx="5440680" cy="137160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22" name="Shape 20"/>
          <p:cNvSpPr/>
          <p:nvPr/>
        </p:nvSpPr>
        <p:spPr>
          <a:xfrm>
            <a:off x="640080" y="4800600"/>
            <a:ext cx="109728" cy="1371600"/>
          </a:xfrm>
          <a:prstGeom prst="rect">
            <a:avLst/>
          </a:prstGeom>
          <a:solidFill>
            <a:srgbClr val="065A82"/>
          </a:solidFill>
          <a:ln w="12700">
            <a:solidFill>
              <a:srgbClr val="065A82"/>
            </a:solidFill>
            <a:prstDash val="solid"/>
          </a:ln>
        </p:spPr>
      </p:sp>
      <p:sp>
        <p:nvSpPr>
          <p:cNvPr id="23" name="Text 21"/>
          <p:cNvSpPr/>
          <p:nvPr/>
        </p:nvSpPr>
        <p:spPr>
          <a:xfrm>
            <a:off x="868680" y="4937760"/>
            <a:ext cx="5120640" cy="365760"/>
          </a:xfrm>
          <a:prstGeom prst="rect">
            <a:avLst/>
          </a:prstGeom>
          <a:noFill/>
          <a:ln/>
        </p:spPr>
        <p:txBody>
          <a:bodyPr wrap="square" lIns="0" tIns="0" rIns="0" bIns="0" rtlCol="0" anchor="ctr"/>
          <a:lstStyle/>
          <a:p>
            <a:pPr marL="0" indent="0">
              <a:buNone/>
            </a:pPr>
            <a:r>
              <a:rPr lang="en-US" sz="1400" b="1" kern="0" spc="100" dirty="0">
                <a:solidFill>
                  <a:srgbClr val="065A82"/>
                </a:solidFill>
                <a:latin typeface="Calibri" pitchFamily="34" charset="0"/>
                <a:ea typeface="Calibri" pitchFamily="34" charset="-122"/>
                <a:cs typeface="Calibri" pitchFamily="34" charset="-120"/>
              </a:rPr>
              <a:t>Audit trail</a:t>
            </a:r>
            <a:endParaRPr lang="en-US" sz="1400" dirty="0"/>
          </a:p>
        </p:txBody>
      </p:sp>
      <p:sp>
        <p:nvSpPr>
          <p:cNvPr id="24" name="Text 22"/>
          <p:cNvSpPr/>
          <p:nvPr/>
        </p:nvSpPr>
        <p:spPr>
          <a:xfrm>
            <a:off x="868680" y="5303520"/>
            <a:ext cx="5120640" cy="822960"/>
          </a:xfrm>
          <a:prstGeom prst="rect">
            <a:avLst/>
          </a:prstGeom>
          <a:noFill/>
          <a:ln/>
        </p:spPr>
        <p:txBody>
          <a:bodyPr wrap="square" lIns="0" tIns="0" rIns="0" bIns="0" rtlCol="0" anchor="t"/>
          <a:lstStyle/>
          <a:p>
            <a:pPr marL="0" indent="0">
              <a:buNone/>
            </a:pPr>
            <a:r>
              <a:rPr lang="en-US" sz="1200" dirty="0">
                <a:solidFill>
                  <a:srgbClr val="1E293B"/>
                </a:solidFill>
                <a:latin typeface="Calibri" pitchFamily="34" charset="0"/>
                <a:ea typeface="Calibri" pitchFamily="34" charset="-122"/>
                <a:cs typeface="Calibri" pitchFamily="34" charset="-120"/>
              </a:rPr>
              <a:t>Toutes les requêtes sont tracées et signées. Conservez 3 ans minimum.</a:t>
            </a:r>
            <a:endParaRPr lang="en-US" sz="1200" dirty="0"/>
          </a:p>
        </p:txBody>
      </p:sp>
      <p:sp>
        <p:nvSpPr>
          <p:cNvPr id="25" name="Shape 23"/>
          <p:cNvSpPr/>
          <p:nvPr/>
        </p:nvSpPr>
        <p:spPr>
          <a:xfrm>
            <a:off x="6263640" y="4800600"/>
            <a:ext cx="5440680" cy="137160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26" name="Shape 24"/>
          <p:cNvSpPr/>
          <p:nvPr/>
        </p:nvSpPr>
        <p:spPr>
          <a:xfrm>
            <a:off x="6263640" y="4800600"/>
            <a:ext cx="109728" cy="1371600"/>
          </a:xfrm>
          <a:prstGeom prst="rect">
            <a:avLst/>
          </a:prstGeom>
          <a:solidFill>
            <a:srgbClr val="065A82"/>
          </a:solidFill>
          <a:ln w="12700">
            <a:solidFill>
              <a:srgbClr val="065A82"/>
            </a:solidFill>
            <a:prstDash val="solid"/>
          </a:ln>
        </p:spPr>
      </p:sp>
      <p:sp>
        <p:nvSpPr>
          <p:cNvPr id="27" name="Text 25"/>
          <p:cNvSpPr/>
          <p:nvPr/>
        </p:nvSpPr>
        <p:spPr>
          <a:xfrm>
            <a:off x="6492240" y="4937760"/>
            <a:ext cx="5120640" cy="365760"/>
          </a:xfrm>
          <a:prstGeom prst="rect">
            <a:avLst/>
          </a:prstGeom>
          <a:noFill/>
          <a:ln/>
        </p:spPr>
        <p:txBody>
          <a:bodyPr wrap="square" lIns="0" tIns="0" rIns="0" bIns="0" rtlCol="0" anchor="ctr"/>
          <a:lstStyle/>
          <a:p>
            <a:pPr marL="0" indent="0">
              <a:buNone/>
            </a:pPr>
            <a:r>
              <a:rPr lang="en-US" sz="1400" b="1" kern="0" spc="100" dirty="0">
                <a:solidFill>
                  <a:srgbClr val="065A82"/>
                </a:solidFill>
                <a:latin typeface="Calibri" pitchFamily="34" charset="0"/>
                <a:ea typeface="Calibri" pitchFamily="34" charset="-122"/>
                <a:cs typeface="Calibri" pitchFamily="34" charset="-120"/>
              </a:rPr>
              <a:t>DPO signature</a:t>
            </a:r>
            <a:endParaRPr lang="en-US" sz="1400" dirty="0"/>
          </a:p>
        </p:txBody>
      </p:sp>
      <p:sp>
        <p:nvSpPr>
          <p:cNvPr id="28" name="Text 26"/>
          <p:cNvSpPr/>
          <p:nvPr/>
        </p:nvSpPr>
        <p:spPr>
          <a:xfrm>
            <a:off x="6492240" y="5303520"/>
            <a:ext cx="5120640" cy="822960"/>
          </a:xfrm>
          <a:prstGeom prst="rect">
            <a:avLst/>
          </a:prstGeom>
          <a:noFill/>
          <a:ln/>
        </p:spPr>
        <p:txBody>
          <a:bodyPr wrap="square" lIns="0" tIns="0" rIns="0" bIns="0" rtlCol="0" anchor="t"/>
          <a:lstStyle/>
          <a:p>
            <a:pPr marL="0" indent="0">
              <a:buNone/>
            </a:pPr>
            <a:r>
              <a:rPr lang="en-US" sz="1200" dirty="0">
                <a:solidFill>
                  <a:srgbClr val="1E293B"/>
                </a:solidFill>
                <a:latin typeface="Calibri" pitchFamily="34" charset="0"/>
                <a:ea typeface="Calibri" pitchFamily="34" charset="-122"/>
                <a:cs typeface="Calibri" pitchFamily="34" charset="-120"/>
              </a:rPr>
              <a:t>Pas de lancement de POC sans signature formelle du DPO. Sécurise toute la chaîne.</a:t>
            </a:r>
            <a:endParaRPr lang="en-US" sz="1200" dirty="0"/>
          </a:p>
        </p:txBody>
      </p:sp>
      <p:sp>
        <p:nvSpPr>
          <p:cNvPr id="29" name="Shape 27"/>
          <p:cNvSpPr/>
          <p:nvPr/>
        </p:nvSpPr>
        <p:spPr>
          <a:xfrm>
            <a:off x="0" y="6583680"/>
            <a:ext cx="12191695" cy="274320"/>
          </a:xfrm>
          <a:prstGeom prst="rect">
            <a:avLst/>
          </a:prstGeom>
          <a:solidFill>
            <a:srgbClr val="0B1F3A"/>
          </a:solidFill>
          <a:ln w="12700">
            <a:solidFill>
              <a:srgbClr val="0B1F3A"/>
            </a:solidFill>
            <a:prstDash val="solid"/>
          </a:ln>
        </p:spPr>
      </p:sp>
      <p:sp>
        <p:nvSpPr>
          <p:cNvPr id="30" name="Text 28"/>
          <p:cNvSpPr/>
          <p:nvPr/>
        </p:nvSpPr>
        <p:spPr>
          <a:xfrm>
            <a:off x="365760" y="6601968"/>
            <a:ext cx="822960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Session 4  Activer &amp; Implémenter</a:t>
            </a:r>
            <a:endParaRPr lang="en-US" sz="1000" dirty="0"/>
          </a:p>
        </p:txBody>
      </p:sp>
      <p:sp>
        <p:nvSpPr>
          <p:cNvPr id="31" name="Text 29"/>
          <p:cNvSpPr/>
          <p:nvPr/>
        </p:nvSpPr>
        <p:spPr>
          <a:xfrm>
            <a:off x="11551615" y="6601968"/>
            <a:ext cx="365760" cy="237744"/>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50</a:t>
            </a:r>
            <a:endParaRPr lang="en-US" sz="10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52">
    <p:bg>
      <p:bgPr>
        <a:solidFill>
          <a:srgbClr val="F5F8FC"/>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731520"/>
          </a:xfrm>
          <a:prstGeom prst="rect">
            <a:avLst/>
          </a:prstGeom>
          <a:noFill/>
          <a:ln/>
        </p:spPr>
        <p:txBody>
          <a:bodyPr wrap="square" lIns="0" tIns="0" rIns="0" bIns="0" rtlCol="0" anchor="ctr"/>
          <a:lstStyle/>
          <a:p>
            <a:pPr marL="0" indent="0" algn="l">
              <a:buNone/>
            </a:pPr>
            <a:r>
              <a:rPr lang="en-US" sz="3200" b="1" dirty="0">
                <a:solidFill>
                  <a:srgbClr val="0B1F3A"/>
                </a:solidFill>
                <a:latin typeface="Calibri" pitchFamily="34" charset="0"/>
                <a:ea typeface="Calibri" pitchFamily="34" charset="-122"/>
                <a:cs typeface="Calibri" pitchFamily="34" charset="-120"/>
              </a:rPr>
              <a:t>Case study  ModeVerte</a:t>
            </a:r>
            <a:endParaRPr lang="en-US" sz="3200" dirty="0"/>
          </a:p>
        </p:txBody>
      </p:sp>
      <p:sp>
        <p:nvSpPr>
          <p:cNvPr id="3" name="Shape 1"/>
          <p:cNvSpPr/>
          <p:nvPr/>
        </p:nvSpPr>
        <p:spPr>
          <a:xfrm>
            <a:off x="548640" y="1005840"/>
            <a:ext cx="548640" cy="73152"/>
          </a:xfrm>
          <a:prstGeom prst="rect">
            <a:avLst/>
          </a:prstGeom>
          <a:solidFill>
            <a:srgbClr val="F96167"/>
          </a:solidFill>
          <a:ln w="12700">
            <a:solidFill>
              <a:srgbClr val="F96167"/>
            </a:solidFill>
            <a:prstDash val="solid"/>
          </a:ln>
        </p:spPr>
      </p:sp>
      <p:sp>
        <p:nvSpPr>
          <p:cNvPr id="4" name="Text 2"/>
          <p:cNvSpPr/>
          <p:nvPr/>
        </p:nvSpPr>
        <p:spPr>
          <a:xfrm>
            <a:off x="548640" y="1143000"/>
            <a:ext cx="11064240" cy="411480"/>
          </a:xfrm>
          <a:prstGeom prst="rect">
            <a:avLst/>
          </a:prstGeom>
          <a:noFill/>
          <a:ln/>
        </p:spPr>
        <p:txBody>
          <a:bodyPr wrap="square" lIns="0" tIns="0" rIns="0" bIns="0" rtlCol="0" anchor="ctr"/>
          <a:lstStyle/>
          <a:p>
            <a:pPr marL="0" indent="0" algn="l">
              <a:buNone/>
            </a:pPr>
            <a:r>
              <a:rPr lang="en-US" sz="1600" i="1" dirty="0">
                <a:solidFill>
                  <a:srgbClr val="1C7293"/>
                </a:solidFill>
                <a:latin typeface="Calibri" pitchFamily="34" charset="0"/>
                <a:ea typeface="Calibri" pitchFamily="34" charset="-122"/>
                <a:cs typeface="Calibri" pitchFamily="34" charset="-120"/>
              </a:rPr>
              <a:t>Exercice fil rouge : appliquez tout ce qu'on a vu à un cas concret.</a:t>
            </a:r>
            <a:endParaRPr lang="en-US" sz="1600" dirty="0"/>
          </a:p>
        </p:txBody>
      </p:sp>
      <p:sp>
        <p:nvSpPr>
          <p:cNvPr id="5" name="Shape 3"/>
          <p:cNvSpPr/>
          <p:nvPr/>
        </p:nvSpPr>
        <p:spPr>
          <a:xfrm>
            <a:off x="640080" y="1783080"/>
            <a:ext cx="5669280" cy="4572000"/>
          </a:xfrm>
          <a:prstGeom prst="rect">
            <a:avLst/>
          </a:prstGeom>
          <a:solidFill>
            <a:srgbClr val="0B1F3A"/>
          </a:solidFill>
          <a:ln w="12700">
            <a:solidFill>
              <a:srgbClr val="0B1F3A"/>
            </a:solidFill>
            <a:prstDash val="solid"/>
          </a:ln>
          <a:effectLst>
            <a:outerShdw blurRad="76200" dist="25400" dir="8100000" algn="bl" rotWithShape="0">
              <a:srgbClr val="000000">
                <a:alpha val="12000"/>
              </a:srgbClr>
            </a:outerShdw>
          </a:effectLst>
        </p:spPr>
      </p:sp>
      <p:sp>
        <p:nvSpPr>
          <p:cNvPr id="6" name="Shape 4"/>
          <p:cNvSpPr/>
          <p:nvPr/>
        </p:nvSpPr>
        <p:spPr>
          <a:xfrm>
            <a:off x="640080" y="1783080"/>
            <a:ext cx="109728" cy="4572000"/>
          </a:xfrm>
          <a:prstGeom prst="rect">
            <a:avLst/>
          </a:prstGeom>
          <a:solidFill>
            <a:srgbClr val="F96167"/>
          </a:solidFill>
          <a:ln w="12700">
            <a:solidFill>
              <a:srgbClr val="F96167"/>
            </a:solidFill>
            <a:prstDash val="solid"/>
          </a:ln>
        </p:spPr>
      </p:sp>
      <p:sp>
        <p:nvSpPr>
          <p:cNvPr id="7" name="Text 5"/>
          <p:cNvSpPr/>
          <p:nvPr/>
        </p:nvSpPr>
        <p:spPr>
          <a:xfrm>
            <a:off x="868680" y="1920240"/>
            <a:ext cx="5029200" cy="320040"/>
          </a:xfrm>
          <a:prstGeom prst="rect">
            <a:avLst/>
          </a:prstGeom>
          <a:noFill/>
          <a:ln/>
        </p:spPr>
        <p:txBody>
          <a:bodyPr wrap="square" lIns="0" tIns="0" rIns="0" bIns="0" rtlCol="0" anchor="ctr"/>
          <a:lstStyle/>
          <a:p>
            <a:pPr marL="0" indent="0">
              <a:buNone/>
            </a:pPr>
            <a:r>
              <a:rPr lang="en-US" sz="1200" b="1" kern="0" spc="200" dirty="0">
                <a:solidFill>
                  <a:srgbClr val="F9B233"/>
                </a:solidFill>
                <a:latin typeface="Calibri" pitchFamily="34" charset="0"/>
                <a:ea typeface="Calibri" pitchFamily="34" charset="-122"/>
                <a:cs typeface="Calibri" pitchFamily="34" charset="-120"/>
              </a:rPr>
              <a:t>LE BRIEF</a:t>
            </a:r>
            <a:endParaRPr lang="en-US" sz="1200" dirty="0"/>
          </a:p>
        </p:txBody>
      </p:sp>
      <p:sp>
        <p:nvSpPr>
          <p:cNvPr id="8" name="Text 6"/>
          <p:cNvSpPr/>
          <p:nvPr/>
        </p:nvSpPr>
        <p:spPr>
          <a:xfrm>
            <a:off x="868680" y="2286000"/>
            <a:ext cx="5440680" cy="3931920"/>
          </a:xfrm>
          <a:prstGeom prst="rect">
            <a:avLst/>
          </a:prstGeom>
          <a:noFill/>
          <a:ln/>
        </p:spPr>
        <p:txBody>
          <a:bodyPr wrap="square" lIns="0" tIns="0" rIns="0" bIns="0" rtlCol="0" anchor="t"/>
          <a:lstStyle/>
          <a:p>
            <a:pPr marL="0" indent="0">
              <a:spcAft>
                <a:spcPts val="400"/>
              </a:spcAft>
              <a:buNone/>
            </a:pPr>
            <a:r>
              <a:rPr lang="en-US" sz="1800" b="1" dirty="0" err="1">
                <a:solidFill>
                  <a:srgbClr val="FFFFFF"/>
                </a:solidFill>
                <a:latin typeface="Calibri" pitchFamily="34" charset="0"/>
                <a:ea typeface="Calibri" pitchFamily="34" charset="-122"/>
                <a:cs typeface="Calibri" pitchFamily="34" charset="-120"/>
              </a:rPr>
              <a:t>ModeVerte</a:t>
            </a:r>
            <a:r>
              <a:rPr lang="en-US" sz="1800" b="1" dirty="0">
                <a:solidFill>
                  <a:srgbClr val="FFFFFF"/>
                </a:solidFill>
                <a:latin typeface="Calibri" pitchFamily="34" charset="0"/>
                <a:ea typeface="Calibri" pitchFamily="34" charset="-122"/>
                <a:cs typeface="Calibri" pitchFamily="34" charset="-120"/>
              </a:rPr>
              <a:t> : </a:t>
            </a:r>
            <a:r>
              <a:rPr lang="en-US" sz="1300" dirty="0">
                <a:solidFill>
                  <a:srgbClr val="FFFFFF"/>
                </a:solidFill>
                <a:latin typeface="Calibri" pitchFamily="34" charset="0"/>
                <a:ea typeface="Calibri" pitchFamily="34" charset="-122"/>
                <a:cs typeface="Calibri" pitchFamily="34" charset="-120"/>
              </a:rPr>
              <a:t>Marque DTC éco-responsable, 450k clients, 22 M€ de CA.</a:t>
            </a:r>
            <a:r>
              <a:rPr lang="en-US" sz="1300" dirty="0">
                <a:solidFill>
                  <a:srgbClr val="000000"/>
                </a:solidFill>
                <a:latin typeface="Calibri" pitchFamily="34" charset="0"/>
                <a:ea typeface="Calibri" pitchFamily="34" charset="-122"/>
                <a:cs typeface="Calibri" pitchFamily="34" charset="-120"/>
              </a:rPr>
              <a:t> </a:t>
            </a:r>
            <a:endParaRPr lang="en-US" sz="1300" dirty="0"/>
          </a:p>
          <a:p>
            <a:pPr marL="0" indent="0">
              <a:spcAft>
                <a:spcPts val="400"/>
              </a:spcAft>
              <a:buNone/>
            </a:pPr>
            <a:r>
              <a:rPr lang="en-US" sz="1300" b="1" dirty="0">
                <a:solidFill>
                  <a:srgbClr val="F9B233"/>
                </a:solidFill>
                <a:latin typeface="Calibri" pitchFamily="34" charset="0"/>
                <a:ea typeface="Calibri" pitchFamily="34" charset="-122"/>
                <a:cs typeface="Calibri" pitchFamily="34" charset="-120"/>
              </a:rPr>
              <a:t>CONTEXTE : </a:t>
            </a:r>
            <a:r>
              <a:rPr lang="en-US" sz="1300" dirty="0">
                <a:solidFill>
                  <a:srgbClr val="FFFFFF"/>
                </a:solidFill>
                <a:latin typeface="Calibri" pitchFamily="34" charset="0"/>
                <a:ea typeface="Calibri" pitchFamily="34" charset="-122"/>
                <a:cs typeface="Calibri" pitchFamily="34" charset="-120"/>
              </a:rPr>
              <a:t>acquisition en hausse de 35 % du CAC depuis la fin du cookie Safari. Les campagnes Meta ne "scalent" plus, l'attribution est opaque.</a:t>
            </a:r>
            <a:r>
              <a:rPr lang="en-US" sz="1300" dirty="0">
                <a:solidFill>
                  <a:srgbClr val="000000"/>
                </a:solidFill>
                <a:latin typeface="Calibri" pitchFamily="34" charset="0"/>
                <a:ea typeface="Calibri" pitchFamily="34" charset="-122"/>
                <a:cs typeface="Calibri" pitchFamily="34" charset="-120"/>
              </a:rPr>
              <a:t> </a:t>
            </a:r>
            <a:endParaRPr lang="en-US" sz="1300" dirty="0"/>
          </a:p>
          <a:p>
            <a:pPr marL="0" indent="0">
              <a:spcAft>
                <a:spcPts val="400"/>
              </a:spcAft>
              <a:buNone/>
            </a:pPr>
            <a:r>
              <a:rPr lang="en-US" sz="1300" b="1" dirty="0">
                <a:solidFill>
                  <a:srgbClr val="F9B233"/>
                </a:solidFill>
                <a:latin typeface="Calibri" pitchFamily="34" charset="0"/>
                <a:ea typeface="Calibri" pitchFamily="34" charset="-122"/>
                <a:cs typeface="Calibri" pitchFamily="34" charset="-120"/>
              </a:rPr>
              <a:t>PARTENAIRES POSSIBLES : </a:t>
            </a:r>
            <a:r>
              <a:rPr lang="en-US" sz="1300" dirty="0">
                <a:solidFill>
                  <a:srgbClr val="FFFFFF"/>
                </a:solidFill>
                <a:latin typeface="Calibri" pitchFamily="34" charset="0"/>
                <a:ea typeface="Calibri" pitchFamily="34" charset="-122"/>
                <a:cs typeface="Calibri" pitchFamily="34" charset="-120"/>
              </a:rPr>
              <a:t>un gros retailer bio ("BioPlanet"), un média écolo ("Usbek &amp; Rica"), un DSP CTV.</a:t>
            </a:r>
            <a:r>
              <a:rPr lang="en-US" sz="1300" dirty="0">
                <a:solidFill>
                  <a:srgbClr val="000000"/>
                </a:solidFill>
                <a:latin typeface="Calibri" pitchFamily="34" charset="0"/>
                <a:ea typeface="Calibri" pitchFamily="34" charset="-122"/>
                <a:cs typeface="Calibri" pitchFamily="34" charset="-120"/>
              </a:rPr>
              <a:t> </a:t>
            </a:r>
            <a:endParaRPr lang="en-US" sz="1300" dirty="0"/>
          </a:p>
          <a:p>
            <a:pPr marL="0" indent="0">
              <a:spcAft>
                <a:spcPts val="400"/>
              </a:spcAft>
              <a:buNone/>
            </a:pPr>
            <a:r>
              <a:rPr lang="en-US" sz="1300" b="1" dirty="0">
                <a:solidFill>
                  <a:srgbClr val="F9B233"/>
                </a:solidFill>
                <a:latin typeface="Calibri" pitchFamily="34" charset="0"/>
                <a:ea typeface="Calibri" pitchFamily="34" charset="-122"/>
                <a:cs typeface="Calibri" pitchFamily="34" charset="-120"/>
              </a:rPr>
              <a:t>BUDGET : </a:t>
            </a:r>
            <a:r>
              <a:rPr lang="en-US" sz="1300" dirty="0">
                <a:solidFill>
                  <a:srgbClr val="FFFFFF"/>
                </a:solidFill>
                <a:latin typeface="Calibri" pitchFamily="34" charset="0"/>
                <a:ea typeface="Calibri" pitchFamily="34" charset="-122"/>
                <a:cs typeface="Calibri" pitchFamily="34" charset="-120"/>
              </a:rPr>
              <a:t>60k€ POC + 6 à 8 </a:t>
            </a:r>
            <a:r>
              <a:rPr lang="en-US" sz="1300" dirty="0" err="1">
                <a:solidFill>
                  <a:srgbClr val="FFFFFF"/>
                </a:solidFill>
                <a:latin typeface="Calibri" pitchFamily="34" charset="0"/>
                <a:ea typeface="Calibri" pitchFamily="34" charset="-122"/>
                <a:cs typeface="Calibri" pitchFamily="34" charset="-120"/>
              </a:rPr>
              <a:t>semaines</a:t>
            </a:r>
            <a:r>
              <a:rPr lang="en-US" sz="1300" dirty="0">
                <a:solidFill>
                  <a:srgbClr val="FFFFFF"/>
                </a:solidFill>
                <a:latin typeface="Calibri" pitchFamily="34" charset="0"/>
                <a:ea typeface="Calibri" pitchFamily="34" charset="-122"/>
                <a:cs typeface="Calibri" pitchFamily="34" charset="-120"/>
              </a:rPr>
              <a:t>, max 1 ETP Growth.</a:t>
            </a:r>
            <a:endParaRPr lang="en-US" sz="1300" dirty="0"/>
          </a:p>
        </p:txBody>
      </p:sp>
      <p:sp>
        <p:nvSpPr>
          <p:cNvPr id="9" name="Shape 7"/>
          <p:cNvSpPr/>
          <p:nvPr/>
        </p:nvSpPr>
        <p:spPr>
          <a:xfrm>
            <a:off x="6492240" y="1783080"/>
            <a:ext cx="5212080" cy="457200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10" name="Shape 8"/>
          <p:cNvSpPr/>
          <p:nvPr/>
        </p:nvSpPr>
        <p:spPr>
          <a:xfrm>
            <a:off x="6492240" y="1783080"/>
            <a:ext cx="5212080" cy="109728"/>
          </a:xfrm>
          <a:prstGeom prst="rect">
            <a:avLst/>
          </a:prstGeom>
          <a:solidFill>
            <a:srgbClr val="065A82"/>
          </a:solidFill>
          <a:ln w="12700">
            <a:solidFill>
              <a:srgbClr val="065A82"/>
            </a:solidFill>
            <a:prstDash val="solid"/>
          </a:ln>
        </p:spPr>
      </p:sp>
      <p:sp>
        <p:nvSpPr>
          <p:cNvPr id="11" name="Text 9"/>
          <p:cNvSpPr/>
          <p:nvPr/>
        </p:nvSpPr>
        <p:spPr>
          <a:xfrm>
            <a:off x="6720840" y="1920240"/>
            <a:ext cx="4754880" cy="320040"/>
          </a:xfrm>
          <a:prstGeom prst="rect">
            <a:avLst/>
          </a:prstGeom>
          <a:noFill/>
          <a:ln/>
        </p:spPr>
        <p:txBody>
          <a:bodyPr wrap="square" lIns="0" tIns="0" rIns="0" bIns="0" rtlCol="0" anchor="ctr"/>
          <a:lstStyle/>
          <a:p>
            <a:pPr marL="0" indent="0">
              <a:buNone/>
            </a:pPr>
            <a:r>
              <a:rPr lang="en-US" sz="1200" b="1" kern="0" spc="150" dirty="0">
                <a:solidFill>
                  <a:srgbClr val="F96167"/>
                </a:solidFill>
                <a:latin typeface="Calibri" pitchFamily="34" charset="0"/>
                <a:ea typeface="Calibri" pitchFamily="34" charset="-122"/>
                <a:cs typeface="Calibri" pitchFamily="34" charset="-120"/>
              </a:rPr>
              <a:t>VOTRE MISSION (4 QUESTIONS)</a:t>
            </a:r>
            <a:endParaRPr lang="en-US" sz="1200" dirty="0"/>
          </a:p>
        </p:txBody>
      </p:sp>
      <p:sp>
        <p:nvSpPr>
          <p:cNvPr id="12" name="Shape 10"/>
          <p:cNvSpPr/>
          <p:nvPr/>
        </p:nvSpPr>
        <p:spPr>
          <a:xfrm>
            <a:off x="6675120" y="2331720"/>
            <a:ext cx="4892040" cy="868680"/>
          </a:xfrm>
          <a:prstGeom prst="rect">
            <a:avLst/>
          </a:prstGeom>
          <a:solidFill>
            <a:srgbClr val="F5F8FC"/>
          </a:solidFill>
          <a:ln w="3810">
            <a:solidFill>
              <a:srgbClr val="E2E8F0"/>
            </a:solidFill>
            <a:prstDash val="solid"/>
          </a:ln>
        </p:spPr>
      </p:sp>
      <p:sp>
        <p:nvSpPr>
          <p:cNvPr id="13" name="Text 11"/>
          <p:cNvSpPr/>
          <p:nvPr/>
        </p:nvSpPr>
        <p:spPr>
          <a:xfrm>
            <a:off x="6812280" y="2468880"/>
            <a:ext cx="548640" cy="274320"/>
          </a:xfrm>
          <a:prstGeom prst="rect">
            <a:avLst/>
          </a:prstGeom>
          <a:noFill/>
          <a:ln/>
        </p:spPr>
        <p:txBody>
          <a:bodyPr wrap="square" lIns="0" tIns="0" rIns="0" bIns="0" rtlCol="0" anchor="ctr"/>
          <a:lstStyle/>
          <a:p>
            <a:pPr marL="0" indent="0">
              <a:buNone/>
            </a:pPr>
            <a:r>
              <a:rPr lang="en-US" sz="1300" b="1" dirty="0">
                <a:solidFill>
                  <a:srgbClr val="F96167"/>
                </a:solidFill>
                <a:latin typeface="Calibri" pitchFamily="34" charset="0"/>
                <a:ea typeface="Calibri" pitchFamily="34" charset="-122"/>
                <a:cs typeface="Calibri" pitchFamily="34" charset="-120"/>
              </a:rPr>
              <a:t>Q1.</a:t>
            </a:r>
            <a:endParaRPr lang="en-US" sz="1300" dirty="0"/>
          </a:p>
        </p:txBody>
      </p:sp>
      <p:sp>
        <p:nvSpPr>
          <p:cNvPr id="14" name="Text 12"/>
          <p:cNvSpPr/>
          <p:nvPr/>
        </p:nvSpPr>
        <p:spPr>
          <a:xfrm>
            <a:off x="7360920" y="2441448"/>
            <a:ext cx="4114800" cy="73152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Quel cas d'usage prioritaire pour ModeVerte ? (audience, attribution, incrémentalité ou insights)  justifiez.</a:t>
            </a:r>
            <a:endParaRPr lang="en-US" sz="1100" dirty="0"/>
          </a:p>
        </p:txBody>
      </p:sp>
      <p:sp>
        <p:nvSpPr>
          <p:cNvPr id="15" name="Shape 13"/>
          <p:cNvSpPr/>
          <p:nvPr/>
        </p:nvSpPr>
        <p:spPr>
          <a:xfrm>
            <a:off x="6675120" y="3291840"/>
            <a:ext cx="4892040" cy="868680"/>
          </a:xfrm>
          <a:prstGeom prst="rect">
            <a:avLst/>
          </a:prstGeom>
          <a:solidFill>
            <a:srgbClr val="F5F8FC"/>
          </a:solidFill>
          <a:ln w="3810">
            <a:solidFill>
              <a:srgbClr val="E2E8F0"/>
            </a:solidFill>
            <a:prstDash val="solid"/>
          </a:ln>
        </p:spPr>
      </p:sp>
      <p:sp>
        <p:nvSpPr>
          <p:cNvPr id="16" name="Text 14"/>
          <p:cNvSpPr/>
          <p:nvPr/>
        </p:nvSpPr>
        <p:spPr>
          <a:xfrm>
            <a:off x="6812280" y="3429000"/>
            <a:ext cx="548640" cy="274320"/>
          </a:xfrm>
          <a:prstGeom prst="rect">
            <a:avLst/>
          </a:prstGeom>
          <a:noFill/>
          <a:ln/>
        </p:spPr>
        <p:txBody>
          <a:bodyPr wrap="square" lIns="0" tIns="0" rIns="0" bIns="0" rtlCol="0" anchor="ctr"/>
          <a:lstStyle/>
          <a:p>
            <a:pPr marL="0" indent="0">
              <a:buNone/>
            </a:pPr>
            <a:r>
              <a:rPr lang="en-US" sz="1300" b="1" dirty="0">
                <a:solidFill>
                  <a:srgbClr val="F96167"/>
                </a:solidFill>
                <a:latin typeface="Calibri" pitchFamily="34" charset="0"/>
                <a:ea typeface="Calibri" pitchFamily="34" charset="-122"/>
                <a:cs typeface="Calibri" pitchFamily="34" charset="-120"/>
              </a:rPr>
              <a:t>Q2.</a:t>
            </a:r>
            <a:endParaRPr lang="en-US" sz="1300" dirty="0"/>
          </a:p>
        </p:txBody>
      </p:sp>
      <p:sp>
        <p:nvSpPr>
          <p:cNvPr id="17" name="Text 15"/>
          <p:cNvSpPr/>
          <p:nvPr/>
        </p:nvSpPr>
        <p:spPr>
          <a:xfrm>
            <a:off x="7360920" y="3401568"/>
            <a:ext cx="4114800" cy="73152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Quel provider DCR choisissez-vous et pourquoi ? (contraintes : petit budget, pas de DSI, besoin no-code)</a:t>
            </a:r>
            <a:endParaRPr lang="en-US" sz="1100" dirty="0"/>
          </a:p>
        </p:txBody>
      </p:sp>
      <p:sp>
        <p:nvSpPr>
          <p:cNvPr id="18" name="Shape 16"/>
          <p:cNvSpPr/>
          <p:nvPr/>
        </p:nvSpPr>
        <p:spPr>
          <a:xfrm>
            <a:off x="6675120" y="4251960"/>
            <a:ext cx="4892040" cy="868680"/>
          </a:xfrm>
          <a:prstGeom prst="rect">
            <a:avLst/>
          </a:prstGeom>
          <a:solidFill>
            <a:srgbClr val="F5F8FC"/>
          </a:solidFill>
          <a:ln w="3810">
            <a:solidFill>
              <a:srgbClr val="E2E8F0"/>
            </a:solidFill>
            <a:prstDash val="solid"/>
          </a:ln>
        </p:spPr>
      </p:sp>
      <p:sp>
        <p:nvSpPr>
          <p:cNvPr id="19" name="Text 17"/>
          <p:cNvSpPr/>
          <p:nvPr/>
        </p:nvSpPr>
        <p:spPr>
          <a:xfrm>
            <a:off x="6812280" y="4389120"/>
            <a:ext cx="548640" cy="274320"/>
          </a:xfrm>
          <a:prstGeom prst="rect">
            <a:avLst/>
          </a:prstGeom>
          <a:noFill/>
          <a:ln/>
        </p:spPr>
        <p:txBody>
          <a:bodyPr wrap="square" lIns="0" tIns="0" rIns="0" bIns="0" rtlCol="0" anchor="ctr"/>
          <a:lstStyle/>
          <a:p>
            <a:pPr marL="0" indent="0">
              <a:buNone/>
            </a:pPr>
            <a:r>
              <a:rPr lang="en-US" sz="1300" b="1" dirty="0">
                <a:solidFill>
                  <a:srgbClr val="F96167"/>
                </a:solidFill>
                <a:latin typeface="Calibri" pitchFamily="34" charset="0"/>
                <a:ea typeface="Calibri" pitchFamily="34" charset="-122"/>
                <a:cs typeface="Calibri" pitchFamily="34" charset="-120"/>
              </a:rPr>
              <a:t>Q3.</a:t>
            </a:r>
            <a:endParaRPr lang="en-US" sz="1300" dirty="0"/>
          </a:p>
        </p:txBody>
      </p:sp>
      <p:sp>
        <p:nvSpPr>
          <p:cNvPr id="20" name="Text 18"/>
          <p:cNvSpPr/>
          <p:nvPr/>
        </p:nvSpPr>
        <p:spPr>
          <a:xfrm>
            <a:off x="7360920" y="4361688"/>
            <a:ext cx="4114800" cy="73152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Quel partenaire data activer en priorité et avec quelle base légale RGPD ?</a:t>
            </a:r>
            <a:endParaRPr lang="en-US" sz="1100" dirty="0"/>
          </a:p>
        </p:txBody>
      </p:sp>
      <p:sp>
        <p:nvSpPr>
          <p:cNvPr id="21" name="Shape 19"/>
          <p:cNvSpPr/>
          <p:nvPr/>
        </p:nvSpPr>
        <p:spPr>
          <a:xfrm>
            <a:off x="6675120" y="5212080"/>
            <a:ext cx="4892040" cy="868680"/>
          </a:xfrm>
          <a:prstGeom prst="rect">
            <a:avLst/>
          </a:prstGeom>
          <a:solidFill>
            <a:srgbClr val="F5F8FC"/>
          </a:solidFill>
          <a:ln w="3810">
            <a:solidFill>
              <a:srgbClr val="E2E8F0"/>
            </a:solidFill>
            <a:prstDash val="solid"/>
          </a:ln>
        </p:spPr>
      </p:sp>
      <p:sp>
        <p:nvSpPr>
          <p:cNvPr id="22" name="Text 20"/>
          <p:cNvSpPr/>
          <p:nvPr/>
        </p:nvSpPr>
        <p:spPr>
          <a:xfrm>
            <a:off x="6812280" y="5349240"/>
            <a:ext cx="548640" cy="274320"/>
          </a:xfrm>
          <a:prstGeom prst="rect">
            <a:avLst/>
          </a:prstGeom>
          <a:noFill/>
          <a:ln/>
        </p:spPr>
        <p:txBody>
          <a:bodyPr wrap="square" lIns="0" tIns="0" rIns="0" bIns="0" rtlCol="0" anchor="ctr"/>
          <a:lstStyle/>
          <a:p>
            <a:pPr marL="0" indent="0">
              <a:buNone/>
            </a:pPr>
            <a:r>
              <a:rPr lang="en-US" sz="1300" b="1" dirty="0">
                <a:solidFill>
                  <a:srgbClr val="F96167"/>
                </a:solidFill>
                <a:latin typeface="Calibri" pitchFamily="34" charset="0"/>
                <a:ea typeface="Calibri" pitchFamily="34" charset="-122"/>
                <a:cs typeface="Calibri" pitchFamily="34" charset="-120"/>
              </a:rPr>
              <a:t>Q4.</a:t>
            </a:r>
            <a:endParaRPr lang="en-US" sz="1300" dirty="0"/>
          </a:p>
        </p:txBody>
      </p:sp>
      <p:sp>
        <p:nvSpPr>
          <p:cNvPr id="23" name="Text 21"/>
          <p:cNvSpPr/>
          <p:nvPr/>
        </p:nvSpPr>
        <p:spPr>
          <a:xfrm>
            <a:off x="7360920" y="5321808"/>
            <a:ext cx="4114800" cy="73152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Rédigez votre pitch 5 slides pour la </a:t>
            </a:r>
            <a:r>
              <a:rPr lang="en-US" sz="1100" dirty="0" err="1">
                <a:solidFill>
                  <a:srgbClr val="1E293B"/>
                </a:solidFill>
                <a:latin typeface="Calibri" pitchFamily="34" charset="0"/>
                <a:ea typeface="Calibri" pitchFamily="34" charset="-122"/>
                <a:cs typeface="Calibri" pitchFamily="34" charset="-120"/>
              </a:rPr>
              <a:t>fondatrice</a:t>
            </a:r>
            <a:r>
              <a:rPr lang="en-US" sz="1100" dirty="0">
                <a:solidFill>
                  <a:srgbClr val="1E293B"/>
                </a:solidFill>
                <a:latin typeface="Calibri" pitchFamily="34" charset="0"/>
                <a:ea typeface="Calibri" pitchFamily="34" charset="-122"/>
                <a:cs typeface="Calibri" pitchFamily="34" charset="-120"/>
              </a:rPr>
              <a:t>  livrable exigé en fin de session.</a:t>
            </a:r>
            <a:endParaRPr lang="en-US" sz="1100" dirty="0"/>
          </a:p>
        </p:txBody>
      </p:sp>
      <p:sp>
        <p:nvSpPr>
          <p:cNvPr id="24" name="Shape 22"/>
          <p:cNvSpPr/>
          <p:nvPr/>
        </p:nvSpPr>
        <p:spPr>
          <a:xfrm>
            <a:off x="0" y="6583680"/>
            <a:ext cx="12191695" cy="274320"/>
          </a:xfrm>
          <a:prstGeom prst="rect">
            <a:avLst/>
          </a:prstGeom>
          <a:solidFill>
            <a:srgbClr val="0B1F3A"/>
          </a:solidFill>
          <a:ln w="12700">
            <a:solidFill>
              <a:srgbClr val="0B1F3A"/>
            </a:solidFill>
            <a:prstDash val="solid"/>
          </a:ln>
        </p:spPr>
      </p:sp>
      <p:sp>
        <p:nvSpPr>
          <p:cNvPr id="25" name="Text 23"/>
          <p:cNvSpPr/>
          <p:nvPr/>
        </p:nvSpPr>
        <p:spPr>
          <a:xfrm>
            <a:off x="365760" y="6601968"/>
            <a:ext cx="822960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Session 4  Activer &amp; Implémenter</a:t>
            </a:r>
            <a:endParaRPr lang="en-US" sz="1000" dirty="0"/>
          </a:p>
        </p:txBody>
      </p:sp>
      <p:sp>
        <p:nvSpPr>
          <p:cNvPr id="26" name="Text 24"/>
          <p:cNvSpPr/>
          <p:nvPr/>
        </p:nvSpPr>
        <p:spPr>
          <a:xfrm>
            <a:off x="11551615" y="6601968"/>
            <a:ext cx="365760" cy="237744"/>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51</a:t>
            </a:r>
            <a:endParaRPr lang="en-US" sz="10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54">
    <p:bg>
      <p:bgPr>
        <a:solidFill>
          <a:srgbClr val="F5F8FC"/>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731520"/>
          </a:xfrm>
          <a:prstGeom prst="rect">
            <a:avLst/>
          </a:prstGeom>
          <a:noFill/>
          <a:ln/>
        </p:spPr>
        <p:txBody>
          <a:bodyPr wrap="square" lIns="0" tIns="0" rIns="0" bIns="0" rtlCol="0" anchor="ctr"/>
          <a:lstStyle/>
          <a:p>
            <a:pPr marL="0" indent="0" algn="l">
              <a:buNone/>
            </a:pPr>
            <a:r>
              <a:rPr lang="en-US" sz="3200" b="1" dirty="0">
                <a:solidFill>
                  <a:srgbClr val="0B1F3A"/>
                </a:solidFill>
                <a:latin typeface="Calibri" pitchFamily="34" charset="0"/>
                <a:ea typeface="Calibri" pitchFamily="34" charset="-122"/>
                <a:cs typeface="Calibri" pitchFamily="34" charset="-120"/>
              </a:rPr>
              <a:t>Ressources pour aller plus loin</a:t>
            </a:r>
            <a:endParaRPr lang="en-US" sz="3200" dirty="0"/>
          </a:p>
        </p:txBody>
      </p:sp>
      <p:sp>
        <p:nvSpPr>
          <p:cNvPr id="3" name="Shape 1"/>
          <p:cNvSpPr/>
          <p:nvPr/>
        </p:nvSpPr>
        <p:spPr>
          <a:xfrm>
            <a:off x="548640" y="1005840"/>
            <a:ext cx="548640" cy="73152"/>
          </a:xfrm>
          <a:prstGeom prst="rect">
            <a:avLst/>
          </a:prstGeom>
          <a:solidFill>
            <a:srgbClr val="F96167"/>
          </a:solidFill>
          <a:ln w="12700">
            <a:solidFill>
              <a:srgbClr val="F96167"/>
            </a:solidFill>
            <a:prstDash val="solid"/>
          </a:ln>
        </p:spPr>
      </p:sp>
      <p:sp>
        <p:nvSpPr>
          <p:cNvPr id="4" name="Text 2"/>
          <p:cNvSpPr/>
          <p:nvPr/>
        </p:nvSpPr>
        <p:spPr>
          <a:xfrm>
            <a:off x="548640" y="1143000"/>
            <a:ext cx="11064240" cy="411480"/>
          </a:xfrm>
          <a:prstGeom prst="rect">
            <a:avLst/>
          </a:prstGeom>
          <a:noFill/>
          <a:ln/>
        </p:spPr>
        <p:txBody>
          <a:bodyPr wrap="square" lIns="0" tIns="0" rIns="0" bIns="0" rtlCol="0" anchor="ctr"/>
          <a:lstStyle/>
          <a:p>
            <a:pPr marL="0" indent="0" algn="l">
              <a:buNone/>
            </a:pPr>
            <a:r>
              <a:rPr lang="en-US" sz="1600" i="1" dirty="0">
                <a:solidFill>
                  <a:srgbClr val="1C7293"/>
                </a:solidFill>
                <a:latin typeface="Calibri" pitchFamily="34" charset="0"/>
                <a:ea typeface="Calibri" pitchFamily="34" charset="-122"/>
                <a:cs typeface="Calibri" pitchFamily="34" charset="-120"/>
              </a:rPr>
              <a:t>Sélection </a:t>
            </a:r>
            <a:r>
              <a:rPr lang="en-US" sz="1600" i="1" dirty="0" err="1">
                <a:solidFill>
                  <a:srgbClr val="1C7293"/>
                </a:solidFill>
                <a:latin typeface="Calibri" pitchFamily="34" charset="0"/>
                <a:ea typeface="Calibri" pitchFamily="34" charset="-122"/>
                <a:cs typeface="Calibri" pitchFamily="34" charset="-120"/>
              </a:rPr>
              <a:t>curée</a:t>
            </a:r>
            <a:r>
              <a:rPr lang="en-US" sz="1600" i="1" dirty="0">
                <a:solidFill>
                  <a:srgbClr val="1C7293"/>
                </a:solidFill>
                <a:latin typeface="Calibri" pitchFamily="34" charset="0"/>
                <a:ea typeface="Calibri" pitchFamily="34" charset="-122"/>
                <a:cs typeface="Calibri" pitchFamily="34" charset="-120"/>
              </a:rPr>
              <a:t>  tout est gratuit ou accessible.</a:t>
            </a:r>
            <a:endParaRPr lang="en-US" sz="1600" dirty="0"/>
          </a:p>
        </p:txBody>
      </p:sp>
      <p:sp>
        <p:nvSpPr>
          <p:cNvPr id="5" name="Shape 3"/>
          <p:cNvSpPr/>
          <p:nvPr/>
        </p:nvSpPr>
        <p:spPr>
          <a:xfrm>
            <a:off x="640080" y="1783080"/>
            <a:ext cx="3657600" cy="457200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6" name="Shape 4"/>
          <p:cNvSpPr/>
          <p:nvPr/>
        </p:nvSpPr>
        <p:spPr>
          <a:xfrm>
            <a:off x="640080" y="1783080"/>
            <a:ext cx="3657600" cy="109728"/>
          </a:xfrm>
          <a:prstGeom prst="rect">
            <a:avLst/>
          </a:prstGeom>
          <a:solidFill>
            <a:srgbClr val="065A82"/>
          </a:solidFill>
          <a:ln w="12700">
            <a:solidFill>
              <a:srgbClr val="065A82"/>
            </a:solidFill>
            <a:prstDash val="solid"/>
          </a:ln>
        </p:spPr>
      </p:sp>
      <p:sp>
        <p:nvSpPr>
          <p:cNvPr id="7" name="Text 5"/>
          <p:cNvSpPr/>
          <p:nvPr/>
        </p:nvSpPr>
        <p:spPr>
          <a:xfrm>
            <a:off x="868680" y="1965960"/>
            <a:ext cx="3383280" cy="365760"/>
          </a:xfrm>
          <a:prstGeom prst="rect">
            <a:avLst/>
          </a:prstGeom>
          <a:noFill/>
          <a:ln/>
        </p:spPr>
        <p:txBody>
          <a:bodyPr wrap="square" lIns="0" tIns="0" rIns="0" bIns="0" rtlCol="0" anchor="ctr"/>
          <a:lstStyle/>
          <a:p>
            <a:pPr marL="0" indent="0">
              <a:buNone/>
            </a:pPr>
            <a:r>
              <a:rPr lang="en-US" sz="1300" b="1" kern="0" spc="150" dirty="0">
                <a:solidFill>
                  <a:srgbClr val="065A82"/>
                </a:solidFill>
                <a:latin typeface="Calibri" pitchFamily="34" charset="0"/>
                <a:ea typeface="Calibri" pitchFamily="34" charset="-122"/>
                <a:cs typeface="Calibri" pitchFamily="34" charset="-120"/>
              </a:rPr>
              <a:t>LECTURES ESSENTIELLES</a:t>
            </a:r>
            <a:endParaRPr lang="en-US" sz="1300" dirty="0"/>
          </a:p>
        </p:txBody>
      </p:sp>
      <p:sp>
        <p:nvSpPr>
          <p:cNvPr id="8" name="Text 6"/>
          <p:cNvSpPr/>
          <p:nvPr/>
        </p:nvSpPr>
        <p:spPr>
          <a:xfrm>
            <a:off x="914400" y="2423160"/>
            <a:ext cx="3291840" cy="37947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IAB Europe  « Data Clean Rooms Guide » (2024)</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CNIL  « Anonymisation et pseudonymisation » (2023)</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IAB Tech Lab  « Open Private Join &amp; Activation »</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Salesforce Marketing Cloud Academy  DCR Primer</a:t>
            </a:r>
            <a:endParaRPr lang="en-US" sz="1200" dirty="0"/>
          </a:p>
        </p:txBody>
      </p:sp>
      <p:sp>
        <p:nvSpPr>
          <p:cNvPr id="9" name="Shape 7"/>
          <p:cNvSpPr/>
          <p:nvPr/>
        </p:nvSpPr>
        <p:spPr>
          <a:xfrm>
            <a:off x="4526280" y="1783080"/>
            <a:ext cx="3657600" cy="457200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10" name="Shape 8"/>
          <p:cNvSpPr/>
          <p:nvPr/>
        </p:nvSpPr>
        <p:spPr>
          <a:xfrm>
            <a:off x="4526280" y="1783080"/>
            <a:ext cx="3657600" cy="109728"/>
          </a:xfrm>
          <a:prstGeom prst="rect">
            <a:avLst/>
          </a:prstGeom>
          <a:solidFill>
            <a:srgbClr val="1C7293"/>
          </a:solidFill>
          <a:ln w="12700">
            <a:solidFill>
              <a:srgbClr val="1C7293"/>
            </a:solidFill>
            <a:prstDash val="solid"/>
          </a:ln>
        </p:spPr>
      </p:sp>
      <p:sp>
        <p:nvSpPr>
          <p:cNvPr id="11" name="Text 9"/>
          <p:cNvSpPr/>
          <p:nvPr/>
        </p:nvSpPr>
        <p:spPr>
          <a:xfrm>
            <a:off x="4754880" y="1965960"/>
            <a:ext cx="3383280" cy="365760"/>
          </a:xfrm>
          <a:prstGeom prst="rect">
            <a:avLst/>
          </a:prstGeom>
          <a:noFill/>
          <a:ln/>
        </p:spPr>
        <p:txBody>
          <a:bodyPr wrap="square" lIns="0" tIns="0" rIns="0" bIns="0" rtlCol="0" anchor="ctr"/>
          <a:lstStyle/>
          <a:p>
            <a:pPr marL="0" indent="0">
              <a:buNone/>
            </a:pPr>
            <a:r>
              <a:rPr lang="en-US" sz="1300" b="1" kern="0" spc="150" dirty="0">
                <a:solidFill>
                  <a:srgbClr val="1C7293"/>
                </a:solidFill>
                <a:latin typeface="Calibri" pitchFamily="34" charset="0"/>
                <a:ea typeface="Calibri" pitchFamily="34" charset="-122"/>
                <a:cs typeface="Calibri" pitchFamily="34" charset="-120"/>
              </a:rPr>
              <a:t>VIDÉOS &amp; PODCASTS</a:t>
            </a:r>
            <a:endParaRPr lang="en-US" sz="1300" dirty="0"/>
          </a:p>
        </p:txBody>
      </p:sp>
      <p:sp>
        <p:nvSpPr>
          <p:cNvPr id="12" name="Text 10"/>
          <p:cNvSpPr/>
          <p:nvPr/>
        </p:nvSpPr>
        <p:spPr>
          <a:xfrm>
            <a:off x="4800600" y="2423160"/>
            <a:ext cx="3291840" cy="37947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Snowflake Summit  keynotes DCR (YouTube)</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AWS </a:t>
            </a:r>
            <a:r>
              <a:rPr lang="en-US" sz="1200" dirty="0" err="1">
                <a:solidFill>
                  <a:srgbClr val="1E293B"/>
                </a:solidFill>
                <a:latin typeface="Calibri" pitchFamily="34" charset="0"/>
                <a:ea typeface="Calibri" pitchFamily="34" charset="-122"/>
                <a:cs typeface="Calibri" pitchFamily="34" charset="-120"/>
              </a:rPr>
              <a:t>re:Invent</a:t>
            </a:r>
            <a:r>
              <a:rPr lang="en-US" sz="1200" dirty="0">
                <a:solidFill>
                  <a:srgbClr val="1E293B"/>
                </a:solidFill>
                <a:latin typeface="Calibri" pitchFamily="34" charset="0"/>
                <a:ea typeface="Calibri" pitchFamily="34" charset="-122"/>
                <a:cs typeface="Calibri" pitchFamily="34" charset="-120"/>
              </a:rPr>
              <a:t>  Clean Rooms sessions</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Le Media Club  « Le retail media expliqué »</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Marketing Today Podcast  séries post-cookie</a:t>
            </a:r>
            <a:endParaRPr lang="en-US" sz="1200" dirty="0"/>
          </a:p>
        </p:txBody>
      </p:sp>
      <p:sp>
        <p:nvSpPr>
          <p:cNvPr id="13" name="Shape 11"/>
          <p:cNvSpPr/>
          <p:nvPr/>
        </p:nvSpPr>
        <p:spPr>
          <a:xfrm>
            <a:off x="8412480" y="1783080"/>
            <a:ext cx="3657600" cy="457200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sp>
      <p:sp>
        <p:nvSpPr>
          <p:cNvPr id="14" name="Shape 12"/>
          <p:cNvSpPr/>
          <p:nvPr/>
        </p:nvSpPr>
        <p:spPr>
          <a:xfrm>
            <a:off x="8412480" y="1783080"/>
            <a:ext cx="3657600" cy="109728"/>
          </a:xfrm>
          <a:prstGeom prst="rect">
            <a:avLst/>
          </a:prstGeom>
          <a:solidFill>
            <a:srgbClr val="F96167"/>
          </a:solidFill>
          <a:ln w="12700">
            <a:solidFill>
              <a:srgbClr val="F96167"/>
            </a:solidFill>
            <a:prstDash val="solid"/>
          </a:ln>
        </p:spPr>
      </p:sp>
      <p:sp>
        <p:nvSpPr>
          <p:cNvPr id="15" name="Text 13"/>
          <p:cNvSpPr/>
          <p:nvPr/>
        </p:nvSpPr>
        <p:spPr>
          <a:xfrm>
            <a:off x="8641080" y="1965960"/>
            <a:ext cx="3383280" cy="365760"/>
          </a:xfrm>
          <a:prstGeom prst="rect">
            <a:avLst/>
          </a:prstGeom>
          <a:noFill/>
          <a:ln/>
        </p:spPr>
        <p:txBody>
          <a:bodyPr wrap="square" lIns="0" tIns="0" rIns="0" bIns="0" rtlCol="0" anchor="ctr"/>
          <a:lstStyle/>
          <a:p>
            <a:pPr marL="0" indent="0">
              <a:buNone/>
            </a:pPr>
            <a:r>
              <a:rPr lang="en-US" sz="1300" b="1" kern="0" spc="150" dirty="0">
                <a:solidFill>
                  <a:srgbClr val="F96167"/>
                </a:solidFill>
                <a:latin typeface="Calibri" pitchFamily="34" charset="0"/>
                <a:ea typeface="Calibri" pitchFamily="34" charset="-122"/>
                <a:cs typeface="Calibri" pitchFamily="34" charset="-120"/>
              </a:rPr>
              <a:t>COMMUNAUTÉ &amp; VEILLE</a:t>
            </a:r>
            <a:endParaRPr lang="en-US" sz="1300" dirty="0"/>
          </a:p>
        </p:txBody>
      </p:sp>
      <p:sp>
        <p:nvSpPr>
          <p:cNvPr id="16" name="Text 14"/>
          <p:cNvSpPr/>
          <p:nvPr/>
        </p:nvSpPr>
        <p:spPr>
          <a:xfrm>
            <a:off x="8686800" y="2423160"/>
            <a:ext cx="3291840" cy="37947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AdExchanger Europe (newsletter quotidienne)</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LiveRamp Ramp Up (conférence annuelle)</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Groupe LinkedIn « Data Clean Rooms EU »</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Minded.fr  retail media en français</a:t>
            </a:r>
            <a:endParaRPr lang="en-US" sz="1200" dirty="0"/>
          </a:p>
        </p:txBody>
      </p:sp>
      <p:sp>
        <p:nvSpPr>
          <p:cNvPr id="17" name="Shape 15"/>
          <p:cNvSpPr/>
          <p:nvPr/>
        </p:nvSpPr>
        <p:spPr>
          <a:xfrm>
            <a:off x="0" y="6583680"/>
            <a:ext cx="12191695" cy="274320"/>
          </a:xfrm>
          <a:prstGeom prst="rect">
            <a:avLst/>
          </a:prstGeom>
          <a:solidFill>
            <a:srgbClr val="0B1F3A"/>
          </a:solidFill>
          <a:ln w="12700">
            <a:solidFill>
              <a:srgbClr val="0B1F3A"/>
            </a:solidFill>
            <a:prstDash val="solid"/>
          </a:ln>
        </p:spPr>
      </p:sp>
      <p:sp>
        <p:nvSpPr>
          <p:cNvPr id="18" name="Text 16"/>
          <p:cNvSpPr/>
          <p:nvPr/>
        </p:nvSpPr>
        <p:spPr>
          <a:xfrm>
            <a:off x="365760" y="6601968"/>
            <a:ext cx="822960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Session 4  Activer &amp; Implémenter</a:t>
            </a:r>
            <a:endParaRPr lang="en-US" sz="1000" dirty="0"/>
          </a:p>
        </p:txBody>
      </p:sp>
      <p:sp>
        <p:nvSpPr>
          <p:cNvPr id="19" name="Text 17"/>
          <p:cNvSpPr/>
          <p:nvPr/>
        </p:nvSpPr>
        <p:spPr>
          <a:xfrm>
            <a:off x="11551615" y="6601968"/>
            <a:ext cx="365760" cy="237744"/>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53</a:t>
            </a:r>
            <a:endParaRPr lang="en-US" sz="10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56">
    <p:bg>
      <p:bgPr>
        <a:solidFill>
          <a:srgbClr val="F5F8FC"/>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731520"/>
          </a:xfrm>
          <a:prstGeom prst="rect">
            <a:avLst/>
          </a:prstGeom>
          <a:noFill/>
          <a:ln/>
        </p:spPr>
        <p:txBody>
          <a:bodyPr wrap="square" lIns="0" tIns="0" rIns="0" bIns="0" rtlCol="0" anchor="ctr"/>
          <a:lstStyle/>
          <a:p>
            <a:pPr marL="0" indent="0" algn="l">
              <a:buNone/>
            </a:pPr>
            <a:r>
              <a:rPr lang="en-US" sz="3200" b="1" dirty="0">
                <a:solidFill>
                  <a:srgbClr val="0B1F3A"/>
                </a:solidFill>
                <a:latin typeface="Calibri" pitchFamily="34" charset="0"/>
                <a:ea typeface="Calibri" pitchFamily="34" charset="-122"/>
                <a:cs typeface="Calibri" pitchFamily="34" charset="-120"/>
              </a:rPr>
              <a:t>Le cadre que tout le marché utilise : 3 cas d'usage</a:t>
            </a:r>
            <a:endParaRPr lang="en-US" sz="3200" dirty="0"/>
          </a:p>
        </p:txBody>
      </p:sp>
      <p:sp>
        <p:nvSpPr>
          <p:cNvPr id="3" name="Shape 1"/>
          <p:cNvSpPr/>
          <p:nvPr/>
        </p:nvSpPr>
        <p:spPr>
          <a:xfrm>
            <a:off x="548640" y="1005840"/>
            <a:ext cx="548640" cy="73152"/>
          </a:xfrm>
          <a:prstGeom prst="rect">
            <a:avLst/>
          </a:prstGeom>
          <a:solidFill>
            <a:srgbClr val="F96167"/>
          </a:solidFill>
          <a:ln w="12700">
            <a:solidFill>
              <a:srgbClr val="F96167"/>
            </a:solidFill>
            <a:prstDash val="solid"/>
          </a:ln>
        </p:spPr>
      </p:sp>
      <p:sp>
        <p:nvSpPr>
          <p:cNvPr id="4" name="Text 2"/>
          <p:cNvSpPr/>
          <p:nvPr/>
        </p:nvSpPr>
        <p:spPr>
          <a:xfrm>
            <a:off x="548640" y="1143000"/>
            <a:ext cx="11064240" cy="411480"/>
          </a:xfrm>
          <a:prstGeom prst="rect">
            <a:avLst/>
          </a:prstGeom>
          <a:noFill/>
          <a:ln/>
        </p:spPr>
        <p:txBody>
          <a:bodyPr wrap="square" lIns="0" tIns="0" rIns="0" bIns="0" rtlCol="0" anchor="ctr"/>
          <a:lstStyle/>
          <a:p>
            <a:pPr marL="0" indent="0" algn="l">
              <a:buNone/>
            </a:pPr>
            <a:r>
              <a:rPr lang="en-US" sz="1600" i="1" dirty="0">
                <a:solidFill>
                  <a:srgbClr val="1C7293"/>
                </a:solidFill>
                <a:latin typeface="Calibri" pitchFamily="34" charset="0"/>
                <a:ea typeface="Calibri" pitchFamily="34" charset="-122"/>
                <a:cs typeface="Calibri" pitchFamily="34" charset="-120"/>
              </a:rPr>
              <a:t>Insights, Activation, </a:t>
            </a:r>
            <a:r>
              <a:rPr lang="en-US" sz="1600" i="1" dirty="0" err="1">
                <a:solidFill>
                  <a:srgbClr val="1C7293"/>
                </a:solidFill>
                <a:latin typeface="Calibri" pitchFamily="34" charset="0"/>
                <a:ea typeface="Calibri" pitchFamily="34" charset="-122"/>
                <a:cs typeface="Calibri" pitchFamily="34" charset="-120"/>
              </a:rPr>
              <a:t>Mesure</a:t>
            </a:r>
            <a:r>
              <a:rPr lang="en-US" sz="1600" i="1" dirty="0">
                <a:solidFill>
                  <a:srgbClr val="1C7293"/>
                </a:solidFill>
                <a:latin typeface="Calibri" pitchFamily="34" charset="0"/>
                <a:ea typeface="Calibri" pitchFamily="34" charset="-122"/>
                <a:cs typeface="Calibri" pitchFamily="34" charset="-120"/>
              </a:rPr>
              <a:t>  et le grand gagnant selon les planneurs</a:t>
            </a:r>
            <a:endParaRPr lang="en-US" sz="1600" dirty="0"/>
          </a:p>
        </p:txBody>
      </p:sp>
      <p:sp>
        <p:nvSpPr>
          <p:cNvPr id="5" name="Shape 3"/>
          <p:cNvSpPr/>
          <p:nvPr/>
        </p:nvSpPr>
        <p:spPr>
          <a:xfrm>
            <a:off x="548640" y="1737360"/>
            <a:ext cx="3657600" cy="4114800"/>
          </a:xfrm>
          <a:prstGeom prst="rect">
            <a:avLst/>
          </a:prstGeom>
          <a:solidFill>
            <a:srgbClr val="FFFFFF"/>
          </a:solidFill>
          <a:ln w="9525">
            <a:solidFill>
              <a:srgbClr val="E2E8F0"/>
            </a:solidFill>
            <a:prstDash val="solid"/>
          </a:ln>
          <a:effectLst>
            <a:outerShdw blurRad="127000" dist="38100" dir="8100000" algn="bl" rotWithShape="0">
              <a:srgbClr val="000000">
                <a:alpha val="10000"/>
              </a:srgbClr>
            </a:outerShdw>
          </a:effectLst>
        </p:spPr>
      </p:sp>
      <p:sp>
        <p:nvSpPr>
          <p:cNvPr id="6" name="Shape 4"/>
          <p:cNvSpPr/>
          <p:nvPr/>
        </p:nvSpPr>
        <p:spPr>
          <a:xfrm>
            <a:off x="548640" y="1737360"/>
            <a:ext cx="3657600" cy="137160"/>
          </a:xfrm>
          <a:prstGeom prst="rect">
            <a:avLst/>
          </a:prstGeom>
          <a:solidFill>
            <a:srgbClr val="065A82"/>
          </a:solidFill>
          <a:ln w="12700">
            <a:solidFill>
              <a:srgbClr val="065A82"/>
            </a:solidFill>
            <a:prstDash val="solid"/>
          </a:ln>
        </p:spPr>
      </p:sp>
      <p:sp>
        <p:nvSpPr>
          <p:cNvPr id="7" name="Text 5"/>
          <p:cNvSpPr/>
          <p:nvPr/>
        </p:nvSpPr>
        <p:spPr>
          <a:xfrm>
            <a:off x="777240" y="2011680"/>
            <a:ext cx="822960" cy="640080"/>
          </a:xfrm>
          <a:prstGeom prst="rect">
            <a:avLst/>
          </a:prstGeom>
          <a:noFill/>
          <a:ln/>
        </p:spPr>
        <p:txBody>
          <a:bodyPr wrap="square" lIns="0" tIns="0" rIns="0" bIns="0" rtlCol="0" anchor="ctr"/>
          <a:lstStyle/>
          <a:p>
            <a:pPr marL="0" indent="0">
              <a:buNone/>
            </a:pPr>
            <a:r>
              <a:rPr lang="en-US" sz="4200" b="1" dirty="0">
                <a:solidFill>
                  <a:srgbClr val="065A82"/>
                </a:solidFill>
                <a:latin typeface="Calibri" pitchFamily="34" charset="0"/>
                <a:ea typeface="Calibri" pitchFamily="34" charset="-122"/>
                <a:cs typeface="Calibri" pitchFamily="34" charset="-120"/>
              </a:rPr>
              <a:t>1</a:t>
            </a:r>
            <a:endParaRPr lang="en-US" sz="4200" dirty="0"/>
          </a:p>
        </p:txBody>
      </p:sp>
      <p:sp>
        <p:nvSpPr>
          <p:cNvPr id="8" name="Text 6"/>
          <p:cNvSpPr/>
          <p:nvPr/>
        </p:nvSpPr>
        <p:spPr>
          <a:xfrm>
            <a:off x="1600200" y="2148840"/>
            <a:ext cx="2560320" cy="320040"/>
          </a:xfrm>
          <a:prstGeom prst="rect">
            <a:avLst/>
          </a:prstGeom>
          <a:noFill/>
          <a:ln/>
        </p:spPr>
        <p:txBody>
          <a:bodyPr wrap="square" lIns="0" tIns="0" rIns="0" bIns="0" rtlCol="0" anchor="ctr"/>
          <a:lstStyle/>
          <a:p>
            <a:pPr marL="0" indent="0">
              <a:buNone/>
            </a:pPr>
            <a:r>
              <a:rPr lang="en-US" sz="1300" b="1" kern="0" spc="200" dirty="0">
                <a:solidFill>
                  <a:srgbClr val="065A82"/>
                </a:solidFill>
                <a:latin typeface="Calibri" pitchFamily="34" charset="0"/>
                <a:ea typeface="Calibri" pitchFamily="34" charset="-122"/>
                <a:cs typeface="Calibri" pitchFamily="34" charset="-120"/>
              </a:rPr>
              <a:t>INSIGHTS</a:t>
            </a:r>
            <a:endParaRPr lang="en-US" sz="1300" dirty="0"/>
          </a:p>
        </p:txBody>
      </p:sp>
      <p:sp>
        <p:nvSpPr>
          <p:cNvPr id="9" name="Text 7"/>
          <p:cNvSpPr/>
          <p:nvPr/>
        </p:nvSpPr>
        <p:spPr>
          <a:xfrm>
            <a:off x="1600200" y="2423160"/>
            <a:ext cx="2560320" cy="32004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Comprendre</a:t>
            </a:r>
            <a:endParaRPr lang="en-US" sz="1100" dirty="0"/>
          </a:p>
        </p:txBody>
      </p:sp>
      <p:sp>
        <p:nvSpPr>
          <p:cNvPr id="10" name="Text 8"/>
          <p:cNvSpPr/>
          <p:nvPr/>
        </p:nvSpPr>
        <p:spPr>
          <a:xfrm>
            <a:off x="777240" y="2926080"/>
            <a:ext cx="3200400" cy="1828800"/>
          </a:xfrm>
          <a:prstGeom prst="rect">
            <a:avLst/>
          </a:prstGeom>
          <a:noFill/>
          <a:ln/>
        </p:spPr>
        <p:txBody>
          <a:bodyPr wrap="square" lIns="0" tIns="0" rIns="0" bIns="0" rtlCol="0" anchor="t"/>
          <a:lstStyle/>
          <a:p>
            <a:pPr marL="0" indent="0">
              <a:buNone/>
            </a:pPr>
            <a:r>
              <a:rPr lang="en-US" sz="1200" dirty="0">
                <a:solidFill>
                  <a:srgbClr val="1E293B"/>
                </a:solidFill>
                <a:latin typeface="Calibri" pitchFamily="34" charset="0"/>
                <a:ea typeface="Calibri" pitchFamily="34" charset="-122"/>
                <a:cs typeface="Calibri" pitchFamily="34" charset="-120"/>
              </a:rPr>
              <a:t>Matcher ses segments avec ceux d'un partenaire pour trouver des overlaps, des affinités, des opportunités produit.</a:t>
            </a:r>
            <a:endParaRPr lang="en-US" sz="1200" dirty="0"/>
          </a:p>
        </p:txBody>
      </p:sp>
      <p:sp>
        <p:nvSpPr>
          <p:cNvPr id="11" name="Shape 9"/>
          <p:cNvSpPr/>
          <p:nvPr/>
        </p:nvSpPr>
        <p:spPr>
          <a:xfrm>
            <a:off x="777240" y="4937760"/>
            <a:ext cx="3200400" cy="822960"/>
          </a:xfrm>
          <a:prstGeom prst="rect">
            <a:avLst/>
          </a:prstGeom>
          <a:solidFill>
            <a:srgbClr val="F5F8FC"/>
          </a:solidFill>
          <a:ln w="6350">
            <a:solidFill>
              <a:srgbClr val="065A82"/>
            </a:solidFill>
            <a:prstDash val="solid"/>
          </a:ln>
        </p:spPr>
      </p:sp>
      <p:sp>
        <p:nvSpPr>
          <p:cNvPr id="12" name="Text 10"/>
          <p:cNvSpPr/>
          <p:nvPr/>
        </p:nvSpPr>
        <p:spPr>
          <a:xfrm>
            <a:off x="868680" y="4983480"/>
            <a:ext cx="3017520" cy="228600"/>
          </a:xfrm>
          <a:prstGeom prst="rect">
            <a:avLst/>
          </a:prstGeom>
          <a:noFill/>
          <a:ln/>
        </p:spPr>
        <p:txBody>
          <a:bodyPr wrap="square" lIns="0" tIns="0" rIns="0" bIns="0" rtlCol="0" anchor="ctr"/>
          <a:lstStyle/>
          <a:p>
            <a:pPr marL="0" indent="0">
              <a:buNone/>
            </a:pPr>
            <a:r>
              <a:rPr lang="en-US" sz="900" b="1" kern="0" spc="150" dirty="0">
                <a:solidFill>
                  <a:srgbClr val="065A82"/>
                </a:solidFill>
                <a:latin typeface="Calibri" pitchFamily="34" charset="0"/>
                <a:ea typeface="Calibri" pitchFamily="34" charset="-122"/>
                <a:cs typeface="Calibri" pitchFamily="34" charset="-120"/>
              </a:rPr>
              <a:t>EXEMPLE</a:t>
            </a:r>
            <a:endParaRPr lang="en-US" sz="900" dirty="0"/>
          </a:p>
        </p:txBody>
      </p:sp>
      <p:sp>
        <p:nvSpPr>
          <p:cNvPr id="13" name="Text 11"/>
          <p:cNvSpPr/>
          <p:nvPr/>
        </p:nvSpPr>
        <p:spPr>
          <a:xfrm>
            <a:off x="868680" y="5212080"/>
            <a:ext cx="3017520" cy="502920"/>
          </a:xfrm>
          <a:prstGeom prst="rect">
            <a:avLst/>
          </a:prstGeom>
          <a:noFill/>
          <a:ln/>
        </p:spPr>
        <p:txBody>
          <a:bodyPr wrap="square" lIns="0" tIns="0" rIns="0" bIns="0" rtlCol="0" anchor="ctr"/>
          <a:lstStyle/>
          <a:p>
            <a:pPr marL="0" indent="0">
              <a:buNone/>
            </a:pPr>
            <a:r>
              <a:rPr lang="en-US" sz="1000" i="1" dirty="0">
                <a:solidFill>
                  <a:srgbClr val="1E293B"/>
                </a:solidFill>
                <a:latin typeface="Calibri" pitchFamily="34" charset="0"/>
                <a:ea typeface="Calibri" pitchFamily="34" charset="-122"/>
                <a:cs typeface="Calibri" pitchFamily="34" charset="-120"/>
              </a:rPr>
              <a:t>Pepsi × Pizza Hut : qui boit quoi avec quelle pizza ?</a:t>
            </a:r>
            <a:endParaRPr lang="en-US" sz="1000" dirty="0"/>
          </a:p>
        </p:txBody>
      </p:sp>
      <p:sp>
        <p:nvSpPr>
          <p:cNvPr id="14" name="Shape 12"/>
          <p:cNvSpPr/>
          <p:nvPr/>
        </p:nvSpPr>
        <p:spPr>
          <a:xfrm>
            <a:off x="4434840" y="1737360"/>
            <a:ext cx="3657600" cy="4114800"/>
          </a:xfrm>
          <a:prstGeom prst="rect">
            <a:avLst/>
          </a:prstGeom>
          <a:solidFill>
            <a:srgbClr val="FFFFFF"/>
          </a:solidFill>
          <a:ln w="9525">
            <a:solidFill>
              <a:srgbClr val="E2E8F0"/>
            </a:solidFill>
            <a:prstDash val="solid"/>
          </a:ln>
          <a:effectLst>
            <a:outerShdw blurRad="127000" dist="38100" dir="8100000" algn="bl" rotWithShape="0">
              <a:srgbClr val="000000">
                <a:alpha val="10000"/>
              </a:srgbClr>
            </a:outerShdw>
          </a:effectLst>
        </p:spPr>
      </p:sp>
      <p:sp>
        <p:nvSpPr>
          <p:cNvPr id="15" name="Shape 13"/>
          <p:cNvSpPr/>
          <p:nvPr/>
        </p:nvSpPr>
        <p:spPr>
          <a:xfrm>
            <a:off x="4434840" y="1737360"/>
            <a:ext cx="3657600" cy="137160"/>
          </a:xfrm>
          <a:prstGeom prst="rect">
            <a:avLst/>
          </a:prstGeom>
          <a:solidFill>
            <a:srgbClr val="1C7293"/>
          </a:solidFill>
          <a:ln w="12700">
            <a:solidFill>
              <a:srgbClr val="1C7293"/>
            </a:solidFill>
            <a:prstDash val="solid"/>
          </a:ln>
        </p:spPr>
      </p:sp>
      <p:sp>
        <p:nvSpPr>
          <p:cNvPr id="16" name="Text 14"/>
          <p:cNvSpPr/>
          <p:nvPr/>
        </p:nvSpPr>
        <p:spPr>
          <a:xfrm>
            <a:off x="4663440" y="2011680"/>
            <a:ext cx="822960" cy="640080"/>
          </a:xfrm>
          <a:prstGeom prst="rect">
            <a:avLst/>
          </a:prstGeom>
          <a:noFill/>
          <a:ln/>
        </p:spPr>
        <p:txBody>
          <a:bodyPr wrap="square" lIns="0" tIns="0" rIns="0" bIns="0" rtlCol="0" anchor="ctr"/>
          <a:lstStyle/>
          <a:p>
            <a:pPr marL="0" indent="0">
              <a:buNone/>
            </a:pPr>
            <a:r>
              <a:rPr lang="en-US" sz="4200" b="1" dirty="0">
                <a:solidFill>
                  <a:srgbClr val="1C7293"/>
                </a:solidFill>
                <a:latin typeface="Calibri" pitchFamily="34" charset="0"/>
                <a:ea typeface="Calibri" pitchFamily="34" charset="-122"/>
                <a:cs typeface="Calibri" pitchFamily="34" charset="-120"/>
              </a:rPr>
              <a:t>2</a:t>
            </a:r>
            <a:endParaRPr lang="en-US" sz="4200" dirty="0"/>
          </a:p>
        </p:txBody>
      </p:sp>
      <p:sp>
        <p:nvSpPr>
          <p:cNvPr id="17" name="Text 15"/>
          <p:cNvSpPr/>
          <p:nvPr/>
        </p:nvSpPr>
        <p:spPr>
          <a:xfrm>
            <a:off x="5486400" y="2148840"/>
            <a:ext cx="2560320" cy="32004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ACTIVATION</a:t>
            </a:r>
            <a:endParaRPr lang="en-US" sz="1300" dirty="0"/>
          </a:p>
        </p:txBody>
      </p:sp>
      <p:sp>
        <p:nvSpPr>
          <p:cNvPr id="18" name="Text 16"/>
          <p:cNvSpPr/>
          <p:nvPr/>
        </p:nvSpPr>
        <p:spPr>
          <a:xfrm>
            <a:off x="5486400" y="2423160"/>
            <a:ext cx="2560320" cy="32004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Activer</a:t>
            </a:r>
            <a:endParaRPr lang="en-US" sz="1100" dirty="0"/>
          </a:p>
        </p:txBody>
      </p:sp>
      <p:sp>
        <p:nvSpPr>
          <p:cNvPr id="19" name="Text 17"/>
          <p:cNvSpPr/>
          <p:nvPr/>
        </p:nvSpPr>
        <p:spPr>
          <a:xfrm>
            <a:off x="4663440" y="2926080"/>
            <a:ext cx="3200400" cy="1828800"/>
          </a:xfrm>
          <a:prstGeom prst="rect">
            <a:avLst/>
          </a:prstGeom>
          <a:noFill/>
          <a:ln/>
        </p:spPr>
        <p:txBody>
          <a:bodyPr wrap="square" lIns="0" tIns="0" rIns="0" bIns="0" rtlCol="0" anchor="t"/>
          <a:lstStyle/>
          <a:p>
            <a:pPr marL="0" indent="0">
              <a:buNone/>
            </a:pPr>
            <a:r>
              <a:rPr lang="en-US" sz="1200" dirty="0">
                <a:solidFill>
                  <a:srgbClr val="1E293B"/>
                </a:solidFill>
                <a:latin typeface="Calibri" pitchFamily="34" charset="0"/>
                <a:ea typeface="Calibri" pitchFamily="34" charset="-122"/>
                <a:cs typeface="Calibri" pitchFamily="34" charset="-120"/>
              </a:rPr>
              <a:t>Construire des audiences communes, faire du retargeting et des lookalikes sans partager de données brutes.</a:t>
            </a:r>
            <a:endParaRPr lang="en-US" sz="1200" dirty="0"/>
          </a:p>
        </p:txBody>
      </p:sp>
      <p:sp>
        <p:nvSpPr>
          <p:cNvPr id="20" name="Shape 18"/>
          <p:cNvSpPr/>
          <p:nvPr/>
        </p:nvSpPr>
        <p:spPr>
          <a:xfrm>
            <a:off x="4663440" y="4937760"/>
            <a:ext cx="3200400" cy="822960"/>
          </a:xfrm>
          <a:prstGeom prst="rect">
            <a:avLst/>
          </a:prstGeom>
          <a:solidFill>
            <a:srgbClr val="F5F8FC"/>
          </a:solidFill>
          <a:ln w="6350">
            <a:solidFill>
              <a:srgbClr val="1C7293"/>
            </a:solidFill>
            <a:prstDash val="solid"/>
          </a:ln>
        </p:spPr>
      </p:sp>
      <p:sp>
        <p:nvSpPr>
          <p:cNvPr id="21" name="Text 19"/>
          <p:cNvSpPr/>
          <p:nvPr/>
        </p:nvSpPr>
        <p:spPr>
          <a:xfrm>
            <a:off x="4754880" y="4983480"/>
            <a:ext cx="3017520" cy="228600"/>
          </a:xfrm>
          <a:prstGeom prst="rect">
            <a:avLst/>
          </a:prstGeom>
          <a:noFill/>
          <a:ln/>
        </p:spPr>
        <p:txBody>
          <a:bodyPr wrap="square" lIns="0" tIns="0" rIns="0" bIns="0" rtlCol="0" anchor="ctr"/>
          <a:lstStyle/>
          <a:p>
            <a:pPr marL="0" indent="0">
              <a:buNone/>
            </a:pPr>
            <a:r>
              <a:rPr lang="en-US" sz="900" b="1" kern="0" spc="150" dirty="0">
                <a:solidFill>
                  <a:srgbClr val="1C7293"/>
                </a:solidFill>
                <a:latin typeface="Calibri" pitchFamily="34" charset="0"/>
                <a:ea typeface="Calibri" pitchFamily="34" charset="-122"/>
                <a:cs typeface="Calibri" pitchFamily="34" charset="-120"/>
              </a:rPr>
              <a:t>EXEMPLE</a:t>
            </a:r>
            <a:endParaRPr lang="en-US" sz="900" dirty="0"/>
          </a:p>
        </p:txBody>
      </p:sp>
      <p:sp>
        <p:nvSpPr>
          <p:cNvPr id="22" name="Text 20"/>
          <p:cNvSpPr/>
          <p:nvPr/>
        </p:nvSpPr>
        <p:spPr>
          <a:xfrm>
            <a:off x="4754880" y="5212080"/>
            <a:ext cx="3017520" cy="502920"/>
          </a:xfrm>
          <a:prstGeom prst="rect">
            <a:avLst/>
          </a:prstGeom>
          <a:noFill/>
          <a:ln/>
        </p:spPr>
        <p:txBody>
          <a:bodyPr wrap="square" lIns="0" tIns="0" rIns="0" bIns="0" rtlCol="0" anchor="ctr"/>
          <a:lstStyle/>
          <a:p>
            <a:pPr marL="0" indent="0">
              <a:buNone/>
            </a:pPr>
            <a:r>
              <a:rPr lang="en-US" sz="1000" i="1" dirty="0">
                <a:solidFill>
                  <a:srgbClr val="1E293B"/>
                </a:solidFill>
                <a:latin typeface="Calibri" pitchFamily="34" charset="0"/>
                <a:ea typeface="Calibri" pitchFamily="34" charset="-122"/>
                <a:cs typeface="Calibri" pitchFamily="34" charset="-120"/>
              </a:rPr>
              <a:t>Retailer × CPG : lookalike sur les acheteurs récents</a:t>
            </a:r>
            <a:endParaRPr lang="en-US" sz="1000" dirty="0"/>
          </a:p>
        </p:txBody>
      </p:sp>
      <p:sp>
        <p:nvSpPr>
          <p:cNvPr id="23" name="Shape 21"/>
          <p:cNvSpPr/>
          <p:nvPr/>
        </p:nvSpPr>
        <p:spPr>
          <a:xfrm>
            <a:off x="8321040" y="1737360"/>
            <a:ext cx="3657600" cy="4114800"/>
          </a:xfrm>
          <a:prstGeom prst="rect">
            <a:avLst/>
          </a:prstGeom>
          <a:solidFill>
            <a:srgbClr val="FFFFFF"/>
          </a:solidFill>
          <a:ln w="9525">
            <a:solidFill>
              <a:srgbClr val="E2E8F0"/>
            </a:solidFill>
            <a:prstDash val="solid"/>
          </a:ln>
          <a:effectLst>
            <a:outerShdw blurRad="127000" dist="38100" dir="8100000" algn="bl" rotWithShape="0">
              <a:srgbClr val="000000">
                <a:alpha val="10000"/>
              </a:srgbClr>
            </a:outerShdw>
          </a:effectLst>
        </p:spPr>
      </p:sp>
      <p:sp>
        <p:nvSpPr>
          <p:cNvPr id="24" name="Shape 22"/>
          <p:cNvSpPr/>
          <p:nvPr/>
        </p:nvSpPr>
        <p:spPr>
          <a:xfrm>
            <a:off x="8321040" y="1737360"/>
            <a:ext cx="3657600" cy="137160"/>
          </a:xfrm>
          <a:prstGeom prst="rect">
            <a:avLst/>
          </a:prstGeom>
          <a:solidFill>
            <a:srgbClr val="F96167"/>
          </a:solidFill>
          <a:ln w="12700">
            <a:solidFill>
              <a:srgbClr val="F96167"/>
            </a:solidFill>
            <a:prstDash val="solid"/>
          </a:ln>
        </p:spPr>
      </p:sp>
      <p:sp>
        <p:nvSpPr>
          <p:cNvPr id="25" name="Text 23"/>
          <p:cNvSpPr/>
          <p:nvPr/>
        </p:nvSpPr>
        <p:spPr>
          <a:xfrm>
            <a:off x="8549640" y="2011680"/>
            <a:ext cx="822960" cy="640080"/>
          </a:xfrm>
          <a:prstGeom prst="rect">
            <a:avLst/>
          </a:prstGeom>
          <a:noFill/>
          <a:ln/>
        </p:spPr>
        <p:txBody>
          <a:bodyPr wrap="square" lIns="0" tIns="0" rIns="0" bIns="0" rtlCol="0" anchor="ctr"/>
          <a:lstStyle/>
          <a:p>
            <a:pPr marL="0" indent="0">
              <a:buNone/>
            </a:pPr>
            <a:r>
              <a:rPr lang="en-US" sz="4200" b="1" dirty="0">
                <a:solidFill>
                  <a:srgbClr val="F96167"/>
                </a:solidFill>
                <a:latin typeface="Calibri" pitchFamily="34" charset="0"/>
                <a:ea typeface="Calibri" pitchFamily="34" charset="-122"/>
                <a:cs typeface="Calibri" pitchFamily="34" charset="-120"/>
              </a:rPr>
              <a:t>3</a:t>
            </a:r>
            <a:endParaRPr lang="en-US" sz="4200" dirty="0"/>
          </a:p>
        </p:txBody>
      </p:sp>
      <p:sp>
        <p:nvSpPr>
          <p:cNvPr id="26" name="Text 24"/>
          <p:cNvSpPr/>
          <p:nvPr/>
        </p:nvSpPr>
        <p:spPr>
          <a:xfrm>
            <a:off x="9372600" y="2148840"/>
            <a:ext cx="2560320" cy="320040"/>
          </a:xfrm>
          <a:prstGeom prst="rect">
            <a:avLst/>
          </a:prstGeom>
          <a:noFill/>
          <a:ln/>
        </p:spPr>
        <p:txBody>
          <a:bodyPr wrap="square" lIns="0" tIns="0" rIns="0" bIns="0" rtlCol="0" anchor="ctr"/>
          <a:lstStyle/>
          <a:p>
            <a:pPr marL="0" indent="0">
              <a:buNone/>
            </a:pPr>
            <a:r>
              <a:rPr lang="en-US" sz="1300" b="1" kern="0" spc="200" dirty="0">
                <a:solidFill>
                  <a:srgbClr val="F96167"/>
                </a:solidFill>
                <a:latin typeface="Calibri" pitchFamily="34" charset="0"/>
                <a:ea typeface="Calibri" pitchFamily="34" charset="-122"/>
                <a:cs typeface="Calibri" pitchFamily="34" charset="-120"/>
              </a:rPr>
              <a:t>MESURE</a:t>
            </a:r>
            <a:endParaRPr lang="en-US" sz="1300" dirty="0"/>
          </a:p>
        </p:txBody>
      </p:sp>
      <p:sp>
        <p:nvSpPr>
          <p:cNvPr id="27" name="Text 25"/>
          <p:cNvSpPr/>
          <p:nvPr/>
        </p:nvSpPr>
        <p:spPr>
          <a:xfrm>
            <a:off x="9372600" y="2423160"/>
            <a:ext cx="2560320" cy="32004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Mesurer</a:t>
            </a:r>
            <a:endParaRPr lang="en-US" sz="1100" dirty="0"/>
          </a:p>
        </p:txBody>
      </p:sp>
      <p:sp>
        <p:nvSpPr>
          <p:cNvPr id="28" name="Text 26"/>
          <p:cNvSpPr/>
          <p:nvPr/>
        </p:nvSpPr>
        <p:spPr>
          <a:xfrm>
            <a:off x="8549640" y="2926080"/>
            <a:ext cx="3200400" cy="1828800"/>
          </a:xfrm>
          <a:prstGeom prst="rect">
            <a:avLst/>
          </a:prstGeom>
          <a:noFill/>
          <a:ln/>
        </p:spPr>
        <p:txBody>
          <a:bodyPr wrap="square" lIns="0" tIns="0" rIns="0" bIns="0" rtlCol="0" anchor="t"/>
          <a:lstStyle/>
          <a:p>
            <a:pPr marL="0" indent="0">
              <a:buNone/>
            </a:pPr>
            <a:r>
              <a:rPr lang="en-US" sz="1200" dirty="0">
                <a:solidFill>
                  <a:srgbClr val="1E293B"/>
                </a:solidFill>
                <a:latin typeface="Calibri" pitchFamily="34" charset="0"/>
                <a:ea typeface="Calibri" pitchFamily="34" charset="-122"/>
                <a:cs typeface="Calibri" pitchFamily="34" charset="-120"/>
              </a:rPr>
              <a:t>Réconcilier l'attribution cross-canal quand chaque plateforme (Meta, Google, Amazon, TikTok) revendique sa propre conversion.</a:t>
            </a:r>
            <a:endParaRPr lang="en-US" sz="1200" dirty="0"/>
          </a:p>
        </p:txBody>
      </p:sp>
      <p:sp>
        <p:nvSpPr>
          <p:cNvPr id="29" name="Shape 27"/>
          <p:cNvSpPr/>
          <p:nvPr/>
        </p:nvSpPr>
        <p:spPr>
          <a:xfrm>
            <a:off x="8549640" y="4937760"/>
            <a:ext cx="3200400" cy="822960"/>
          </a:xfrm>
          <a:prstGeom prst="rect">
            <a:avLst/>
          </a:prstGeom>
          <a:solidFill>
            <a:srgbClr val="F5F8FC"/>
          </a:solidFill>
          <a:ln w="6350">
            <a:solidFill>
              <a:srgbClr val="F96167"/>
            </a:solidFill>
            <a:prstDash val="solid"/>
          </a:ln>
        </p:spPr>
      </p:sp>
      <p:sp>
        <p:nvSpPr>
          <p:cNvPr id="30" name="Text 28"/>
          <p:cNvSpPr/>
          <p:nvPr/>
        </p:nvSpPr>
        <p:spPr>
          <a:xfrm>
            <a:off x="8641080" y="4983480"/>
            <a:ext cx="3017520" cy="228600"/>
          </a:xfrm>
          <a:prstGeom prst="rect">
            <a:avLst/>
          </a:prstGeom>
          <a:noFill/>
          <a:ln/>
        </p:spPr>
        <p:txBody>
          <a:bodyPr wrap="square" lIns="0" tIns="0" rIns="0" bIns="0" rtlCol="0" anchor="ctr"/>
          <a:lstStyle/>
          <a:p>
            <a:pPr marL="0" indent="0">
              <a:buNone/>
            </a:pPr>
            <a:r>
              <a:rPr lang="en-US" sz="900" b="1" kern="0" spc="150" dirty="0">
                <a:solidFill>
                  <a:srgbClr val="F96167"/>
                </a:solidFill>
                <a:latin typeface="Calibri" pitchFamily="34" charset="0"/>
                <a:ea typeface="Calibri" pitchFamily="34" charset="-122"/>
                <a:cs typeface="Calibri" pitchFamily="34" charset="-120"/>
              </a:rPr>
              <a:t>EXEMPLE</a:t>
            </a:r>
            <a:endParaRPr lang="en-US" sz="900" dirty="0"/>
          </a:p>
        </p:txBody>
      </p:sp>
      <p:sp>
        <p:nvSpPr>
          <p:cNvPr id="31" name="Text 29"/>
          <p:cNvSpPr/>
          <p:nvPr/>
        </p:nvSpPr>
        <p:spPr>
          <a:xfrm>
            <a:off x="8641080" y="5212080"/>
            <a:ext cx="3017520" cy="502920"/>
          </a:xfrm>
          <a:prstGeom prst="rect">
            <a:avLst/>
          </a:prstGeom>
          <a:noFill/>
          <a:ln/>
        </p:spPr>
        <p:txBody>
          <a:bodyPr wrap="square" lIns="0" tIns="0" rIns="0" bIns="0" rtlCol="0" anchor="ctr"/>
          <a:lstStyle/>
          <a:p>
            <a:pPr marL="0" indent="0">
              <a:buNone/>
            </a:pPr>
            <a:r>
              <a:rPr lang="en-US" sz="1000" i="1" dirty="0">
                <a:solidFill>
                  <a:srgbClr val="1E293B"/>
                </a:solidFill>
                <a:latin typeface="Calibri" pitchFamily="34" charset="0"/>
                <a:ea typeface="Calibri" pitchFamily="34" charset="-122"/>
                <a:cs typeface="Calibri" pitchFamily="34" charset="-120"/>
              </a:rPr>
              <a:t>Brand × 5 plateformes : où va vraiment le budget ?</a:t>
            </a:r>
            <a:endParaRPr lang="en-US" sz="1000" dirty="0"/>
          </a:p>
        </p:txBody>
      </p:sp>
      <p:sp>
        <p:nvSpPr>
          <p:cNvPr id="32" name="Shape 30"/>
          <p:cNvSpPr/>
          <p:nvPr/>
        </p:nvSpPr>
        <p:spPr>
          <a:xfrm>
            <a:off x="548640" y="5989320"/>
            <a:ext cx="11064240" cy="457200"/>
          </a:xfrm>
          <a:prstGeom prst="rect">
            <a:avLst/>
          </a:prstGeom>
          <a:solidFill>
            <a:srgbClr val="0B1F3A"/>
          </a:solidFill>
          <a:ln w="12700">
            <a:solidFill>
              <a:srgbClr val="0B1F3A"/>
            </a:solidFill>
            <a:prstDash val="solid"/>
          </a:ln>
        </p:spPr>
      </p:sp>
      <p:sp>
        <p:nvSpPr>
          <p:cNvPr id="33" name="Text 31"/>
          <p:cNvSpPr/>
          <p:nvPr/>
        </p:nvSpPr>
        <p:spPr>
          <a:xfrm>
            <a:off x="640080" y="6007608"/>
            <a:ext cx="10881360" cy="411480"/>
          </a:xfrm>
          <a:prstGeom prst="rect">
            <a:avLst/>
          </a:prstGeom>
          <a:noFill/>
          <a:ln/>
        </p:spPr>
        <p:txBody>
          <a:bodyPr wrap="square" lIns="0" tIns="0" rIns="0" bIns="0" rtlCol="0" anchor="ctr"/>
          <a:lstStyle/>
          <a:p>
            <a:pPr marL="0" indent="0">
              <a:buNone/>
            </a:pPr>
            <a:r>
              <a:rPr lang="en-US" sz="1100" i="1" dirty="0">
                <a:solidFill>
                  <a:srgbClr val="F9B233"/>
                </a:solidFill>
                <a:latin typeface="Calibri" pitchFamily="34" charset="0"/>
                <a:ea typeface="Calibri" pitchFamily="34" charset="-122"/>
                <a:cs typeface="Calibri" pitchFamily="34" charset="-120"/>
              </a:rPr>
              <a:t>« La plus puissante des trois, c'est la MESURE. Si j'avais ma casquette de planneur, assurez-vous de toujours offrir la mesure. »  Interview Clearcode, 2023</a:t>
            </a:r>
            <a:endParaRPr lang="en-US" sz="1100" dirty="0"/>
          </a:p>
        </p:txBody>
      </p:sp>
      <p:sp>
        <p:nvSpPr>
          <p:cNvPr id="34" name="Shape 32"/>
          <p:cNvSpPr/>
          <p:nvPr/>
        </p:nvSpPr>
        <p:spPr>
          <a:xfrm>
            <a:off x="0" y="6583680"/>
            <a:ext cx="12191695" cy="274320"/>
          </a:xfrm>
          <a:prstGeom prst="rect">
            <a:avLst/>
          </a:prstGeom>
          <a:solidFill>
            <a:srgbClr val="0B1F3A"/>
          </a:solidFill>
          <a:ln w="12700">
            <a:solidFill>
              <a:srgbClr val="0B1F3A"/>
            </a:solidFill>
            <a:prstDash val="solid"/>
          </a:ln>
        </p:spPr>
      </p:sp>
      <p:sp>
        <p:nvSpPr>
          <p:cNvPr id="35" name="Text 33"/>
          <p:cNvSpPr/>
          <p:nvPr/>
        </p:nvSpPr>
        <p:spPr>
          <a:xfrm>
            <a:off x="365760" y="6601968"/>
            <a:ext cx="822960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Bonus  Voix du marché</a:t>
            </a:r>
            <a:endParaRPr lang="en-US" sz="1000" dirty="0"/>
          </a:p>
        </p:txBody>
      </p:sp>
      <p:sp>
        <p:nvSpPr>
          <p:cNvPr id="36" name="Text 34"/>
          <p:cNvSpPr/>
          <p:nvPr/>
        </p:nvSpPr>
        <p:spPr>
          <a:xfrm>
            <a:off x="11551615" y="6601968"/>
            <a:ext cx="365760" cy="237744"/>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54</a:t>
            </a:r>
            <a:endParaRPr lang="en-US" sz="10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57">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9144000" y="-1828800"/>
            <a:ext cx="6400800" cy="6400800"/>
          </a:xfrm>
          <a:prstGeom prst="ellipse">
            <a:avLst/>
          </a:prstGeom>
          <a:solidFill>
            <a:srgbClr val="F96167">
              <a:alpha val="12000"/>
            </a:srgbClr>
          </a:solidFill>
          <a:ln w="12700">
            <a:solidFill>
              <a:srgbClr val="F96167">
                <a:alpha val="12000"/>
              </a:srgbClr>
            </a:solidFill>
            <a:prstDash val="solid"/>
          </a:ln>
        </p:spPr>
      </p:sp>
      <p:sp>
        <p:nvSpPr>
          <p:cNvPr id="3" name="Text 1"/>
          <p:cNvSpPr/>
          <p:nvPr/>
        </p:nvSpPr>
        <p:spPr>
          <a:xfrm>
            <a:off x="548640" y="640080"/>
            <a:ext cx="10972800" cy="365760"/>
          </a:xfrm>
          <a:prstGeom prst="rect">
            <a:avLst/>
          </a:prstGeom>
          <a:noFill/>
          <a:ln/>
        </p:spPr>
        <p:txBody>
          <a:bodyPr wrap="square" lIns="0" tIns="0" rIns="0" bIns="0" rtlCol="0" anchor="ctr"/>
          <a:lstStyle/>
          <a:p>
            <a:pPr marL="0" indent="0">
              <a:buNone/>
            </a:pPr>
            <a:r>
              <a:rPr lang="en-US" sz="1300" b="1" kern="0" spc="300" dirty="0">
                <a:solidFill>
                  <a:srgbClr val="F9B233"/>
                </a:solidFill>
                <a:latin typeface="Calibri" pitchFamily="34" charset="0"/>
                <a:ea typeface="Calibri" pitchFamily="34" charset="-122"/>
                <a:cs typeface="Calibri" pitchFamily="34" charset="-120"/>
              </a:rPr>
              <a:t>LE PROBLÈME DES WALLED GARDENS</a:t>
            </a:r>
            <a:endParaRPr lang="en-US" sz="1300" dirty="0"/>
          </a:p>
        </p:txBody>
      </p:sp>
      <p:sp>
        <p:nvSpPr>
          <p:cNvPr id="4" name="Shape 2"/>
          <p:cNvSpPr/>
          <p:nvPr/>
        </p:nvSpPr>
        <p:spPr>
          <a:xfrm>
            <a:off x="548640" y="1097280"/>
            <a:ext cx="182880" cy="914400"/>
          </a:xfrm>
          <a:prstGeom prst="rect">
            <a:avLst/>
          </a:prstGeom>
          <a:solidFill>
            <a:srgbClr val="F96167"/>
          </a:solidFill>
          <a:ln w="12700">
            <a:solidFill>
              <a:srgbClr val="F96167"/>
            </a:solidFill>
            <a:prstDash val="solid"/>
          </a:ln>
        </p:spPr>
      </p:sp>
      <p:sp>
        <p:nvSpPr>
          <p:cNvPr id="5" name="Text 3"/>
          <p:cNvSpPr/>
          <p:nvPr/>
        </p:nvSpPr>
        <p:spPr>
          <a:xfrm>
            <a:off x="777240" y="1051560"/>
            <a:ext cx="10789920" cy="2103120"/>
          </a:xfrm>
          <a:prstGeom prst="rect">
            <a:avLst/>
          </a:prstGeom>
          <a:noFill/>
          <a:ln/>
        </p:spPr>
        <p:txBody>
          <a:bodyPr wrap="square" lIns="0" tIns="0" rIns="0" bIns="0" rtlCol="0" anchor="ctr"/>
          <a:lstStyle/>
          <a:p>
            <a:pPr marL="0" indent="0">
              <a:buNone/>
            </a:pPr>
            <a:r>
              <a:rPr lang="en-US" sz="2600" i="1" dirty="0">
                <a:solidFill>
                  <a:srgbClr val="FFFFFF"/>
                </a:solidFill>
                <a:latin typeface="Calibri" pitchFamily="34" charset="0"/>
                <a:ea typeface="Calibri" pitchFamily="34" charset="-122"/>
                <a:cs typeface="Calibri" pitchFamily="34" charset="-120"/>
              </a:rPr>
              <a:t>« Chacun d'entre eux est son propre walled garden… Mais une marque qui dépense 100 $ sur 5 plateformes ne sait toujours pas comment répartir son budget entre ces jardins. »</a:t>
            </a:r>
            <a:endParaRPr lang="en-US" sz="2600" dirty="0"/>
          </a:p>
        </p:txBody>
      </p:sp>
      <p:sp>
        <p:nvSpPr>
          <p:cNvPr id="6" name="Text 4"/>
          <p:cNvSpPr/>
          <p:nvPr/>
        </p:nvSpPr>
        <p:spPr>
          <a:xfrm>
            <a:off x="777240" y="3200400"/>
            <a:ext cx="10789920" cy="365760"/>
          </a:xfrm>
          <a:prstGeom prst="rect">
            <a:avLst/>
          </a:prstGeom>
          <a:noFill/>
          <a:ln/>
        </p:spPr>
        <p:txBody>
          <a:bodyPr wrap="square" lIns="0" tIns="0" rIns="0" bIns="0" rtlCol="0" anchor="ctr"/>
          <a:lstStyle/>
          <a:p>
            <a:pPr marL="0" indent="0">
              <a:buNone/>
            </a:pPr>
            <a:r>
              <a:rPr lang="en-US" sz="1300" i="1" dirty="0">
                <a:solidFill>
                  <a:srgbClr val="F9B233"/>
                </a:solidFill>
                <a:latin typeface="Calibri" pitchFamily="34" charset="0"/>
                <a:ea typeface="Calibri" pitchFamily="34" charset="-122"/>
                <a:cs typeface="Calibri" pitchFamily="34" charset="-120"/>
              </a:rPr>
              <a:t> Interview Clearcode, How DCRs Are Reshaping CPG, Media &amp; Data Collaboration (2023)</a:t>
            </a:r>
            <a:endParaRPr lang="en-US" sz="1300" dirty="0"/>
          </a:p>
        </p:txBody>
      </p:sp>
      <p:sp>
        <p:nvSpPr>
          <p:cNvPr id="7" name="Shape 5"/>
          <p:cNvSpPr/>
          <p:nvPr/>
        </p:nvSpPr>
        <p:spPr>
          <a:xfrm>
            <a:off x="1005840" y="4023360"/>
            <a:ext cx="1874520" cy="1371600"/>
          </a:xfrm>
          <a:prstGeom prst="rect">
            <a:avLst/>
          </a:prstGeom>
          <a:solidFill>
            <a:srgbClr val="1877F2"/>
          </a:solidFill>
          <a:ln w="12700">
            <a:solidFill>
              <a:srgbClr val="1877F2"/>
            </a:solidFill>
            <a:prstDash val="solid"/>
          </a:ln>
        </p:spPr>
      </p:sp>
      <p:sp>
        <p:nvSpPr>
          <p:cNvPr id="8" name="Text 6"/>
          <p:cNvSpPr/>
          <p:nvPr/>
        </p:nvSpPr>
        <p:spPr>
          <a:xfrm>
            <a:off x="1005840" y="4434840"/>
            <a:ext cx="187452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Meta</a:t>
            </a:r>
            <a:endParaRPr lang="en-US" sz="1400" dirty="0"/>
          </a:p>
        </p:txBody>
      </p:sp>
      <p:sp>
        <p:nvSpPr>
          <p:cNvPr id="9" name="Text 7"/>
          <p:cNvSpPr/>
          <p:nvPr/>
        </p:nvSpPr>
        <p:spPr>
          <a:xfrm>
            <a:off x="1005840" y="4754880"/>
            <a:ext cx="1874520" cy="274320"/>
          </a:xfrm>
          <a:prstGeom prst="rect">
            <a:avLst/>
          </a:prstGeom>
          <a:noFill/>
          <a:ln/>
        </p:spPr>
        <p:txBody>
          <a:bodyPr wrap="square" lIns="0" tIns="0" rIns="0" bIns="0" rtlCol="0" anchor="ctr"/>
          <a:lstStyle/>
          <a:p>
            <a:pPr marL="0" indent="0" algn="ctr">
              <a:buNone/>
            </a:pPr>
            <a:r>
              <a:rPr lang="en-US" sz="900" i="1" dirty="0">
                <a:solidFill>
                  <a:srgbClr val="FFFFFF"/>
                </a:solidFill>
                <a:latin typeface="Calibri" pitchFamily="34" charset="0"/>
                <a:ea typeface="Calibri" pitchFamily="34" charset="-122"/>
                <a:cs typeface="Calibri" pitchFamily="34" charset="-120"/>
              </a:rPr>
              <a:t>Mon attribution</a:t>
            </a:r>
            <a:endParaRPr lang="en-US" sz="900" dirty="0"/>
          </a:p>
        </p:txBody>
      </p:sp>
      <p:sp>
        <p:nvSpPr>
          <p:cNvPr id="10" name="Text 8"/>
          <p:cNvSpPr/>
          <p:nvPr/>
        </p:nvSpPr>
        <p:spPr>
          <a:xfrm>
            <a:off x="1005840" y="4937760"/>
            <a:ext cx="1874520" cy="274320"/>
          </a:xfrm>
          <a:prstGeom prst="rect">
            <a:avLst/>
          </a:prstGeom>
          <a:noFill/>
          <a:ln/>
        </p:spPr>
        <p:txBody>
          <a:bodyPr wrap="square" lIns="0" tIns="0" rIns="0" bIns="0" rtlCol="0" anchor="ctr"/>
          <a:lstStyle/>
          <a:p>
            <a:pPr marL="0" indent="0" algn="ctr">
              <a:buNone/>
            </a:pPr>
            <a:r>
              <a:rPr lang="en-US" sz="900" i="1" dirty="0">
                <a:solidFill>
                  <a:srgbClr val="FFFFFF"/>
                </a:solidFill>
                <a:latin typeface="Calibri" pitchFamily="34" charset="0"/>
                <a:ea typeface="Calibri" pitchFamily="34" charset="-122"/>
                <a:cs typeface="Calibri" pitchFamily="34" charset="-120"/>
              </a:rPr>
              <a:t>est la meilleure</a:t>
            </a:r>
            <a:endParaRPr lang="en-US" sz="900" dirty="0"/>
          </a:p>
        </p:txBody>
      </p:sp>
      <p:sp>
        <p:nvSpPr>
          <p:cNvPr id="11" name="Shape 9"/>
          <p:cNvSpPr/>
          <p:nvPr/>
        </p:nvSpPr>
        <p:spPr>
          <a:xfrm>
            <a:off x="3200400" y="4023360"/>
            <a:ext cx="1874520" cy="1371600"/>
          </a:xfrm>
          <a:prstGeom prst="rect">
            <a:avLst/>
          </a:prstGeom>
          <a:solidFill>
            <a:srgbClr val="4285F4"/>
          </a:solidFill>
          <a:ln w="12700">
            <a:solidFill>
              <a:srgbClr val="4285F4"/>
            </a:solidFill>
            <a:prstDash val="solid"/>
          </a:ln>
        </p:spPr>
      </p:sp>
      <p:sp>
        <p:nvSpPr>
          <p:cNvPr id="12" name="Text 10"/>
          <p:cNvSpPr/>
          <p:nvPr/>
        </p:nvSpPr>
        <p:spPr>
          <a:xfrm>
            <a:off x="3200400" y="4434840"/>
            <a:ext cx="187452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Google</a:t>
            </a:r>
            <a:endParaRPr lang="en-US" sz="1400" dirty="0"/>
          </a:p>
        </p:txBody>
      </p:sp>
      <p:sp>
        <p:nvSpPr>
          <p:cNvPr id="13" name="Text 11"/>
          <p:cNvSpPr/>
          <p:nvPr/>
        </p:nvSpPr>
        <p:spPr>
          <a:xfrm>
            <a:off x="3200400" y="4754880"/>
            <a:ext cx="1874520" cy="274320"/>
          </a:xfrm>
          <a:prstGeom prst="rect">
            <a:avLst/>
          </a:prstGeom>
          <a:noFill/>
          <a:ln/>
        </p:spPr>
        <p:txBody>
          <a:bodyPr wrap="square" lIns="0" tIns="0" rIns="0" bIns="0" rtlCol="0" anchor="ctr"/>
          <a:lstStyle/>
          <a:p>
            <a:pPr marL="0" indent="0" algn="ctr">
              <a:buNone/>
            </a:pPr>
            <a:r>
              <a:rPr lang="en-US" sz="900" i="1" dirty="0">
                <a:solidFill>
                  <a:srgbClr val="FFFFFF"/>
                </a:solidFill>
                <a:latin typeface="Calibri" pitchFamily="34" charset="0"/>
                <a:ea typeface="Calibri" pitchFamily="34" charset="-122"/>
                <a:cs typeface="Calibri" pitchFamily="34" charset="-120"/>
              </a:rPr>
              <a:t>Mon attribution</a:t>
            </a:r>
            <a:endParaRPr lang="en-US" sz="900" dirty="0"/>
          </a:p>
        </p:txBody>
      </p:sp>
      <p:sp>
        <p:nvSpPr>
          <p:cNvPr id="14" name="Text 12"/>
          <p:cNvSpPr/>
          <p:nvPr/>
        </p:nvSpPr>
        <p:spPr>
          <a:xfrm>
            <a:off x="3200400" y="4937760"/>
            <a:ext cx="1874520" cy="274320"/>
          </a:xfrm>
          <a:prstGeom prst="rect">
            <a:avLst/>
          </a:prstGeom>
          <a:noFill/>
          <a:ln/>
        </p:spPr>
        <p:txBody>
          <a:bodyPr wrap="square" lIns="0" tIns="0" rIns="0" bIns="0" rtlCol="0" anchor="ctr"/>
          <a:lstStyle/>
          <a:p>
            <a:pPr marL="0" indent="0" algn="ctr">
              <a:buNone/>
            </a:pPr>
            <a:r>
              <a:rPr lang="en-US" sz="900" i="1" dirty="0">
                <a:solidFill>
                  <a:srgbClr val="FFFFFF"/>
                </a:solidFill>
                <a:latin typeface="Calibri" pitchFamily="34" charset="0"/>
                <a:ea typeface="Calibri" pitchFamily="34" charset="-122"/>
                <a:cs typeface="Calibri" pitchFamily="34" charset="-120"/>
              </a:rPr>
              <a:t>est la meilleure</a:t>
            </a:r>
            <a:endParaRPr lang="en-US" sz="900" dirty="0"/>
          </a:p>
        </p:txBody>
      </p:sp>
      <p:sp>
        <p:nvSpPr>
          <p:cNvPr id="15" name="Shape 13"/>
          <p:cNvSpPr/>
          <p:nvPr/>
        </p:nvSpPr>
        <p:spPr>
          <a:xfrm>
            <a:off x="5394960" y="4023360"/>
            <a:ext cx="1874520" cy="1371600"/>
          </a:xfrm>
          <a:prstGeom prst="rect">
            <a:avLst/>
          </a:prstGeom>
          <a:solidFill>
            <a:srgbClr val="FF9900"/>
          </a:solidFill>
          <a:ln w="12700">
            <a:solidFill>
              <a:srgbClr val="FF9900"/>
            </a:solidFill>
            <a:prstDash val="solid"/>
          </a:ln>
        </p:spPr>
      </p:sp>
      <p:sp>
        <p:nvSpPr>
          <p:cNvPr id="16" name="Text 14"/>
          <p:cNvSpPr/>
          <p:nvPr/>
        </p:nvSpPr>
        <p:spPr>
          <a:xfrm>
            <a:off x="5394960" y="4434840"/>
            <a:ext cx="187452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Amazon</a:t>
            </a:r>
            <a:endParaRPr lang="en-US" sz="1400" dirty="0"/>
          </a:p>
        </p:txBody>
      </p:sp>
      <p:sp>
        <p:nvSpPr>
          <p:cNvPr id="17" name="Text 15"/>
          <p:cNvSpPr/>
          <p:nvPr/>
        </p:nvSpPr>
        <p:spPr>
          <a:xfrm>
            <a:off x="5394960" y="4754880"/>
            <a:ext cx="1874520" cy="274320"/>
          </a:xfrm>
          <a:prstGeom prst="rect">
            <a:avLst/>
          </a:prstGeom>
          <a:noFill/>
          <a:ln/>
        </p:spPr>
        <p:txBody>
          <a:bodyPr wrap="square" lIns="0" tIns="0" rIns="0" bIns="0" rtlCol="0" anchor="ctr"/>
          <a:lstStyle/>
          <a:p>
            <a:pPr marL="0" indent="0" algn="ctr">
              <a:buNone/>
            </a:pPr>
            <a:r>
              <a:rPr lang="en-US" sz="900" i="1" dirty="0">
                <a:solidFill>
                  <a:srgbClr val="FFFFFF"/>
                </a:solidFill>
                <a:latin typeface="Calibri" pitchFamily="34" charset="0"/>
                <a:ea typeface="Calibri" pitchFamily="34" charset="-122"/>
                <a:cs typeface="Calibri" pitchFamily="34" charset="-120"/>
              </a:rPr>
              <a:t>Mon attribution</a:t>
            </a:r>
            <a:endParaRPr lang="en-US" sz="900" dirty="0"/>
          </a:p>
        </p:txBody>
      </p:sp>
      <p:sp>
        <p:nvSpPr>
          <p:cNvPr id="18" name="Text 16"/>
          <p:cNvSpPr/>
          <p:nvPr/>
        </p:nvSpPr>
        <p:spPr>
          <a:xfrm>
            <a:off x="5394960" y="4937760"/>
            <a:ext cx="1874520" cy="274320"/>
          </a:xfrm>
          <a:prstGeom prst="rect">
            <a:avLst/>
          </a:prstGeom>
          <a:noFill/>
          <a:ln/>
        </p:spPr>
        <p:txBody>
          <a:bodyPr wrap="square" lIns="0" tIns="0" rIns="0" bIns="0" rtlCol="0" anchor="ctr"/>
          <a:lstStyle/>
          <a:p>
            <a:pPr marL="0" indent="0" algn="ctr">
              <a:buNone/>
            </a:pPr>
            <a:r>
              <a:rPr lang="en-US" sz="900" i="1" dirty="0">
                <a:solidFill>
                  <a:srgbClr val="FFFFFF"/>
                </a:solidFill>
                <a:latin typeface="Calibri" pitchFamily="34" charset="0"/>
                <a:ea typeface="Calibri" pitchFamily="34" charset="-122"/>
                <a:cs typeface="Calibri" pitchFamily="34" charset="-120"/>
              </a:rPr>
              <a:t>est la meilleure</a:t>
            </a:r>
            <a:endParaRPr lang="en-US" sz="900" dirty="0"/>
          </a:p>
        </p:txBody>
      </p:sp>
      <p:sp>
        <p:nvSpPr>
          <p:cNvPr id="19" name="Shape 17"/>
          <p:cNvSpPr/>
          <p:nvPr/>
        </p:nvSpPr>
        <p:spPr>
          <a:xfrm>
            <a:off x="7589520" y="4023360"/>
            <a:ext cx="1874520" cy="1371600"/>
          </a:xfrm>
          <a:prstGeom prst="rect">
            <a:avLst/>
          </a:prstGeom>
          <a:solidFill>
            <a:srgbClr val="000000"/>
          </a:solidFill>
          <a:ln w="12700">
            <a:solidFill>
              <a:srgbClr val="000000"/>
            </a:solidFill>
            <a:prstDash val="solid"/>
          </a:ln>
        </p:spPr>
      </p:sp>
      <p:sp>
        <p:nvSpPr>
          <p:cNvPr id="20" name="Text 18"/>
          <p:cNvSpPr/>
          <p:nvPr/>
        </p:nvSpPr>
        <p:spPr>
          <a:xfrm>
            <a:off x="7589520" y="4434840"/>
            <a:ext cx="187452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TikTok</a:t>
            </a:r>
            <a:endParaRPr lang="en-US" sz="1400" dirty="0"/>
          </a:p>
        </p:txBody>
      </p:sp>
      <p:sp>
        <p:nvSpPr>
          <p:cNvPr id="21" name="Text 19"/>
          <p:cNvSpPr/>
          <p:nvPr/>
        </p:nvSpPr>
        <p:spPr>
          <a:xfrm>
            <a:off x="7589520" y="4754880"/>
            <a:ext cx="1874520" cy="274320"/>
          </a:xfrm>
          <a:prstGeom prst="rect">
            <a:avLst/>
          </a:prstGeom>
          <a:noFill/>
          <a:ln/>
        </p:spPr>
        <p:txBody>
          <a:bodyPr wrap="square" lIns="0" tIns="0" rIns="0" bIns="0" rtlCol="0" anchor="ctr"/>
          <a:lstStyle/>
          <a:p>
            <a:pPr marL="0" indent="0" algn="ctr">
              <a:buNone/>
            </a:pPr>
            <a:r>
              <a:rPr lang="en-US" sz="900" i="1" dirty="0">
                <a:solidFill>
                  <a:srgbClr val="FFFFFF"/>
                </a:solidFill>
                <a:latin typeface="Calibri" pitchFamily="34" charset="0"/>
                <a:ea typeface="Calibri" pitchFamily="34" charset="-122"/>
                <a:cs typeface="Calibri" pitchFamily="34" charset="-120"/>
              </a:rPr>
              <a:t>Mon attribution</a:t>
            </a:r>
            <a:endParaRPr lang="en-US" sz="900" dirty="0"/>
          </a:p>
        </p:txBody>
      </p:sp>
      <p:sp>
        <p:nvSpPr>
          <p:cNvPr id="22" name="Text 20"/>
          <p:cNvSpPr/>
          <p:nvPr/>
        </p:nvSpPr>
        <p:spPr>
          <a:xfrm>
            <a:off x="7589520" y="4937760"/>
            <a:ext cx="1874520" cy="274320"/>
          </a:xfrm>
          <a:prstGeom prst="rect">
            <a:avLst/>
          </a:prstGeom>
          <a:noFill/>
          <a:ln/>
        </p:spPr>
        <p:txBody>
          <a:bodyPr wrap="square" lIns="0" tIns="0" rIns="0" bIns="0" rtlCol="0" anchor="ctr"/>
          <a:lstStyle/>
          <a:p>
            <a:pPr marL="0" indent="0" algn="ctr">
              <a:buNone/>
            </a:pPr>
            <a:r>
              <a:rPr lang="en-US" sz="900" i="1" dirty="0">
                <a:solidFill>
                  <a:srgbClr val="FFFFFF"/>
                </a:solidFill>
                <a:latin typeface="Calibri" pitchFamily="34" charset="0"/>
                <a:ea typeface="Calibri" pitchFamily="34" charset="-122"/>
                <a:cs typeface="Calibri" pitchFamily="34" charset="-120"/>
              </a:rPr>
              <a:t>est la meilleure</a:t>
            </a:r>
            <a:endParaRPr lang="en-US" sz="900" dirty="0"/>
          </a:p>
        </p:txBody>
      </p:sp>
      <p:sp>
        <p:nvSpPr>
          <p:cNvPr id="23" name="Shape 21"/>
          <p:cNvSpPr/>
          <p:nvPr/>
        </p:nvSpPr>
        <p:spPr>
          <a:xfrm>
            <a:off x="9784080" y="4023360"/>
            <a:ext cx="1874520" cy="1371600"/>
          </a:xfrm>
          <a:prstGeom prst="rect">
            <a:avLst/>
          </a:prstGeom>
          <a:solidFill>
            <a:srgbClr val="6F42C1"/>
          </a:solidFill>
          <a:ln w="12700">
            <a:solidFill>
              <a:srgbClr val="6F42C1"/>
            </a:solidFill>
            <a:prstDash val="solid"/>
          </a:ln>
        </p:spPr>
      </p:sp>
      <p:sp>
        <p:nvSpPr>
          <p:cNvPr id="24" name="Text 22"/>
          <p:cNvSpPr/>
          <p:nvPr/>
        </p:nvSpPr>
        <p:spPr>
          <a:xfrm>
            <a:off x="9784080" y="4434840"/>
            <a:ext cx="187452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The Trade Desk</a:t>
            </a:r>
            <a:endParaRPr lang="en-US" sz="1400" dirty="0"/>
          </a:p>
        </p:txBody>
      </p:sp>
      <p:sp>
        <p:nvSpPr>
          <p:cNvPr id="25" name="Text 23"/>
          <p:cNvSpPr/>
          <p:nvPr/>
        </p:nvSpPr>
        <p:spPr>
          <a:xfrm>
            <a:off x="9784080" y="4754880"/>
            <a:ext cx="1874520" cy="274320"/>
          </a:xfrm>
          <a:prstGeom prst="rect">
            <a:avLst/>
          </a:prstGeom>
          <a:noFill/>
          <a:ln/>
        </p:spPr>
        <p:txBody>
          <a:bodyPr wrap="square" lIns="0" tIns="0" rIns="0" bIns="0" rtlCol="0" anchor="ctr"/>
          <a:lstStyle/>
          <a:p>
            <a:pPr marL="0" indent="0" algn="ctr">
              <a:buNone/>
            </a:pPr>
            <a:r>
              <a:rPr lang="en-US" sz="900" i="1" dirty="0">
                <a:solidFill>
                  <a:srgbClr val="FFFFFF"/>
                </a:solidFill>
                <a:latin typeface="Calibri" pitchFamily="34" charset="0"/>
                <a:ea typeface="Calibri" pitchFamily="34" charset="-122"/>
                <a:cs typeface="Calibri" pitchFamily="34" charset="-120"/>
              </a:rPr>
              <a:t>Mon attribution</a:t>
            </a:r>
            <a:endParaRPr lang="en-US" sz="900" dirty="0"/>
          </a:p>
        </p:txBody>
      </p:sp>
      <p:sp>
        <p:nvSpPr>
          <p:cNvPr id="26" name="Text 24"/>
          <p:cNvSpPr/>
          <p:nvPr/>
        </p:nvSpPr>
        <p:spPr>
          <a:xfrm>
            <a:off x="9784080" y="4937760"/>
            <a:ext cx="1874520" cy="274320"/>
          </a:xfrm>
          <a:prstGeom prst="rect">
            <a:avLst/>
          </a:prstGeom>
          <a:noFill/>
          <a:ln/>
        </p:spPr>
        <p:txBody>
          <a:bodyPr wrap="square" lIns="0" tIns="0" rIns="0" bIns="0" rtlCol="0" anchor="ctr"/>
          <a:lstStyle/>
          <a:p>
            <a:pPr marL="0" indent="0" algn="ctr">
              <a:buNone/>
            </a:pPr>
            <a:r>
              <a:rPr lang="en-US" sz="900" i="1" dirty="0">
                <a:solidFill>
                  <a:srgbClr val="FFFFFF"/>
                </a:solidFill>
                <a:latin typeface="Calibri" pitchFamily="34" charset="0"/>
                <a:ea typeface="Calibri" pitchFamily="34" charset="-122"/>
                <a:cs typeface="Calibri" pitchFamily="34" charset="-120"/>
              </a:rPr>
              <a:t>est la meilleure</a:t>
            </a:r>
            <a:endParaRPr lang="en-US" sz="900" dirty="0"/>
          </a:p>
        </p:txBody>
      </p:sp>
      <p:sp>
        <p:nvSpPr>
          <p:cNvPr id="27" name="Text 25"/>
          <p:cNvSpPr/>
          <p:nvPr/>
        </p:nvSpPr>
        <p:spPr>
          <a:xfrm>
            <a:off x="548640" y="5623560"/>
            <a:ext cx="11064240" cy="731520"/>
          </a:xfrm>
          <a:prstGeom prst="rect">
            <a:avLst/>
          </a:prstGeom>
          <a:noFill/>
          <a:ln/>
        </p:spPr>
        <p:txBody>
          <a:bodyPr wrap="square" lIns="0" tIns="0" rIns="0" bIns="0" rtlCol="0" anchor="ctr"/>
          <a:lstStyle/>
          <a:p>
            <a:pPr marL="0" indent="0" algn="ctr">
              <a:buNone/>
            </a:pPr>
            <a:r>
              <a:rPr lang="en-US" sz="1400" i="1" dirty="0">
                <a:solidFill>
                  <a:srgbClr val="E2E8F0"/>
                </a:solidFill>
                <a:latin typeface="Calibri" pitchFamily="34" charset="0"/>
                <a:ea typeface="Calibri" pitchFamily="34" charset="-122"/>
                <a:cs typeface="Calibri" pitchFamily="34" charset="-120"/>
              </a:rPr>
              <a:t>Sans DCR neutre, impossible de comparer les conversions d'une plateforme à l'autre → chaque silo revendique sa victoire, le brand paie en double.</a:t>
            </a:r>
            <a:endParaRPr lang="en-US" sz="1400" dirty="0"/>
          </a:p>
        </p:txBody>
      </p:sp>
      <p:sp>
        <p:nvSpPr>
          <p:cNvPr id="28" name="Shape 26"/>
          <p:cNvSpPr/>
          <p:nvPr/>
        </p:nvSpPr>
        <p:spPr>
          <a:xfrm>
            <a:off x="0" y="6583680"/>
            <a:ext cx="12191695" cy="274320"/>
          </a:xfrm>
          <a:prstGeom prst="rect">
            <a:avLst/>
          </a:prstGeom>
          <a:solidFill>
            <a:srgbClr val="0B1F3A"/>
          </a:solidFill>
          <a:ln w="12700">
            <a:solidFill>
              <a:srgbClr val="0B1F3A"/>
            </a:solidFill>
            <a:prstDash val="solid"/>
          </a:ln>
        </p:spPr>
      </p:sp>
      <p:sp>
        <p:nvSpPr>
          <p:cNvPr id="29" name="Text 27"/>
          <p:cNvSpPr/>
          <p:nvPr/>
        </p:nvSpPr>
        <p:spPr>
          <a:xfrm>
            <a:off x="365760" y="6601968"/>
            <a:ext cx="822960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Bonus  Voix du marché</a:t>
            </a:r>
            <a:endParaRPr lang="en-US" sz="1000" dirty="0"/>
          </a:p>
        </p:txBody>
      </p:sp>
      <p:sp>
        <p:nvSpPr>
          <p:cNvPr id="30" name="Text 28"/>
          <p:cNvSpPr/>
          <p:nvPr/>
        </p:nvSpPr>
        <p:spPr>
          <a:xfrm>
            <a:off x="11551615" y="6601968"/>
            <a:ext cx="365760" cy="237744"/>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55</a:t>
            </a:r>
            <a:endParaRPr lang="en-US" sz="10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58">
    <p:bg>
      <p:bgPr>
        <a:solidFill>
          <a:srgbClr val="F5F8FC"/>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731520"/>
          </a:xfrm>
          <a:prstGeom prst="rect">
            <a:avLst/>
          </a:prstGeom>
          <a:noFill/>
          <a:ln/>
        </p:spPr>
        <p:txBody>
          <a:bodyPr wrap="square" lIns="0" tIns="0" rIns="0" bIns="0" rtlCol="0" anchor="ctr"/>
          <a:lstStyle/>
          <a:p>
            <a:pPr marL="0" indent="0" algn="l">
              <a:buNone/>
            </a:pPr>
            <a:r>
              <a:rPr lang="en-US" sz="3200" b="1" dirty="0">
                <a:solidFill>
                  <a:srgbClr val="0B1F3A"/>
                </a:solidFill>
                <a:latin typeface="Calibri" pitchFamily="34" charset="0"/>
                <a:ea typeface="Calibri" pitchFamily="34" charset="-122"/>
                <a:cs typeface="Calibri" pitchFamily="34" charset="-120"/>
              </a:rPr>
              <a:t>Le modèle le plus privacy-preserving : seul le modèle sort</a:t>
            </a:r>
            <a:endParaRPr lang="en-US" sz="3200" dirty="0"/>
          </a:p>
        </p:txBody>
      </p:sp>
      <p:sp>
        <p:nvSpPr>
          <p:cNvPr id="3" name="Shape 1"/>
          <p:cNvSpPr/>
          <p:nvPr/>
        </p:nvSpPr>
        <p:spPr>
          <a:xfrm>
            <a:off x="548640" y="1005840"/>
            <a:ext cx="548640" cy="73152"/>
          </a:xfrm>
          <a:prstGeom prst="rect">
            <a:avLst/>
          </a:prstGeom>
          <a:solidFill>
            <a:srgbClr val="F96167"/>
          </a:solidFill>
          <a:ln w="12700">
            <a:solidFill>
              <a:srgbClr val="F96167"/>
            </a:solidFill>
            <a:prstDash val="solid"/>
          </a:ln>
        </p:spPr>
      </p:sp>
      <p:sp>
        <p:nvSpPr>
          <p:cNvPr id="4" name="Text 2"/>
          <p:cNvSpPr/>
          <p:nvPr/>
        </p:nvSpPr>
        <p:spPr>
          <a:xfrm>
            <a:off x="548640" y="1143000"/>
            <a:ext cx="11064240" cy="411480"/>
          </a:xfrm>
          <a:prstGeom prst="rect">
            <a:avLst/>
          </a:prstGeom>
          <a:noFill/>
          <a:ln/>
        </p:spPr>
        <p:txBody>
          <a:bodyPr wrap="square" lIns="0" tIns="0" rIns="0" bIns="0" rtlCol="0" anchor="ctr"/>
          <a:lstStyle/>
          <a:p>
            <a:pPr marL="0" indent="0" algn="l">
              <a:buNone/>
            </a:pPr>
            <a:r>
              <a:rPr lang="en-US" sz="1600" i="1" dirty="0">
                <a:solidFill>
                  <a:srgbClr val="1C7293"/>
                </a:solidFill>
                <a:latin typeface="Calibri" pitchFamily="34" charset="0"/>
                <a:ea typeface="Calibri" pitchFamily="34" charset="-122"/>
                <a:cs typeface="Calibri" pitchFamily="34" charset="-120"/>
              </a:rPr>
              <a:t>Confidential computing + tiers de confiance </a:t>
            </a:r>
            <a:r>
              <a:rPr lang="en-US" sz="1600" i="1" dirty="0" err="1">
                <a:solidFill>
                  <a:srgbClr val="1C7293"/>
                </a:solidFill>
                <a:latin typeface="Calibri" pitchFamily="34" charset="0"/>
                <a:ea typeface="Calibri" pitchFamily="34" charset="-122"/>
                <a:cs typeface="Calibri" pitchFamily="34" charset="-120"/>
              </a:rPr>
              <a:t>neutre</a:t>
            </a:r>
            <a:r>
              <a:rPr lang="en-US" sz="1600" i="1" dirty="0">
                <a:solidFill>
                  <a:srgbClr val="1C7293"/>
                </a:solidFill>
                <a:latin typeface="Calibri" pitchFamily="34" charset="0"/>
                <a:ea typeface="Calibri" pitchFamily="34" charset="-122"/>
                <a:cs typeface="Calibri" pitchFamily="34" charset="-120"/>
              </a:rPr>
              <a:t>  ce que défend Decentriq</a:t>
            </a:r>
            <a:endParaRPr lang="en-US" sz="1600" dirty="0"/>
          </a:p>
        </p:txBody>
      </p:sp>
      <p:sp>
        <p:nvSpPr>
          <p:cNvPr id="5" name="Shape 3"/>
          <p:cNvSpPr/>
          <p:nvPr/>
        </p:nvSpPr>
        <p:spPr>
          <a:xfrm>
            <a:off x="548640" y="1691640"/>
            <a:ext cx="6217920" cy="4572000"/>
          </a:xfrm>
          <a:prstGeom prst="rect">
            <a:avLst/>
          </a:prstGeom>
          <a:solidFill>
            <a:srgbClr val="0B1F3A"/>
          </a:solidFill>
          <a:ln w="12700">
            <a:solidFill>
              <a:srgbClr val="0B1F3A"/>
            </a:solidFill>
            <a:prstDash val="solid"/>
          </a:ln>
          <a:effectLst>
            <a:outerShdw blurRad="127000" dist="38100" dir="8100000" algn="bl" rotWithShape="0">
              <a:srgbClr val="000000">
                <a:alpha val="10000"/>
              </a:srgbClr>
            </a:outerShdw>
          </a:effectLst>
        </p:spPr>
      </p:sp>
      <p:sp>
        <p:nvSpPr>
          <p:cNvPr id="6" name="Shape 4"/>
          <p:cNvSpPr/>
          <p:nvPr/>
        </p:nvSpPr>
        <p:spPr>
          <a:xfrm>
            <a:off x="548640" y="1691640"/>
            <a:ext cx="137160" cy="4572000"/>
          </a:xfrm>
          <a:prstGeom prst="rect">
            <a:avLst/>
          </a:prstGeom>
          <a:solidFill>
            <a:srgbClr val="F96167"/>
          </a:solidFill>
          <a:ln w="12700">
            <a:solidFill>
              <a:srgbClr val="F96167"/>
            </a:solidFill>
            <a:prstDash val="solid"/>
          </a:ln>
        </p:spPr>
      </p:sp>
      <p:sp>
        <p:nvSpPr>
          <p:cNvPr id="7" name="Text 5"/>
          <p:cNvSpPr/>
          <p:nvPr/>
        </p:nvSpPr>
        <p:spPr>
          <a:xfrm>
            <a:off x="822960" y="1874520"/>
            <a:ext cx="5486400" cy="274320"/>
          </a:xfrm>
          <a:prstGeom prst="rect">
            <a:avLst/>
          </a:prstGeom>
          <a:noFill/>
          <a:ln/>
        </p:spPr>
        <p:txBody>
          <a:bodyPr wrap="square" lIns="0" tIns="0" rIns="0" bIns="0" rtlCol="0" anchor="ctr"/>
          <a:lstStyle/>
          <a:p>
            <a:pPr marL="0" indent="0">
              <a:buNone/>
            </a:pPr>
            <a:r>
              <a:rPr lang="en-US" sz="1100" b="1" kern="0" spc="200" dirty="0">
                <a:solidFill>
                  <a:srgbClr val="F9B233"/>
                </a:solidFill>
                <a:latin typeface="Calibri" pitchFamily="34" charset="0"/>
                <a:ea typeface="Calibri" pitchFamily="34" charset="-122"/>
                <a:cs typeface="Calibri" pitchFamily="34" charset="-120"/>
              </a:rPr>
              <a:t>CITATION</a:t>
            </a:r>
            <a:endParaRPr lang="en-US" sz="1100" dirty="0"/>
          </a:p>
        </p:txBody>
      </p:sp>
      <p:sp>
        <p:nvSpPr>
          <p:cNvPr id="8" name="Text 6"/>
          <p:cNvSpPr/>
          <p:nvPr/>
        </p:nvSpPr>
        <p:spPr>
          <a:xfrm>
            <a:off x="822960" y="2240280"/>
            <a:ext cx="5760720" cy="2468880"/>
          </a:xfrm>
          <a:prstGeom prst="rect">
            <a:avLst/>
          </a:prstGeom>
          <a:noFill/>
          <a:ln/>
        </p:spPr>
        <p:txBody>
          <a:bodyPr wrap="square" lIns="0" tIns="0" rIns="0" bIns="0" rtlCol="0" anchor="ctr"/>
          <a:lstStyle/>
          <a:p>
            <a:pPr marL="0" indent="0">
              <a:buNone/>
            </a:pPr>
            <a:r>
              <a:rPr lang="en-US" sz="1900" i="1" dirty="0">
                <a:solidFill>
                  <a:srgbClr val="FFFFFF"/>
                </a:solidFill>
                <a:latin typeface="Calibri" pitchFamily="34" charset="0"/>
                <a:ea typeface="Calibri" pitchFamily="34" charset="-122"/>
                <a:cs typeface="Calibri" pitchFamily="34" charset="-120"/>
              </a:rPr>
              <a:t>« La seule chose qui sort de la Data Clean Room, c'est le modèle lui-même. C'est le type de collaboration le plus privacy-preserving qu'on puisse imaginer. »</a:t>
            </a:r>
            <a:endParaRPr lang="en-US" sz="1900" dirty="0"/>
          </a:p>
        </p:txBody>
      </p:sp>
      <p:sp>
        <p:nvSpPr>
          <p:cNvPr id="9" name="Text 7"/>
          <p:cNvSpPr/>
          <p:nvPr/>
        </p:nvSpPr>
        <p:spPr>
          <a:xfrm>
            <a:off x="822960" y="4937760"/>
            <a:ext cx="548640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Juan Baron</a:t>
            </a:r>
            <a:endParaRPr lang="en-US" sz="1600" dirty="0"/>
          </a:p>
        </p:txBody>
      </p:sp>
      <p:sp>
        <p:nvSpPr>
          <p:cNvPr id="10" name="Text 8"/>
          <p:cNvSpPr/>
          <p:nvPr/>
        </p:nvSpPr>
        <p:spPr>
          <a:xfrm>
            <a:off x="822960" y="5257800"/>
            <a:ext cx="5486400" cy="320040"/>
          </a:xfrm>
          <a:prstGeom prst="rect">
            <a:avLst/>
          </a:prstGeom>
          <a:noFill/>
          <a:ln/>
        </p:spPr>
        <p:txBody>
          <a:bodyPr wrap="square" lIns="0" tIns="0" rIns="0" bIns="0" rtlCol="0" anchor="ctr"/>
          <a:lstStyle/>
          <a:p>
            <a:pPr marL="0" indent="0">
              <a:buNone/>
            </a:pPr>
            <a:r>
              <a:rPr lang="en-US" sz="1200" i="1" dirty="0" err="1">
                <a:solidFill>
                  <a:srgbClr val="F9B233"/>
                </a:solidFill>
                <a:latin typeface="Calibri" pitchFamily="34" charset="0"/>
                <a:ea typeface="Calibri" pitchFamily="34" charset="-122"/>
                <a:cs typeface="Calibri" pitchFamily="34" charset="-120"/>
              </a:rPr>
              <a:t>Decentriq</a:t>
            </a:r>
            <a:r>
              <a:rPr lang="en-US" sz="1200" i="1" dirty="0">
                <a:solidFill>
                  <a:srgbClr val="F9B233"/>
                </a:solidFill>
                <a:latin typeface="Calibri" pitchFamily="34" charset="0"/>
                <a:ea typeface="Calibri" pitchFamily="34" charset="-122"/>
                <a:cs typeface="Calibri" pitchFamily="34" charset="-120"/>
              </a:rPr>
              <a:t>  Clearcode interview (2023)</a:t>
            </a:r>
            <a:endParaRPr lang="en-US" sz="1200" dirty="0"/>
          </a:p>
        </p:txBody>
      </p:sp>
      <p:sp>
        <p:nvSpPr>
          <p:cNvPr id="11" name="Text 9"/>
          <p:cNvSpPr/>
          <p:nvPr/>
        </p:nvSpPr>
        <p:spPr>
          <a:xfrm>
            <a:off x="822960" y="5623560"/>
            <a:ext cx="5486400" cy="274320"/>
          </a:xfrm>
          <a:prstGeom prst="rect">
            <a:avLst/>
          </a:prstGeom>
          <a:noFill/>
          <a:ln/>
        </p:spPr>
        <p:txBody>
          <a:bodyPr wrap="square" lIns="0" tIns="0" rIns="0" bIns="0" rtlCol="0" anchor="ctr"/>
          <a:lstStyle/>
          <a:p>
            <a:pPr marL="0" indent="0">
              <a:buNone/>
            </a:pPr>
            <a:r>
              <a:rPr lang="en-US" sz="1000" dirty="0">
                <a:solidFill>
                  <a:srgbClr val="E2E8F0"/>
                </a:solidFill>
                <a:latin typeface="Calibri" pitchFamily="34" charset="0"/>
                <a:ea typeface="Calibri" pitchFamily="34" charset="-122"/>
                <a:cs typeface="Calibri" pitchFamily="34" charset="-120"/>
              </a:rPr>
              <a:t>YouTube : JTezFfu9aVo</a:t>
            </a:r>
            <a:endParaRPr lang="en-US" sz="1000" dirty="0"/>
          </a:p>
        </p:txBody>
      </p:sp>
      <p:sp>
        <p:nvSpPr>
          <p:cNvPr id="12" name="Shape 10"/>
          <p:cNvSpPr/>
          <p:nvPr/>
        </p:nvSpPr>
        <p:spPr>
          <a:xfrm>
            <a:off x="6995160" y="1691640"/>
            <a:ext cx="4663440" cy="4572000"/>
          </a:xfrm>
          <a:prstGeom prst="rect">
            <a:avLst/>
          </a:prstGeom>
          <a:solidFill>
            <a:srgbClr val="FFFFFF"/>
          </a:solidFill>
          <a:ln w="9525">
            <a:solidFill>
              <a:srgbClr val="E2E8F0"/>
            </a:solidFill>
            <a:prstDash val="solid"/>
          </a:ln>
          <a:effectLst>
            <a:outerShdw blurRad="127000" dist="38100" dir="8100000" algn="bl" rotWithShape="0">
              <a:srgbClr val="000000">
                <a:alpha val="10000"/>
              </a:srgbClr>
            </a:outerShdw>
          </a:effectLst>
        </p:spPr>
      </p:sp>
      <p:sp>
        <p:nvSpPr>
          <p:cNvPr id="13" name="Shape 11"/>
          <p:cNvSpPr/>
          <p:nvPr/>
        </p:nvSpPr>
        <p:spPr>
          <a:xfrm>
            <a:off x="6995160" y="1691640"/>
            <a:ext cx="4663440" cy="109728"/>
          </a:xfrm>
          <a:prstGeom prst="rect">
            <a:avLst/>
          </a:prstGeom>
          <a:solidFill>
            <a:srgbClr val="065A82"/>
          </a:solidFill>
          <a:ln w="12700">
            <a:solidFill>
              <a:srgbClr val="065A82"/>
            </a:solidFill>
            <a:prstDash val="solid"/>
          </a:ln>
        </p:spPr>
      </p:sp>
      <p:sp>
        <p:nvSpPr>
          <p:cNvPr id="14" name="Text 12"/>
          <p:cNvSpPr/>
          <p:nvPr/>
        </p:nvSpPr>
        <p:spPr>
          <a:xfrm>
            <a:off x="7178040" y="1920240"/>
            <a:ext cx="4389120" cy="320040"/>
          </a:xfrm>
          <a:prstGeom prst="rect">
            <a:avLst/>
          </a:prstGeom>
          <a:noFill/>
          <a:ln/>
        </p:spPr>
        <p:txBody>
          <a:bodyPr wrap="square" lIns="0" tIns="0" rIns="0" bIns="0" rtlCol="0" anchor="ctr"/>
          <a:lstStyle/>
          <a:p>
            <a:pPr marL="0" indent="0">
              <a:buNone/>
            </a:pPr>
            <a:r>
              <a:rPr lang="en-US" sz="1100" b="1" kern="0" spc="150" dirty="0">
                <a:solidFill>
                  <a:srgbClr val="065A82"/>
                </a:solidFill>
                <a:latin typeface="Calibri" pitchFamily="34" charset="0"/>
                <a:ea typeface="Calibri" pitchFamily="34" charset="-122"/>
                <a:cs typeface="Calibri" pitchFamily="34" charset="-120"/>
              </a:rPr>
              <a:t>POURQUOI ÇA COMPTE POUR VOUS</a:t>
            </a:r>
            <a:endParaRPr lang="en-US" sz="1100" dirty="0"/>
          </a:p>
        </p:txBody>
      </p:sp>
      <p:sp>
        <p:nvSpPr>
          <p:cNvPr id="15" name="Shape 13"/>
          <p:cNvSpPr/>
          <p:nvPr/>
        </p:nvSpPr>
        <p:spPr>
          <a:xfrm>
            <a:off x="7178040" y="2450592"/>
            <a:ext cx="228600" cy="228600"/>
          </a:xfrm>
          <a:prstGeom prst="ellipse">
            <a:avLst/>
          </a:prstGeom>
          <a:solidFill>
            <a:srgbClr val="F96167"/>
          </a:solidFill>
          <a:ln w="12700">
            <a:solidFill>
              <a:srgbClr val="F96167"/>
            </a:solidFill>
            <a:prstDash val="solid"/>
          </a:ln>
        </p:spPr>
      </p:sp>
      <p:sp>
        <p:nvSpPr>
          <p:cNvPr id="16" name="Text 14"/>
          <p:cNvSpPr/>
          <p:nvPr/>
        </p:nvSpPr>
        <p:spPr>
          <a:xfrm>
            <a:off x="7178040" y="2441448"/>
            <a:ext cx="228600" cy="2286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7" name="Text 15"/>
          <p:cNvSpPr/>
          <p:nvPr/>
        </p:nvSpPr>
        <p:spPr>
          <a:xfrm>
            <a:off x="7498080" y="2377440"/>
            <a:ext cx="4023360" cy="320040"/>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Zéro fuite de données brutes</a:t>
            </a:r>
            <a:endParaRPr lang="en-US" sz="1200" dirty="0"/>
          </a:p>
        </p:txBody>
      </p:sp>
      <p:sp>
        <p:nvSpPr>
          <p:cNvPr id="18" name="Text 16"/>
          <p:cNvSpPr/>
          <p:nvPr/>
        </p:nvSpPr>
        <p:spPr>
          <a:xfrm>
            <a:off x="7498080" y="2697480"/>
            <a:ext cx="4023360" cy="548640"/>
          </a:xfrm>
          <a:prstGeom prst="rect">
            <a:avLst/>
          </a:prstGeom>
          <a:noFill/>
          <a:ln/>
        </p:spPr>
        <p:txBody>
          <a:bodyPr wrap="square" lIns="0" tIns="0" rIns="0" bIns="0" rtlCol="0" anchor="t"/>
          <a:lstStyle/>
          <a:p>
            <a:pPr marL="0" indent="0">
              <a:buNone/>
            </a:pPr>
            <a:r>
              <a:rPr lang="en-US" sz="1000" dirty="0">
                <a:solidFill>
                  <a:srgbClr val="1E293B"/>
                </a:solidFill>
                <a:latin typeface="Calibri" pitchFamily="34" charset="0"/>
                <a:ea typeface="Calibri" pitchFamily="34" charset="-122"/>
                <a:cs typeface="Calibri" pitchFamily="34" charset="-120"/>
              </a:rPr>
              <a:t>Les deux partenaires peuvent entraîner un modèle ensemble sans jamais exposer une ligne.</a:t>
            </a:r>
            <a:endParaRPr lang="en-US" sz="1000" dirty="0"/>
          </a:p>
        </p:txBody>
      </p:sp>
      <p:sp>
        <p:nvSpPr>
          <p:cNvPr id="19" name="Shape 17"/>
          <p:cNvSpPr/>
          <p:nvPr/>
        </p:nvSpPr>
        <p:spPr>
          <a:xfrm>
            <a:off x="7178040" y="3410712"/>
            <a:ext cx="228600" cy="228600"/>
          </a:xfrm>
          <a:prstGeom prst="ellipse">
            <a:avLst/>
          </a:prstGeom>
          <a:solidFill>
            <a:srgbClr val="F96167"/>
          </a:solidFill>
          <a:ln w="12700">
            <a:solidFill>
              <a:srgbClr val="F96167"/>
            </a:solidFill>
            <a:prstDash val="solid"/>
          </a:ln>
        </p:spPr>
      </p:sp>
      <p:sp>
        <p:nvSpPr>
          <p:cNvPr id="20" name="Text 18"/>
          <p:cNvSpPr/>
          <p:nvPr/>
        </p:nvSpPr>
        <p:spPr>
          <a:xfrm>
            <a:off x="7178040" y="3401568"/>
            <a:ext cx="228600" cy="2286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1" name="Text 19"/>
          <p:cNvSpPr/>
          <p:nvPr/>
        </p:nvSpPr>
        <p:spPr>
          <a:xfrm>
            <a:off x="7498080" y="3337560"/>
            <a:ext cx="4023360" cy="320040"/>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Hardware-based security</a:t>
            </a:r>
            <a:endParaRPr lang="en-US" sz="1200" dirty="0"/>
          </a:p>
        </p:txBody>
      </p:sp>
      <p:sp>
        <p:nvSpPr>
          <p:cNvPr id="22" name="Text 20"/>
          <p:cNvSpPr/>
          <p:nvPr/>
        </p:nvSpPr>
        <p:spPr>
          <a:xfrm>
            <a:off x="7498080" y="3657600"/>
            <a:ext cx="4023360" cy="548640"/>
          </a:xfrm>
          <a:prstGeom prst="rect">
            <a:avLst/>
          </a:prstGeom>
          <a:noFill/>
          <a:ln/>
        </p:spPr>
        <p:txBody>
          <a:bodyPr wrap="square" lIns="0" tIns="0" rIns="0" bIns="0" rtlCol="0" anchor="t"/>
          <a:lstStyle/>
          <a:p>
            <a:pPr marL="0" indent="0">
              <a:buNone/>
            </a:pPr>
            <a:r>
              <a:rPr lang="en-US" sz="1000" dirty="0">
                <a:solidFill>
                  <a:srgbClr val="1E293B"/>
                </a:solidFill>
                <a:latin typeface="Calibri" pitchFamily="34" charset="0"/>
                <a:ea typeface="Calibri" pitchFamily="34" charset="-122"/>
                <a:cs typeface="Calibri" pitchFamily="34" charset="-120"/>
              </a:rPr>
              <a:t>Intel SGX / AMD SEV : la garantie vient du silicium, pas d'une promesse contractuelle.</a:t>
            </a:r>
            <a:endParaRPr lang="en-US" sz="1000" dirty="0"/>
          </a:p>
        </p:txBody>
      </p:sp>
      <p:sp>
        <p:nvSpPr>
          <p:cNvPr id="23" name="Shape 21"/>
          <p:cNvSpPr/>
          <p:nvPr/>
        </p:nvSpPr>
        <p:spPr>
          <a:xfrm>
            <a:off x="7178040" y="4370832"/>
            <a:ext cx="228600" cy="228600"/>
          </a:xfrm>
          <a:prstGeom prst="ellipse">
            <a:avLst/>
          </a:prstGeom>
          <a:solidFill>
            <a:srgbClr val="F96167"/>
          </a:solidFill>
          <a:ln w="12700">
            <a:solidFill>
              <a:srgbClr val="F96167"/>
            </a:solidFill>
            <a:prstDash val="solid"/>
          </a:ln>
        </p:spPr>
      </p:sp>
      <p:sp>
        <p:nvSpPr>
          <p:cNvPr id="24" name="Text 22"/>
          <p:cNvSpPr/>
          <p:nvPr/>
        </p:nvSpPr>
        <p:spPr>
          <a:xfrm>
            <a:off x="7178040" y="4361688"/>
            <a:ext cx="228600" cy="2286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5" name="Text 23"/>
          <p:cNvSpPr/>
          <p:nvPr/>
        </p:nvSpPr>
        <p:spPr>
          <a:xfrm>
            <a:off x="7498080" y="4297680"/>
            <a:ext cx="4023360" cy="320040"/>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Neutre par design</a:t>
            </a:r>
            <a:endParaRPr lang="en-US" sz="1200" dirty="0"/>
          </a:p>
        </p:txBody>
      </p:sp>
      <p:sp>
        <p:nvSpPr>
          <p:cNvPr id="26" name="Text 24"/>
          <p:cNvSpPr/>
          <p:nvPr/>
        </p:nvSpPr>
        <p:spPr>
          <a:xfrm>
            <a:off x="7498080" y="4617720"/>
            <a:ext cx="4023360" cy="548640"/>
          </a:xfrm>
          <a:prstGeom prst="rect">
            <a:avLst/>
          </a:prstGeom>
          <a:noFill/>
          <a:ln/>
        </p:spPr>
        <p:txBody>
          <a:bodyPr wrap="square" lIns="0" tIns="0" rIns="0" bIns="0" rtlCol="0" anchor="t"/>
          <a:lstStyle/>
          <a:p>
            <a:pPr marL="0" indent="0">
              <a:buNone/>
            </a:pPr>
            <a:r>
              <a:rPr lang="en-US" sz="1000" dirty="0">
                <a:solidFill>
                  <a:srgbClr val="1E293B"/>
                </a:solidFill>
                <a:latin typeface="Calibri" pitchFamily="34" charset="0"/>
                <a:ea typeface="Calibri" pitchFamily="34" charset="-122"/>
                <a:cs typeface="Calibri" pitchFamily="34" charset="-120"/>
              </a:rPr>
              <a:t>Pas de conflit d'intérêt : Decentriq ne revend ni vos audiences ni vos modèles.</a:t>
            </a:r>
            <a:endParaRPr lang="en-US" sz="1000" dirty="0"/>
          </a:p>
        </p:txBody>
      </p:sp>
      <p:sp>
        <p:nvSpPr>
          <p:cNvPr id="27" name="Shape 25"/>
          <p:cNvSpPr/>
          <p:nvPr/>
        </p:nvSpPr>
        <p:spPr>
          <a:xfrm>
            <a:off x="7178040" y="5330952"/>
            <a:ext cx="228600" cy="228600"/>
          </a:xfrm>
          <a:prstGeom prst="ellipse">
            <a:avLst/>
          </a:prstGeom>
          <a:solidFill>
            <a:srgbClr val="F96167"/>
          </a:solidFill>
          <a:ln w="12700">
            <a:solidFill>
              <a:srgbClr val="F96167"/>
            </a:solidFill>
            <a:prstDash val="solid"/>
          </a:ln>
        </p:spPr>
      </p:sp>
      <p:sp>
        <p:nvSpPr>
          <p:cNvPr id="28" name="Text 26"/>
          <p:cNvSpPr/>
          <p:nvPr/>
        </p:nvSpPr>
        <p:spPr>
          <a:xfrm>
            <a:off x="7178040" y="5321808"/>
            <a:ext cx="228600" cy="2286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9" name="Text 27"/>
          <p:cNvSpPr/>
          <p:nvPr/>
        </p:nvSpPr>
        <p:spPr>
          <a:xfrm>
            <a:off x="7498080" y="5257800"/>
            <a:ext cx="4023360" cy="320040"/>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Ouvre le cas pharma/assurance</a:t>
            </a:r>
            <a:endParaRPr lang="en-US" sz="1200" dirty="0"/>
          </a:p>
        </p:txBody>
      </p:sp>
      <p:sp>
        <p:nvSpPr>
          <p:cNvPr id="30" name="Text 28"/>
          <p:cNvSpPr/>
          <p:nvPr/>
        </p:nvSpPr>
        <p:spPr>
          <a:xfrm>
            <a:off x="7498080" y="5577840"/>
            <a:ext cx="4023360" cy="548640"/>
          </a:xfrm>
          <a:prstGeom prst="rect">
            <a:avLst/>
          </a:prstGeom>
          <a:noFill/>
          <a:ln/>
        </p:spPr>
        <p:txBody>
          <a:bodyPr wrap="square" lIns="0" tIns="0" rIns="0" bIns="0" rtlCol="0" anchor="t"/>
          <a:lstStyle/>
          <a:p>
            <a:pPr marL="0" indent="0">
              <a:buNone/>
            </a:pPr>
            <a:r>
              <a:rPr lang="en-US" sz="1000" dirty="0">
                <a:solidFill>
                  <a:srgbClr val="1E293B"/>
                </a:solidFill>
                <a:latin typeface="Calibri" pitchFamily="34" charset="0"/>
                <a:ea typeface="Calibri" pitchFamily="34" charset="-122"/>
                <a:cs typeface="Calibri" pitchFamily="34" charset="-120"/>
              </a:rPr>
              <a:t>Partage de données sensibles (market share, scoring) que Meta/Google ne peuvent pas héberger.</a:t>
            </a:r>
            <a:endParaRPr lang="en-US" sz="1000" dirty="0"/>
          </a:p>
        </p:txBody>
      </p:sp>
      <p:sp>
        <p:nvSpPr>
          <p:cNvPr id="31" name="Shape 29"/>
          <p:cNvSpPr/>
          <p:nvPr/>
        </p:nvSpPr>
        <p:spPr>
          <a:xfrm>
            <a:off x="0" y="6583680"/>
            <a:ext cx="12191695" cy="274320"/>
          </a:xfrm>
          <a:prstGeom prst="rect">
            <a:avLst/>
          </a:prstGeom>
          <a:solidFill>
            <a:srgbClr val="0B1F3A"/>
          </a:solidFill>
          <a:ln w="12700">
            <a:solidFill>
              <a:srgbClr val="0B1F3A"/>
            </a:solidFill>
            <a:prstDash val="solid"/>
          </a:ln>
        </p:spPr>
      </p:sp>
      <p:sp>
        <p:nvSpPr>
          <p:cNvPr id="32" name="Text 30"/>
          <p:cNvSpPr/>
          <p:nvPr/>
        </p:nvSpPr>
        <p:spPr>
          <a:xfrm>
            <a:off x="365760" y="6601968"/>
            <a:ext cx="822960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Bonus  Voix du marché</a:t>
            </a:r>
            <a:endParaRPr lang="en-US" sz="1000" dirty="0"/>
          </a:p>
        </p:txBody>
      </p:sp>
      <p:sp>
        <p:nvSpPr>
          <p:cNvPr id="33" name="Text 31"/>
          <p:cNvSpPr/>
          <p:nvPr/>
        </p:nvSpPr>
        <p:spPr>
          <a:xfrm>
            <a:off x="11551615" y="6601968"/>
            <a:ext cx="365760" cy="237744"/>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56</a:t>
            </a:r>
            <a:endParaRPr lang="en-US" sz="10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59">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1314450" y="-437388"/>
            <a:ext cx="5234940" cy="5448300"/>
          </a:xfrm>
          <a:prstGeom prst="ellipse">
            <a:avLst/>
          </a:prstGeom>
          <a:solidFill>
            <a:srgbClr val="065A82">
              <a:alpha val="20000"/>
            </a:srgbClr>
          </a:solidFill>
          <a:ln w="12700">
            <a:solidFill>
              <a:srgbClr val="065A82">
                <a:alpha val="20000"/>
              </a:srgbClr>
            </a:solidFill>
            <a:prstDash val="solid"/>
          </a:ln>
        </p:spPr>
      </p:sp>
      <p:sp>
        <p:nvSpPr>
          <p:cNvPr id="3" name="Text 1"/>
          <p:cNvSpPr/>
          <p:nvPr/>
        </p:nvSpPr>
        <p:spPr>
          <a:xfrm>
            <a:off x="548640" y="640080"/>
            <a:ext cx="10972800" cy="365760"/>
          </a:xfrm>
          <a:prstGeom prst="rect">
            <a:avLst/>
          </a:prstGeom>
          <a:noFill/>
          <a:ln/>
        </p:spPr>
        <p:txBody>
          <a:bodyPr wrap="square" lIns="0" tIns="0" rIns="0" bIns="0" rtlCol="0" anchor="ctr"/>
          <a:lstStyle/>
          <a:p>
            <a:pPr marL="0" indent="0">
              <a:buNone/>
            </a:pPr>
            <a:r>
              <a:rPr lang="en-US" sz="1300" b="1" kern="0" spc="300" dirty="0">
                <a:solidFill>
                  <a:srgbClr val="F9B233"/>
                </a:solidFill>
                <a:latin typeface="Calibri" pitchFamily="34" charset="0"/>
                <a:ea typeface="Calibri" pitchFamily="34" charset="-122"/>
                <a:cs typeface="Calibri" pitchFamily="34" charset="-120"/>
              </a:rPr>
              <a:t>POURQUOI MAINTENANT ?</a:t>
            </a:r>
            <a:endParaRPr lang="en-US" sz="1300" dirty="0"/>
          </a:p>
        </p:txBody>
      </p:sp>
      <p:sp>
        <p:nvSpPr>
          <p:cNvPr id="4" name="Shape 2"/>
          <p:cNvSpPr/>
          <p:nvPr/>
        </p:nvSpPr>
        <p:spPr>
          <a:xfrm>
            <a:off x="548640" y="1097280"/>
            <a:ext cx="182880" cy="914400"/>
          </a:xfrm>
          <a:prstGeom prst="rect">
            <a:avLst/>
          </a:prstGeom>
          <a:solidFill>
            <a:srgbClr val="F96167"/>
          </a:solidFill>
          <a:ln w="12700">
            <a:solidFill>
              <a:srgbClr val="F96167"/>
            </a:solidFill>
            <a:prstDash val="solid"/>
          </a:ln>
        </p:spPr>
      </p:sp>
      <p:sp>
        <p:nvSpPr>
          <p:cNvPr id="5" name="Text 3"/>
          <p:cNvSpPr/>
          <p:nvPr/>
        </p:nvSpPr>
        <p:spPr>
          <a:xfrm>
            <a:off x="777240" y="1051560"/>
            <a:ext cx="10789920" cy="2103120"/>
          </a:xfrm>
          <a:prstGeom prst="rect">
            <a:avLst/>
          </a:prstGeom>
          <a:noFill/>
          <a:ln/>
        </p:spPr>
        <p:txBody>
          <a:bodyPr wrap="square" lIns="0" tIns="0" rIns="0" bIns="0" rtlCol="0" anchor="ctr"/>
          <a:lstStyle/>
          <a:p>
            <a:pPr marL="0" indent="0">
              <a:buNone/>
            </a:pPr>
            <a:r>
              <a:rPr lang="en-US" sz="2500" i="1" dirty="0">
                <a:solidFill>
                  <a:srgbClr val="FFFFFF"/>
                </a:solidFill>
                <a:latin typeface="Calibri" pitchFamily="34" charset="0"/>
                <a:ea typeface="Calibri" pitchFamily="34" charset="-122"/>
                <a:cs typeface="Calibri" pitchFamily="34" charset="-120"/>
              </a:rPr>
              <a:t>« Quand les cookies sont déprécés et qu'il n'y a plus moyen d'identifier votre propre consommateur, votre first-party data devient votre SEULE source. »</a:t>
            </a:r>
            <a:endParaRPr lang="en-US" sz="2500" dirty="0"/>
          </a:p>
        </p:txBody>
      </p:sp>
      <p:sp>
        <p:nvSpPr>
          <p:cNvPr id="6" name="Text 4"/>
          <p:cNvSpPr/>
          <p:nvPr/>
        </p:nvSpPr>
        <p:spPr>
          <a:xfrm>
            <a:off x="777240" y="3200400"/>
            <a:ext cx="10789920" cy="365760"/>
          </a:xfrm>
          <a:prstGeom prst="rect">
            <a:avLst/>
          </a:prstGeom>
          <a:noFill/>
          <a:ln/>
        </p:spPr>
        <p:txBody>
          <a:bodyPr wrap="square" lIns="0" tIns="0" rIns="0" bIns="0" rtlCol="0" anchor="ctr"/>
          <a:lstStyle/>
          <a:p>
            <a:pPr marL="0" indent="0">
              <a:buNone/>
            </a:pPr>
            <a:r>
              <a:rPr lang="en-US" sz="1300" i="1" dirty="0">
                <a:solidFill>
                  <a:srgbClr val="F9B233"/>
                </a:solidFill>
                <a:latin typeface="Calibri" pitchFamily="34" charset="0"/>
                <a:ea typeface="Calibri" pitchFamily="34" charset="-122"/>
                <a:cs typeface="Calibri" pitchFamily="34" charset="-120"/>
              </a:rPr>
              <a:t> Gowthaman Ragothaman, CEO Aqilliz (Clearcode interview, 2023)</a:t>
            </a:r>
            <a:endParaRPr lang="en-US" sz="1300" dirty="0"/>
          </a:p>
        </p:txBody>
      </p:sp>
      <p:sp>
        <p:nvSpPr>
          <p:cNvPr id="7" name="Text 5"/>
          <p:cNvSpPr/>
          <p:nvPr/>
        </p:nvSpPr>
        <p:spPr>
          <a:xfrm>
            <a:off x="548640" y="3840480"/>
            <a:ext cx="10972800" cy="274320"/>
          </a:xfrm>
          <a:prstGeom prst="rect">
            <a:avLst/>
          </a:prstGeom>
          <a:noFill/>
          <a:ln/>
        </p:spPr>
        <p:txBody>
          <a:bodyPr wrap="square" lIns="0" tIns="0" rIns="0" bIns="0" rtlCol="0" anchor="ctr"/>
          <a:lstStyle/>
          <a:p>
            <a:pPr marL="0" indent="0">
              <a:buNone/>
            </a:pPr>
            <a:r>
              <a:rPr lang="en-US" sz="1100" b="1" kern="0" spc="200" dirty="0">
                <a:solidFill>
                  <a:srgbClr val="F96167"/>
                </a:solidFill>
                <a:latin typeface="Calibri" pitchFamily="34" charset="0"/>
                <a:ea typeface="Calibri" pitchFamily="34" charset="-122"/>
                <a:cs typeface="Calibri" pitchFamily="34" charset="-120"/>
              </a:rPr>
              <a:t>LE CALENDRIER DU COOKIELESS</a:t>
            </a:r>
            <a:endParaRPr lang="en-US" sz="1100" dirty="0"/>
          </a:p>
        </p:txBody>
      </p:sp>
      <p:sp>
        <p:nvSpPr>
          <p:cNvPr id="8" name="Shape 6"/>
          <p:cNvSpPr/>
          <p:nvPr/>
        </p:nvSpPr>
        <p:spPr>
          <a:xfrm>
            <a:off x="548640" y="4343400"/>
            <a:ext cx="11064240" cy="54864"/>
          </a:xfrm>
          <a:prstGeom prst="rect">
            <a:avLst/>
          </a:prstGeom>
          <a:solidFill>
            <a:srgbClr val="1C7293"/>
          </a:solidFill>
          <a:ln w="12700">
            <a:solidFill>
              <a:srgbClr val="1C7293"/>
            </a:solidFill>
            <a:prstDash val="solid"/>
          </a:ln>
        </p:spPr>
      </p:sp>
      <p:sp>
        <p:nvSpPr>
          <p:cNvPr id="9" name="Shape 7"/>
          <p:cNvSpPr/>
          <p:nvPr/>
        </p:nvSpPr>
        <p:spPr>
          <a:xfrm>
            <a:off x="1554480" y="4233672"/>
            <a:ext cx="274320" cy="274320"/>
          </a:xfrm>
          <a:prstGeom prst="ellipse">
            <a:avLst/>
          </a:prstGeom>
          <a:solidFill>
            <a:srgbClr val="059669"/>
          </a:solidFill>
          <a:ln w="19050">
            <a:solidFill>
              <a:srgbClr val="FFFFFF"/>
            </a:solidFill>
            <a:prstDash val="solid"/>
          </a:ln>
        </p:spPr>
      </p:sp>
      <p:sp>
        <p:nvSpPr>
          <p:cNvPr id="10" name="Text 8"/>
          <p:cNvSpPr/>
          <p:nvPr/>
        </p:nvSpPr>
        <p:spPr>
          <a:xfrm>
            <a:off x="731520" y="4617720"/>
            <a:ext cx="1920240" cy="320040"/>
          </a:xfrm>
          <a:prstGeom prst="rect">
            <a:avLst/>
          </a:prstGeom>
          <a:noFill/>
          <a:ln/>
        </p:spPr>
        <p:txBody>
          <a:bodyPr wrap="square" lIns="0" tIns="0" rIns="0" bIns="0" rtlCol="0" anchor="ctr"/>
          <a:lstStyle/>
          <a:p>
            <a:pPr marL="0" indent="0" algn="ctr">
              <a:buNone/>
            </a:pPr>
            <a:r>
              <a:rPr lang="en-US" sz="1300" b="1" dirty="0">
                <a:solidFill>
                  <a:srgbClr val="059669"/>
                </a:solidFill>
                <a:latin typeface="Calibri" pitchFamily="34" charset="0"/>
                <a:ea typeface="Calibri" pitchFamily="34" charset="-122"/>
                <a:cs typeface="Calibri" pitchFamily="34" charset="-120"/>
              </a:rPr>
              <a:t>2013</a:t>
            </a:r>
            <a:endParaRPr lang="en-US" sz="1300" dirty="0"/>
          </a:p>
        </p:txBody>
      </p:sp>
      <p:sp>
        <p:nvSpPr>
          <p:cNvPr id="11" name="Text 9"/>
          <p:cNvSpPr/>
          <p:nvPr/>
        </p:nvSpPr>
        <p:spPr>
          <a:xfrm>
            <a:off x="731520" y="4937760"/>
            <a:ext cx="1920240" cy="27432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Safari</a:t>
            </a:r>
            <a:endParaRPr lang="en-US" sz="1200" dirty="0"/>
          </a:p>
        </p:txBody>
      </p:sp>
      <p:sp>
        <p:nvSpPr>
          <p:cNvPr id="12" name="Text 10"/>
          <p:cNvSpPr/>
          <p:nvPr/>
        </p:nvSpPr>
        <p:spPr>
          <a:xfrm>
            <a:off x="731520" y="5193792"/>
            <a:ext cx="1920240" cy="274320"/>
          </a:xfrm>
          <a:prstGeom prst="rect">
            <a:avLst/>
          </a:prstGeom>
          <a:noFill/>
          <a:ln/>
        </p:spPr>
        <p:txBody>
          <a:bodyPr wrap="square" lIns="0" tIns="0" rIns="0" bIns="0" rtlCol="0" anchor="ctr"/>
          <a:lstStyle/>
          <a:p>
            <a:pPr marL="0" indent="0" algn="ctr">
              <a:buNone/>
            </a:pPr>
            <a:r>
              <a:rPr lang="en-US" sz="1000" i="1" dirty="0">
                <a:solidFill>
                  <a:srgbClr val="E2E8F0"/>
                </a:solidFill>
                <a:latin typeface="Calibri" pitchFamily="34" charset="0"/>
                <a:ea typeface="Calibri" pitchFamily="34" charset="-122"/>
                <a:cs typeface="Calibri" pitchFamily="34" charset="-120"/>
              </a:rPr>
              <a:t>Bloqué</a:t>
            </a:r>
            <a:endParaRPr lang="en-US" sz="1000" dirty="0"/>
          </a:p>
        </p:txBody>
      </p:sp>
      <p:sp>
        <p:nvSpPr>
          <p:cNvPr id="13" name="Shape 11"/>
          <p:cNvSpPr/>
          <p:nvPr/>
        </p:nvSpPr>
        <p:spPr>
          <a:xfrm>
            <a:off x="3822192" y="4233672"/>
            <a:ext cx="274320" cy="274320"/>
          </a:xfrm>
          <a:prstGeom prst="ellipse">
            <a:avLst/>
          </a:prstGeom>
          <a:solidFill>
            <a:srgbClr val="059669"/>
          </a:solidFill>
          <a:ln w="19050">
            <a:solidFill>
              <a:srgbClr val="FFFFFF"/>
            </a:solidFill>
            <a:prstDash val="solid"/>
          </a:ln>
        </p:spPr>
      </p:sp>
      <p:sp>
        <p:nvSpPr>
          <p:cNvPr id="14" name="Text 12"/>
          <p:cNvSpPr/>
          <p:nvPr/>
        </p:nvSpPr>
        <p:spPr>
          <a:xfrm>
            <a:off x="2999232" y="4617720"/>
            <a:ext cx="1920240" cy="320040"/>
          </a:xfrm>
          <a:prstGeom prst="rect">
            <a:avLst/>
          </a:prstGeom>
          <a:noFill/>
          <a:ln/>
        </p:spPr>
        <p:txBody>
          <a:bodyPr wrap="square" lIns="0" tIns="0" rIns="0" bIns="0" rtlCol="0" anchor="ctr"/>
          <a:lstStyle/>
          <a:p>
            <a:pPr marL="0" indent="0" algn="ctr">
              <a:buNone/>
            </a:pPr>
            <a:r>
              <a:rPr lang="en-US" sz="1300" b="1" dirty="0">
                <a:solidFill>
                  <a:srgbClr val="059669"/>
                </a:solidFill>
                <a:latin typeface="Calibri" pitchFamily="34" charset="0"/>
                <a:ea typeface="Calibri" pitchFamily="34" charset="-122"/>
                <a:cs typeface="Calibri" pitchFamily="34" charset="-120"/>
              </a:rPr>
              <a:t>2019</a:t>
            </a:r>
            <a:endParaRPr lang="en-US" sz="1300" dirty="0"/>
          </a:p>
        </p:txBody>
      </p:sp>
      <p:sp>
        <p:nvSpPr>
          <p:cNvPr id="15" name="Text 13"/>
          <p:cNvSpPr/>
          <p:nvPr/>
        </p:nvSpPr>
        <p:spPr>
          <a:xfrm>
            <a:off x="2999232" y="4937760"/>
            <a:ext cx="1920240" cy="27432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Firefox</a:t>
            </a:r>
            <a:endParaRPr lang="en-US" sz="1200" dirty="0"/>
          </a:p>
        </p:txBody>
      </p:sp>
      <p:sp>
        <p:nvSpPr>
          <p:cNvPr id="16" name="Text 14"/>
          <p:cNvSpPr/>
          <p:nvPr/>
        </p:nvSpPr>
        <p:spPr>
          <a:xfrm>
            <a:off x="2999232" y="5193792"/>
            <a:ext cx="1920240" cy="274320"/>
          </a:xfrm>
          <a:prstGeom prst="rect">
            <a:avLst/>
          </a:prstGeom>
          <a:noFill/>
          <a:ln/>
        </p:spPr>
        <p:txBody>
          <a:bodyPr wrap="square" lIns="0" tIns="0" rIns="0" bIns="0" rtlCol="0" anchor="ctr"/>
          <a:lstStyle/>
          <a:p>
            <a:pPr marL="0" indent="0" algn="ctr">
              <a:buNone/>
            </a:pPr>
            <a:r>
              <a:rPr lang="en-US" sz="1000" i="1" dirty="0">
                <a:solidFill>
                  <a:srgbClr val="E2E8F0"/>
                </a:solidFill>
                <a:latin typeface="Calibri" pitchFamily="34" charset="0"/>
                <a:ea typeface="Calibri" pitchFamily="34" charset="-122"/>
                <a:cs typeface="Calibri" pitchFamily="34" charset="-120"/>
              </a:rPr>
              <a:t>Bloqué</a:t>
            </a:r>
            <a:endParaRPr lang="en-US" sz="1000" dirty="0"/>
          </a:p>
        </p:txBody>
      </p:sp>
      <p:sp>
        <p:nvSpPr>
          <p:cNvPr id="17" name="Shape 15"/>
          <p:cNvSpPr/>
          <p:nvPr/>
        </p:nvSpPr>
        <p:spPr>
          <a:xfrm>
            <a:off x="6089904" y="4233672"/>
            <a:ext cx="274320" cy="274320"/>
          </a:xfrm>
          <a:prstGeom prst="ellipse">
            <a:avLst/>
          </a:prstGeom>
          <a:solidFill>
            <a:srgbClr val="F9B233"/>
          </a:solidFill>
          <a:ln w="19050">
            <a:solidFill>
              <a:srgbClr val="FFFFFF"/>
            </a:solidFill>
            <a:prstDash val="solid"/>
          </a:ln>
        </p:spPr>
      </p:sp>
      <p:sp>
        <p:nvSpPr>
          <p:cNvPr id="18" name="Text 16"/>
          <p:cNvSpPr/>
          <p:nvPr/>
        </p:nvSpPr>
        <p:spPr>
          <a:xfrm>
            <a:off x="5266944" y="4617720"/>
            <a:ext cx="1920240" cy="320040"/>
          </a:xfrm>
          <a:prstGeom prst="rect">
            <a:avLst/>
          </a:prstGeom>
          <a:noFill/>
          <a:ln/>
        </p:spPr>
        <p:txBody>
          <a:bodyPr wrap="square" lIns="0" tIns="0" rIns="0" bIns="0" rtlCol="0" anchor="ctr"/>
          <a:lstStyle/>
          <a:p>
            <a:pPr marL="0" indent="0" algn="ctr">
              <a:buNone/>
            </a:pPr>
            <a:r>
              <a:rPr lang="en-US" sz="1300" b="1" dirty="0">
                <a:solidFill>
                  <a:srgbClr val="F9B233"/>
                </a:solidFill>
                <a:latin typeface="Calibri" pitchFamily="34" charset="0"/>
                <a:ea typeface="Calibri" pitchFamily="34" charset="-122"/>
                <a:cs typeface="Calibri" pitchFamily="34" charset="-120"/>
              </a:rPr>
              <a:t>2024</a:t>
            </a:r>
            <a:endParaRPr lang="en-US" sz="1300" dirty="0"/>
          </a:p>
        </p:txBody>
      </p:sp>
      <p:sp>
        <p:nvSpPr>
          <p:cNvPr id="19" name="Text 17"/>
          <p:cNvSpPr/>
          <p:nvPr/>
        </p:nvSpPr>
        <p:spPr>
          <a:xfrm>
            <a:off x="5266944" y="4937760"/>
            <a:ext cx="1920240" cy="27432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Chrome</a:t>
            </a:r>
            <a:endParaRPr lang="en-US" sz="1200" dirty="0"/>
          </a:p>
        </p:txBody>
      </p:sp>
      <p:sp>
        <p:nvSpPr>
          <p:cNvPr id="20" name="Text 18"/>
          <p:cNvSpPr/>
          <p:nvPr/>
        </p:nvSpPr>
        <p:spPr>
          <a:xfrm>
            <a:off x="5266944" y="5193792"/>
            <a:ext cx="1920240" cy="274320"/>
          </a:xfrm>
          <a:prstGeom prst="rect">
            <a:avLst/>
          </a:prstGeom>
          <a:noFill/>
          <a:ln/>
        </p:spPr>
        <p:txBody>
          <a:bodyPr wrap="square" lIns="0" tIns="0" rIns="0" bIns="0" rtlCol="0" anchor="ctr"/>
          <a:lstStyle/>
          <a:p>
            <a:pPr marL="0" indent="0" algn="ctr">
              <a:buNone/>
            </a:pPr>
            <a:r>
              <a:rPr lang="en-US" sz="1000" i="1" dirty="0">
                <a:solidFill>
                  <a:srgbClr val="E2E8F0"/>
                </a:solidFill>
                <a:latin typeface="Calibri" pitchFamily="34" charset="0"/>
                <a:ea typeface="Calibri" pitchFamily="34" charset="-122"/>
                <a:cs typeface="Calibri" pitchFamily="34" charset="-120"/>
              </a:rPr>
              <a:t>Phase-out</a:t>
            </a:r>
            <a:endParaRPr lang="en-US" sz="1000" dirty="0"/>
          </a:p>
        </p:txBody>
      </p:sp>
      <p:sp>
        <p:nvSpPr>
          <p:cNvPr id="21" name="Shape 19"/>
          <p:cNvSpPr/>
          <p:nvPr/>
        </p:nvSpPr>
        <p:spPr>
          <a:xfrm>
            <a:off x="8357616" y="4233672"/>
            <a:ext cx="274320" cy="274320"/>
          </a:xfrm>
          <a:prstGeom prst="ellipse">
            <a:avLst/>
          </a:prstGeom>
          <a:solidFill>
            <a:srgbClr val="F96167"/>
          </a:solidFill>
          <a:ln w="19050">
            <a:solidFill>
              <a:srgbClr val="FFFFFF"/>
            </a:solidFill>
            <a:prstDash val="solid"/>
          </a:ln>
        </p:spPr>
      </p:sp>
      <p:sp>
        <p:nvSpPr>
          <p:cNvPr id="22" name="Text 20"/>
          <p:cNvSpPr/>
          <p:nvPr/>
        </p:nvSpPr>
        <p:spPr>
          <a:xfrm>
            <a:off x="7534656" y="4617720"/>
            <a:ext cx="1920240" cy="320040"/>
          </a:xfrm>
          <a:prstGeom prst="rect">
            <a:avLst/>
          </a:prstGeom>
          <a:noFill/>
          <a:ln/>
        </p:spPr>
        <p:txBody>
          <a:bodyPr wrap="square" lIns="0" tIns="0" rIns="0" bIns="0" rtlCol="0" anchor="ctr"/>
          <a:lstStyle/>
          <a:p>
            <a:pPr marL="0" indent="0" algn="ctr">
              <a:buNone/>
            </a:pPr>
            <a:r>
              <a:rPr lang="en-US" sz="1300" b="1" dirty="0">
                <a:solidFill>
                  <a:srgbClr val="F96167"/>
                </a:solidFill>
                <a:latin typeface="Calibri" pitchFamily="34" charset="0"/>
                <a:ea typeface="Calibri" pitchFamily="34" charset="-122"/>
                <a:cs typeface="Calibri" pitchFamily="34" charset="-120"/>
              </a:rPr>
              <a:t>2025+</a:t>
            </a:r>
            <a:endParaRPr lang="en-US" sz="1300" dirty="0"/>
          </a:p>
        </p:txBody>
      </p:sp>
      <p:sp>
        <p:nvSpPr>
          <p:cNvPr id="23" name="Text 21"/>
          <p:cNvSpPr/>
          <p:nvPr/>
        </p:nvSpPr>
        <p:spPr>
          <a:xfrm>
            <a:off x="7534656" y="4937760"/>
            <a:ext cx="1920240" cy="27432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IDFA / MAID</a:t>
            </a:r>
            <a:endParaRPr lang="en-US" sz="1200" dirty="0"/>
          </a:p>
        </p:txBody>
      </p:sp>
      <p:sp>
        <p:nvSpPr>
          <p:cNvPr id="24" name="Text 22"/>
          <p:cNvSpPr/>
          <p:nvPr/>
        </p:nvSpPr>
        <p:spPr>
          <a:xfrm>
            <a:off x="7534656" y="5193792"/>
            <a:ext cx="1920240" cy="274320"/>
          </a:xfrm>
          <a:prstGeom prst="rect">
            <a:avLst/>
          </a:prstGeom>
          <a:noFill/>
          <a:ln/>
        </p:spPr>
        <p:txBody>
          <a:bodyPr wrap="square" lIns="0" tIns="0" rIns="0" bIns="0" rtlCol="0" anchor="ctr"/>
          <a:lstStyle/>
          <a:p>
            <a:pPr marL="0" indent="0" algn="ctr">
              <a:buNone/>
            </a:pPr>
            <a:r>
              <a:rPr lang="en-US" sz="1000" i="1" dirty="0">
                <a:solidFill>
                  <a:srgbClr val="E2E8F0"/>
                </a:solidFill>
                <a:latin typeface="Calibri" pitchFamily="34" charset="0"/>
                <a:ea typeface="Calibri" pitchFamily="34" charset="-122"/>
                <a:cs typeface="Calibri" pitchFamily="34" charset="-120"/>
              </a:rPr>
              <a:t>Restreint</a:t>
            </a:r>
            <a:endParaRPr lang="en-US" sz="1000" dirty="0"/>
          </a:p>
        </p:txBody>
      </p:sp>
      <p:sp>
        <p:nvSpPr>
          <p:cNvPr id="25" name="Shape 23"/>
          <p:cNvSpPr/>
          <p:nvPr/>
        </p:nvSpPr>
        <p:spPr>
          <a:xfrm>
            <a:off x="10625328" y="4233672"/>
            <a:ext cx="274320" cy="274320"/>
          </a:xfrm>
          <a:prstGeom prst="ellipse">
            <a:avLst/>
          </a:prstGeom>
          <a:solidFill>
            <a:srgbClr val="FFFFFF"/>
          </a:solidFill>
          <a:ln w="19050">
            <a:solidFill>
              <a:srgbClr val="FFFFFF"/>
            </a:solidFill>
            <a:prstDash val="solid"/>
          </a:ln>
        </p:spPr>
      </p:sp>
      <p:sp>
        <p:nvSpPr>
          <p:cNvPr id="26" name="Text 24"/>
          <p:cNvSpPr/>
          <p:nvPr/>
        </p:nvSpPr>
        <p:spPr>
          <a:xfrm>
            <a:off x="9802368" y="4617720"/>
            <a:ext cx="19202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Demain</a:t>
            </a:r>
            <a:endParaRPr lang="en-US" sz="1300" dirty="0"/>
          </a:p>
        </p:txBody>
      </p:sp>
      <p:sp>
        <p:nvSpPr>
          <p:cNvPr id="27" name="Text 25"/>
          <p:cNvSpPr/>
          <p:nvPr/>
        </p:nvSpPr>
        <p:spPr>
          <a:xfrm>
            <a:off x="9802368" y="4937760"/>
            <a:ext cx="1920240" cy="27432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First-party DCR</a:t>
            </a:r>
            <a:endParaRPr lang="en-US" sz="1200" dirty="0"/>
          </a:p>
        </p:txBody>
      </p:sp>
      <p:sp>
        <p:nvSpPr>
          <p:cNvPr id="28" name="Text 26"/>
          <p:cNvSpPr/>
          <p:nvPr/>
        </p:nvSpPr>
        <p:spPr>
          <a:xfrm>
            <a:off x="9802368" y="5193792"/>
            <a:ext cx="1920240" cy="274320"/>
          </a:xfrm>
          <a:prstGeom prst="rect">
            <a:avLst/>
          </a:prstGeom>
          <a:noFill/>
          <a:ln/>
        </p:spPr>
        <p:txBody>
          <a:bodyPr wrap="square" lIns="0" tIns="0" rIns="0" bIns="0" rtlCol="0" anchor="ctr"/>
          <a:lstStyle/>
          <a:p>
            <a:pPr marL="0" indent="0" algn="ctr">
              <a:buNone/>
            </a:pPr>
            <a:r>
              <a:rPr lang="en-US" sz="1000" i="1" dirty="0">
                <a:solidFill>
                  <a:srgbClr val="E2E8F0"/>
                </a:solidFill>
                <a:latin typeface="Calibri" pitchFamily="34" charset="0"/>
                <a:ea typeface="Calibri" pitchFamily="34" charset="-122"/>
                <a:cs typeface="Calibri" pitchFamily="34" charset="-120"/>
              </a:rPr>
              <a:t>Norme</a:t>
            </a:r>
            <a:endParaRPr lang="en-US" sz="1000" dirty="0"/>
          </a:p>
        </p:txBody>
      </p:sp>
      <p:sp>
        <p:nvSpPr>
          <p:cNvPr id="29" name="Shape 27"/>
          <p:cNvSpPr/>
          <p:nvPr/>
        </p:nvSpPr>
        <p:spPr>
          <a:xfrm>
            <a:off x="548640" y="5760720"/>
            <a:ext cx="11064240" cy="685800"/>
          </a:xfrm>
          <a:prstGeom prst="rect">
            <a:avLst/>
          </a:prstGeom>
          <a:solidFill>
            <a:srgbClr val="F96167">
              <a:alpha val="80000"/>
            </a:srgbClr>
          </a:solidFill>
          <a:ln w="6350">
            <a:solidFill>
              <a:srgbClr val="F96167"/>
            </a:solidFill>
            <a:prstDash val="solid"/>
          </a:ln>
        </p:spPr>
      </p:sp>
      <p:sp>
        <p:nvSpPr>
          <p:cNvPr id="30" name="Text 28"/>
          <p:cNvSpPr/>
          <p:nvPr/>
        </p:nvSpPr>
        <p:spPr>
          <a:xfrm>
            <a:off x="731520" y="5833872"/>
            <a:ext cx="10698480" cy="5943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IMPLICATION GROWTH : vos audiences first-party deviennent votre dernier avantage compétitif. Les DCR sont le seul moyen de les monétiser SANS les exposer.</a:t>
            </a:r>
            <a:endParaRPr lang="en-US" sz="1300" dirty="0"/>
          </a:p>
        </p:txBody>
      </p:sp>
      <p:sp>
        <p:nvSpPr>
          <p:cNvPr id="31" name="Shape 29"/>
          <p:cNvSpPr/>
          <p:nvPr/>
        </p:nvSpPr>
        <p:spPr>
          <a:xfrm>
            <a:off x="0" y="6583680"/>
            <a:ext cx="12191695" cy="274320"/>
          </a:xfrm>
          <a:prstGeom prst="rect">
            <a:avLst/>
          </a:prstGeom>
          <a:solidFill>
            <a:srgbClr val="0B1F3A"/>
          </a:solidFill>
          <a:ln w="12700">
            <a:solidFill>
              <a:srgbClr val="0B1F3A"/>
            </a:solidFill>
            <a:prstDash val="solid"/>
          </a:ln>
        </p:spPr>
      </p:sp>
      <p:sp>
        <p:nvSpPr>
          <p:cNvPr id="32" name="Text 30"/>
          <p:cNvSpPr/>
          <p:nvPr/>
        </p:nvSpPr>
        <p:spPr>
          <a:xfrm>
            <a:off x="365760" y="6601968"/>
            <a:ext cx="822960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Bonus  Voix du marché</a:t>
            </a:r>
            <a:endParaRPr lang="en-US" sz="1000" dirty="0"/>
          </a:p>
        </p:txBody>
      </p:sp>
      <p:sp>
        <p:nvSpPr>
          <p:cNvPr id="33" name="Text 31"/>
          <p:cNvSpPr/>
          <p:nvPr/>
        </p:nvSpPr>
        <p:spPr>
          <a:xfrm>
            <a:off x="11551615" y="6601968"/>
            <a:ext cx="365760" cy="237744"/>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57</a:t>
            </a:r>
            <a:endParaRPr lang="en-US" sz="10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60">
    <p:bg>
      <p:bgPr>
        <a:solidFill>
          <a:srgbClr val="F5F8FC"/>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731520"/>
          </a:xfrm>
          <a:prstGeom prst="rect">
            <a:avLst/>
          </a:prstGeom>
          <a:noFill/>
          <a:ln/>
        </p:spPr>
        <p:txBody>
          <a:bodyPr wrap="square" lIns="0" tIns="0" rIns="0" bIns="0" rtlCol="0" anchor="ctr"/>
          <a:lstStyle/>
          <a:p>
            <a:pPr marL="0" indent="0" algn="l">
              <a:buNone/>
            </a:pPr>
            <a:r>
              <a:rPr lang="en-US" sz="3200" b="1" dirty="0">
                <a:solidFill>
                  <a:srgbClr val="0B1F3A"/>
                </a:solidFill>
                <a:latin typeface="Calibri" pitchFamily="34" charset="0"/>
                <a:ea typeface="Calibri" pitchFamily="34" charset="-122"/>
                <a:cs typeface="Calibri" pitchFamily="34" charset="-120"/>
              </a:rPr>
              <a:t>Au-delà de la pub : là où les DCR explosent aussi</a:t>
            </a:r>
            <a:endParaRPr lang="en-US" sz="3200" dirty="0"/>
          </a:p>
        </p:txBody>
      </p:sp>
      <p:sp>
        <p:nvSpPr>
          <p:cNvPr id="3" name="Shape 1"/>
          <p:cNvSpPr/>
          <p:nvPr/>
        </p:nvSpPr>
        <p:spPr>
          <a:xfrm>
            <a:off x="548640" y="1005840"/>
            <a:ext cx="548640" cy="73152"/>
          </a:xfrm>
          <a:prstGeom prst="rect">
            <a:avLst/>
          </a:prstGeom>
          <a:solidFill>
            <a:srgbClr val="F96167"/>
          </a:solidFill>
          <a:ln w="12700">
            <a:solidFill>
              <a:srgbClr val="F96167"/>
            </a:solidFill>
            <a:prstDash val="solid"/>
          </a:ln>
        </p:spPr>
      </p:sp>
      <p:sp>
        <p:nvSpPr>
          <p:cNvPr id="4" name="Text 2"/>
          <p:cNvSpPr/>
          <p:nvPr/>
        </p:nvSpPr>
        <p:spPr>
          <a:xfrm>
            <a:off x="548640" y="1143000"/>
            <a:ext cx="11064240" cy="411480"/>
          </a:xfrm>
          <a:prstGeom prst="rect">
            <a:avLst/>
          </a:prstGeom>
          <a:noFill/>
          <a:ln/>
        </p:spPr>
        <p:txBody>
          <a:bodyPr wrap="square" lIns="0" tIns="0" rIns="0" bIns="0" rtlCol="0" anchor="ctr"/>
          <a:lstStyle/>
          <a:p>
            <a:pPr marL="0" indent="0" algn="l">
              <a:buNone/>
            </a:pPr>
            <a:r>
              <a:rPr lang="en-US" sz="1600" i="1" dirty="0">
                <a:solidFill>
                  <a:srgbClr val="1C7293"/>
                </a:solidFill>
                <a:latin typeface="Calibri" pitchFamily="34" charset="0"/>
                <a:ea typeface="Calibri" pitchFamily="34" charset="-122"/>
                <a:cs typeface="Calibri" pitchFamily="34" charset="-120"/>
              </a:rPr>
              <a:t>Santé, supply chain, finance, </a:t>
            </a:r>
            <a:r>
              <a:rPr lang="en-US" sz="1600" i="1" dirty="0" err="1">
                <a:solidFill>
                  <a:srgbClr val="1C7293"/>
                </a:solidFill>
                <a:latin typeface="Calibri" pitchFamily="34" charset="0"/>
                <a:ea typeface="Calibri" pitchFamily="34" charset="-122"/>
                <a:cs typeface="Calibri" pitchFamily="34" charset="-120"/>
              </a:rPr>
              <a:t>immobilier</a:t>
            </a:r>
            <a:r>
              <a:rPr lang="en-US" sz="1600" i="1" dirty="0">
                <a:solidFill>
                  <a:srgbClr val="1C7293"/>
                </a:solidFill>
                <a:latin typeface="Calibri" pitchFamily="34" charset="0"/>
                <a:ea typeface="Calibri" pitchFamily="34" charset="-122"/>
                <a:cs typeface="Calibri" pitchFamily="34" charset="-120"/>
              </a:rPr>
              <a:t>  les verticaux non-marketing qui adoptent les DCR</a:t>
            </a:r>
            <a:endParaRPr lang="en-US" sz="1600" dirty="0"/>
          </a:p>
        </p:txBody>
      </p:sp>
      <p:sp>
        <p:nvSpPr>
          <p:cNvPr id="5" name="Shape 3"/>
          <p:cNvSpPr/>
          <p:nvPr/>
        </p:nvSpPr>
        <p:spPr>
          <a:xfrm>
            <a:off x="548640" y="1737360"/>
            <a:ext cx="5532120" cy="2240280"/>
          </a:xfrm>
          <a:prstGeom prst="rect">
            <a:avLst/>
          </a:prstGeom>
          <a:solidFill>
            <a:srgbClr val="FFFFFF"/>
          </a:solidFill>
          <a:ln w="9525">
            <a:solidFill>
              <a:srgbClr val="E2E8F0"/>
            </a:solidFill>
            <a:prstDash val="solid"/>
          </a:ln>
          <a:effectLst>
            <a:outerShdw blurRad="127000" dist="38100" dir="8100000" algn="bl" rotWithShape="0">
              <a:srgbClr val="000000">
                <a:alpha val="10000"/>
              </a:srgbClr>
            </a:outerShdw>
          </a:effectLst>
        </p:spPr>
      </p:sp>
      <p:sp>
        <p:nvSpPr>
          <p:cNvPr id="6" name="Shape 4"/>
          <p:cNvSpPr/>
          <p:nvPr/>
        </p:nvSpPr>
        <p:spPr>
          <a:xfrm>
            <a:off x="548640" y="1737360"/>
            <a:ext cx="109728" cy="2240280"/>
          </a:xfrm>
          <a:prstGeom prst="rect">
            <a:avLst/>
          </a:prstGeom>
          <a:solidFill>
            <a:srgbClr val="065A82"/>
          </a:solidFill>
          <a:ln w="12700">
            <a:solidFill>
              <a:srgbClr val="065A82"/>
            </a:solidFill>
            <a:prstDash val="solid"/>
          </a:ln>
        </p:spPr>
      </p:sp>
      <p:sp>
        <p:nvSpPr>
          <p:cNvPr id="7" name="Shape 5"/>
          <p:cNvSpPr/>
          <p:nvPr/>
        </p:nvSpPr>
        <p:spPr>
          <a:xfrm>
            <a:off x="822960" y="1920240"/>
            <a:ext cx="502920" cy="502920"/>
          </a:xfrm>
          <a:prstGeom prst="ellipse">
            <a:avLst/>
          </a:prstGeom>
          <a:solidFill>
            <a:srgbClr val="065A82"/>
          </a:solidFill>
          <a:ln w="12700">
            <a:solidFill>
              <a:srgbClr val="065A82"/>
            </a:solidFill>
            <a:prstDash val="solid"/>
          </a:ln>
        </p:spPr>
      </p:sp>
      <p:sp>
        <p:nvSpPr>
          <p:cNvPr id="8" name="Text 6"/>
          <p:cNvSpPr/>
          <p:nvPr/>
        </p:nvSpPr>
        <p:spPr>
          <a:xfrm>
            <a:off x="822960" y="1901952"/>
            <a:ext cx="50292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9" name="Text 7"/>
          <p:cNvSpPr/>
          <p:nvPr/>
        </p:nvSpPr>
        <p:spPr>
          <a:xfrm>
            <a:off x="1463040" y="2011680"/>
            <a:ext cx="4389120" cy="320040"/>
          </a:xfrm>
          <a:prstGeom prst="rect">
            <a:avLst/>
          </a:prstGeom>
          <a:noFill/>
          <a:ln/>
        </p:spPr>
        <p:txBody>
          <a:bodyPr wrap="square" lIns="0" tIns="0" rIns="0" bIns="0" rtlCol="0" anchor="ctr"/>
          <a:lstStyle/>
          <a:p>
            <a:pPr marL="0" indent="0">
              <a:buNone/>
            </a:pPr>
            <a:r>
              <a:rPr lang="en-US" sz="1300" b="1" kern="0" spc="150" dirty="0">
                <a:solidFill>
                  <a:srgbClr val="065A82"/>
                </a:solidFill>
                <a:latin typeface="Calibri" pitchFamily="34" charset="0"/>
                <a:ea typeface="Calibri" pitchFamily="34" charset="-122"/>
                <a:cs typeface="Calibri" pitchFamily="34" charset="-120"/>
              </a:rPr>
              <a:t>SANTÉ</a:t>
            </a:r>
            <a:endParaRPr lang="en-US" sz="1300" dirty="0"/>
          </a:p>
        </p:txBody>
      </p:sp>
      <p:sp>
        <p:nvSpPr>
          <p:cNvPr id="10" name="Text 8"/>
          <p:cNvSpPr/>
          <p:nvPr/>
        </p:nvSpPr>
        <p:spPr>
          <a:xfrm>
            <a:off x="822960" y="2514600"/>
            <a:ext cx="5120640" cy="59436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Résolution de dossier patient multi-établissements sans exposer les données médicales individuelles.</a:t>
            </a:r>
            <a:endParaRPr lang="en-US" sz="1100" dirty="0"/>
          </a:p>
        </p:txBody>
      </p:sp>
      <p:sp>
        <p:nvSpPr>
          <p:cNvPr id="11" name="Text 9"/>
          <p:cNvSpPr/>
          <p:nvPr/>
        </p:nvSpPr>
        <p:spPr>
          <a:xfrm>
            <a:off x="822960" y="3090672"/>
            <a:ext cx="5120640" cy="457200"/>
          </a:xfrm>
          <a:prstGeom prst="rect">
            <a:avLst/>
          </a:prstGeom>
          <a:noFill/>
          <a:ln/>
        </p:spPr>
        <p:txBody>
          <a:bodyPr wrap="square" lIns="0" tIns="0" rIns="0" bIns="0" rtlCol="0" anchor="t"/>
          <a:lstStyle/>
          <a:p>
            <a:pPr marL="0" indent="0">
              <a:buNone/>
            </a:pPr>
            <a:r>
              <a:rPr lang="en-US" sz="1000" i="1" dirty="0">
                <a:solidFill>
                  <a:srgbClr val="64748B"/>
                </a:solidFill>
                <a:latin typeface="Calibri" pitchFamily="34" charset="0"/>
                <a:ea typeface="Calibri" pitchFamily="34" charset="-122"/>
                <a:cs typeface="Calibri" pitchFamily="34" charset="-120"/>
              </a:rPr>
              <a:t>Exemple cité : matching de parcours de soin entre hôpital A et laboratoire B  modèle appris, zéro dossier transféré.</a:t>
            </a:r>
            <a:endParaRPr lang="en-US" sz="1000" dirty="0"/>
          </a:p>
        </p:txBody>
      </p:sp>
      <p:sp>
        <p:nvSpPr>
          <p:cNvPr id="12" name="Text 10"/>
          <p:cNvSpPr/>
          <p:nvPr/>
        </p:nvSpPr>
        <p:spPr>
          <a:xfrm>
            <a:off x="822960" y="3520440"/>
            <a:ext cx="5120640" cy="411480"/>
          </a:xfrm>
          <a:prstGeom prst="rect">
            <a:avLst/>
          </a:prstGeom>
          <a:noFill/>
          <a:ln/>
        </p:spPr>
        <p:txBody>
          <a:bodyPr wrap="square" lIns="0" tIns="0" rIns="0" bIns="0" rtlCol="0" anchor="t"/>
          <a:lstStyle/>
          <a:p>
            <a:pPr marL="0" indent="0">
              <a:buNone/>
            </a:pPr>
            <a:r>
              <a:rPr lang="en-US" sz="1000" b="1" dirty="0">
                <a:solidFill>
                  <a:srgbClr val="065A82"/>
                </a:solidFill>
                <a:latin typeface="Calibri" pitchFamily="34" charset="0"/>
                <a:ea typeface="Calibri" pitchFamily="34" charset="-122"/>
                <a:cs typeface="Calibri" pitchFamily="34" charset="-120"/>
              </a:rPr>
              <a:t>→ Pour un Growth : c'est comme un match d'audience, mais le risque RGPD est 100× supérieur → la DCR devient obligatoire.</a:t>
            </a:r>
            <a:endParaRPr lang="en-US" sz="1000" dirty="0"/>
          </a:p>
        </p:txBody>
      </p:sp>
      <p:sp>
        <p:nvSpPr>
          <p:cNvPr id="13" name="Shape 11"/>
          <p:cNvSpPr/>
          <p:nvPr/>
        </p:nvSpPr>
        <p:spPr>
          <a:xfrm>
            <a:off x="6172200" y="1737360"/>
            <a:ext cx="5532120" cy="2240280"/>
          </a:xfrm>
          <a:prstGeom prst="rect">
            <a:avLst/>
          </a:prstGeom>
          <a:solidFill>
            <a:srgbClr val="FFFFFF"/>
          </a:solidFill>
          <a:ln w="9525">
            <a:solidFill>
              <a:srgbClr val="E2E8F0"/>
            </a:solidFill>
            <a:prstDash val="solid"/>
          </a:ln>
          <a:effectLst>
            <a:outerShdw blurRad="127000" dist="38100" dir="8100000" algn="bl" rotWithShape="0">
              <a:srgbClr val="000000">
                <a:alpha val="10000"/>
              </a:srgbClr>
            </a:outerShdw>
          </a:effectLst>
        </p:spPr>
      </p:sp>
      <p:sp>
        <p:nvSpPr>
          <p:cNvPr id="14" name="Shape 12"/>
          <p:cNvSpPr/>
          <p:nvPr/>
        </p:nvSpPr>
        <p:spPr>
          <a:xfrm>
            <a:off x="6172200" y="1737360"/>
            <a:ext cx="109728" cy="2240280"/>
          </a:xfrm>
          <a:prstGeom prst="rect">
            <a:avLst/>
          </a:prstGeom>
          <a:solidFill>
            <a:srgbClr val="1C7293"/>
          </a:solidFill>
          <a:ln w="12700">
            <a:solidFill>
              <a:srgbClr val="1C7293"/>
            </a:solidFill>
            <a:prstDash val="solid"/>
          </a:ln>
        </p:spPr>
      </p:sp>
      <p:sp>
        <p:nvSpPr>
          <p:cNvPr id="15" name="Shape 13"/>
          <p:cNvSpPr/>
          <p:nvPr/>
        </p:nvSpPr>
        <p:spPr>
          <a:xfrm>
            <a:off x="6446520" y="1920240"/>
            <a:ext cx="502920" cy="502920"/>
          </a:xfrm>
          <a:prstGeom prst="ellipse">
            <a:avLst/>
          </a:prstGeom>
          <a:solidFill>
            <a:srgbClr val="1C7293"/>
          </a:solidFill>
          <a:ln w="12700">
            <a:solidFill>
              <a:srgbClr val="1C7293"/>
            </a:solidFill>
            <a:prstDash val="solid"/>
          </a:ln>
        </p:spPr>
      </p:sp>
      <p:sp>
        <p:nvSpPr>
          <p:cNvPr id="16" name="Text 14"/>
          <p:cNvSpPr/>
          <p:nvPr/>
        </p:nvSpPr>
        <p:spPr>
          <a:xfrm>
            <a:off x="6446520" y="1901952"/>
            <a:ext cx="50292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7" name="Text 15"/>
          <p:cNvSpPr/>
          <p:nvPr/>
        </p:nvSpPr>
        <p:spPr>
          <a:xfrm>
            <a:off x="7086600" y="2011680"/>
            <a:ext cx="4389120" cy="320040"/>
          </a:xfrm>
          <a:prstGeom prst="rect">
            <a:avLst/>
          </a:prstGeom>
          <a:noFill/>
          <a:ln/>
        </p:spPr>
        <p:txBody>
          <a:bodyPr wrap="square" lIns="0" tIns="0" rIns="0" bIns="0" rtlCol="0" anchor="ctr"/>
          <a:lstStyle/>
          <a:p>
            <a:pPr marL="0" indent="0">
              <a:buNone/>
            </a:pPr>
            <a:r>
              <a:rPr lang="en-US" sz="1300" b="1" kern="0" spc="150" dirty="0">
                <a:solidFill>
                  <a:srgbClr val="1C7293"/>
                </a:solidFill>
                <a:latin typeface="Calibri" pitchFamily="34" charset="0"/>
                <a:ea typeface="Calibri" pitchFamily="34" charset="-122"/>
                <a:cs typeface="Calibri" pitchFamily="34" charset="-120"/>
              </a:rPr>
              <a:t>SUPPLY CHAIN</a:t>
            </a:r>
            <a:endParaRPr lang="en-US" sz="1300" dirty="0"/>
          </a:p>
        </p:txBody>
      </p:sp>
      <p:sp>
        <p:nvSpPr>
          <p:cNvPr id="18" name="Text 16"/>
          <p:cNvSpPr/>
          <p:nvPr/>
        </p:nvSpPr>
        <p:spPr>
          <a:xfrm>
            <a:off x="6446520" y="2514600"/>
            <a:ext cx="5120640" cy="59436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Value chain transparency entre marque, distributeur, logisticien, retailer  sans partager les marges de chacun.</a:t>
            </a:r>
            <a:endParaRPr lang="en-US" sz="1100" dirty="0"/>
          </a:p>
        </p:txBody>
      </p:sp>
      <p:sp>
        <p:nvSpPr>
          <p:cNvPr id="19" name="Text 17"/>
          <p:cNvSpPr/>
          <p:nvPr/>
        </p:nvSpPr>
        <p:spPr>
          <a:xfrm>
            <a:off x="6446520" y="3090672"/>
            <a:ext cx="5120640" cy="457200"/>
          </a:xfrm>
          <a:prstGeom prst="rect">
            <a:avLst/>
          </a:prstGeom>
          <a:noFill/>
          <a:ln/>
        </p:spPr>
        <p:txBody>
          <a:bodyPr wrap="square" lIns="0" tIns="0" rIns="0" bIns="0" rtlCol="0" anchor="t"/>
          <a:lstStyle/>
          <a:p>
            <a:pPr marL="0" indent="0">
              <a:buNone/>
            </a:pPr>
            <a:r>
              <a:rPr lang="en-US" sz="1000" i="1" dirty="0">
                <a:solidFill>
                  <a:srgbClr val="64748B"/>
                </a:solidFill>
                <a:latin typeface="Calibri" pitchFamily="34" charset="0"/>
                <a:ea typeface="Calibri" pitchFamily="34" charset="-122"/>
                <a:cs typeface="Calibri" pitchFamily="34" charset="-120"/>
              </a:rPr>
              <a:t>Trade finance / shipping : partage du statut cargo entre banque, assureur et armateur sans exposer les contrats.</a:t>
            </a:r>
            <a:endParaRPr lang="en-US" sz="1000" dirty="0"/>
          </a:p>
        </p:txBody>
      </p:sp>
      <p:sp>
        <p:nvSpPr>
          <p:cNvPr id="20" name="Text 18"/>
          <p:cNvSpPr/>
          <p:nvPr/>
        </p:nvSpPr>
        <p:spPr>
          <a:xfrm>
            <a:off x="6446520" y="3520440"/>
            <a:ext cx="5120640" cy="411480"/>
          </a:xfrm>
          <a:prstGeom prst="rect">
            <a:avLst/>
          </a:prstGeom>
          <a:noFill/>
          <a:ln/>
        </p:spPr>
        <p:txBody>
          <a:bodyPr wrap="square" lIns="0" tIns="0" rIns="0" bIns="0" rtlCol="0" anchor="t"/>
          <a:lstStyle/>
          <a:p>
            <a:pPr marL="0" indent="0">
              <a:buNone/>
            </a:pPr>
            <a:r>
              <a:rPr lang="en-US" sz="1000" b="1" dirty="0">
                <a:solidFill>
                  <a:srgbClr val="1C7293"/>
                </a:solidFill>
                <a:latin typeface="Calibri" pitchFamily="34" charset="0"/>
                <a:ea typeface="Calibri" pitchFamily="34" charset="-122"/>
                <a:cs typeface="Calibri" pitchFamily="34" charset="-120"/>
              </a:rPr>
              <a:t>→ Pour un Growth : permet au brand de mesurer le ROI d'un retail partner sans demander les données de caisse.</a:t>
            </a:r>
            <a:endParaRPr lang="en-US" sz="1000" dirty="0"/>
          </a:p>
        </p:txBody>
      </p:sp>
      <p:sp>
        <p:nvSpPr>
          <p:cNvPr id="21" name="Shape 19"/>
          <p:cNvSpPr/>
          <p:nvPr/>
        </p:nvSpPr>
        <p:spPr>
          <a:xfrm>
            <a:off x="548640" y="4069080"/>
            <a:ext cx="5532120" cy="2240280"/>
          </a:xfrm>
          <a:prstGeom prst="rect">
            <a:avLst/>
          </a:prstGeom>
          <a:solidFill>
            <a:srgbClr val="FFFFFF"/>
          </a:solidFill>
          <a:ln w="9525">
            <a:solidFill>
              <a:srgbClr val="E2E8F0"/>
            </a:solidFill>
            <a:prstDash val="solid"/>
          </a:ln>
          <a:effectLst>
            <a:outerShdw blurRad="127000" dist="38100" dir="8100000" algn="bl" rotWithShape="0">
              <a:srgbClr val="000000">
                <a:alpha val="10000"/>
              </a:srgbClr>
            </a:outerShdw>
          </a:effectLst>
        </p:spPr>
      </p:sp>
      <p:sp>
        <p:nvSpPr>
          <p:cNvPr id="22" name="Shape 20"/>
          <p:cNvSpPr/>
          <p:nvPr/>
        </p:nvSpPr>
        <p:spPr>
          <a:xfrm>
            <a:off x="548640" y="4069080"/>
            <a:ext cx="109728" cy="2240280"/>
          </a:xfrm>
          <a:prstGeom prst="rect">
            <a:avLst/>
          </a:prstGeom>
          <a:solidFill>
            <a:srgbClr val="F96167"/>
          </a:solidFill>
          <a:ln w="12700">
            <a:solidFill>
              <a:srgbClr val="F96167"/>
            </a:solidFill>
            <a:prstDash val="solid"/>
          </a:ln>
        </p:spPr>
      </p:sp>
      <p:sp>
        <p:nvSpPr>
          <p:cNvPr id="23" name="Shape 21"/>
          <p:cNvSpPr/>
          <p:nvPr/>
        </p:nvSpPr>
        <p:spPr>
          <a:xfrm>
            <a:off x="822960" y="4251960"/>
            <a:ext cx="502920" cy="502920"/>
          </a:xfrm>
          <a:prstGeom prst="ellipse">
            <a:avLst/>
          </a:prstGeom>
          <a:solidFill>
            <a:srgbClr val="F96167"/>
          </a:solidFill>
          <a:ln w="12700">
            <a:solidFill>
              <a:srgbClr val="F96167"/>
            </a:solidFill>
            <a:prstDash val="solid"/>
          </a:ln>
        </p:spPr>
      </p:sp>
      <p:sp>
        <p:nvSpPr>
          <p:cNvPr id="24" name="Text 22"/>
          <p:cNvSpPr/>
          <p:nvPr/>
        </p:nvSpPr>
        <p:spPr>
          <a:xfrm>
            <a:off x="822960" y="4233672"/>
            <a:ext cx="50292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25" name="Text 23"/>
          <p:cNvSpPr/>
          <p:nvPr/>
        </p:nvSpPr>
        <p:spPr>
          <a:xfrm>
            <a:off x="1463040" y="4343400"/>
            <a:ext cx="4389120" cy="320040"/>
          </a:xfrm>
          <a:prstGeom prst="rect">
            <a:avLst/>
          </a:prstGeom>
          <a:noFill/>
          <a:ln/>
        </p:spPr>
        <p:txBody>
          <a:bodyPr wrap="square" lIns="0" tIns="0" rIns="0" bIns="0" rtlCol="0" anchor="ctr"/>
          <a:lstStyle/>
          <a:p>
            <a:pPr marL="0" indent="0">
              <a:buNone/>
            </a:pPr>
            <a:r>
              <a:rPr lang="en-US" sz="1300" b="1" kern="0" spc="150" dirty="0">
                <a:solidFill>
                  <a:srgbClr val="F96167"/>
                </a:solidFill>
                <a:latin typeface="Calibri" pitchFamily="34" charset="0"/>
                <a:ea typeface="Calibri" pitchFamily="34" charset="-122"/>
                <a:cs typeface="Calibri" pitchFamily="34" charset="-120"/>
              </a:rPr>
              <a:t>ASSURANCE &amp; FINANCE</a:t>
            </a:r>
            <a:endParaRPr lang="en-US" sz="1300" dirty="0"/>
          </a:p>
        </p:txBody>
      </p:sp>
      <p:sp>
        <p:nvSpPr>
          <p:cNvPr id="26" name="Text 24"/>
          <p:cNvSpPr/>
          <p:nvPr/>
        </p:nvSpPr>
        <p:spPr>
          <a:xfrm>
            <a:off x="822960" y="4846320"/>
            <a:ext cx="5120640" cy="59436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Scoring de risque ou modèle actuariel partagé entre assureur, banque et réassureur.</a:t>
            </a:r>
            <a:endParaRPr lang="en-US" sz="1100" dirty="0"/>
          </a:p>
        </p:txBody>
      </p:sp>
      <p:sp>
        <p:nvSpPr>
          <p:cNvPr id="27" name="Text 25"/>
          <p:cNvSpPr/>
          <p:nvPr/>
        </p:nvSpPr>
        <p:spPr>
          <a:xfrm>
            <a:off x="822960" y="5422392"/>
            <a:ext cx="5120640" cy="457200"/>
          </a:xfrm>
          <a:prstGeom prst="rect">
            <a:avLst/>
          </a:prstGeom>
          <a:noFill/>
          <a:ln/>
        </p:spPr>
        <p:txBody>
          <a:bodyPr wrap="square" lIns="0" tIns="0" rIns="0" bIns="0" rtlCol="0" anchor="t"/>
          <a:lstStyle/>
          <a:p>
            <a:pPr marL="0" indent="0">
              <a:buNone/>
            </a:pPr>
            <a:r>
              <a:rPr lang="en-US" sz="1000" i="1" dirty="0">
                <a:solidFill>
                  <a:srgbClr val="64748B"/>
                </a:solidFill>
                <a:latin typeface="Calibri" pitchFamily="34" charset="0"/>
                <a:ea typeface="Calibri" pitchFamily="34" charset="-122"/>
                <a:cs typeface="Calibri" pitchFamily="34" charset="-120"/>
              </a:rPr>
              <a:t>Decentriq cité : attribute prediction models entre publisher et assureur pour enrichir le targeting.</a:t>
            </a:r>
            <a:endParaRPr lang="en-US" sz="1000" dirty="0"/>
          </a:p>
        </p:txBody>
      </p:sp>
      <p:sp>
        <p:nvSpPr>
          <p:cNvPr id="28" name="Text 26"/>
          <p:cNvSpPr/>
          <p:nvPr/>
        </p:nvSpPr>
        <p:spPr>
          <a:xfrm>
            <a:off x="822960" y="5852160"/>
            <a:ext cx="5120640" cy="411480"/>
          </a:xfrm>
          <a:prstGeom prst="rect">
            <a:avLst/>
          </a:prstGeom>
          <a:noFill/>
          <a:ln/>
        </p:spPr>
        <p:txBody>
          <a:bodyPr wrap="square" lIns="0" tIns="0" rIns="0" bIns="0" rtlCol="0" anchor="t"/>
          <a:lstStyle/>
          <a:p>
            <a:pPr marL="0" indent="0">
              <a:buNone/>
            </a:pPr>
            <a:r>
              <a:rPr lang="en-US" sz="1000" b="1" dirty="0">
                <a:solidFill>
                  <a:srgbClr val="F96167"/>
                </a:solidFill>
                <a:latin typeface="Calibri" pitchFamily="34" charset="0"/>
                <a:ea typeface="Calibri" pitchFamily="34" charset="-122"/>
                <a:cs typeface="Calibri" pitchFamily="34" charset="-120"/>
              </a:rPr>
              <a:t>→ Pour un Growth : les partenaires bancaires deviennent des sources de lookalike très haute valeur.</a:t>
            </a:r>
            <a:endParaRPr lang="en-US" sz="1000" dirty="0"/>
          </a:p>
        </p:txBody>
      </p:sp>
      <p:sp>
        <p:nvSpPr>
          <p:cNvPr id="29" name="Shape 27"/>
          <p:cNvSpPr/>
          <p:nvPr/>
        </p:nvSpPr>
        <p:spPr>
          <a:xfrm>
            <a:off x="6172200" y="4069080"/>
            <a:ext cx="5532120" cy="2240280"/>
          </a:xfrm>
          <a:prstGeom prst="rect">
            <a:avLst/>
          </a:prstGeom>
          <a:solidFill>
            <a:srgbClr val="FFFFFF"/>
          </a:solidFill>
          <a:ln w="9525">
            <a:solidFill>
              <a:srgbClr val="E2E8F0"/>
            </a:solidFill>
            <a:prstDash val="solid"/>
          </a:ln>
          <a:effectLst>
            <a:outerShdw blurRad="127000" dist="38100" dir="8100000" algn="bl" rotWithShape="0">
              <a:srgbClr val="000000">
                <a:alpha val="10000"/>
              </a:srgbClr>
            </a:outerShdw>
          </a:effectLst>
        </p:spPr>
      </p:sp>
      <p:sp>
        <p:nvSpPr>
          <p:cNvPr id="30" name="Shape 28"/>
          <p:cNvSpPr/>
          <p:nvPr/>
        </p:nvSpPr>
        <p:spPr>
          <a:xfrm>
            <a:off x="6172200" y="4069080"/>
            <a:ext cx="109728" cy="2240280"/>
          </a:xfrm>
          <a:prstGeom prst="rect">
            <a:avLst/>
          </a:prstGeom>
          <a:solidFill>
            <a:srgbClr val="F9B233"/>
          </a:solidFill>
          <a:ln w="12700">
            <a:solidFill>
              <a:srgbClr val="F9B233"/>
            </a:solidFill>
            <a:prstDash val="solid"/>
          </a:ln>
        </p:spPr>
      </p:sp>
      <p:sp>
        <p:nvSpPr>
          <p:cNvPr id="31" name="Shape 29"/>
          <p:cNvSpPr/>
          <p:nvPr/>
        </p:nvSpPr>
        <p:spPr>
          <a:xfrm>
            <a:off x="6446520" y="4251960"/>
            <a:ext cx="502920" cy="502920"/>
          </a:xfrm>
          <a:prstGeom prst="ellipse">
            <a:avLst/>
          </a:prstGeom>
          <a:solidFill>
            <a:srgbClr val="F9B233"/>
          </a:solidFill>
          <a:ln w="12700">
            <a:solidFill>
              <a:srgbClr val="F9B233"/>
            </a:solidFill>
            <a:prstDash val="solid"/>
          </a:ln>
        </p:spPr>
      </p:sp>
      <p:sp>
        <p:nvSpPr>
          <p:cNvPr id="32" name="Text 30"/>
          <p:cNvSpPr/>
          <p:nvPr/>
        </p:nvSpPr>
        <p:spPr>
          <a:xfrm>
            <a:off x="6446520" y="4233672"/>
            <a:ext cx="50292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33" name="Text 31"/>
          <p:cNvSpPr/>
          <p:nvPr/>
        </p:nvSpPr>
        <p:spPr>
          <a:xfrm>
            <a:off x="7086600" y="4343400"/>
            <a:ext cx="4389120" cy="320040"/>
          </a:xfrm>
          <a:prstGeom prst="rect">
            <a:avLst/>
          </a:prstGeom>
          <a:noFill/>
          <a:ln/>
        </p:spPr>
        <p:txBody>
          <a:bodyPr wrap="square" lIns="0" tIns="0" rIns="0" bIns="0" rtlCol="0" anchor="ctr"/>
          <a:lstStyle/>
          <a:p>
            <a:pPr marL="0" indent="0">
              <a:buNone/>
            </a:pPr>
            <a:r>
              <a:rPr lang="en-US" sz="1300" b="1" kern="0" spc="150" dirty="0">
                <a:solidFill>
                  <a:srgbClr val="F9B233"/>
                </a:solidFill>
                <a:latin typeface="Calibri" pitchFamily="34" charset="0"/>
                <a:ea typeface="Calibri" pitchFamily="34" charset="-122"/>
                <a:cs typeface="Calibri" pitchFamily="34" charset="-120"/>
              </a:rPr>
              <a:t>IMMOBILIER</a:t>
            </a:r>
            <a:endParaRPr lang="en-US" sz="1300" dirty="0"/>
          </a:p>
        </p:txBody>
      </p:sp>
      <p:sp>
        <p:nvSpPr>
          <p:cNvPr id="34" name="Text 32"/>
          <p:cNvSpPr/>
          <p:nvPr/>
        </p:nvSpPr>
        <p:spPr>
          <a:xfrm>
            <a:off x="6446520" y="4846320"/>
            <a:ext cx="5120640" cy="59436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Agrégation d'intentions d'achat et de données de localisation entre agences et portails sans dédupliquer les leads.</a:t>
            </a:r>
            <a:endParaRPr lang="en-US" sz="1100" dirty="0"/>
          </a:p>
        </p:txBody>
      </p:sp>
      <p:sp>
        <p:nvSpPr>
          <p:cNvPr id="35" name="Text 33"/>
          <p:cNvSpPr/>
          <p:nvPr/>
        </p:nvSpPr>
        <p:spPr>
          <a:xfrm>
            <a:off x="6446520" y="5422392"/>
            <a:ext cx="5120640" cy="457200"/>
          </a:xfrm>
          <a:prstGeom prst="rect">
            <a:avLst/>
          </a:prstGeom>
          <a:noFill/>
          <a:ln/>
        </p:spPr>
        <p:txBody>
          <a:bodyPr wrap="square" lIns="0" tIns="0" rIns="0" bIns="0" rtlCol="0" anchor="t"/>
          <a:lstStyle/>
          <a:p>
            <a:pPr marL="0" indent="0">
              <a:buNone/>
            </a:pPr>
            <a:r>
              <a:rPr lang="en-US" sz="1000" i="1" dirty="0">
                <a:solidFill>
                  <a:srgbClr val="64748B"/>
                </a:solidFill>
                <a:latin typeface="Calibri" pitchFamily="34" charset="0"/>
                <a:ea typeface="Calibri" pitchFamily="34" charset="-122"/>
                <a:cs typeface="Calibri" pitchFamily="34" charset="-120"/>
              </a:rPr>
              <a:t>Cité comme cas d'usage prioritaire par le CEO Aqilliz : data decentralization + partage contrôlé.</a:t>
            </a:r>
            <a:endParaRPr lang="en-US" sz="1000" dirty="0"/>
          </a:p>
        </p:txBody>
      </p:sp>
      <p:sp>
        <p:nvSpPr>
          <p:cNvPr id="36" name="Text 34"/>
          <p:cNvSpPr/>
          <p:nvPr/>
        </p:nvSpPr>
        <p:spPr>
          <a:xfrm>
            <a:off x="6446520" y="5852160"/>
            <a:ext cx="5120640" cy="411480"/>
          </a:xfrm>
          <a:prstGeom prst="rect">
            <a:avLst/>
          </a:prstGeom>
          <a:noFill/>
          <a:ln/>
        </p:spPr>
        <p:txBody>
          <a:bodyPr wrap="square" lIns="0" tIns="0" rIns="0" bIns="0" rtlCol="0" anchor="t"/>
          <a:lstStyle/>
          <a:p>
            <a:pPr marL="0" indent="0">
              <a:buNone/>
            </a:pPr>
            <a:r>
              <a:rPr lang="en-US" sz="1000" b="1" dirty="0">
                <a:solidFill>
                  <a:srgbClr val="F9B233"/>
                </a:solidFill>
                <a:latin typeface="Calibri" pitchFamily="34" charset="0"/>
                <a:ea typeface="Calibri" pitchFamily="34" charset="-122"/>
                <a:cs typeface="Calibri" pitchFamily="34" charset="-120"/>
              </a:rPr>
              <a:t>→ Pour un Growth : inspire la démarche sur les marketplaces B2B2C (leads qualifiés partagés sans contact brut).</a:t>
            </a:r>
            <a:endParaRPr lang="en-US" sz="1000" dirty="0"/>
          </a:p>
        </p:txBody>
      </p:sp>
      <p:sp>
        <p:nvSpPr>
          <p:cNvPr id="37" name="Text 35"/>
          <p:cNvSpPr/>
          <p:nvPr/>
        </p:nvSpPr>
        <p:spPr>
          <a:xfrm>
            <a:off x="548640" y="6400800"/>
            <a:ext cx="11064240" cy="27432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Source : Gowthaman Ragothaman (Aqilliz) + Juan Baron (Decentriq)  interviews Clearcode, 2023</a:t>
            </a:r>
            <a:endParaRPr lang="en-US" sz="1000" dirty="0"/>
          </a:p>
        </p:txBody>
      </p:sp>
      <p:sp>
        <p:nvSpPr>
          <p:cNvPr id="38" name="Shape 36"/>
          <p:cNvSpPr/>
          <p:nvPr/>
        </p:nvSpPr>
        <p:spPr>
          <a:xfrm>
            <a:off x="0" y="6583680"/>
            <a:ext cx="12191695" cy="274320"/>
          </a:xfrm>
          <a:prstGeom prst="rect">
            <a:avLst/>
          </a:prstGeom>
          <a:solidFill>
            <a:srgbClr val="0B1F3A"/>
          </a:solidFill>
          <a:ln w="12700">
            <a:solidFill>
              <a:srgbClr val="0B1F3A"/>
            </a:solidFill>
            <a:prstDash val="solid"/>
          </a:ln>
        </p:spPr>
      </p:sp>
      <p:sp>
        <p:nvSpPr>
          <p:cNvPr id="39" name="Text 37"/>
          <p:cNvSpPr/>
          <p:nvPr/>
        </p:nvSpPr>
        <p:spPr>
          <a:xfrm>
            <a:off x="365760" y="6601968"/>
            <a:ext cx="822960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Bonus  Voix du marché</a:t>
            </a:r>
            <a:endParaRPr lang="en-US" sz="1000" dirty="0"/>
          </a:p>
        </p:txBody>
      </p:sp>
      <p:sp>
        <p:nvSpPr>
          <p:cNvPr id="40" name="Text 38"/>
          <p:cNvSpPr/>
          <p:nvPr/>
        </p:nvSpPr>
        <p:spPr>
          <a:xfrm>
            <a:off x="11551615" y="6601968"/>
            <a:ext cx="365760" cy="237744"/>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58</a:t>
            </a:r>
            <a:endParaRPr lang="en-US" sz="10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61">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7315200" y="-2743200"/>
            <a:ext cx="9144000" cy="9144000"/>
          </a:xfrm>
          <a:prstGeom prst="ellipse">
            <a:avLst/>
          </a:prstGeom>
          <a:solidFill>
            <a:srgbClr val="F9B233">
              <a:alpha val="12000"/>
            </a:srgbClr>
          </a:solidFill>
          <a:ln w="12700">
            <a:solidFill>
              <a:srgbClr val="F9B233">
                <a:alpha val="12000"/>
              </a:srgbClr>
            </a:solidFill>
            <a:prstDash val="solid"/>
          </a:ln>
        </p:spPr>
      </p:sp>
      <p:sp>
        <p:nvSpPr>
          <p:cNvPr id="3" name="Shape 1"/>
          <p:cNvSpPr/>
          <p:nvPr/>
        </p:nvSpPr>
        <p:spPr>
          <a:xfrm>
            <a:off x="-2743200" y="2743200"/>
            <a:ext cx="6400800" cy="6400800"/>
          </a:xfrm>
          <a:prstGeom prst="ellipse">
            <a:avLst/>
          </a:prstGeom>
          <a:solidFill>
            <a:srgbClr val="1C7293">
              <a:alpha val="15000"/>
            </a:srgbClr>
          </a:solidFill>
          <a:ln w="12700">
            <a:solidFill>
              <a:srgbClr val="1C7293">
                <a:alpha val="15000"/>
              </a:srgbClr>
            </a:solidFill>
            <a:prstDash val="solid"/>
          </a:ln>
        </p:spPr>
      </p:sp>
      <p:sp>
        <p:nvSpPr>
          <p:cNvPr id="4" name="Shape 2"/>
          <p:cNvSpPr/>
          <p:nvPr/>
        </p:nvSpPr>
        <p:spPr>
          <a:xfrm>
            <a:off x="548640" y="1371600"/>
            <a:ext cx="137160" cy="1188720"/>
          </a:xfrm>
          <a:prstGeom prst="rect">
            <a:avLst/>
          </a:prstGeom>
          <a:solidFill>
            <a:srgbClr val="F96167"/>
          </a:solidFill>
          <a:ln w="12700">
            <a:solidFill>
              <a:srgbClr val="F96167"/>
            </a:solidFill>
            <a:prstDash val="solid"/>
          </a:ln>
        </p:spPr>
      </p:sp>
      <p:sp>
        <p:nvSpPr>
          <p:cNvPr id="5" name="Text 3"/>
          <p:cNvSpPr/>
          <p:nvPr/>
        </p:nvSpPr>
        <p:spPr>
          <a:xfrm>
            <a:off x="548640" y="822960"/>
            <a:ext cx="9144000" cy="457200"/>
          </a:xfrm>
          <a:prstGeom prst="rect">
            <a:avLst/>
          </a:prstGeom>
          <a:noFill/>
          <a:ln/>
        </p:spPr>
        <p:txBody>
          <a:bodyPr wrap="square" lIns="0" tIns="0" rIns="0" bIns="0" rtlCol="0" anchor="ctr"/>
          <a:lstStyle/>
          <a:p>
            <a:pPr marL="0" indent="0">
              <a:buNone/>
            </a:pPr>
            <a:r>
              <a:rPr lang="en-US" sz="1400" b="1" kern="0" spc="300" dirty="0">
                <a:solidFill>
                  <a:srgbClr val="F9B233"/>
                </a:solidFill>
                <a:latin typeface="Calibri" pitchFamily="34" charset="0"/>
                <a:ea typeface="Calibri" pitchFamily="34" charset="-122"/>
                <a:cs typeface="Calibri" pitchFamily="34" charset="-120"/>
              </a:rPr>
              <a:t>FIN DES 4 SESSIONS</a:t>
            </a:r>
            <a:endParaRPr lang="en-US" sz="1400" dirty="0"/>
          </a:p>
        </p:txBody>
      </p:sp>
      <p:sp>
        <p:nvSpPr>
          <p:cNvPr id="6" name="Text 4"/>
          <p:cNvSpPr/>
          <p:nvPr/>
        </p:nvSpPr>
        <p:spPr>
          <a:xfrm>
            <a:off x="548640" y="1371600"/>
            <a:ext cx="10972800" cy="91440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Merci  et à vous de </a:t>
            </a:r>
            <a:r>
              <a:rPr lang="en-US" sz="4400" b="1" dirty="0" err="1">
                <a:solidFill>
                  <a:srgbClr val="FFFFFF"/>
                </a:solidFill>
                <a:latin typeface="Calibri" pitchFamily="34" charset="0"/>
                <a:ea typeface="Calibri" pitchFamily="34" charset="-122"/>
                <a:cs typeface="Calibri" pitchFamily="34" charset="-120"/>
              </a:rPr>
              <a:t>jouer</a:t>
            </a:r>
            <a:r>
              <a:rPr lang="en-US" sz="4400" b="1" dirty="0">
                <a:solidFill>
                  <a:srgbClr val="FFFFFF"/>
                </a:solidFill>
                <a:latin typeface="Calibri" pitchFamily="34" charset="0"/>
                <a:ea typeface="Calibri" pitchFamily="34" charset="-122"/>
                <a:cs typeface="Calibri" pitchFamily="34" charset="-120"/>
              </a:rPr>
              <a:t> (QCM </a:t>
            </a:r>
            <a:r>
              <a:rPr lang="en-US" sz="4400" b="1" dirty="0" err="1">
                <a:solidFill>
                  <a:srgbClr val="FFFFFF"/>
                </a:solidFill>
                <a:latin typeface="Calibri" pitchFamily="34" charset="0"/>
                <a:ea typeface="Calibri" pitchFamily="34" charset="-122"/>
                <a:cs typeface="Calibri" pitchFamily="34" charset="-120"/>
              </a:rPr>
              <a:t>d’évaluation</a:t>
            </a:r>
            <a:r>
              <a:rPr lang="en-US" sz="4400" b="1" dirty="0">
                <a:solidFill>
                  <a:srgbClr val="FFFFFF"/>
                </a:solidFill>
                <a:latin typeface="Calibri" pitchFamily="34" charset="0"/>
                <a:ea typeface="Calibri" pitchFamily="34" charset="-122"/>
                <a:cs typeface="Calibri" pitchFamily="34" charset="-120"/>
              </a:rPr>
              <a:t>)</a:t>
            </a:r>
            <a:endParaRPr lang="en-US" sz="4400" dirty="0"/>
          </a:p>
        </p:txBody>
      </p:sp>
      <p:sp>
        <p:nvSpPr>
          <p:cNvPr id="7" name="Shape 5"/>
          <p:cNvSpPr/>
          <p:nvPr/>
        </p:nvSpPr>
        <p:spPr>
          <a:xfrm>
            <a:off x="731520" y="2788920"/>
            <a:ext cx="274320" cy="274320"/>
          </a:xfrm>
          <a:prstGeom prst="ellipse">
            <a:avLst/>
          </a:prstGeom>
          <a:solidFill>
            <a:srgbClr val="F96167"/>
          </a:solidFill>
          <a:ln w="12700">
            <a:solidFill>
              <a:srgbClr val="F96167"/>
            </a:solidFill>
            <a:prstDash val="solid"/>
          </a:ln>
        </p:spPr>
      </p:sp>
      <p:sp>
        <p:nvSpPr>
          <p:cNvPr id="8" name="Text 6"/>
          <p:cNvSpPr/>
          <p:nvPr/>
        </p:nvSpPr>
        <p:spPr>
          <a:xfrm>
            <a:off x="731520" y="2779776"/>
            <a:ext cx="274320"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9" name="Text 7"/>
          <p:cNvSpPr/>
          <p:nvPr/>
        </p:nvSpPr>
        <p:spPr>
          <a:xfrm>
            <a:off x="1188720" y="2743200"/>
            <a:ext cx="10058400" cy="41148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Vous savez expliquer ce qu'est une DCR en 2 minutes</a:t>
            </a:r>
            <a:endParaRPr lang="en-US" sz="1500" dirty="0"/>
          </a:p>
        </p:txBody>
      </p:sp>
      <p:sp>
        <p:nvSpPr>
          <p:cNvPr id="10" name="Shape 8"/>
          <p:cNvSpPr/>
          <p:nvPr/>
        </p:nvSpPr>
        <p:spPr>
          <a:xfrm>
            <a:off x="731520" y="3291840"/>
            <a:ext cx="274320" cy="274320"/>
          </a:xfrm>
          <a:prstGeom prst="ellipse">
            <a:avLst/>
          </a:prstGeom>
          <a:solidFill>
            <a:srgbClr val="F96167"/>
          </a:solidFill>
          <a:ln w="12700">
            <a:solidFill>
              <a:srgbClr val="F96167"/>
            </a:solidFill>
            <a:prstDash val="solid"/>
          </a:ln>
        </p:spPr>
      </p:sp>
      <p:sp>
        <p:nvSpPr>
          <p:cNvPr id="11" name="Text 9"/>
          <p:cNvSpPr/>
          <p:nvPr/>
        </p:nvSpPr>
        <p:spPr>
          <a:xfrm>
            <a:off x="731520" y="3282696"/>
            <a:ext cx="274320"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2" name="Text 10"/>
          <p:cNvSpPr/>
          <p:nvPr/>
        </p:nvSpPr>
        <p:spPr>
          <a:xfrm>
            <a:off x="1188720" y="3246120"/>
            <a:ext cx="10058400" cy="41148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Vous connaissez les 12 providers majeurs et leurs forces</a:t>
            </a:r>
            <a:endParaRPr lang="en-US" sz="1500" dirty="0"/>
          </a:p>
        </p:txBody>
      </p:sp>
      <p:sp>
        <p:nvSpPr>
          <p:cNvPr id="13" name="Shape 11"/>
          <p:cNvSpPr/>
          <p:nvPr/>
        </p:nvSpPr>
        <p:spPr>
          <a:xfrm>
            <a:off x="731520" y="3794760"/>
            <a:ext cx="274320" cy="274320"/>
          </a:xfrm>
          <a:prstGeom prst="ellipse">
            <a:avLst/>
          </a:prstGeom>
          <a:solidFill>
            <a:srgbClr val="F96167"/>
          </a:solidFill>
          <a:ln w="12700">
            <a:solidFill>
              <a:srgbClr val="F96167"/>
            </a:solidFill>
            <a:prstDash val="solid"/>
          </a:ln>
        </p:spPr>
      </p:sp>
      <p:sp>
        <p:nvSpPr>
          <p:cNvPr id="14" name="Text 12"/>
          <p:cNvSpPr/>
          <p:nvPr/>
        </p:nvSpPr>
        <p:spPr>
          <a:xfrm>
            <a:off x="731520" y="3785616"/>
            <a:ext cx="274320"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5" name="Text 13"/>
          <p:cNvSpPr/>
          <p:nvPr/>
        </p:nvSpPr>
        <p:spPr>
          <a:xfrm>
            <a:off x="1188720" y="3749040"/>
            <a:ext cx="10058400" cy="41148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Vous savez choisir le bon DCR pour un besoin donné</a:t>
            </a:r>
            <a:endParaRPr lang="en-US" sz="1500" dirty="0"/>
          </a:p>
        </p:txBody>
      </p:sp>
      <p:sp>
        <p:nvSpPr>
          <p:cNvPr id="16" name="Shape 14"/>
          <p:cNvSpPr/>
          <p:nvPr/>
        </p:nvSpPr>
        <p:spPr>
          <a:xfrm>
            <a:off x="731520" y="4297680"/>
            <a:ext cx="274320" cy="274320"/>
          </a:xfrm>
          <a:prstGeom prst="ellipse">
            <a:avLst/>
          </a:prstGeom>
          <a:solidFill>
            <a:srgbClr val="F96167"/>
          </a:solidFill>
          <a:ln w="12700">
            <a:solidFill>
              <a:srgbClr val="F96167"/>
            </a:solidFill>
            <a:prstDash val="solid"/>
          </a:ln>
        </p:spPr>
      </p:sp>
      <p:sp>
        <p:nvSpPr>
          <p:cNvPr id="17" name="Text 15"/>
          <p:cNvSpPr/>
          <p:nvPr/>
        </p:nvSpPr>
        <p:spPr>
          <a:xfrm>
            <a:off x="731520" y="4288536"/>
            <a:ext cx="274320"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8" name="Text 16"/>
          <p:cNvSpPr/>
          <p:nvPr/>
        </p:nvSpPr>
        <p:spPr>
          <a:xfrm>
            <a:off x="1188720" y="4251960"/>
            <a:ext cx="10058400" cy="41148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Vous savez pitcher un POC avec un business case chiffré</a:t>
            </a:r>
            <a:endParaRPr lang="en-US" sz="1500" dirty="0"/>
          </a:p>
        </p:txBody>
      </p:sp>
      <p:sp>
        <p:nvSpPr>
          <p:cNvPr id="19" name="Shape 17"/>
          <p:cNvSpPr/>
          <p:nvPr/>
        </p:nvSpPr>
        <p:spPr>
          <a:xfrm>
            <a:off x="731520" y="4800600"/>
            <a:ext cx="274320" cy="274320"/>
          </a:xfrm>
          <a:prstGeom prst="ellipse">
            <a:avLst/>
          </a:prstGeom>
          <a:solidFill>
            <a:srgbClr val="F96167"/>
          </a:solidFill>
          <a:ln w="12700">
            <a:solidFill>
              <a:srgbClr val="F96167"/>
            </a:solidFill>
            <a:prstDash val="solid"/>
          </a:ln>
        </p:spPr>
      </p:sp>
      <p:sp>
        <p:nvSpPr>
          <p:cNvPr id="20" name="Text 18"/>
          <p:cNvSpPr/>
          <p:nvPr/>
        </p:nvSpPr>
        <p:spPr>
          <a:xfrm>
            <a:off x="731520" y="4791456"/>
            <a:ext cx="274320"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1" name="Text 19"/>
          <p:cNvSpPr/>
          <p:nvPr/>
        </p:nvSpPr>
        <p:spPr>
          <a:xfrm>
            <a:off x="1188720" y="4754880"/>
            <a:ext cx="10058400" cy="41148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Vous savez briefer une agence et piloter un POC 12 semaines</a:t>
            </a:r>
            <a:endParaRPr lang="en-US" sz="1500" dirty="0"/>
          </a:p>
        </p:txBody>
      </p:sp>
      <p:sp>
        <p:nvSpPr>
          <p:cNvPr id="22" name="Shape 20"/>
          <p:cNvSpPr/>
          <p:nvPr/>
        </p:nvSpPr>
        <p:spPr>
          <a:xfrm>
            <a:off x="548640" y="5760720"/>
            <a:ext cx="11064240" cy="822960"/>
          </a:xfrm>
          <a:prstGeom prst="rect">
            <a:avLst/>
          </a:prstGeom>
          <a:solidFill>
            <a:srgbClr val="FFFFFF">
              <a:alpha val="12000"/>
            </a:srgbClr>
          </a:solidFill>
          <a:ln w="6350">
            <a:solidFill>
              <a:srgbClr val="1C7293"/>
            </a:solidFill>
            <a:prstDash val="solid"/>
          </a:ln>
        </p:spPr>
      </p:sp>
      <p:sp>
        <p:nvSpPr>
          <p:cNvPr id="23" name="Text 21"/>
          <p:cNvSpPr/>
          <p:nvPr/>
        </p:nvSpPr>
        <p:spPr>
          <a:xfrm>
            <a:off x="548640" y="5943600"/>
            <a:ext cx="11064240" cy="365760"/>
          </a:xfrm>
          <a:prstGeom prst="rect">
            <a:avLst/>
          </a:prstGeom>
          <a:noFill/>
          <a:ln/>
        </p:spPr>
        <p:txBody>
          <a:bodyPr wrap="square" lIns="0" tIns="0" rIns="0" bIns="0" rtlCol="0" anchor="ctr"/>
          <a:lstStyle/>
          <a:p>
            <a:pPr marL="0" indent="0" algn="ctr">
              <a:buNone/>
            </a:pPr>
            <a:r>
              <a:rPr lang="en-US" sz="1400" i="1" dirty="0">
                <a:solidFill>
                  <a:srgbClr val="FFFFFF"/>
                </a:solidFill>
                <a:latin typeface="Calibri" pitchFamily="34" charset="0"/>
                <a:ea typeface="Calibri" pitchFamily="34" charset="-122"/>
                <a:cs typeface="Calibri" pitchFamily="34" charset="-120"/>
              </a:rPr>
              <a:t>Questions ? Contact : babacar.work2024@gmail.com    IIM Bac+5 Growth Hacking 2026</a:t>
            </a:r>
            <a:endParaRPr lang="en-US" sz="1400" dirty="0"/>
          </a:p>
        </p:txBody>
      </p:sp>
      <p:sp>
        <p:nvSpPr>
          <p:cNvPr id="24" name="Text 22"/>
          <p:cNvSpPr/>
          <p:nvPr/>
        </p:nvSpPr>
        <p:spPr>
          <a:xfrm>
            <a:off x="548640" y="6263640"/>
            <a:ext cx="11064240" cy="274320"/>
          </a:xfrm>
          <a:prstGeom prst="rect">
            <a:avLst/>
          </a:prstGeom>
          <a:noFill/>
          <a:ln/>
        </p:spPr>
        <p:txBody>
          <a:bodyPr wrap="square" lIns="0" tIns="0" rIns="0" bIns="0" rtlCol="0" anchor="ctr"/>
          <a:lstStyle/>
          <a:p>
            <a:pPr marL="0" indent="0" algn="ctr">
              <a:buNone/>
            </a:pPr>
            <a:r>
              <a:rPr lang="en-US" sz="1100" dirty="0">
                <a:solidFill>
                  <a:srgbClr val="F9B233"/>
                </a:solidFill>
                <a:latin typeface="Calibri" pitchFamily="34" charset="0"/>
                <a:ea typeface="Calibri" pitchFamily="34" charset="-122"/>
                <a:cs typeface="Calibri" pitchFamily="34" charset="-120"/>
              </a:rPr>
              <a:t>Prochaine étape : QCM final </a:t>
            </a:r>
            <a:r>
              <a:rPr lang="en-US" sz="1100" dirty="0" err="1">
                <a:solidFill>
                  <a:srgbClr val="F9B233"/>
                </a:solidFill>
                <a:latin typeface="Calibri" pitchFamily="34" charset="0"/>
                <a:ea typeface="Calibri" pitchFamily="34" charset="-122"/>
                <a:cs typeface="Calibri" pitchFamily="34" charset="-120"/>
              </a:rPr>
              <a:t>ou</a:t>
            </a:r>
            <a:r>
              <a:rPr lang="en-US" sz="1100" dirty="0">
                <a:solidFill>
                  <a:srgbClr val="F9B233"/>
                </a:solidFill>
                <a:latin typeface="Calibri" pitchFamily="34" charset="0"/>
                <a:ea typeface="Calibri" pitchFamily="34" charset="-122"/>
                <a:cs typeface="Calibri" pitchFamily="34" charset="-120"/>
              </a:rPr>
              <a:t> rendu case study ModeVerte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1915</TotalTime>
  <Words>11218</Words>
  <Application>Microsoft Office PowerPoint</Application>
  <PresentationFormat>Grand écran</PresentationFormat>
  <Paragraphs>1579</Paragraphs>
  <Slides>79</Slides>
  <Notes>79</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79</vt:i4>
      </vt:variant>
    </vt:vector>
  </HeadingPairs>
  <TitlesOfParts>
    <vt:vector size="84" baseType="lpstr">
      <vt:lpstr>Arial</vt:lpstr>
      <vt:lpstr>Calibri</vt:lpstr>
      <vt:lpstr>Consolas</vt:lpstr>
      <vt:lpstr>Wingdings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Clean Rooms pour Growth Hackers</dc:title>
  <dc:subject>PptxGenJS Presentation</dc:subject>
  <dc:creator>Babacar GUEYE — EDIA</dc:creator>
  <cp:lastModifiedBy>Babacar Gueye</cp:lastModifiedBy>
  <cp:revision>51</cp:revision>
  <dcterms:created xsi:type="dcterms:W3CDTF">2026-04-10T07:53:23Z</dcterms:created>
  <dcterms:modified xsi:type="dcterms:W3CDTF">2026-04-14T04:55:01Z</dcterms:modified>
</cp:coreProperties>
</file>